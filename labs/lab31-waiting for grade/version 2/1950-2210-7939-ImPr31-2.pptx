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6" r:id="rId3"/>
    <p:sldId id="258" r:id="rId4"/>
    <p:sldId id="263" r:id="rId5"/>
    <p:sldId id="259" r:id="rId6"/>
    <p:sldId id="260" r:id="rId7"/>
    <p:sldId id="271" r:id="rId8"/>
    <p:sldId id="277" r:id="rId9"/>
    <p:sldId id="276" r:id="rId10"/>
    <p:sldId id="261" r:id="rId11"/>
    <p:sldId id="278" r:id="rId12"/>
    <p:sldId id="279" r:id="rId13"/>
    <p:sldId id="264" r:id="rId14"/>
    <p:sldId id="268" r:id="rId15"/>
    <p:sldId id="272" r:id="rId16"/>
    <p:sldId id="275" r:id="rId17"/>
    <p:sldId id="273" r:id="rId18"/>
    <p:sldId id="265" r:id="rId19"/>
    <p:sldId id="269" r:id="rId20"/>
    <p:sldId id="267" r:id="rId21"/>
    <p:sldId id="281" r:id="rId22"/>
    <p:sldId id="270" r:id="rId23"/>
    <p:sldId id="282" r:id="rId24"/>
    <p:sldId id="280" r:id="rId25"/>
    <p:sldId id="266" r:id="rId2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E1D37DD9-CD99-4055-9573-31E77734C810}" type="datetimeFigureOut">
              <a:rPr lang="he-IL" smtClean="0"/>
              <a:t>י"ד/אב/תשפ"ד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DC417C5B-9315-48A6-8669-9D082CBA44B8}" type="slidenum">
              <a:rPr lang="he-IL" smtClean="0"/>
              <a:t>‹#›</a:t>
            </a:fld>
            <a:endParaRPr lang="he-IL"/>
          </a:p>
        </p:txBody>
      </p:sp>
    </p:spTree>
    <p:extLst>
      <p:ext uri="{BB962C8B-B14F-4D97-AF65-F5344CB8AC3E}">
        <p14:creationId xmlns:p14="http://schemas.microsoft.com/office/powerpoint/2010/main" val="3942025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C417C5B-9315-48A6-8669-9D082CBA44B8}" type="slidenum">
              <a:rPr lang="he-IL" smtClean="0"/>
              <a:t>7</a:t>
            </a:fld>
            <a:endParaRPr lang="he-IL"/>
          </a:p>
        </p:txBody>
      </p:sp>
    </p:spTree>
    <p:extLst>
      <p:ext uri="{BB962C8B-B14F-4D97-AF65-F5344CB8AC3E}">
        <p14:creationId xmlns:p14="http://schemas.microsoft.com/office/powerpoint/2010/main" val="4125534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DC417C5B-9315-48A6-8669-9D082CBA44B8}" type="slidenum">
              <a:rPr lang="he-IL" smtClean="0"/>
              <a:t>10</a:t>
            </a:fld>
            <a:endParaRPr lang="he-IL"/>
          </a:p>
        </p:txBody>
      </p:sp>
    </p:spTree>
    <p:extLst>
      <p:ext uri="{BB962C8B-B14F-4D97-AF65-F5344CB8AC3E}">
        <p14:creationId xmlns:p14="http://schemas.microsoft.com/office/powerpoint/2010/main" val="2529760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F497E-EA0B-8286-57BF-72F4DE1A2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2F403FFE-06B7-F7F4-FB94-439EF53D5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F5A2315D-AA71-4BC7-A298-288137A3B1DC}"/>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585C33F3-FB35-EF37-3F9B-CD60ACB8229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9FC7C119-03F7-9F7E-2234-08E7BC992DD2}"/>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1591848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A1A8-A770-DAAF-7E1D-49EB171FF6E6}"/>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DCBDFF2-F629-4520-2D2E-A9A9D9AE7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9404835-6B83-0C61-24B8-1DCB7B9EC18D}"/>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09D20B74-7AE9-0B44-1940-C4B82A2F9034}"/>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65043EA-DCF6-705F-EEF9-06799F613DE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1477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BD62-D237-806E-85A4-CC3B07E111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FC558E8C-164C-EF3C-26E2-6B5C3CAA85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6C10AE-B185-D4C9-0B8E-C766C8655E5A}"/>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80D62A3B-CCB5-9232-DE6F-17AE6E5D4F2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9630CC1-D43A-C3A5-30A9-F04D49AD7ABC}"/>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24947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D7A0-F4A3-CD6D-8C15-5F16B30A7C19}"/>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6971D5D7-54D3-D5B6-D87F-2B019ABC5C2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4EEF606-B62A-BF04-A1D1-F6EBB525177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D056D8C8-9215-3F5A-E4C7-BA832155C4DA}"/>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6" name="Footer Placeholder 5">
            <a:extLst>
              <a:ext uri="{FF2B5EF4-FFF2-40B4-BE49-F238E27FC236}">
                <a16:creationId xmlns:a16="http://schemas.microsoft.com/office/drawing/2014/main" id="{0C1F51E6-092D-2D0B-A349-C38B8A1CA946}"/>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C473EBEA-25CD-0E7A-D5D0-D71F54AD48D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9490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F0E6E-2BA4-8921-EC3C-92BC65BB0961}"/>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384009D1-636A-5673-6F1C-FF6FFFA160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4DF345-23F4-FBCC-AB52-0CB8426FB6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B5EF0B4F-465A-20F4-143D-7983482CE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4C69FF-F523-C21F-2620-8893AED2791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E11B2408-7975-307D-9EB0-BC2003ECC041}"/>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8" name="Footer Placeholder 7">
            <a:extLst>
              <a:ext uri="{FF2B5EF4-FFF2-40B4-BE49-F238E27FC236}">
                <a16:creationId xmlns:a16="http://schemas.microsoft.com/office/drawing/2014/main" id="{074689D9-D24B-9EA0-636A-711CF7BBA3A4}"/>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BEFA1F3A-9B76-3602-BDFA-11FFD4D758C9}"/>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107528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D4272-014F-8914-6520-70B86B847183}"/>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D8673DBA-92FC-5F31-3483-62655B6B5F3A}"/>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4" name="Footer Placeholder 3">
            <a:extLst>
              <a:ext uri="{FF2B5EF4-FFF2-40B4-BE49-F238E27FC236}">
                <a16:creationId xmlns:a16="http://schemas.microsoft.com/office/drawing/2014/main" id="{4D810AB3-2613-D67D-4870-0429404DF3FB}"/>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CB08E792-3E37-2D6E-7567-F01C02FC03E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176920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7833CA-83E9-E7E0-58CD-23C70E8EEE15}"/>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3" name="Footer Placeholder 2">
            <a:extLst>
              <a:ext uri="{FF2B5EF4-FFF2-40B4-BE49-F238E27FC236}">
                <a16:creationId xmlns:a16="http://schemas.microsoft.com/office/drawing/2014/main" id="{CF4A2DC1-AD17-9F6E-C608-F8FBA0A25CCA}"/>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76A90B9B-31C2-7BBC-DF72-6C5640D94914}"/>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4032794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58DC3-2067-C85E-0CCD-55238C602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7EACFE42-524A-63FF-148A-51AF03ADA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4D81E71A-ABC3-5223-36DF-846655E29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B45FF-85C8-5527-AC49-19A1A14807E1}"/>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6" name="Footer Placeholder 5">
            <a:extLst>
              <a:ext uri="{FF2B5EF4-FFF2-40B4-BE49-F238E27FC236}">
                <a16:creationId xmlns:a16="http://schemas.microsoft.com/office/drawing/2014/main" id="{62BA80B9-CE32-614E-1CC8-BC0531476EA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3117E0D-F971-ECD9-1EA6-143A5A62F4F8}"/>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865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09A44-8AED-201B-0C94-DB044FFB9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7A714F39-E108-7C34-436C-CAA1249F2F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B107B681-2BA9-0CA2-F6C7-2DFE610E9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C782A4-03A1-A6F2-AD2A-7312AD7AAB30}"/>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6" name="Footer Placeholder 5">
            <a:extLst>
              <a:ext uri="{FF2B5EF4-FFF2-40B4-BE49-F238E27FC236}">
                <a16:creationId xmlns:a16="http://schemas.microsoft.com/office/drawing/2014/main" id="{590F476C-6373-CDCA-644B-89E387AA1D5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76852B8-C3AE-DFA2-9BE1-E7B462F4FD93}"/>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2979092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7501D-83BB-0EAB-E720-EF7310921594}"/>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EEA785F3-1072-9AF1-7C45-B49D104549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0B2B7A7-8EA9-7378-29C9-440F1A680989}"/>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B553EC07-E76A-4762-729C-402E71FBFEA3}"/>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29D15BF6-7D65-1E93-4A6A-B290432C5736}"/>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3243043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8957F6-D24E-446D-5313-0E74A27460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94F4C634-7644-F244-34D3-E157195B39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E9310547-52D2-9624-FE9E-A3D63B5EDB33}"/>
              </a:ext>
            </a:extLst>
          </p:cNvPr>
          <p:cNvSpPr>
            <a:spLocks noGrp="1"/>
          </p:cNvSpPr>
          <p:nvPr>
            <p:ph type="dt" sz="half" idx="10"/>
          </p:nvPr>
        </p:nvSpPr>
        <p:spPr/>
        <p:txBody>
          <a:body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AA272227-D85E-8E3F-5F6B-0E6B5EE91B2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A9DBBCA7-61AE-CF0F-7AA8-B0F84B6F75DB}"/>
              </a:ext>
            </a:extLst>
          </p:cNvPr>
          <p:cNvSpPr>
            <a:spLocks noGrp="1"/>
          </p:cNvSpPr>
          <p:nvPr>
            <p:ph type="sldNum" sz="quarter" idx="12"/>
          </p:nvPr>
        </p:nvSpPr>
        <p:spPr/>
        <p:txBody>
          <a:bodyPr/>
          <a:lstStyle/>
          <a:p>
            <a:fld id="{AF036AE8-FF5C-4037-94BA-A70BC55617A0}" type="slidenum">
              <a:rPr lang="he-IL" smtClean="0"/>
              <a:t>‹#›</a:t>
            </a:fld>
            <a:endParaRPr lang="he-IL"/>
          </a:p>
        </p:txBody>
      </p:sp>
    </p:spTree>
    <p:extLst>
      <p:ext uri="{BB962C8B-B14F-4D97-AF65-F5344CB8AC3E}">
        <p14:creationId xmlns:p14="http://schemas.microsoft.com/office/powerpoint/2010/main" val="670489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E12FA-9539-F39C-A693-7A763EC9B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7FA26994-819C-7197-2B19-7932D105D1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14CF0199-A933-E6D9-6BA4-FE0B78C24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5C63C7-FA0A-417A-9239-B53F4ACA5229}" type="datetimeFigureOut">
              <a:rPr lang="he-IL" smtClean="0"/>
              <a:t>י"ד/אב/תשפ"ד</a:t>
            </a:fld>
            <a:endParaRPr lang="he-IL"/>
          </a:p>
        </p:txBody>
      </p:sp>
      <p:sp>
        <p:nvSpPr>
          <p:cNvPr id="5" name="Footer Placeholder 4">
            <a:extLst>
              <a:ext uri="{FF2B5EF4-FFF2-40B4-BE49-F238E27FC236}">
                <a16:creationId xmlns:a16="http://schemas.microsoft.com/office/drawing/2014/main" id="{B5C60151-5020-8A81-ACD4-E43B55B27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FCEFC10E-E97A-9628-B65B-59B4CA15E6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036AE8-FF5C-4037-94BA-A70BC55617A0}" type="slidenum">
              <a:rPr lang="he-IL" smtClean="0"/>
              <a:t>‹#›</a:t>
            </a:fld>
            <a:endParaRPr lang="he-IL"/>
          </a:p>
        </p:txBody>
      </p:sp>
    </p:spTree>
    <p:extLst>
      <p:ext uri="{BB962C8B-B14F-4D97-AF65-F5344CB8AC3E}">
        <p14:creationId xmlns:p14="http://schemas.microsoft.com/office/powerpoint/2010/main" val="3166513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9" Type="http://schemas.microsoft.com/office/2007/relationships/hdphoto" Target="../media/hdphoto1.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#31</a:t>
            </a:r>
            <a:br>
              <a:rPr lang="en-US" sz="3200" b="1" dirty="0">
                <a:solidFill>
                  <a:srgbClr val="0070C0"/>
                </a:solidFill>
              </a:rPr>
            </a:br>
            <a:r>
              <a:rPr lang="en-US" sz="3200" b="1" dirty="0">
                <a:solidFill>
                  <a:srgbClr val="0070C0"/>
                </a:solidFill>
              </a:rPr>
              <a:t>Geometrical Transforms – </a:t>
            </a:r>
            <a:r>
              <a:rPr lang="en-US" sz="3200" b="1" dirty="0">
                <a:solidFill>
                  <a:srgbClr val="FF0000"/>
                </a:solidFill>
              </a:rPr>
              <a:t>version 2</a:t>
            </a:r>
            <a:endParaRPr lang="he-IL" sz="3200" b="1" dirty="0">
              <a:solidFill>
                <a:srgbClr val="FF000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2</a:t>
            </a:fld>
            <a:endParaRPr lang="he-IL" sz="1600" dirty="0"/>
          </a:p>
        </p:txBody>
      </p:sp>
      <p:pic>
        <p:nvPicPr>
          <p:cNvPr id="6" name="Picture 5">
            <a:extLst>
              <a:ext uri="{FF2B5EF4-FFF2-40B4-BE49-F238E27FC236}">
                <a16:creationId xmlns:a16="http://schemas.microsoft.com/office/drawing/2014/main" id="{8BF915E5-9FC2-4F73-3D1B-8EC50278ECC8}"/>
              </a:ext>
            </a:extLst>
          </p:cNvPr>
          <p:cNvPicPr>
            <a:picLocks noChangeAspect="1"/>
          </p:cNvPicPr>
          <p:nvPr/>
        </p:nvPicPr>
        <p:blipFill>
          <a:blip r:embed="rId2"/>
          <a:stretch>
            <a:fillRect/>
          </a:stretch>
        </p:blipFill>
        <p:spPr>
          <a:xfrm>
            <a:off x="1348914" y="234882"/>
            <a:ext cx="9494171" cy="6388235"/>
          </a:xfrm>
          <a:prstGeom prst="rect">
            <a:avLst/>
          </a:prstGeom>
        </p:spPr>
      </p:pic>
    </p:spTree>
    <p:extLst>
      <p:ext uri="{BB962C8B-B14F-4D97-AF65-F5344CB8AC3E}">
        <p14:creationId xmlns:p14="http://schemas.microsoft.com/office/powerpoint/2010/main" val="1701805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3</a:t>
            </a:fld>
            <a:endParaRPr lang="he-IL" sz="1600" dirty="0"/>
          </a:p>
        </p:txBody>
      </p:sp>
      <p:sp>
        <p:nvSpPr>
          <p:cNvPr id="2" name="TextBox 1">
            <a:extLst>
              <a:ext uri="{FF2B5EF4-FFF2-40B4-BE49-F238E27FC236}">
                <a16:creationId xmlns:a16="http://schemas.microsoft.com/office/drawing/2014/main" id="{603F8030-09AD-04D8-BD09-490E318896A5}"/>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1 </a:t>
            </a:r>
            <a:endParaRPr lang="en-IL" sz="2800" u="sng" dirty="0">
              <a:solidFill>
                <a:srgbClr val="FF0000"/>
              </a:solidFill>
              <a:latin typeface="Cooper Black" panose="0208090404030B020404" pitchFamily="18" charset="0"/>
            </a:endParaRPr>
          </a:p>
        </p:txBody>
      </p:sp>
      <p:sp>
        <p:nvSpPr>
          <p:cNvPr id="3" name="Rectangle 2">
            <a:extLst>
              <a:ext uri="{FF2B5EF4-FFF2-40B4-BE49-F238E27FC236}">
                <a16:creationId xmlns:a16="http://schemas.microsoft.com/office/drawing/2014/main" id="{4DBF6B86-B970-C600-60BF-F92D70E6578A}"/>
              </a:ext>
            </a:extLst>
          </p:cNvPr>
          <p:cNvSpPr/>
          <p:nvPr/>
        </p:nvSpPr>
        <p:spPr>
          <a:xfrm>
            <a:off x="2934509" y="651753"/>
            <a:ext cx="6322979" cy="933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We are going to use several affine transformations according to the demand of the task – all the transformations (operations) will be modeled using matrix operations :</a:t>
            </a:r>
            <a:endParaRPr lang="he-IL" dirty="0"/>
          </a:p>
        </p:txBody>
      </p:sp>
      <p:cxnSp>
        <p:nvCxnSpPr>
          <p:cNvPr id="6" name="Straight Arrow Connector 5">
            <a:extLst>
              <a:ext uri="{FF2B5EF4-FFF2-40B4-BE49-F238E27FC236}">
                <a16:creationId xmlns:a16="http://schemas.microsoft.com/office/drawing/2014/main" id="{264CAA66-EB2B-4B7C-4626-24A5C0AE094D}"/>
              </a:ext>
            </a:extLst>
          </p:cNvPr>
          <p:cNvCxnSpPr>
            <a:cxnSpLocks/>
          </p:cNvCxnSpPr>
          <p:nvPr/>
        </p:nvCxnSpPr>
        <p:spPr>
          <a:xfrm flipH="1">
            <a:off x="1857983" y="1585608"/>
            <a:ext cx="1076526" cy="149002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AD36931-4FF9-DFF3-D0E6-BC00E8EC6E2E}"/>
                  </a:ext>
                </a:extLst>
              </p:cNvPr>
              <p:cNvSpPr txBox="1"/>
              <p:nvPr/>
            </p:nvSpPr>
            <p:spPr>
              <a:xfrm>
                <a:off x="0" y="3075634"/>
                <a:ext cx="2957211" cy="226305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u="sng" dirty="0"/>
                  <a:t>Scaling in the X Direction:</a:t>
                </a:r>
                <a:br>
                  <a:rPr lang="en-US" b="1" u="sng" dirty="0"/>
                </a:br>
                <a:r>
                  <a:rPr lang="en-US" dirty="0"/>
                  <a:t>Scaling changes the size of the image in one or more directions. For scaling in the X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0" name="TextBox 9">
                <a:extLst>
                  <a:ext uri="{FF2B5EF4-FFF2-40B4-BE49-F238E27FC236}">
                    <a16:creationId xmlns:a16="http://schemas.microsoft.com/office/drawing/2014/main" id="{7AD36931-4FF9-DFF3-D0E6-BC00E8EC6E2E}"/>
                  </a:ext>
                </a:extLst>
              </p:cNvPr>
              <p:cNvSpPr txBox="1">
                <a:spLocks noRot="1" noChangeAspect="1" noMove="1" noResize="1" noEditPoints="1" noAdjustHandles="1" noChangeArrowheads="1" noChangeShapeType="1" noTextEdit="1"/>
              </p:cNvSpPr>
              <p:nvPr/>
            </p:nvSpPr>
            <p:spPr>
              <a:xfrm>
                <a:off x="0" y="3075634"/>
                <a:ext cx="2957211" cy="2263055"/>
              </a:xfrm>
              <a:prstGeom prst="rect">
                <a:avLst/>
              </a:prstGeom>
              <a:blipFill>
                <a:blip r:embed="rId2"/>
                <a:stretch>
                  <a:fillRect/>
                </a:stretch>
              </a:blipFill>
            </p:spPr>
            <p:txBody>
              <a:bodyPr/>
              <a:lstStyle/>
              <a:p>
                <a:r>
                  <a:rPr lang="he-IL">
                    <a:noFill/>
                  </a:rPr>
                  <a:t> </a:t>
                </a:r>
              </a:p>
            </p:txBody>
          </p:sp>
        </mc:Fallback>
      </mc:AlternateContent>
      <p:cxnSp>
        <p:nvCxnSpPr>
          <p:cNvPr id="12" name="Straight Arrow Connector 11">
            <a:extLst>
              <a:ext uri="{FF2B5EF4-FFF2-40B4-BE49-F238E27FC236}">
                <a16:creationId xmlns:a16="http://schemas.microsoft.com/office/drawing/2014/main" id="{378DC3D0-4576-0569-E447-4D79079F1B7F}"/>
              </a:ext>
            </a:extLst>
          </p:cNvPr>
          <p:cNvCxnSpPr>
            <a:cxnSpLocks/>
            <a:endCxn id="15" idx="0"/>
          </p:cNvCxnSpPr>
          <p:nvPr/>
        </p:nvCxnSpPr>
        <p:spPr>
          <a:xfrm flipH="1">
            <a:off x="4522132" y="1580776"/>
            <a:ext cx="375730" cy="1678584"/>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EC96B9C-11B8-924F-D625-127125E14237}"/>
                  </a:ext>
                </a:extLst>
              </p:cNvPr>
              <p:cNvSpPr txBox="1"/>
              <p:nvPr/>
            </p:nvSpPr>
            <p:spPr>
              <a:xfrm>
                <a:off x="3043526" y="3259360"/>
                <a:ext cx="2957211" cy="2270045"/>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b="1" u="sng" dirty="0"/>
                  <a:t>Scaling in the Y Direction:</a:t>
                </a:r>
                <a:br>
                  <a:rPr lang="en-US" b="1" u="sng" dirty="0"/>
                </a:br>
                <a:r>
                  <a:rPr lang="en-US" dirty="0"/>
                  <a:t>same concept as scaling in the X direction . For scaling in the Y direction by a factor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oMath>
                </a14:m>
                <a:r>
                  <a:rPr lang="en-US" dirty="0"/>
                  <a:t>:</a:t>
                </a:r>
              </a:p>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he-IL" dirty="0"/>
              </a:p>
            </p:txBody>
          </p:sp>
        </mc:Choice>
        <mc:Fallback xmlns="">
          <p:sp>
            <p:nvSpPr>
              <p:cNvPr id="15" name="TextBox 14">
                <a:extLst>
                  <a:ext uri="{FF2B5EF4-FFF2-40B4-BE49-F238E27FC236}">
                    <a16:creationId xmlns:a16="http://schemas.microsoft.com/office/drawing/2014/main" id="{0EC96B9C-11B8-924F-D625-127125E14237}"/>
                  </a:ext>
                </a:extLst>
              </p:cNvPr>
              <p:cNvSpPr txBox="1">
                <a:spLocks noRot="1" noChangeAspect="1" noMove="1" noResize="1" noEditPoints="1" noAdjustHandles="1" noChangeArrowheads="1" noChangeShapeType="1" noTextEdit="1"/>
              </p:cNvSpPr>
              <p:nvPr/>
            </p:nvSpPr>
            <p:spPr>
              <a:xfrm>
                <a:off x="3043526" y="3259360"/>
                <a:ext cx="2957211" cy="2270045"/>
              </a:xfrm>
              <a:prstGeom prst="rect">
                <a:avLst/>
              </a:prstGeom>
              <a:blipFill>
                <a:blip r:embed="rId3"/>
                <a:stretch>
                  <a:fillRect/>
                </a:stretch>
              </a:blipFill>
            </p:spPr>
            <p:txBody>
              <a:bodyPr/>
              <a:lstStyle/>
              <a:p>
                <a:r>
                  <a:rPr lang="he-IL">
                    <a:noFill/>
                  </a:rPr>
                  <a:t> </a:t>
                </a:r>
              </a:p>
            </p:txBody>
          </p:sp>
        </mc:Fallback>
      </mc:AlternateContent>
      <p:cxnSp>
        <p:nvCxnSpPr>
          <p:cNvPr id="17" name="Straight Arrow Connector 16">
            <a:extLst>
              <a:ext uri="{FF2B5EF4-FFF2-40B4-BE49-F238E27FC236}">
                <a16:creationId xmlns:a16="http://schemas.microsoft.com/office/drawing/2014/main" id="{B752F25E-1943-494C-9706-F0DEE3ACF904}"/>
              </a:ext>
            </a:extLst>
          </p:cNvPr>
          <p:cNvCxnSpPr>
            <a:cxnSpLocks/>
          </p:cNvCxnSpPr>
          <p:nvPr/>
        </p:nvCxnSpPr>
        <p:spPr>
          <a:xfrm>
            <a:off x="9234788" y="1583192"/>
            <a:ext cx="1099226" cy="1681000"/>
          </a:xfrm>
          <a:prstGeom prst="straightConnector1">
            <a:avLst/>
          </a:prstGeom>
          <a:ln w="571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17BD276-7C09-1DBC-C33C-3804DF852101}"/>
                  </a:ext>
                </a:extLst>
              </p:cNvPr>
              <p:cNvSpPr txBox="1"/>
              <p:nvPr/>
            </p:nvSpPr>
            <p:spPr>
              <a:xfrm>
                <a:off x="9257488" y="3281762"/>
                <a:ext cx="2934512" cy="2944973"/>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u="sng" dirty="0"/>
                  <a:t>Moving:</a:t>
                </a:r>
                <a:br>
                  <a:rPr lang="en-US" b="1" u="sng" dirty="0"/>
                </a:br>
                <a:r>
                  <a:rPr lang="en-US" dirty="0"/>
                  <a:t>moves every point of an image by a certain offset.</a:t>
                </a:r>
              </a:p>
              <a:p>
                <a:r>
                  <a:rPr lang="en-US" dirty="0"/>
                  <a:t>For a translation by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𝑥</m:t>
                        </m:r>
                      </m:sub>
                    </m:sSub>
                    <m:r>
                      <a:rPr lang="en-US" b="0" i="1" dirty="0" smtClean="0">
                        <a:latin typeface="Cambria Math" panose="02040503050406030204" pitchFamily="18" charset="0"/>
                      </a:rPr>
                      <m:t> </m:t>
                    </m:r>
                  </m:oMath>
                </a14:m>
                <a:r>
                  <a:rPr lang="en-US" dirty="0"/>
                  <a:t>pixels right and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𝑡</m:t>
                        </m:r>
                      </m:e>
                      <m:sub>
                        <m:r>
                          <a:rPr lang="en-US" b="0" i="1" dirty="0" smtClean="0">
                            <a:latin typeface="Cambria Math" panose="02040503050406030204" pitchFamily="18" charset="0"/>
                          </a:rPr>
                          <m:t>𝑦</m:t>
                        </m:r>
                      </m:sub>
                    </m:sSub>
                  </m:oMath>
                </a14:m>
                <a:r>
                  <a:rPr lang="en-US" dirty="0"/>
                  <a:t> pixels up:</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𝑥</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1</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𝑦</m:t>
                                    </m:r>
                                  </m:sub>
                                </m:sSub>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oMath>
                  </m:oMathPara>
                </a14:m>
                <a:endParaRPr lang="en-US" dirty="0"/>
              </a:p>
              <a:p>
                <a:r>
                  <a:rPr lang="en-US" dirty="0"/>
                  <a:t>Therefore – for moving down or left we use negative sign </a:t>
                </a:r>
                <a:endParaRPr lang="he-IL" dirty="0"/>
              </a:p>
            </p:txBody>
          </p:sp>
        </mc:Choice>
        <mc:Fallback xmlns="">
          <p:sp>
            <p:nvSpPr>
              <p:cNvPr id="20" name="TextBox 19">
                <a:extLst>
                  <a:ext uri="{FF2B5EF4-FFF2-40B4-BE49-F238E27FC236}">
                    <a16:creationId xmlns:a16="http://schemas.microsoft.com/office/drawing/2014/main" id="{B17BD276-7C09-1DBC-C33C-3804DF852101}"/>
                  </a:ext>
                </a:extLst>
              </p:cNvPr>
              <p:cNvSpPr txBox="1">
                <a:spLocks noRot="1" noChangeAspect="1" noMove="1" noResize="1" noEditPoints="1" noAdjustHandles="1" noChangeArrowheads="1" noChangeShapeType="1" noTextEdit="1"/>
              </p:cNvSpPr>
              <p:nvPr/>
            </p:nvSpPr>
            <p:spPr>
              <a:xfrm>
                <a:off x="9257488" y="3281762"/>
                <a:ext cx="2934512" cy="2944973"/>
              </a:xfrm>
              <a:prstGeom prst="rect">
                <a:avLst/>
              </a:prstGeom>
              <a:blipFill>
                <a:blip r:embed="rId4"/>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05965E7C-42E2-AAA0-0E2E-B7089336700E}"/>
              </a:ext>
            </a:extLst>
          </p:cNvPr>
          <p:cNvCxnSpPr>
            <a:cxnSpLocks/>
          </p:cNvCxnSpPr>
          <p:nvPr/>
        </p:nvCxnSpPr>
        <p:spPr>
          <a:xfrm flipH="1">
            <a:off x="7446318" y="1580776"/>
            <a:ext cx="240961" cy="1681000"/>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78D8BDD-67E0-DE03-FBA9-7C2E93C8D93D}"/>
                  </a:ext>
                </a:extLst>
              </p:cNvPr>
              <p:cNvSpPr txBox="1"/>
              <p:nvPr/>
            </p:nvSpPr>
            <p:spPr>
              <a:xfrm>
                <a:off x="6072680" y="3259360"/>
                <a:ext cx="3112864" cy="2031325"/>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u="sng" dirty="0"/>
                  <a:t>Rotation Around a Specific Point </a:t>
                </a:r>
                <a14:m>
                  <m:oMath xmlns:m="http://schemas.openxmlformats.org/officeDocument/2006/math">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a14:m>
                <a:r>
                  <a:rPr lang="en-US" b="1" u="sng" dirty="0"/>
                  <a:t>:</a:t>
                </a:r>
                <a:br>
                  <a:rPr lang="en-US" b="1" u="sng" dirty="0"/>
                </a:br>
                <a:r>
                  <a:rPr lang="en-US" dirty="0"/>
                  <a:t>To rotate around a point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oMath>
                </a14:m>
                <a:r>
                  <a:rPr lang="en-US" dirty="0"/>
                  <a:t>we must move the image so that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r>
                  <a:rPr lang="en-US" dirty="0"/>
                  <a:t> becomes the origin, apply the rotation, and then move back.</a:t>
                </a:r>
                <a:endParaRPr lang="he-IL" dirty="0"/>
              </a:p>
            </p:txBody>
          </p:sp>
        </mc:Choice>
        <mc:Fallback xmlns="">
          <p:sp>
            <p:nvSpPr>
              <p:cNvPr id="26" name="TextBox 25">
                <a:extLst>
                  <a:ext uri="{FF2B5EF4-FFF2-40B4-BE49-F238E27FC236}">
                    <a16:creationId xmlns:a16="http://schemas.microsoft.com/office/drawing/2014/main" id="{D78D8BDD-67E0-DE03-FBA9-7C2E93C8D93D}"/>
                  </a:ext>
                </a:extLst>
              </p:cNvPr>
              <p:cNvSpPr txBox="1">
                <a:spLocks noRot="1" noChangeAspect="1" noMove="1" noResize="1" noEditPoints="1" noAdjustHandles="1" noChangeArrowheads="1" noChangeShapeType="1" noTextEdit="1"/>
              </p:cNvSpPr>
              <p:nvPr/>
            </p:nvSpPr>
            <p:spPr>
              <a:xfrm>
                <a:off x="6072680" y="3259360"/>
                <a:ext cx="3112864" cy="2031325"/>
              </a:xfrm>
              <a:prstGeom prst="rect">
                <a:avLst/>
              </a:prstGeom>
              <a:blipFill>
                <a:blip r:embed="rId5"/>
                <a:stretch>
                  <a:fillRect/>
                </a:stretch>
              </a:blipFill>
            </p:spPr>
            <p:txBody>
              <a:bodyPr/>
              <a:lstStyle/>
              <a:p>
                <a:r>
                  <a:rPr lang="he-IL">
                    <a:noFill/>
                  </a:rPr>
                  <a:t> </a:t>
                </a:r>
              </a:p>
            </p:txBody>
          </p:sp>
        </mc:Fallback>
      </mc:AlternateContent>
      <p:cxnSp>
        <p:nvCxnSpPr>
          <p:cNvPr id="27" name="Straight Arrow Connector 26">
            <a:extLst>
              <a:ext uri="{FF2B5EF4-FFF2-40B4-BE49-F238E27FC236}">
                <a16:creationId xmlns:a16="http://schemas.microsoft.com/office/drawing/2014/main" id="{B58507B0-BD61-3831-726D-784823C8D52E}"/>
              </a:ext>
            </a:extLst>
          </p:cNvPr>
          <p:cNvCxnSpPr>
            <a:cxnSpLocks/>
          </p:cNvCxnSpPr>
          <p:nvPr/>
        </p:nvCxnSpPr>
        <p:spPr>
          <a:xfrm>
            <a:off x="7439018" y="5265305"/>
            <a:ext cx="0" cy="629657"/>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E4F1D065-820F-A24A-E7A8-9C98D0E7206C}"/>
                  </a:ext>
                </a:extLst>
              </p:cNvPr>
              <p:cNvSpPr txBox="1"/>
              <p:nvPr/>
            </p:nvSpPr>
            <p:spPr>
              <a:xfrm>
                <a:off x="3929973" y="5894962"/>
                <a:ext cx="5179781" cy="824906"/>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𝑅𝑂𝑇𝐴𝑇𝐼𝑂𝑁</m:t>
                      </m:r>
                      <m:r>
                        <a:rPr lang="en-US" b="0" i="1" smtClean="0">
                          <a:latin typeface="Cambria Math" panose="02040503050406030204" pitchFamily="18" charset="0"/>
                        </a:rPr>
                        <m:t> </m:t>
                      </m:r>
                      <m:r>
                        <a:rPr lang="en-US" b="0" i="1" smtClean="0">
                          <a:latin typeface="Cambria Math" panose="02040503050406030204" pitchFamily="18" charset="0"/>
                        </a:rPr>
                        <m:t>𝑀𝐴𝑇𝑅𝐼𝑋</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m:oMathPara>
                </a14:m>
                <a:endParaRPr lang="he-IL" dirty="0"/>
              </a:p>
            </p:txBody>
          </p:sp>
        </mc:Choice>
        <mc:Fallback xmlns="">
          <p:sp>
            <p:nvSpPr>
              <p:cNvPr id="29" name="TextBox 28">
                <a:extLst>
                  <a:ext uri="{FF2B5EF4-FFF2-40B4-BE49-F238E27FC236}">
                    <a16:creationId xmlns:a16="http://schemas.microsoft.com/office/drawing/2014/main" id="{E4F1D065-820F-A24A-E7A8-9C98D0E7206C}"/>
                  </a:ext>
                </a:extLst>
              </p:cNvPr>
              <p:cNvSpPr txBox="1">
                <a:spLocks noRot="1" noChangeAspect="1" noMove="1" noResize="1" noEditPoints="1" noAdjustHandles="1" noChangeArrowheads="1" noChangeShapeType="1" noTextEdit="1"/>
              </p:cNvSpPr>
              <p:nvPr/>
            </p:nvSpPr>
            <p:spPr>
              <a:xfrm>
                <a:off x="3929973" y="5894962"/>
                <a:ext cx="5179781" cy="824906"/>
              </a:xfrm>
              <a:prstGeom prst="rect">
                <a:avLst/>
              </a:prstGeom>
              <a:blipFill>
                <a:blip r:embed="rId6"/>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30862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DDBA3F-85DD-8C73-8FDC-A860B3ADDB50}"/>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2 </a:t>
            </a:r>
            <a:endParaRPr lang="en-IL" sz="2800" u="sng" dirty="0">
              <a:solidFill>
                <a:srgbClr val="FF0000"/>
              </a:solidFill>
              <a:latin typeface="Cooper Black" panose="0208090404030B020404" pitchFamily="18" charset="0"/>
            </a:endParaRPr>
          </a:p>
        </p:txBody>
      </p:sp>
      <p:sp>
        <p:nvSpPr>
          <p:cNvPr id="5" name="TextBox 4">
            <a:extLst>
              <a:ext uri="{FF2B5EF4-FFF2-40B4-BE49-F238E27FC236}">
                <a16:creationId xmlns:a16="http://schemas.microsoft.com/office/drawing/2014/main" id="{6515AEC7-7D90-BBAD-731B-B8D2E46AE9D8}"/>
              </a:ext>
            </a:extLst>
          </p:cNvPr>
          <p:cNvSpPr txBox="1"/>
          <p:nvPr/>
        </p:nvSpPr>
        <p:spPr>
          <a:xfrm>
            <a:off x="2364348" y="650716"/>
            <a:ext cx="8134511"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total matrix for the operation of “Rotate it clockwise to 17 degrees</a:t>
            </a:r>
          </a:p>
          <a:p>
            <a:r>
              <a:rPr lang="en-US" dirty="0"/>
              <a:t>around the point {x = 20, y = 10 } ” will be comprised of the 3 matrix (=3 steps)</a:t>
            </a:r>
            <a:endParaRPr lang="he-IL" dirty="0"/>
          </a:p>
        </p:txBody>
      </p:sp>
      <p:sp>
        <p:nvSpPr>
          <p:cNvPr id="6" name="Arrow: Right 5">
            <a:extLst>
              <a:ext uri="{FF2B5EF4-FFF2-40B4-BE49-F238E27FC236}">
                <a16:creationId xmlns:a16="http://schemas.microsoft.com/office/drawing/2014/main" id="{748399A3-E9AE-FCFA-6019-1AB485C0E562}"/>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D83E840-9264-F290-26D7-0A94C39EA64B}"/>
                  </a:ext>
                </a:extLst>
              </p:cNvPr>
              <p:cNvSpPr/>
              <p:nvPr/>
            </p:nvSpPr>
            <p:spPr>
              <a:xfrm>
                <a:off x="2089317" y="2023313"/>
                <a:ext cx="7181200"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m:t>
                              </m:r>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m:t>
                              </m:r>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to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endParaRPr lang="he-IL" dirty="0"/>
              </a:p>
            </p:txBody>
          </p:sp>
        </mc:Choice>
        <mc:Fallback xmlns="">
          <p:sp>
            <p:nvSpPr>
              <p:cNvPr id="7" name="Rectangle 6">
                <a:extLst>
                  <a:ext uri="{FF2B5EF4-FFF2-40B4-BE49-F238E27FC236}">
                    <a16:creationId xmlns:a16="http://schemas.microsoft.com/office/drawing/2014/main" id="{0D83E840-9264-F290-26D7-0A94C39EA64B}"/>
                  </a:ext>
                </a:extLst>
              </p:cNvPr>
              <p:cNvSpPr>
                <a:spLocks noRot="1" noChangeAspect="1" noMove="1" noResize="1" noEditPoints="1" noAdjustHandles="1" noChangeArrowheads="1" noChangeShapeType="1" noTextEdit="1"/>
              </p:cNvSpPr>
              <p:nvPr/>
            </p:nvSpPr>
            <p:spPr>
              <a:xfrm>
                <a:off x="2089317" y="2023313"/>
                <a:ext cx="7181200" cy="963039"/>
              </a:xfrm>
              <a:prstGeom prst="rect">
                <a:avLst/>
              </a:prstGeom>
              <a:blipFill>
                <a:blip r:embed="rId2"/>
                <a:stretch>
                  <a:fillRect/>
                </a:stretch>
              </a:blipFill>
            </p:spPr>
            <p:txBody>
              <a:bodyPr/>
              <a:lstStyle/>
              <a:p>
                <a:r>
                  <a:rPr lang="he-IL">
                    <a:noFill/>
                  </a:rPr>
                  <a:t> </a:t>
                </a:r>
              </a:p>
            </p:txBody>
          </p:sp>
        </mc:Fallback>
      </mc:AlternateContent>
      <p:sp>
        <p:nvSpPr>
          <p:cNvPr id="8" name="Arrow: Down 7">
            <a:extLst>
              <a:ext uri="{FF2B5EF4-FFF2-40B4-BE49-F238E27FC236}">
                <a16:creationId xmlns:a16="http://schemas.microsoft.com/office/drawing/2014/main" id="{A22FA5C9-DFA2-4BC3-2C20-4979BB048C8E}"/>
              </a:ext>
            </a:extLst>
          </p:cNvPr>
          <p:cNvSpPr/>
          <p:nvPr/>
        </p:nvSpPr>
        <p:spPr>
          <a:xfrm>
            <a:off x="5766880" y="136079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93772E9-CB9E-91EB-6002-BFC81EDCEAB9}"/>
                  </a:ext>
                </a:extLst>
              </p:cNvPr>
              <p:cNvSpPr/>
              <p:nvPr/>
            </p:nvSpPr>
            <p:spPr>
              <a:xfrm>
                <a:off x="2089317" y="3115968"/>
                <a:ext cx="9758972"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d>
                      <m:dPr>
                        <m:ctrlPr>
                          <a:rPr lang="he-IL" i="1" smtClean="0">
                            <a:latin typeface="Cambria Math" panose="02040503050406030204" pitchFamily="18" charset="0"/>
                          </a:rPr>
                        </m:ctrlPr>
                      </m:dPr>
                      <m:e>
                        <m:m>
                          <m:mPr>
                            <m:mcs>
                              <m:mc>
                                <m:mcPr>
                                  <m:count m:val="3"/>
                                  <m:mcJc m:val="center"/>
                                </m:mcPr>
                              </m:mc>
                            </m:mcs>
                            <m:ctrlPr>
                              <a:rPr lang="he-IL" i="1" smtClean="0">
                                <a:latin typeface="Cambria Math" panose="02040503050406030204" pitchFamily="18" charset="0"/>
                              </a:rPr>
                            </m:ctrlPr>
                          </m:mPr>
                          <m:mr>
                            <m:e>
                              <m:r>
                                <m:rPr>
                                  <m:nor/>
                                </m:rPr>
                                <a:rPr lang="en-US" smtClean="0"/>
                                <m:t>cos</m:t>
                              </m:r>
                              <m:r>
                                <m:rPr>
                                  <m:nor/>
                                </m:rPr>
                                <a:rPr lang="en-US" smtClean="0"/>
                                <m:t>(</m:t>
                              </m:r>
                              <m:r>
                                <m:rPr>
                                  <m:nor/>
                                </m:rPr>
                                <a:rPr lang="el-GR" smtClean="0"/>
                                <m:t>θ</m:t>
                              </m:r>
                              <m:r>
                                <m:rPr>
                                  <m:nor/>
                                </m:rPr>
                                <a:rPr lang="el-GR" smtClean="0"/>
                                <m:t>)</m:t>
                              </m:r>
                            </m:e>
                            <m:e>
                              <m:r>
                                <m:rPr>
                                  <m:nor/>
                                </m:rPr>
                                <a:rPr lang="en-US" smtClean="0"/>
                                <m:t>−</m:t>
                              </m:r>
                              <m:r>
                                <m:rPr>
                                  <m:nor/>
                                </m:rPr>
                                <a:rPr lang="en-US" smtClean="0"/>
                                <m:t>sin</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m:rPr>
                                  <m:nor/>
                                </m:rPr>
                                <a:rPr lang="en-US" smtClean="0"/>
                                <m:t>sin</m:t>
                              </m:r>
                              <m:r>
                                <m:rPr>
                                  <m:nor/>
                                </m:rPr>
                                <a:rPr lang="en-US" smtClean="0"/>
                                <m:t>(</m:t>
                              </m:r>
                              <m:r>
                                <m:rPr>
                                  <m:nor/>
                                </m:rPr>
                                <a:rPr lang="el-GR" smtClean="0"/>
                                <m:t>θ</m:t>
                              </m:r>
                              <m:r>
                                <m:rPr>
                                  <m:nor/>
                                </m:rPr>
                                <a:rPr lang="el-GR" smtClean="0"/>
                                <m:t>)</m:t>
                              </m:r>
                            </m:e>
                            <m:e>
                              <m:r>
                                <m:rPr>
                                  <m:nor/>
                                </m:rPr>
                                <a:rPr lang="en-US" smtClean="0"/>
                                <m:t>cos</m:t>
                              </m:r>
                              <m:r>
                                <m:rPr>
                                  <m:nor/>
                                </m:rPr>
                                <a:rPr lang="en-US" smtClean="0"/>
                                <m:t>(</m:t>
                              </m:r>
                              <m:r>
                                <m:rPr>
                                  <m:nor/>
                                </m:rPr>
                                <a:rPr lang="el-GR" smtClean="0"/>
                                <m:t>θ</m:t>
                              </m:r>
                              <m:r>
                                <m:rPr>
                                  <m:nor/>
                                </m:rPr>
                                <a:rPr lang="el-GR" smtClean="0"/>
                                <m:t>)</m:t>
                              </m:r>
                            </m:e>
                            <m:e>
                              <m:r>
                                <a:rPr lang="he-IL" b="0" i="1" smtClean="0">
                                  <a:latin typeface="Cambria Math" panose="02040503050406030204" pitchFamily="18" charset="0"/>
                                </a:rPr>
                                <m:t>0</m:t>
                              </m:r>
                            </m:e>
                          </m:mr>
                          <m:mr>
                            <m:e>
                              <m:r>
                                <a:rPr lang="he-IL" b="0" i="1" smtClean="0">
                                  <a:latin typeface="Cambria Math" panose="02040503050406030204" pitchFamily="18" charset="0"/>
                                </a:rPr>
                                <m:t>0</m:t>
                              </m:r>
                            </m:e>
                            <m:e>
                              <m:r>
                                <a:rPr lang="he-IL" b="0" i="1" smtClean="0">
                                  <a:latin typeface="Cambria Math" panose="02040503050406030204" pitchFamily="18" charset="0"/>
                                </a:rPr>
                                <m:t>0</m:t>
                              </m:r>
                            </m:e>
                            <m:e>
                              <m:r>
                                <a:rPr lang="he-IL" b="0" i="1" smtClean="0">
                                  <a:latin typeface="Cambria Math" panose="02040503050406030204" pitchFamily="18" charset="0"/>
                                </a:rPr>
                                <m:t>1</m:t>
                              </m:r>
                            </m:e>
                          </m:mr>
                        </m:m>
                      </m:e>
                    </m:d>
                  </m:oMath>
                </a14:m>
                <a:r>
                  <a:rPr lang="en-US" dirty="0"/>
                  <a:t> for applying the rotation (angle in minus because we rotate clockwise)</a:t>
                </a:r>
                <a:endParaRPr lang="he-IL" dirty="0"/>
              </a:p>
            </p:txBody>
          </p:sp>
        </mc:Choice>
        <mc:Fallback xmlns="">
          <p:sp>
            <p:nvSpPr>
              <p:cNvPr id="9" name="Rectangle 8">
                <a:extLst>
                  <a:ext uri="{FF2B5EF4-FFF2-40B4-BE49-F238E27FC236}">
                    <a16:creationId xmlns:a16="http://schemas.microsoft.com/office/drawing/2014/main" id="{293772E9-CB9E-91EB-6002-BFC81EDCEAB9}"/>
                  </a:ext>
                </a:extLst>
              </p:cNvPr>
              <p:cNvSpPr>
                <a:spLocks noRot="1" noChangeAspect="1" noMove="1" noResize="1" noEditPoints="1" noAdjustHandles="1" noChangeArrowheads="1" noChangeShapeType="1" noTextEdit="1"/>
              </p:cNvSpPr>
              <p:nvPr/>
            </p:nvSpPr>
            <p:spPr>
              <a:xfrm>
                <a:off x="2089317" y="3115968"/>
                <a:ext cx="9758972" cy="963039"/>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CC01D33-910C-2EEE-6868-6E0101885720}"/>
                  </a:ext>
                </a:extLst>
              </p:cNvPr>
              <p:cNvSpPr/>
              <p:nvPr/>
            </p:nvSpPr>
            <p:spPr>
              <a:xfrm>
                <a:off x="2089317" y="4208623"/>
                <a:ext cx="8922394" cy="963039"/>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𝑥</m:t>
                              </m:r>
                            </m:e>
                          </m:m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𝑦</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
                      </m:e>
                    </m:d>
                    <m:r>
                      <a:rPr lang="en-US" b="0" i="1" smtClean="0">
                        <a:latin typeface="Cambria Math" panose="02040503050406030204" pitchFamily="18" charset="0"/>
                      </a:rPr>
                      <m:t>  </m:t>
                    </m:r>
                  </m:oMath>
                </a14:m>
                <a:r>
                  <a:rPr lang="en-US" dirty="0"/>
                  <a:t>for moving point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from the origin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oMath>
                </a14:m>
                <a:r>
                  <a:rPr lang="en-US" dirty="0"/>
                  <a:t> back to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r>
                  <a:rPr lang="en-US" dirty="0"/>
                  <a:t> </a:t>
                </a:r>
                <a:endParaRPr lang="he-IL" dirty="0"/>
              </a:p>
            </p:txBody>
          </p:sp>
        </mc:Choice>
        <mc:Fallback xmlns="">
          <p:sp>
            <p:nvSpPr>
              <p:cNvPr id="10" name="Rectangle 9">
                <a:extLst>
                  <a:ext uri="{FF2B5EF4-FFF2-40B4-BE49-F238E27FC236}">
                    <a16:creationId xmlns:a16="http://schemas.microsoft.com/office/drawing/2014/main" id="{4CC01D33-910C-2EEE-6868-6E0101885720}"/>
                  </a:ext>
                </a:extLst>
              </p:cNvPr>
              <p:cNvSpPr>
                <a:spLocks noRot="1" noChangeAspect="1" noMove="1" noResize="1" noEditPoints="1" noAdjustHandles="1" noChangeArrowheads="1" noChangeShapeType="1" noTextEdit="1"/>
              </p:cNvSpPr>
              <p:nvPr/>
            </p:nvSpPr>
            <p:spPr>
              <a:xfrm>
                <a:off x="2089317" y="4208623"/>
                <a:ext cx="8922394" cy="963039"/>
              </a:xfrm>
              <a:prstGeom prst="rect">
                <a:avLst/>
              </a:prstGeom>
              <a:blipFill>
                <a:blip r:embed="rId4"/>
                <a:stretch>
                  <a:fillRect/>
                </a:stretch>
              </a:blipFill>
            </p:spPr>
            <p:txBody>
              <a:bodyPr/>
              <a:lstStyle/>
              <a:p>
                <a:r>
                  <a:rPr lang="he-IL">
                    <a:noFill/>
                  </a:rPr>
                  <a:t> </a:t>
                </a:r>
              </a:p>
            </p:txBody>
          </p:sp>
        </mc:Fallback>
      </mc:AlternateContent>
      <p:sp>
        <p:nvSpPr>
          <p:cNvPr id="11" name="Arrow: Down 10">
            <a:extLst>
              <a:ext uri="{FF2B5EF4-FFF2-40B4-BE49-F238E27FC236}">
                <a16:creationId xmlns:a16="http://schemas.microsoft.com/office/drawing/2014/main" id="{454E4959-C6B1-8EAC-493D-1657952D125C}"/>
              </a:ext>
            </a:extLst>
          </p:cNvPr>
          <p:cNvSpPr/>
          <p:nvPr/>
        </p:nvSpPr>
        <p:spPr>
          <a:xfrm>
            <a:off x="5872820" y="5180815"/>
            <a:ext cx="671208" cy="64633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D3E6E08-D9AE-572E-FDB9-34DCD0868360}"/>
                  </a:ext>
                </a:extLst>
              </p:cNvPr>
              <p:cNvSpPr/>
              <p:nvPr/>
            </p:nvSpPr>
            <p:spPr>
              <a:xfrm>
                <a:off x="2089317" y="5863032"/>
                <a:ext cx="8336605" cy="646331"/>
              </a:xfrm>
              <a:prstGeom prst="rect">
                <a:avLst/>
              </a:prstGeom>
            </p:spPr>
            <p:style>
              <a:lnRef idx="0">
                <a:schemeClr val="accent5"/>
              </a:lnRef>
              <a:fillRef idx="3">
                <a:schemeClr val="accent5"/>
              </a:fillRef>
              <a:effectRef idx="3">
                <a:schemeClr val="accent5"/>
              </a:effectRef>
              <a:fontRef idx="minor">
                <a:schemeClr val="lt1"/>
              </a:fontRef>
            </p:style>
            <p:txBody>
              <a:bodyPr rtlCol="1" anchor="ctr"/>
              <a:lstStyle/>
              <a:p>
                <a:pPr algn="ctr"/>
                <a:r>
                  <a:rPr lang="en-US" b="1" dirty="0"/>
                  <a:t>The total matrix operation for the rotation is :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𝑹</m:t>
                        </m:r>
                      </m:e>
                      <m:sub>
                        <m:r>
                          <a:rPr lang="en-US" b="1" i="1" smtClean="0">
                            <a:latin typeface="Cambria Math" panose="02040503050406030204" pitchFamily="18" charset="0"/>
                          </a:rPr>
                          <m:t>𝒂𝒓𝒐𝒖𝒏𝒅</m:t>
                        </m:r>
                        <m:r>
                          <a:rPr lang="en-US" b="1" i="1" smtClean="0">
                            <a:latin typeface="Cambria Math" panose="02040503050406030204" pitchFamily="18" charset="0"/>
                          </a:rPr>
                          <m:t> (</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r>
                      <a:rPr lang="en-US" b="1" i="1" smtClean="0">
                        <a:latin typeface="Cambria Math" panose="02040503050406030204" pitchFamily="18" charset="0"/>
                      </a:rPr>
                      <m:t>∗</m:t>
                    </m:r>
                    <m:r>
                      <a:rPr lang="en-US" b="1" i="1" smtClean="0">
                        <a:latin typeface="Cambria Math" panose="02040503050406030204" pitchFamily="18" charset="0"/>
                      </a:rPr>
                      <m:t>𝑹</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m:t>
                        </m:r>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sub>
                    </m:sSub>
                  </m:oMath>
                </a14:m>
                <a:endParaRPr lang="he-IL" b="1" dirty="0"/>
              </a:p>
            </p:txBody>
          </p:sp>
        </mc:Choice>
        <mc:Fallback xmlns="">
          <p:sp>
            <p:nvSpPr>
              <p:cNvPr id="12" name="Rectangle 11">
                <a:extLst>
                  <a:ext uri="{FF2B5EF4-FFF2-40B4-BE49-F238E27FC236}">
                    <a16:creationId xmlns:a16="http://schemas.microsoft.com/office/drawing/2014/main" id="{FD3E6E08-D9AE-572E-FDB9-34DCD0868360}"/>
                  </a:ext>
                </a:extLst>
              </p:cNvPr>
              <p:cNvSpPr>
                <a:spLocks noRot="1" noChangeAspect="1" noMove="1" noResize="1" noEditPoints="1" noAdjustHandles="1" noChangeArrowheads="1" noChangeShapeType="1" noTextEdit="1"/>
              </p:cNvSpPr>
              <p:nvPr/>
            </p:nvSpPr>
            <p:spPr>
              <a:xfrm>
                <a:off x="2089317" y="5863032"/>
                <a:ext cx="8336605" cy="646331"/>
              </a:xfrm>
              <a:prstGeom prst="rect">
                <a:avLst/>
              </a:prstGeom>
              <a:blipFill>
                <a:blip r:embed="rId5"/>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458097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5</a:t>
            </a:fld>
            <a:endParaRPr lang="he-IL" sz="1600" dirty="0"/>
          </a:p>
        </p:txBody>
      </p:sp>
      <p:sp>
        <p:nvSpPr>
          <p:cNvPr id="2" name="TextBox 1">
            <a:extLst>
              <a:ext uri="{FF2B5EF4-FFF2-40B4-BE49-F238E27FC236}">
                <a16:creationId xmlns:a16="http://schemas.microsoft.com/office/drawing/2014/main" id="{5293F3E6-F5D3-E59F-AA26-68A165E52837}"/>
              </a:ext>
            </a:extLst>
          </p:cNvPr>
          <p:cNvSpPr txBox="1"/>
          <p:nvPr/>
        </p:nvSpPr>
        <p:spPr>
          <a:xfrm>
            <a:off x="461932" y="0"/>
            <a:ext cx="11221495" cy="523220"/>
          </a:xfrm>
          <a:prstGeom prst="rect">
            <a:avLst/>
          </a:prstGeom>
          <a:noFill/>
        </p:spPr>
        <p:txBody>
          <a:bodyPr wrap="square">
            <a:spAutoFit/>
          </a:bodyPr>
          <a:lstStyle/>
          <a:p>
            <a:pPr algn="ctr"/>
            <a:r>
              <a:rPr lang="en-US" sz="2800" b="1" u="sng" dirty="0">
                <a:solidFill>
                  <a:srgbClr val="0070C0"/>
                </a:solidFill>
              </a:rPr>
              <a:t>31.1 – mathematical background about affine transformations-</a:t>
            </a:r>
            <a:r>
              <a:rPr lang="en-US" sz="2800" b="1" u="sng" dirty="0">
                <a:solidFill>
                  <a:srgbClr val="FF0000"/>
                </a:solidFill>
              </a:rPr>
              <a:t>part 3 </a:t>
            </a:r>
            <a:endParaRPr lang="en-IL" sz="2800" u="sng" dirty="0">
              <a:solidFill>
                <a:srgbClr val="FF0000"/>
              </a:solidFill>
              <a:latin typeface="Cooper Black" panose="0208090404030B020404" pitchFamily="18" charset="0"/>
            </a:endParaRPr>
          </a:p>
        </p:txBody>
      </p:sp>
      <p:sp>
        <p:nvSpPr>
          <p:cNvPr id="3" name="Arrow: Right 2">
            <a:extLst>
              <a:ext uri="{FF2B5EF4-FFF2-40B4-BE49-F238E27FC236}">
                <a16:creationId xmlns:a16="http://schemas.microsoft.com/office/drawing/2014/main" id="{45975AFD-D74D-4FFD-8D64-98E0EEACDCDA}"/>
              </a:ext>
            </a:extLst>
          </p:cNvPr>
          <p:cNvSpPr/>
          <p:nvPr/>
        </p:nvSpPr>
        <p:spPr>
          <a:xfrm>
            <a:off x="609619" y="671802"/>
            <a:ext cx="1670423" cy="5593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0AA460-A336-EE51-B2BF-F961422A366D}"/>
                  </a:ext>
                </a:extLst>
              </p:cNvPr>
              <p:cNvSpPr txBox="1"/>
              <p:nvPr/>
            </p:nvSpPr>
            <p:spPr>
              <a:xfrm>
                <a:off x="2455140" y="766824"/>
                <a:ext cx="8134511" cy="66826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total matrix for the operation of will be comprised of the 6 matrix (=6 steps):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𝑦</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sub>
                      </m:sSub>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𝑥</m:t>
                          </m:r>
                        </m:sub>
                      </m:sSub>
                    </m:oMath>
                  </m:oMathPara>
                </a14:m>
                <a:endParaRPr lang="he-IL" dirty="0"/>
              </a:p>
            </p:txBody>
          </p:sp>
        </mc:Choice>
        <mc:Fallback xmlns="">
          <p:sp>
            <p:nvSpPr>
              <p:cNvPr id="5" name="TextBox 4">
                <a:extLst>
                  <a:ext uri="{FF2B5EF4-FFF2-40B4-BE49-F238E27FC236}">
                    <a16:creationId xmlns:a16="http://schemas.microsoft.com/office/drawing/2014/main" id="{9C0AA460-A336-EE51-B2BF-F961422A366D}"/>
                  </a:ext>
                </a:extLst>
              </p:cNvPr>
              <p:cNvSpPr txBox="1">
                <a:spLocks noRot="1" noChangeAspect="1" noMove="1" noResize="1" noEditPoints="1" noAdjustHandles="1" noChangeArrowheads="1" noChangeShapeType="1" noTextEdit="1"/>
              </p:cNvSpPr>
              <p:nvPr/>
            </p:nvSpPr>
            <p:spPr>
              <a:xfrm>
                <a:off x="2455140" y="766824"/>
                <a:ext cx="8134511" cy="668260"/>
              </a:xfrm>
              <a:prstGeom prst="rect">
                <a:avLst/>
              </a:prstGeom>
              <a:blipFill>
                <a:blip r:embed="rId2"/>
                <a:stretch>
                  <a:fillRect/>
                </a:stretch>
              </a:blipFill>
            </p:spPr>
            <p:txBody>
              <a:bodyPr/>
              <a:lstStyle/>
              <a:p>
                <a:r>
                  <a:rPr lang="he-IL">
                    <a:noFill/>
                  </a:rPr>
                  <a:t> </a:t>
                </a:r>
              </a:p>
            </p:txBody>
          </p:sp>
        </mc:Fallback>
      </mc:AlternateContent>
      <p:sp>
        <p:nvSpPr>
          <p:cNvPr id="6" name="Arrow: Down 5">
            <a:extLst>
              <a:ext uri="{FF2B5EF4-FFF2-40B4-BE49-F238E27FC236}">
                <a16:creationId xmlns:a16="http://schemas.microsoft.com/office/drawing/2014/main" id="{B63E58C9-0869-D6B9-2980-901F50ED867D}"/>
              </a:ext>
            </a:extLst>
          </p:cNvPr>
          <p:cNvSpPr/>
          <p:nvPr/>
        </p:nvSpPr>
        <p:spPr>
          <a:xfrm>
            <a:off x="5924145" y="161479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TextBox 6">
            <a:extLst>
              <a:ext uri="{FF2B5EF4-FFF2-40B4-BE49-F238E27FC236}">
                <a16:creationId xmlns:a16="http://schemas.microsoft.com/office/drawing/2014/main" id="{49DBFFC1-B06D-6046-DC5A-C7F5EDC853D1}"/>
              </a:ext>
            </a:extLst>
          </p:cNvPr>
          <p:cNvSpPr txBox="1"/>
          <p:nvPr/>
        </p:nvSpPr>
        <p:spPr>
          <a:xfrm>
            <a:off x="2455139" y="2914841"/>
            <a:ext cx="822583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task is : “Scale an image in the X direction by a factor </a:t>
            </a:r>
            <a:r>
              <a:rPr lang="en-US" dirty="0" err="1"/>
              <a:t>Sx</a:t>
            </a:r>
            <a:r>
              <a:rPr lang="en-US" dirty="0"/>
              <a:t> = 1.13 , Move it 40 pixels LEFT , Rotate it clockwise to 17 degrees around the point {x = 20, y = 10 } , </a:t>
            </a:r>
          </a:p>
          <a:p>
            <a:r>
              <a:rPr lang="en-US" dirty="0"/>
              <a:t>Scale an image in the y direction by a factor Sy = 2.13.</a:t>
            </a:r>
          </a:p>
        </p:txBody>
      </p:sp>
      <p:sp>
        <p:nvSpPr>
          <p:cNvPr id="8" name="Arrow: Down 7">
            <a:extLst>
              <a:ext uri="{FF2B5EF4-FFF2-40B4-BE49-F238E27FC236}">
                <a16:creationId xmlns:a16="http://schemas.microsoft.com/office/drawing/2014/main" id="{9D230D6E-55A3-0C28-18F3-42E9EAFCA5AA}"/>
              </a:ext>
            </a:extLst>
          </p:cNvPr>
          <p:cNvSpPr/>
          <p:nvPr/>
        </p:nvSpPr>
        <p:spPr>
          <a:xfrm>
            <a:off x="5924145" y="3970901"/>
            <a:ext cx="642025" cy="11673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A82ED9-4AD2-B599-3014-5B5C97EAA917}"/>
                  </a:ext>
                </a:extLst>
              </p:cNvPr>
              <p:cNvSpPr txBox="1"/>
              <p:nvPr/>
            </p:nvSpPr>
            <p:spPr>
              <a:xfrm>
                <a:off x="3196477" y="5242277"/>
                <a:ext cx="6424178" cy="665888"/>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The total matrix for the operation with final numbers will be :</a:t>
                </a:r>
              </a:p>
              <a:p>
                <a:pPr/>
                <a14:m>
                  <m:oMathPara xmlns:m="http://schemas.openxmlformats.org/officeDocument/2006/math">
                    <m:oMathParaPr>
                      <m:jc m:val="centerGroup"/>
                    </m:oMathParaPr>
                    <m:oMath xmlns:m="http://schemas.openxmlformats.org/officeDocument/2006/math">
                      <m:r>
                        <a:rPr lang="en-US" b="1" i="1" smtClean="0">
                          <a:solidFill>
                            <a:srgbClr val="FFFF00"/>
                          </a:solidFill>
                          <a:latin typeface="Cambria Math" panose="02040503050406030204" pitchFamily="18" charset="0"/>
                        </a:rPr>
                        <m:t>𝑨</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𝟐</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𝑹</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𝑻</m:t>
                          </m:r>
                        </m:e>
                        <m:sub>
                          <m:d>
                            <m:dPr>
                              <m:ctrlPr>
                                <a:rPr lang="en-US" b="1" i="1" smtClean="0">
                                  <a:solidFill>
                                    <a:srgbClr val="FFFF00"/>
                                  </a:solidFill>
                                  <a:latin typeface="Cambria Math" panose="02040503050406030204" pitchFamily="18" charset="0"/>
                                </a:rPr>
                              </m:ctrlPr>
                            </m:dPr>
                            <m:e>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𝟐𝟎</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𝟏𝟎</m:t>
                              </m:r>
                            </m:e>
                          </m:d>
                        </m:sub>
                      </m:sSub>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𝑻</m:t>
                      </m:r>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𝑺</m:t>
                          </m:r>
                        </m:e>
                        <m:sub>
                          <m:r>
                            <a:rPr lang="en-US" b="1" i="1" smtClean="0">
                              <a:solidFill>
                                <a:srgbClr val="FFFF00"/>
                              </a:solidFill>
                              <a:latin typeface="Cambria Math" panose="02040503050406030204" pitchFamily="18" charset="0"/>
                            </a:rPr>
                            <m:t>𝟏</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𝟏𝟑</m:t>
                          </m:r>
                        </m:sub>
                      </m:sSub>
                    </m:oMath>
                  </m:oMathPara>
                </a14:m>
                <a:endParaRPr lang="he-IL" b="1" dirty="0">
                  <a:solidFill>
                    <a:srgbClr val="FFFF00"/>
                  </a:solidFill>
                </a:endParaRPr>
              </a:p>
            </p:txBody>
          </p:sp>
        </mc:Choice>
        <mc:Fallback xmlns="">
          <p:sp>
            <p:nvSpPr>
              <p:cNvPr id="9" name="TextBox 8">
                <a:extLst>
                  <a:ext uri="{FF2B5EF4-FFF2-40B4-BE49-F238E27FC236}">
                    <a16:creationId xmlns:a16="http://schemas.microsoft.com/office/drawing/2014/main" id="{CEA82ED9-4AD2-B599-3014-5B5C97EAA917}"/>
                  </a:ext>
                </a:extLst>
              </p:cNvPr>
              <p:cNvSpPr txBox="1">
                <a:spLocks noRot="1" noChangeAspect="1" noMove="1" noResize="1" noEditPoints="1" noAdjustHandles="1" noChangeArrowheads="1" noChangeShapeType="1" noTextEdit="1"/>
              </p:cNvSpPr>
              <p:nvPr/>
            </p:nvSpPr>
            <p:spPr>
              <a:xfrm>
                <a:off x="3196477" y="5242277"/>
                <a:ext cx="6424178" cy="665888"/>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9198B29-0878-C399-D615-B0FBA7E7D297}"/>
                  </a:ext>
                </a:extLst>
              </p:cNvPr>
              <p:cNvSpPr txBox="1"/>
              <p:nvPr/>
            </p:nvSpPr>
            <p:spPr>
              <a:xfrm>
                <a:off x="3196476" y="5941381"/>
                <a:ext cx="6910561" cy="76950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solidFill>
                      <a:srgbClr val="FFFF00"/>
                    </a:solidFill>
                  </a:rPr>
                  <a:t>In addition, the angle in the cos and sin functions of the rotation matrix has to be in radians – so: </a:t>
                </a:r>
                <a14:m>
                  <m:oMath xmlns:m="http://schemas.openxmlformats.org/officeDocument/2006/math">
                    <m:r>
                      <a:rPr lang="en-US" b="1" i="1" smtClean="0">
                        <a:solidFill>
                          <a:srgbClr val="FFFF00"/>
                        </a:solidFill>
                        <a:latin typeface="Cambria Math" panose="02040503050406030204" pitchFamily="18" charset="0"/>
                      </a:rPr>
                      <m:t>𝜽</m:t>
                    </m:r>
                    <m:r>
                      <a:rPr lang="en-US" b="1" i="1" smtClean="0">
                        <a:solidFill>
                          <a:srgbClr val="FFFF00"/>
                        </a:solidFill>
                        <a:latin typeface="Cambria Math" panose="02040503050406030204" pitchFamily="18" charset="0"/>
                      </a:rPr>
                      <m:t>=−</m:t>
                    </m:r>
                    <m:r>
                      <a:rPr lang="en-US" b="1" i="1" smtClean="0">
                        <a:solidFill>
                          <a:srgbClr val="FFFF00"/>
                        </a:solidFill>
                        <a:latin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m:t>
                    </m:r>
                    <m:f>
                      <m:fPr>
                        <m:ctrlPr>
                          <a:rPr lang="en-US" b="1" i="1" smtClean="0">
                            <a:solidFill>
                              <a:srgbClr val="FFFF00"/>
                            </a:solidFill>
                            <a:latin typeface="Cambria Math" panose="02040503050406030204" pitchFamily="18" charset="0"/>
                            <a:ea typeface="Cambria Math" panose="02040503050406030204" pitchFamily="18" charset="0"/>
                          </a:rPr>
                        </m:ctrlPr>
                      </m:fPr>
                      <m:num>
                        <m:r>
                          <a:rPr lang="en-US" b="1" i="1" smtClean="0">
                            <a:solidFill>
                              <a:srgbClr val="FFFF00"/>
                            </a:solidFill>
                            <a:latin typeface="Cambria Math" panose="02040503050406030204" pitchFamily="18" charset="0"/>
                            <a:ea typeface="Cambria Math" panose="02040503050406030204" pitchFamily="18" charset="0"/>
                          </a:rPr>
                          <m:t>𝟏𝟕</m:t>
                        </m:r>
                        <m:r>
                          <a:rPr lang="en-US" b="1" i="1" smtClean="0">
                            <a:solidFill>
                              <a:srgbClr val="FFFF00"/>
                            </a:solidFill>
                            <a:latin typeface="Cambria Math" panose="02040503050406030204" pitchFamily="18" charset="0"/>
                            <a:ea typeface="Cambria Math" panose="02040503050406030204" pitchFamily="18" charset="0"/>
                          </a:rPr>
                          <m:t>𝝅</m:t>
                        </m:r>
                      </m:num>
                      <m:den>
                        <m:r>
                          <a:rPr lang="en-US" b="1" i="1" smtClean="0">
                            <a:solidFill>
                              <a:srgbClr val="FFFF00"/>
                            </a:solidFill>
                            <a:latin typeface="Cambria Math" panose="02040503050406030204" pitchFamily="18" charset="0"/>
                            <a:ea typeface="Cambria Math" panose="02040503050406030204" pitchFamily="18" charset="0"/>
                          </a:rPr>
                          <m:t>𝟏𝟖𝟎</m:t>
                        </m:r>
                      </m:den>
                    </m:f>
                    <m:r>
                      <a:rPr lang="en-US" b="1" i="1" smtClean="0">
                        <a:solidFill>
                          <a:srgbClr val="FFFF00"/>
                        </a:solidFill>
                        <a:latin typeface="Cambria Math" panose="02040503050406030204" pitchFamily="18" charset="0"/>
                        <a:ea typeface="Cambria Math" panose="02040503050406030204" pitchFamily="18" charset="0"/>
                      </a:rPr>
                      <m:t> [</m:t>
                    </m:r>
                    <m:r>
                      <a:rPr lang="en-US" b="1" i="1" smtClean="0">
                        <a:solidFill>
                          <a:srgbClr val="FFFF00"/>
                        </a:solidFill>
                        <a:latin typeface="Cambria Math" panose="02040503050406030204" pitchFamily="18" charset="0"/>
                        <a:ea typeface="Cambria Math" panose="02040503050406030204" pitchFamily="18" charset="0"/>
                      </a:rPr>
                      <m:t>𝒓𝒂𝒅</m:t>
                    </m:r>
                    <m:r>
                      <a:rPr lang="en-US" b="1" i="1" smtClean="0">
                        <a:solidFill>
                          <a:srgbClr val="FFFF00"/>
                        </a:solidFill>
                        <a:latin typeface="Cambria Math" panose="02040503050406030204" pitchFamily="18" charset="0"/>
                        <a:ea typeface="Cambria Math" panose="02040503050406030204" pitchFamily="18" charset="0"/>
                      </a:rPr>
                      <m:t>]</m:t>
                    </m:r>
                  </m:oMath>
                </a14:m>
                <a:r>
                  <a:rPr lang="en-US" b="1" dirty="0">
                    <a:solidFill>
                      <a:srgbClr val="FFFF00"/>
                    </a:solidFill>
                  </a:rPr>
                  <a:t> </a:t>
                </a:r>
                <a:endParaRPr lang="he-IL" b="1" dirty="0">
                  <a:solidFill>
                    <a:srgbClr val="FFFF00"/>
                  </a:solidFill>
                </a:endParaRPr>
              </a:p>
            </p:txBody>
          </p:sp>
        </mc:Choice>
        <mc:Fallback xmlns="">
          <p:sp>
            <p:nvSpPr>
              <p:cNvPr id="11" name="TextBox 10">
                <a:extLst>
                  <a:ext uri="{FF2B5EF4-FFF2-40B4-BE49-F238E27FC236}">
                    <a16:creationId xmlns:a16="http://schemas.microsoft.com/office/drawing/2014/main" id="{09198B29-0878-C399-D615-B0FBA7E7D297}"/>
                  </a:ext>
                </a:extLst>
              </p:cNvPr>
              <p:cNvSpPr txBox="1">
                <a:spLocks noRot="1" noChangeAspect="1" noMove="1" noResize="1" noEditPoints="1" noAdjustHandles="1" noChangeArrowheads="1" noChangeShapeType="1" noTextEdit="1"/>
              </p:cNvSpPr>
              <p:nvPr/>
            </p:nvSpPr>
            <p:spPr>
              <a:xfrm>
                <a:off x="3196476" y="5941381"/>
                <a:ext cx="6910561" cy="769506"/>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928544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6</a:t>
            </a:fld>
            <a:endParaRPr lang="he-IL" sz="1600" dirty="0"/>
          </a:p>
        </p:txBody>
      </p:sp>
      <p:pic>
        <p:nvPicPr>
          <p:cNvPr id="9" name="Picture 8">
            <a:extLst>
              <a:ext uri="{FF2B5EF4-FFF2-40B4-BE49-F238E27FC236}">
                <a16:creationId xmlns:a16="http://schemas.microsoft.com/office/drawing/2014/main" id="{D657F89D-9164-D5EF-5E62-CA28E8ED3683}"/>
              </a:ext>
            </a:extLst>
          </p:cNvPr>
          <p:cNvPicPr>
            <a:picLocks noChangeAspect="1"/>
          </p:cNvPicPr>
          <p:nvPr/>
        </p:nvPicPr>
        <p:blipFill>
          <a:blip r:embed="rId2"/>
          <a:stretch>
            <a:fillRect/>
          </a:stretch>
        </p:blipFill>
        <p:spPr>
          <a:xfrm>
            <a:off x="1264596" y="1169480"/>
            <a:ext cx="4831404" cy="4328133"/>
          </a:xfrm>
          <a:prstGeom prst="rect">
            <a:avLst/>
          </a:prstGeom>
        </p:spPr>
      </p:pic>
      <p:sp>
        <p:nvSpPr>
          <p:cNvPr id="11" name="TextBox 10">
            <a:extLst>
              <a:ext uri="{FF2B5EF4-FFF2-40B4-BE49-F238E27FC236}">
                <a16:creationId xmlns:a16="http://schemas.microsoft.com/office/drawing/2014/main" id="{6BA87945-8D37-D8C5-211B-F0FB69E277AB}"/>
              </a:ext>
            </a:extLst>
          </p:cNvPr>
          <p:cNvSpPr txBox="1"/>
          <p:nvPr/>
        </p:nvSpPr>
        <p:spPr>
          <a:xfrm>
            <a:off x="6587566" y="2054287"/>
            <a:ext cx="5119181" cy="2031325"/>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AffineTransformParams</a:t>
            </a:r>
            <a:r>
              <a:rPr lang="en-US" dirty="0"/>
              <a:t> holds six coefficients (</a:t>
            </a:r>
            <a:r>
              <a:rPr lang="en-US" u="sng" dirty="0"/>
              <a:t>matrices</a:t>
            </a:r>
            <a:r>
              <a:rPr lang="en-US" dirty="0"/>
              <a:t> in fact) that control how the image is transformed (stretched, moved, and rotated).</a:t>
            </a:r>
          </a:p>
          <a:p>
            <a:pPr marL="342900" indent="-342900">
              <a:buFont typeface="+mj-lt"/>
              <a:buAutoNum type="alphaLcParenR"/>
            </a:pPr>
            <a:r>
              <a:rPr lang="en-US" dirty="0"/>
              <a:t>a11, a12, a21, a22 - control how the image is stretched or rotated.</a:t>
            </a:r>
          </a:p>
          <a:p>
            <a:pPr marL="342900" indent="-342900">
              <a:buFont typeface="+mj-lt"/>
              <a:buAutoNum type="alphaLcParenR"/>
            </a:pPr>
            <a:r>
              <a:rPr lang="en-US" dirty="0"/>
              <a:t>b1, b2 control how the image is moved (up, down, left, or right).</a:t>
            </a:r>
            <a:endParaRPr lang="he-IL" dirty="0"/>
          </a:p>
        </p:txBody>
      </p:sp>
      <p:sp>
        <p:nvSpPr>
          <p:cNvPr id="17" name="TextBox 16">
            <a:extLst>
              <a:ext uri="{FF2B5EF4-FFF2-40B4-BE49-F238E27FC236}">
                <a16:creationId xmlns:a16="http://schemas.microsoft.com/office/drawing/2014/main" id="{88196096-93E3-0CBC-7946-7F30BCF17CFD}"/>
              </a:ext>
            </a:extLst>
          </p:cNvPr>
          <p:cNvSpPr txBox="1"/>
          <p:nvPr/>
        </p:nvSpPr>
        <p:spPr>
          <a:xfrm>
            <a:off x="6515099" y="1210630"/>
            <a:ext cx="5363995"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b="1" dirty="0"/>
              <a:t>NearestNeigbor</a:t>
            </a:r>
            <a:r>
              <a:rPr lang="en-US" dirty="0"/>
              <a:t> and </a:t>
            </a:r>
            <a:r>
              <a:rPr lang="en-US" b="1" dirty="0"/>
              <a:t>Bilinear</a:t>
            </a:r>
            <a:r>
              <a:rPr lang="en-US" dirty="0"/>
              <a:t>: These are the two methods we are going to use. </a:t>
            </a:r>
            <a:endParaRPr lang="he-I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E710152-245F-31B8-9442-5BD5582B92E0}"/>
                  </a:ext>
                </a:extLst>
              </p:cNvPr>
              <p:cNvSpPr txBox="1"/>
              <p:nvPr/>
            </p:nvSpPr>
            <p:spPr>
              <a:xfrm>
                <a:off x="6567299" y="4322163"/>
                <a:ext cx="5022714" cy="1170385"/>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struct holds the parameters of the affine transformation matrix:</a:t>
                </a:r>
              </a:p>
              <a:p>
                <a:pPr/>
                <a14:m>
                  <m:oMathPara xmlns:m="http://schemas.openxmlformats.org/officeDocument/2006/math">
                    <m:oMathParaPr>
                      <m:jc m:val="centerGroup"/>
                    </m:oMathParaPr>
                    <m:oMath xmlns:m="http://schemas.openxmlformats.org/officeDocument/2006/math">
                      <m:d>
                        <m:dPr>
                          <m:begChr m:val="["/>
                          <m:endChr m:val="]"/>
                          <m:ctrlPr>
                            <a:rPr lang="en-US" b="0" i="1" dirty="0" smtClean="0">
                              <a:latin typeface="Cambria Math" panose="02040503050406030204" pitchFamily="18" charset="0"/>
                            </a:rPr>
                          </m:ctrlPr>
                        </m:dPr>
                        <m:e>
                          <m:m>
                            <m:mPr>
                              <m:mcs>
                                <m:mc>
                                  <m:mcPr>
                                    <m:count m:val="3"/>
                                    <m:mcJc m:val="center"/>
                                  </m:mcPr>
                                </m:mc>
                              </m:mcs>
                              <m:ctrlPr>
                                <a:rPr lang="en-US" i="1" dirty="0">
                                  <a:latin typeface="Cambria Math" panose="02040503050406030204" pitchFamily="18" charset="0"/>
                                </a:rPr>
                              </m:ctrlPr>
                            </m:mPr>
                            <m:mr>
                              <m:e>
                                <m:sSub>
                                  <m:sSubPr>
                                    <m:ctrlPr>
                                      <a:rPr lang="en-US" i="1" dirty="0">
                                        <a:latin typeface="Cambria Math" panose="02040503050406030204" pitchFamily="18" charset="0"/>
                                      </a:rPr>
                                    </m:ctrlPr>
                                  </m:sSubPr>
                                  <m:e>
                                    <m:r>
                                      <m:rPr>
                                        <m:brk m:alnAt="7"/>
                                      </m:rPr>
                                      <a:rPr lang="en-US" i="1" dirty="0">
                                        <a:latin typeface="Cambria Math" panose="02040503050406030204" pitchFamily="18" charset="0"/>
                                      </a:rPr>
                                      <m:t>𝑎</m:t>
                                    </m:r>
                                  </m:e>
                                  <m:sub>
                                    <m:r>
                                      <m:rPr>
                                        <m:brk m:alnAt="7"/>
                                      </m:rPr>
                                      <a:rPr lang="en-US" i="1" dirty="0">
                                        <a:latin typeface="Cambria Math" panose="02040503050406030204" pitchFamily="18" charset="0"/>
                                      </a:rPr>
                                      <m:t>1</m:t>
                                    </m:r>
                                    <m:r>
                                      <a:rPr lang="en-US" i="1" dirty="0">
                                        <a:latin typeface="Cambria Math" panose="02040503050406030204" pitchFamily="18" charset="0"/>
                                      </a:rPr>
                                      <m:t>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12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1</m:t>
                                    </m:r>
                                  </m:sub>
                                </m:sSub>
                              </m:e>
                            </m:mr>
                            <m:mr>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21</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𝑎</m:t>
                                    </m:r>
                                  </m:e>
                                  <m:sub>
                                    <m:r>
                                      <a:rPr lang="en-US" i="1" dirty="0">
                                        <a:latin typeface="Cambria Math" panose="02040503050406030204" pitchFamily="18" charset="0"/>
                                      </a:rPr>
                                      <m:t>22</m:t>
                                    </m:r>
                                  </m:sub>
                                </m:sSub>
                              </m:e>
                              <m:e>
                                <m:sSub>
                                  <m:sSubPr>
                                    <m:ctrlPr>
                                      <a:rPr lang="en-US"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2</m:t>
                                    </m:r>
                                  </m:sub>
                                </m:sSub>
                              </m:e>
                            </m:mr>
                          </m:m>
                        </m:e>
                      </m:d>
                    </m:oMath>
                  </m:oMathPara>
                </a14:m>
                <a:endParaRPr lang="he-IL" dirty="0"/>
              </a:p>
            </p:txBody>
          </p:sp>
        </mc:Choice>
        <mc:Fallback xmlns="">
          <p:sp>
            <p:nvSpPr>
              <p:cNvPr id="19" name="TextBox 18">
                <a:extLst>
                  <a:ext uri="{FF2B5EF4-FFF2-40B4-BE49-F238E27FC236}">
                    <a16:creationId xmlns:a16="http://schemas.microsoft.com/office/drawing/2014/main" id="{CE710152-245F-31B8-9442-5BD5582B92E0}"/>
                  </a:ext>
                </a:extLst>
              </p:cNvPr>
              <p:cNvSpPr txBox="1">
                <a:spLocks noRot="1" noChangeAspect="1" noMove="1" noResize="1" noEditPoints="1" noAdjustHandles="1" noChangeArrowheads="1" noChangeShapeType="1" noTextEdit="1"/>
              </p:cNvSpPr>
              <p:nvPr/>
            </p:nvSpPr>
            <p:spPr>
              <a:xfrm>
                <a:off x="6567299" y="4322163"/>
                <a:ext cx="5022714" cy="1170385"/>
              </a:xfrm>
              <a:prstGeom prst="rect">
                <a:avLst/>
              </a:prstGeom>
              <a:blipFill>
                <a:blip r:embed="rId3"/>
                <a:stretch>
                  <a:fillRect/>
                </a:stretch>
              </a:blipFill>
            </p:spPr>
            <p:txBody>
              <a:bodyPr/>
              <a:lstStyle/>
              <a:p>
                <a:r>
                  <a:rPr lang="he-IL">
                    <a:noFill/>
                  </a:rPr>
                  <a:t> </a:t>
                </a:r>
              </a:p>
            </p:txBody>
          </p:sp>
        </mc:Fallback>
      </mc:AlternateContent>
      <p:sp>
        <p:nvSpPr>
          <p:cNvPr id="2" name="TextBox 1">
            <a:extLst>
              <a:ext uri="{FF2B5EF4-FFF2-40B4-BE49-F238E27FC236}">
                <a16:creationId xmlns:a16="http://schemas.microsoft.com/office/drawing/2014/main" id="{66D47B31-496B-9B70-FFC5-30887D79F4E6}"/>
              </a:ext>
            </a:extLst>
          </p:cNvPr>
          <p:cNvSpPr txBox="1"/>
          <p:nvPr/>
        </p:nvSpPr>
        <p:spPr>
          <a:xfrm>
            <a:off x="485252" y="42283"/>
            <a:ext cx="11221495" cy="523220"/>
          </a:xfrm>
          <a:prstGeom prst="rect">
            <a:avLst/>
          </a:prstGeom>
          <a:noFill/>
        </p:spPr>
        <p:txBody>
          <a:bodyPr wrap="square">
            <a:spAutoFit/>
          </a:bodyPr>
          <a:lstStyle/>
          <a:p>
            <a:pPr algn="ctr"/>
            <a:r>
              <a:rPr lang="en-US" sz="2800" b="1" u="sng" dirty="0">
                <a:solidFill>
                  <a:srgbClr val="0070C0"/>
                </a:solidFill>
              </a:rPr>
              <a:t>31.2 –”AffineTransformParams” struct and constants </a:t>
            </a:r>
            <a:endParaRPr lang="en-IL" sz="2800" b="1" u="sng" dirty="0">
              <a:solidFill>
                <a:srgbClr val="0070C0"/>
              </a:solidFill>
            </a:endParaRPr>
          </a:p>
        </p:txBody>
      </p:sp>
    </p:spTree>
    <p:extLst>
      <p:ext uri="{BB962C8B-B14F-4D97-AF65-F5344CB8AC3E}">
        <p14:creationId xmlns:p14="http://schemas.microsoft.com/office/powerpoint/2010/main" val="655129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ECF744D-9711-9B18-E39A-10A2B139D94B}"/>
              </a:ext>
            </a:extLst>
          </p:cNvPr>
          <p:cNvSpPr>
            <a:spLocks noGrp="1"/>
          </p:cNvSpPr>
          <p:nvPr>
            <p:ph type="sldNum" sz="quarter" idx="12"/>
          </p:nvPr>
        </p:nvSpPr>
        <p:spPr>
          <a:xfrm>
            <a:off x="11851533" y="0"/>
            <a:ext cx="312906" cy="365125"/>
          </a:xfrm>
        </p:spPr>
        <p:txBody>
          <a:bodyPr/>
          <a:lstStyle/>
          <a:p>
            <a:fld id="{1E5BF412-EFCF-4C51-A2DF-B419076696E3}" type="slidenum">
              <a:rPr lang="he-IL" sz="1600" smtClean="0"/>
              <a:t>7</a:t>
            </a:fld>
            <a:endParaRPr lang="he-IL" sz="1600" dirty="0"/>
          </a:p>
        </p:txBody>
      </p:sp>
      <p:pic>
        <p:nvPicPr>
          <p:cNvPr id="6" name="Picture 5">
            <a:extLst>
              <a:ext uri="{FF2B5EF4-FFF2-40B4-BE49-F238E27FC236}">
                <a16:creationId xmlns:a16="http://schemas.microsoft.com/office/drawing/2014/main" id="{0C692FF0-0254-D1F8-9D61-7FCC5C8525C9}"/>
              </a:ext>
            </a:extLst>
          </p:cNvPr>
          <p:cNvPicPr>
            <a:picLocks noChangeAspect="1"/>
          </p:cNvPicPr>
          <p:nvPr/>
        </p:nvPicPr>
        <p:blipFill>
          <a:blip r:embed="rId3"/>
          <a:stretch>
            <a:fillRect/>
          </a:stretch>
        </p:blipFill>
        <p:spPr>
          <a:xfrm>
            <a:off x="584773" y="1265125"/>
            <a:ext cx="10467975" cy="2895600"/>
          </a:xfrm>
          <a:prstGeom prst="rect">
            <a:avLst/>
          </a:prstGeom>
        </p:spPr>
      </p:pic>
      <p:sp>
        <p:nvSpPr>
          <p:cNvPr id="9" name="TextBox 8">
            <a:extLst>
              <a:ext uri="{FF2B5EF4-FFF2-40B4-BE49-F238E27FC236}">
                <a16:creationId xmlns:a16="http://schemas.microsoft.com/office/drawing/2014/main" id="{E426CCBE-42E3-086B-BF2E-9165E53B18A3}"/>
              </a:ext>
            </a:extLst>
          </p:cNvPr>
          <p:cNvSpPr txBox="1"/>
          <p:nvPr/>
        </p:nvSpPr>
        <p:spPr>
          <a:xfrm>
            <a:off x="117787" y="427500"/>
            <a:ext cx="11956425" cy="646331"/>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This function calculates the inverse of the affine transformation. If you think of the affine transformation as an operation that maps coordinates from the original image to the transformed image, this function reverses that operation.</a:t>
            </a:r>
            <a:endParaRPr lang="he-IL" dirty="0"/>
          </a:p>
        </p:txBody>
      </p:sp>
      <p:sp>
        <p:nvSpPr>
          <p:cNvPr id="2" name="TextBox 1">
            <a:extLst>
              <a:ext uri="{FF2B5EF4-FFF2-40B4-BE49-F238E27FC236}">
                <a16:creationId xmlns:a16="http://schemas.microsoft.com/office/drawing/2014/main" id="{62E62BD9-ADD8-F813-C969-969FF6CE7B5A}"/>
              </a:ext>
            </a:extLst>
          </p:cNvPr>
          <p:cNvSpPr txBox="1"/>
          <p:nvPr/>
        </p:nvSpPr>
        <p:spPr>
          <a:xfrm>
            <a:off x="208014" y="-43802"/>
            <a:ext cx="11221495" cy="523220"/>
          </a:xfrm>
          <a:prstGeom prst="rect">
            <a:avLst/>
          </a:prstGeom>
          <a:noFill/>
        </p:spPr>
        <p:txBody>
          <a:bodyPr wrap="square">
            <a:spAutoFit/>
          </a:bodyPr>
          <a:lstStyle/>
          <a:p>
            <a:pPr algn="ctr"/>
            <a:r>
              <a:rPr lang="en-US" sz="2800" b="1" u="sng" dirty="0">
                <a:solidFill>
                  <a:srgbClr val="0070C0"/>
                </a:solidFill>
              </a:rPr>
              <a:t>31.3 –” CalculateReverseAffineTransform” function – </a:t>
            </a:r>
            <a:r>
              <a:rPr lang="en-US" sz="2800" b="1" u="sng" dirty="0">
                <a:solidFill>
                  <a:srgbClr val="FF0000"/>
                </a:solidFill>
              </a:rPr>
              <a:t>part 1</a:t>
            </a:r>
            <a:endParaRPr lang="en-IL" sz="2800" b="1" u="sng" dirty="0">
              <a:solidFill>
                <a:srgbClr val="FF000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C4E885-8935-82EA-B23C-A9F137B27EF9}"/>
                  </a:ext>
                </a:extLst>
              </p:cNvPr>
              <p:cNvSpPr txBox="1"/>
              <p:nvPr/>
            </p:nvSpPr>
            <p:spPr>
              <a:xfrm>
                <a:off x="1162903" y="4361748"/>
                <a:ext cx="9616357" cy="893386"/>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r>
                  <a:rPr lang="en-US" dirty="0"/>
                  <a:t>An affine transformation in 2D space can be represented by a matrix equation of the form:</a:t>
                </a:r>
                <a:br>
                  <a:rPr lang="en-US" dirty="0"/>
                </a:br>
                <a14:m>
                  <m:oMathPara xmlns:m="http://schemas.openxmlformats.org/officeDocument/2006/math">
                    <m:oMathParaPr>
                      <m:jc m:val="centerGroup"/>
                    </m:oMathParaPr>
                    <m:oMath xmlns:m="http://schemas.openxmlformats.org/officeDocument/2006/math">
                      <m:d>
                        <m:dPr>
                          <m:ctrlPr>
                            <a:rPr lang="en-US" b="0"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𝑋</m:t>
                                    </m:r>
                                  </m:e>
                                  <m:sup>
                                    <m:r>
                                      <a:rPr lang="en-US" b="0" i="1" smtClean="0">
                                        <a:latin typeface="Cambria Math" panose="02040503050406030204" pitchFamily="18" charset="0"/>
                                      </a:rPr>
                                      <m:t>′</m:t>
                                    </m:r>
                                  </m:sup>
                                </m:sSup>
                              </m:e>
                            </m:mr>
                            <m:m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𝑌</m:t>
                                    </m:r>
                                  </m:e>
                                  <m:sup>
                                    <m:r>
                                      <a:rPr lang="en-US" b="0" i="1" smtClean="0">
                                        <a:latin typeface="Cambria Math" panose="02040503050406030204" pitchFamily="18" charset="0"/>
                                      </a:rPr>
                                      <m:t>′</m:t>
                                    </m:r>
                                  </m:sup>
                                </m:sSup>
                              </m:e>
                            </m:mr>
                          </m:m>
                        </m:e>
                      </m:d>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𝑎</m:t>
                                    </m:r>
                                  </m:e>
                                  <m:sub>
                                    <m:r>
                                      <m:rPr>
                                        <m:brk m:alnAt="7"/>
                                      </m:rPr>
                                      <a:rPr lang="en-US" b="0" i="1" smtClean="0">
                                        <a:latin typeface="Cambria Math" panose="02040503050406030204" pitchFamily="18" charset="0"/>
                                      </a:rPr>
                                      <m:t>1</m:t>
                                    </m:r>
                                    <m: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12</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22</m:t>
                                    </m:r>
                                  </m:sub>
                                </m:sSub>
                              </m:e>
                            </m:mr>
                          </m:m>
                        </m:e>
                      </m:d>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𝑋</m:t>
                                </m:r>
                              </m:e>
                            </m:mr>
                            <m:mr>
                              <m:e>
                                <m:r>
                                  <a:rPr lang="en-US" b="0" i="1" smtClean="0">
                                    <a:latin typeface="Cambria Math" panose="02040503050406030204" pitchFamily="18" charset="0"/>
                                  </a:rPr>
                                  <m:t>𝑌</m:t>
                                </m:r>
                              </m:e>
                            </m:mr>
                          </m:m>
                        </m:e>
                      </m:d>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𝑏</m:t>
                                    </m:r>
                                  </m:e>
                                  <m:sub>
                                    <m:r>
                                      <m:rPr>
                                        <m:brk m:alnAt="7"/>
                                      </m:rPr>
                                      <a:rPr lang="en-US" b="0" i="1" smtClean="0">
                                        <a:latin typeface="Cambria Math" panose="02040503050406030204" pitchFamily="18" charset="0"/>
                                      </a:rPr>
                                      <m:t>1</m:t>
                                    </m:r>
                                  </m:sub>
                                </m:sSub>
                              </m:e>
                            </m:m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e>
                            </m:mr>
                          </m:m>
                        </m:e>
                      </m:d>
                    </m:oMath>
                  </m:oMathPara>
                </a14:m>
                <a:endParaRPr lang="he-IL" dirty="0"/>
              </a:p>
            </p:txBody>
          </p:sp>
        </mc:Choice>
        <mc:Fallback xmlns="">
          <p:sp>
            <p:nvSpPr>
              <p:cNvPr id="5" name="TextBox 4">
                <a:extLst>
                  <a:ext uri="{FF2B5EF4-FFF2-40B4-BE49-F238E27FC236}">
                    <a16:creationId xmlns:a16="http://schemas.microsoft.com/office/drawing/2014/main" id="{16C4E885-8935-82EA-B23C-A9F137B27EF9}"/>
                  </a:ext>
                </a:extLst>
              </p:cNvPr>
              <p:cNvSpPr txBox="1">
                <a:spLocks noRot="1" noChangeAspect="1" noMove="1" noResize="1" noEditPoints="1" noAdjustHandles="1" noChangeArrowheads="1" noChangeShapeType="1" noTextEdit="1"/>
              </p:cNvSpPr>
              <p:nvPr/>
            </p:nvSpPr>
            <p:spPr>
              <a:xfrm>
                <a:off x="1162903" y="4361748"/>
                <a:ext cx="9616357" cy="893386"/>
              </a:xfrm>
              <a:prstGeom prst="rect">
                <a:avLst/>
              </a:prstGeom>
              <a:blipFill>
                <a:blip r:embed="rId4"/>
                <a:stretch>
                  <a:fillRect/>
                </a:stretch>
              </a:blipFill>
            </p:spPr>
            <p:txBody>
              <a:bodyPr/>
              <a:lstStyle/>
              <a:p>
                <a:r>
                  <a:rPr lang="he-IL">
                    <a:noFill/>
                  </a:rPr>
                  <a:t> </a:t>
                </a:r>
              </a:p>
            </p:txBody>
          </p:sp>
        </mc:Fallback>
      </mc:AlternateContent>
      <p:sp>
        <p:nvSpPr>
          <p:cNvPr id="8" name="TextBox 7">
            <a:extLst>
              <a:ext uri="{FF2B5EF4-FFF2-40B4-BE49-F238E27FC236}">
                <a16:creationId xmlns:a16="http://schemas.microsoft.com/office/drawing/2014/main" id="{4A21F9E3-565B-139D-04DD-526F11721844}"/>
              </a:ext>
            </a:extLst>
          </p:cNvPr>
          <p:cNvSpPr txBox="1"/>
          <p:nvPr/>
        </p:nvSpPr>
        <p:spPr>
          <a:xfrm>
            <a:off x="851618" y="5621962"/>
            <a:ext cx="10395583"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goal of this function is to compute the inverse transformation, which allows </a:t>
            </a:r>
            <a:r>
              <a:rPr lang="en-US" b="1" dirty="0">
                <a:solidFill>
                  <a:srgbClr val="FFFF00"/>
                </a:solidFill>
              </a:rPr>
              <a:t>you to map coordinates from the transformed (destination) image back to the original (source) image.</a:t>
            </a:r>
            <a:endParaRPr lang="he-IL" b="1" dirty="0">
              <a:solidFill>
                <a:srgbClr val="FFFF00"/>
              </a:solidFill>
            </a:endParaRPr>
          </a:p>
        </p:txBody>
      </p:sp>
    </p:spTree>
    <p:extLst>
      <p:ext uri="{BB962C8B-B14F-4D97-AF65-F5344CB8AC3E}">
        <p14:creationId xmlns:p14="http://schemas.microsoft.com/office/powerpoint/2010/main" val="206260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4996F6-FFAE-DEFC-10E3-8C44D3D6F441}"/>
              </a:ext>
            </a:extLst>
          </p:cNvPr>
          <p:cNvSpPr txBox="1"/>
          <p:nvPr/>
        </p:nvSpPr>
        <p:spPr>
          <a:xfrm>
            <a:off x="2098387" y="712502"/>
            <a:ext cx="7995225"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solidFill>
                  <a:srgbClr val="FFFF00"/>
                </a:solidFill>
              </a:rPr>
              <a:t>Important question we asked ourselves during the study on that task: (as a repair of version 1 where we didn’t use the reverse transform)</a:t>
            </a:r>
          </a:p>
          <a:p>
            <a:r>
              <a:rPr lang="en-US" b="1" dirty="0">
                <a:solidFill>
                  <a:srgbClr val="00B050"/>
                </a:solidFill>
              </a:rPr>
              <a:t> why do we even need the reverse affine transform (inverse transform):</a:t>
            </a:r>
          </a:p>
        </p:txBody>
      </p:sp>
      <p:sp>
        <p:nvSpPr>
          <p:cNvPr id="5" name="TextBox 4">
            <a:extLst>
              <a:ext uri="{FF2B5EF4-FFF2-40B4-BE49-F238E27FC236}">
                <a16:creationId xmlns:a16="http://schemas.microsoft.com/office/drawing/2014/main" id="{D9FAA0E9-18F9-D671-98F1-F25CF7A0C17F}"/>
              </a:ext>
            </a:extLst>
          </p:cNvPr>
          <p:cNvSpPr txBox="1"/>
          <p:nvPr/>
        </p:nvSpPr>
        <p:spPr>
          <a:xfrm>
            <a:off x="3022665" y="5642446"/>
            <a:ext cx="5871047"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inverse transform tells you how to "go back" from the destination coordinates to find the corresponding original coordinates in the source image.</a:t>
            </a:r>
            <a:endParaRPr lang="he-IL" b="1" dirty="0"/>
          </a:p>
        </p:txBody>
      </p:sp>
      <p:sp>
        <p:nvSpPr>
          <p:cNvPr id="6" name="TextBox 5">
            <a:extLst>
              <a:ext uri="{FF2B5EF4-FFF2-40B4-BE49-F238E27FC236}">
                <a16:creationId xmlns:a16="http://schemas.microsoft.com/office/drawing/2014/main" id="{874555FB-AA6C-517E-9CC8-668C6DD853F3}"/>
              </a:ext>
            </a:extLst>
          </p:cNvPr>
          <p:cNvSpPr txBox="1"/>
          <p:nvPr/>
        </p:nvSpPr>
        <p:spPr>
          <a:xfrm>
            <a:off x="2098385" y="3708730"/>
            <a:ext cx="7995225"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This is crucial because the transformation may not map pixel-to-pixel perfectly. Instead, we have fractional pixel coordinates in the source image that need to be interpolated. </a:t>
            </a:r>
            <a:endParaRPr lang="he-IL" dirty="0"/>
          </a:p>
        </p:txBody>
      </p:sp>
      <p:sp>
        <p:nvSpPr>
          <p:cNvPr id="7" name="Slide Number Placeholder 5">
            <a:extLst>
              <a:ext uri="{FF2B5EF4-FFF2-40B4-BE49-F238E27FC236}">
                <a16:creationId xmlns:a16="http://schemas.microsoft.com/office/drawing/2014/main" id="{EBBD272C-BD7E-641E-C534-5E3DFA0941FC}"/>
              </a:ext>
            </a:extLst>
          </p:cNvPr>
          <p:cNvSpPr>
            <a:spLocks noGrp="1"/>
          </p:cNvSpPr>
          <p:nvPr>
            <p:ph type="sldNum" sz="quarter" idx="12"/>
          </p:nvPr>
        </p:nvSpPr>
        <p:spPr>
          <a:xfrm>
            <a:off x="11851533" y="0"/>
            <a:ext cx="312906" cy="365125"/>
          </a:xfrm>
        </p:spPr>
        <p:txBody>
          <a:bodyPr/>
          <a:lstStyle/>
          <a:p>
            <a:fld id="{1E5BF412-EFCF-4C51-A2DF-B419076696E3}" type="slidenum">
              <a:rPr lang="he-IL" sz="1600" smtClean="0"/>
              <a:t>8</a:t>
            </a:fld>
            <a:endParaRPr lang="he-IL" sz="1600" dirty="0"/>
          </a:p>
        </p:txBody>
      </p:sp>
      <p:sp>
        <p:nvSpPr>
          <p:cNvPr id="8" name="TextBox 7">
            <a:extLst>
              <a:ext uri="{FF2B5EF4-FFF2-40B4-BE49-F238E27FC236}">
                <a16:creationId xmlns:a16="http://schemas.microsoft.com/office/drawing/2014/main" id="{5CCDB62F-F7A8-A721-42E3-1EB39C71C52E}"/>
              </a:ext>
            </a:extLst>
          </p:cNvPr>
          <p:cNvSpPr txBox="1"/>
          <p:nvPr/>
        </p:nvSpPr>
        <p:spPr>
          <a:xfrm>
            <a:off x="208014" y="-43802"/>
            <a:ext cx="11221495" cy="523220"/>
          </a:xfrm>
          <a:prstGeom prst="rect">
            <a:avLst/>
          </a:prstGeom>
          <a:noFill/>
        </p:spPr>
        <p:txBody>
          <a:bodyPr wrap="square">
            <a:spAutoFit/>
          </a:bodyPr>
          <a:lstStyle/>
          <a:p>
            <a:pPr algn="ctr"/>
            <a:r>
              <a:rPr lang="en-US" sz="2800" b="1" u="sng" dirty="0">
                <a:solidFill>
                  <a:srgbClr val="0070C0"/>
                </a:solidFill>
              </a:rPr>
              <a:t>31.3 –” CalculateReverseAffineTransform” function – </a:t>
            </a:r>
            <a:r>
              <a:rPr lang="en-US" sz="2800" b="1" u="sng" dirty="0">
                <a:solidFill>
                  <a:srgbClr val="FF0000"/>
                </a:solidFill>
              </a:rPr>
              <a:t>part 2</a:t>
            </a:r>
            <a:endParaRPr lang="en-IL" sz="2800" b="1" u="sng" dirty="0">
              <a:solidFill>
                <a:srgbClr val="FF0000"/>
              </a:solidFill>
            </a:endParaRPr>
          </a:p>
        </p:txBody>
      </p:sp>
      <p:sp>
        <p:nvSpPr>
          <p:cNvPr id="10" name="TextBox 9">
            <a:extLst>
              <a:ext uri="{FF2B5EF4-FFF2-40B4-BE49-F238E27FC236}">
                <a16:creationId xmlns:a16="http://schemas.microsoft.com/office/drawing/2014/main" id="{1681AA78-0C40-DD16-3D9D-4216E77219D1}"/>
              </a:ext>
            </a:extLst>
          </p:cNvPr>
          <p:cNvSpPr txBox="1"/>
          <p:nvPr/>
        </p:nvSpPr>
        <p:spPr>
          <a:xfrm>
            <a:off x="2098386" y="2334634"/>
            <a:ext cx="7995225"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After transforming the image, we need to figure out where each pixel in the destination image comes from in the source image. </a:t>
            </a:r>
          </a:p>
        </p:txBody>
      </p:sp>
      <p:sp>
        <p:nvSpPr>
          <p:cNvPr id="11" name="Arrow: Down 10">
            <a:extLst>
              <a:ext uri="{FF2B5EF4-FFF2-40B4-BE49-F238E27FC236}">
                <a16:creationId xmlns:a16="http://schemas.microsoft.com/office/drawing/2014/main" id="{E22EE3E0-55FB-0E9D-2CB3-94808C389A48}"/>
              </a:ext>
            </a:extLst>
          </p:cNvPr>
          <p:cNvSpPr/>
          <p:nvPr/>
        </p:nvSpPr>
        <p:spPr>
          <a:xfrm>
            <a:off x="5749047" y="1635832"/>
            <a:ext cx="418289" cy="679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Arrow: Down 11">
            <a:extLst>
              <a:ext uri="{FF2B5EF4-FFF2-40B4-BE49-F238E27FC236}">
                <a16:creationId xmlns:a16="http://schemas.microsoft.com/office/drawing/2014/main" id="{F2C45AD4-CC61-4B21-F326-93CBEC1CC4BD}"/>
              </a:ext>
            </a:extLst>
          </p:cNvPr>
          <p:cNvSpPr/>
          <p:nvPr/>
        </p:nvSpPr>
        <p:spPr>
          <a:xfrm>
            <a:off x="5749047" y="3000420"/>
            <a:ext cx="418289" cy="67934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Arrow: Striped Right 12">
            <a:extLst>
              <a:ext uri="{FF2B5EF4-FFF2-40B4-BE49-F238E27FC236}">
                <a16:creationId xmlns:a16="http://schemas.microsoft.com/office/drawing/2014/main" id="{278D727A-35F4-AEAA-F3EA-0132D7BAA6A1}"/>
              </a:ext>
            </a:extLst>
          </p:cNvPr>
          <p:cNvSpPr/>
          <p:nvPr/>
        </p:nvSpPr>
        <p:spPr>
          <a:xfrm rot="5400000">
            <a:off x="5496524" y="4719129"/>
            <a:ext cx="923331" cy="807121"/>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618732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D67D18-1848-71B0-0503-412C4CCD927E}"/>
              </a:ext>
            </a:extLst>
          </p:cNvPr>
          <p:cNvPicPr>
            <a:picLocks noChangeAspect="1"/>
          </p:cNvPicPr>
          <p:nvPr/>
        </p:nvPicPr>
        <p:blipFill>
          <a:blip r:embed="rId2"/>
          <a:stretch>
            <a:fillRect/>
          </a:stretch>
        </p:blipFill>
        <p:spPr>
          <a:xfrm>
            <a:off x="0" y="765243"/>
            <a:ext cx="10467975" cy="2895600"/>
          </a:xfrm>
          <a:prstGeom prst="rect">
            <a:avLst/>
          </a:prstGeom>
        </p:spPr>
      </p:pic>
      <p:sp>
        <p:nvSpPr>
          <p:cNvPr id="5" name="Slide Number Placeholder 5">
            <a:extLst>
              <a:ext uri="{FF2B5EF4-FFF2-40B4-BE49-F238E27FC236}">
                <a16:creationId xmlns:a16="http://schemas.microsoft.com/office/drawing/2014/main" id="{42807A7B-B93E-3843-F5AC-F36ED969558A}"/>
              </a:ext>
            </a:extLst>
          </p:cNvPr>
          <p:cNvSpPr>
            <a:spLocks noGrp="1"/>
          </p:cNvSpPr>
          <p:nvPr>
            <p:ph type="sldNum" sz="quarter" idx="12"/>
          </p:nvPr>
        </p:nvSpPr>
        <p:spPr>
          <a:xfrm>
            <a:off x="11851533" y="0"/>
            <a:ext cx="312906" cy="365125"/>
          </a:xfrm>
        </p:spPr>
        <p:txBody>
          <a:bodyPr/>
          <a:lstStyle/>
          <a:p>
            <a:fld id="{1E5BF412-EFCF-4C51-A2DF-B419076696E3}" type="slidenum">
              <a:rPr lang="he-IL" sz="1600" smtClean="0"/>
              <a:t>9</a:t>
            </a:fld>
            <a:endParaRPr lang="he-IL" sz="1600" dirty="0"/>
          </a:p>
        </p:txBody>
      </p:sp>
      <p:sp>
        <p:nvSpPr>
          <p:cNvPr id="6" name="TextBox 5">
            <a:extLst>
              <a:ext uri="{FF2B5EF4-FFF2-40B4-BE49-F238E27FC236}">
                <a16:creationId xmlns:a16="http://schemas.microsoft.com/office/drawing/2014/main" id="{3E1BC76E-F5CA-586E-925D-EDDE619314F4}"/>
              </a:ext>
            </a:extLst>
          </p:cNvPr>
          <p:cNvSpPr txBox="1"/>
          <p:nvPr/>
        </p:nvSpPr>
        <p:spPr>
          <a:xfrm>
            <a:off x="310154" y="0"/>
            <a:ext cx="11221495" cy="523220"/>
          </a:xfrm>
          <a:prstGeom prst="rect">
            <a:avLst/>
          </a:prstGeom>
          <a:noFill/>
        </p:spPr>
        <p:txBody>
          <a:bodyPr wrap="square">
            <a:spAutoFit/>
          </a:bodyPr>
          <a:lstStyle/>
          <a:p>
            <a:pPr algn="ctr"/>
            <a:r>
              <a:rPr lang="en-US" sz="2800" b="1" u="sng" dirty="0">
                <a:solidFill>
                  <a:srgbClr val="0070C0"/>
                </a:solidFill>
              </a:rPr>
              <a:t>31.3 –” CalculateReverseAffineTransform” function – </a:t>
            </a:r>
            <a:r>
              <a:rPr lang="en-US" sz="2800" b="1" u="sng" dirty="0">
                <a:solidFill>
                  <a:srgbClr val="FF0000"/>
                </a:solidFill>
              </a:rPr>
              <a:t>part 3</a:t>
            </a:r>
            <a:endParaRPr lang="en-IL" sz="2800" b="1" u="sng" dirty="0">
              <a:solidFill>
                <a:srgbClr val="FF0000"/>
              </a:solidFill>
            </a:endParaRP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46D4FF7-E623-CF0C-802E-4660F904A62E}"/>
                  </a:ext>
                </a:extLst>
              </p:cNvPr>
              <p:cNvSpPr/>
              <p:nvPr/>
            </p:nvSpPr>
            <p:spPr>
              <a:xfrm>
                <a:off x="1408181" y="3951502"/>
                <a:ext cx="7052553" cy="6076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14:m>
                  <m:oMath xmlns:m="http://schemas.openxmlformats.org/officeDocument/2006/math">
                    <m:r>
                      <a:rPr lang="en-US" b="0" i="1" smtClean="0">
                        <a:latin typeface="Cambria Math" panose="02040503050406030204" pitchFamily="18" charset="0"/>
                      </a:rPr>
                      <m:t>𝑎𝑠𝑠𝑢𝑚𝑒</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𝑎</m:t>
                                  </m:r>
                                </m:e>
                                <m:sub>
                                  <m:r>
                                    <m:rPr>
                                      <m:brk m:alnAt="7"/>
                                    </m:rPr>
                                    <a:rPr lang="en-US" i="1">
                                      <a:latin typeface="Cambria Math" panose="02040503050406030204" pitchFamily="18" charset="0"/>
                                    </a:rPr>
                                    <m:t>1</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12</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21</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22</m:t>
                                  </m:r>
                                </m:sub>
                              </m:sSub>
                            </m:e>
                          </m:mr>
                        </m:m>
                      </m:e>
                    </m:d>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 </m:t>
                    </m:r>
                  </m:oMath>
                </a14:m>
                <a:r>
                  <a:rPr lang="en-US" dirty="0"/>
                  <a:t> </a:t>
                </a:r>
                <a14:m>
                  <m:oMath xmlns:m="http://schemas.openxmlformats.org/officeDocument/2006/math">
                    <m:sSup>
                      <m:sSupPr>
                        <m:ctrlPr>
                          <a:rPr lang="en-US" b="1" i="1" smtClean="0">
                            <a:solidFill>
                              <a:srgbClr val="FFFF00"/>
                            </a:solidFill>
                            <a:latin typeface="Cambria Math" panose="02040503050406030204" pitchFamily="18" charset="0"/>
                          </a:rPr>
                        </m:ctrlPr>
                      </m:sSupPr>
                      <m:e>
                        <m:d>
                          <m:dPr>
                            <m:ctrlPr>
                              <a:rPr lang="en-US" b="1" i="1">
                                <a:solidFill>
                                  <a:srgbClr val="FFFF00"/>
                                </a:solidFill>
                                <a:latin typeface="Cambria Math" panose="02040503050406030204" pitchFamily="18" charset="0"/>
                              </a:rPr>
                            </m:ctrlPr>
                          </m:dPr>
                          <m:e>
                            <m:m>
                              <m:mPr>
                                <m:mcs>
                                  <m:mc>
                                    <m:mcPr>
                                      <m:count m:val="2"/>
                                      <m:mcJc m:val="center"/>
                                    </m:mcPr>
                                  </m:mc>
                                </m:mcs>
                                <m:ctrlPr>
                                  <a:rPr lang="en-US" b="1" i="1">
                                    <a:solidFill>
                                      <a:srgbClr val="FFFF00"/>
                                    </a:solidFill>
                                    <a:latin typeface="Cambria Math" panose="02040503050406030204" pitchFamily="18" charset="0"/>
                                  </a:rPr>
                                </m:ctrlPr>
                              </m:mPr>
                              <m:mr>
                                <m:e>
                                  <m:sSub>
                                    <m:sSubPr>
                                      <m:ctrlPr>
                                        <a:rPr lang="en-US" b="1" i="1">
                                          <a:solidFill>
                                            <a:srgbClr val="FFFF00"/>
                                          </a:solidFill>
                                          <a:latin typeface="Cambria Math" panose="02040503050406030204" pitchFamily="18" charset="0"/>
                                        </a:rPr>
                                      </m:ctrlPr>
                                    </m:sSubPr>
                                    <m:e>
                                      <m:r>
                                        <m:rPr>
                                          <m:brk m:alnAt="7"/>
                                        </m:rPr>
                                        <a:rPr lang="en-US" b="1" i="1">
                                          <a:solidFill>
                                            <a:srgbClr val="FFFF00"/>
                                          </a:solidFill>
                                          <a:latin typeface="Cambria Math" panose="02040503050406030204" pitchFamily="18" charset="0"/>
                                        </a:rPr>
                                        <m:t>𝒂</m:t>
                                      </m:r>
                                    </m:e>
                                    <m:sub>
                                      <m:r>
                                        <m:rPr>
                                          <m:brk m:alnAt="7"/>
                                        </m:rPr>
                                        <a:rPr lang="en-US" b="1" i="1">
                                          <a:solidFill>
                                            <a:srgbClr val="FFFF00"/>
                                          </a:solidFill>
                                          <a:latin typeface="Cambria Math" panose="02040503050406030204" pitchFamily="18" charset="0"/>
                                        </a:rPr>
                                        <m:t>𝟏</m:t>
                                      </m:r>
                                      <m:r>
                                        <a:rPr lang="en-US" b="1" i="1">
                                          <a:solidFill>
                                            <a:srgbClr val="FFFF00"/>
                                          </a:solidFill>
                                          <a:latin typeface="Cambria Math" panose="02040503050406030204" pitchFamily="18" charset="0"/>
                                        </a:rPr>
                                        <m:t>𝟏</m:t>
                                      </m:r>
                                    </m:sub>
                                  </m:sSub>
                                </m:e>
                                <m:e>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𝒂</m:t>
                                      </m:r>
                                    </m:e>
                                    <m:sub>
                                      <m:r>
                                        <a:rPr lang="en-US" b="1" i="1">
                                          <a:solidFill>
                                            <a:srgbClr val="FFFF00"/>
                                          </a:solidFill>
                                          <a:latin typeface="Cambria Math" panose="02040503050406030204" pitchFamily="18" charset="0"/>
                                        </a:rPr>
                                        <m:t>𝟏𝟐</m:t>
                                      </m:r>
                                    </m:sub>
                                  </m:sSub>
                                </m:e>
                              </m:mr>
                              <m:mr>
                                <m:e>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𝒂</m:t>
                                      </m:r>
                                    </m:e>
                                    <m:sub>
                                      <m:r>
                                        <a:rPr lang="en-US" b="1" i="1">
                                          <a:solidFill>
                                            <a:srgbClr val="FFFF00"/>
                                          </a:solidFill>
                                          <a:latin typeface="Cambria Math" panose="02040503050406030204" pitchFamily="18" charset="0"/>
                                        </a:rPr>
                                        <m:t>𝟐𝟏</m:t>
                                      </m:r>
                                    </m:sub>
                                  </m:sSub>
                                </m:e>
                                <m:e>
                                  <m:sSub>
                                    <m:sSubPr>
                                      <m:ctrlPr>
                                        <a:rPr lang="en-US" b="1" i="1">
                                          <a:solidFill>
                                            <a:srgbClr val="FFFF00"/>
                                          </a:solidFill>
                                          <a:latin typeface="Cambria Math" panose="02040503050406030204" pitchFamily="18" charset="0"/>
                                        </a:rPr>
                                      </m:ctrlPr>
                                    </m:sSubPr>
                                    <m:e>
                                      <m:r>
                                        <a:rPr lang="en-US" b="1" i="1">
                                          <a:solidFill>
                                            <a:srgbClr val="FFFF00"/>
                                          </a:solidFill>
                                          <a:latin typeface="Cambria Math" panose="02040503050406030204" pitchFamily="18" charset="0"/>
                                        </a:rPr>
                                        <m:t>𝒂</m:t>
                                      </m:r>
                                    </m:e>
                                    <m:sub>
                                      <m:r>
                                        <a:rPr lang="en-US" b="1" i="1">
                                          <a:solidFill>
                                            <a:srgbClr val="FFFF00"/>
                                          </a:solidFill>
                                          <a:latin typeface="Cambria Math" panose="02040503050406030204" pitchFamily="18" charset="0"/>
                                        </a:rPr>
                                        <m:t>𝟐𝟐</m:t>
                                      </m:r>
                                    </m:sub>
                                  </m:sSub>
                                </m:e>
                              </m:mr>
                            </m:m>
                          </m:e>
                        </m:d>
                      </m:e>
                      <m:sup>
                        <m:r>
                          <a:rPr lang="en-US" b="1" i="1">
                            <a:solidFill>
                              <a:srgbClr val="FFFF00"/>
                            </a:solidFill>
                            <a:latin typeface="Cambria Math" panose="02040503050406030204" pitchFamily="18" charset="0"/>
                          </a:rPr>
                          <m:t>−</m:t>
                        </m:r>
                        <m:r>
                          <a:rPr lang="en-US" b="1" i="1">
                            <a:solidFill>
                              <a:srgbClr val="FFFF00"/>
                            </a:solidFill>
                            <a:latin typeface="Cambria Math" panose="02040503050406030204" pitchFamily="18" charset="0"/>
                          </a:rPr>
                          <m:t>𝟏</m:t>
                        </m:r>
                      </m:sup>
                    </m:sSup>
                    <m:r>
                      <a:rPr lang="en-US" b="1" i="0" smtClean="0">
                        <a:solidFill>
                          <a:srgbClr val="FFFF00"/>
                        </a:solidFill>
                        <a:latin typeface="Cambria Math" panose="02040503050406030204" pitchFamily="18" charset="0"/>
                      </a:rPr>
                      <m:t>=</m:t>
                    </m:r>
                    <m:f>
                      <m:fPr>
                        <m:ctrlPr>
                          <a:rPr lang="en-US" b="1" i="1" smtClean="0">
                            <a:solidFill>
                              <a:srgbClr val="FFFF00"/>
                            </a:solidFill>
                            <a:latin typeface="Cambria Math" panose="02040503050406030204" pitchFamily="18" charset="0"/>
                          </a:rPr>
                        </m:ctrlPr>
                      </m:fPr>
                      <m:num>
                        <m:r>
                          <a:rPr lang="en-US" b="1" i="0" smtClean="0">
                            <a:solidFill>
                              <a:srgbClr val="FFFF00"/>
                            </a:solidFill>
                            <a:latin typeface="Cambria Math" panose="02040503050406030204" pitchFamily="18" charset="0"/>
                          </a:rPr>
                          <m:t>𝟏</m:t>
                        </m:r>
                      </m:num>
                      <m:den>
                        <m:r>
                          <a:rPr lang="en-US" b="1" i="0" smtClean="0">
                            <a:solidFill>
                              <a:srgbClr val="FFFF00"/>
                            </a:solidFill>
                            <a:latin typeface="Cambria Math" panose="02040503050406030204" pitchFamily="18" charset="0"/>
                          </a:rPr>
                          <m:t>𝐝𝐞𝐭</m:t>
                        </m:r>
                        <m:d>
                          <m:dPr>
                            <m:ctrlPr>
                              <a:rPr lang="en-US" b="1" i="1" smtClean="0">
                                <a:solidFill>
                                  <a:srgbClr val="FFFF00"/>
                                </a:solidFill>
                                <a:latin typeface="Cambria Math" panose="02040503050406030204" pitchFamily="18" charset="0"/>
                              </a:rPr>
                            </m:ctrlPr>
                          </m:dPr>
                          <m:e>
                            <m:r>
                              <a:rPr lang="en-US" b="1" i="0" smtClean="0">
                                <a:solidFill>
                                  <a:srgbClr val="FFFF00"/>
                                </a:solidFill>
                                <a:latin typeface="Cambria Math" panose="02040503050406030204" pitchFamily="18" charset="0"/>
                              </a:rPr>
                              <m:t>𝐀</m:t>
                            </m:r>
                          </m:e>
                        </m:d>
                      </m:den>
                    </m:f>
                    <m:r>
                      <a:rPr lang="en-US" b="1" i="0" smtClean="0">
                        <a:solidFill>
                          <a:srgbClr val="FFFF00"/>
                        </a:solidFill>
                        <a:latin typeface="Cambria Math" panose="02040503050406030204" pitchFamily="18" charset="0"/>
                      </a:rPr>
                      <m:t>∗</m:t>
                    </m:r>
                    <m:d>
                      <m:dPr>
                        <m:ctrlPr>
                          <a:rPr lang="en-US" b="1" i="1" smtClean="0">
                            <a:solidFill>
                              <a:srgbClr val="FFFF00"/>
                            </a:solidFill>
                            <a:latin typeface="Cambria Math" panose="02040503050406030204" pitchFamily="18" charset="0"/>
                          </a:rPr>
                        </m:ctrlPr>
                      </m:dPr>
                      <m:e>
                        <m:m>
                          <m:mPr>
                            <m:mcs>
                              <m:mc>
                                <m:mcPr>
                                  <m:count m:val="2"/>
                                  <m:mcJc m:val="center"/>
                                </m:mcPr>
                              </m:mc>
                            </m:mcs>
                            <m:ctrlPr>
                              <a:rPr lang="en-US" b="1" i="1" smtClean="0">
                                <a:solidFill>
                                  <a:srgbClr val="FFFF00"/>
                                </a:solidFill>
                                <a:latin typeface="Cambria Math" panose="02040503050406030204" pitchFamily="18" charset="0"/>
                              </a:rPr>
                            </m:ctrlPr>
                          </m:mPr>
                          <m:mr>
                            <m:e>
                              <m:sSub>
                                <m:sSubPr>
                                  <m:ctrlPr>
                                    <a:rPr lang="en-US" b="1" i="1" smtClean="0">
                                      <a:solidFill>
                                        <a:srgbClr val="FFFF00"/>
                                      </a:solidFill>
                                      <a:latin typeface="Cambria Math" panose="02040503050406030204" pitchFamily="18" charset="0"/>
                                    </a:rPr>
                                  </m:ctrlPr>
                                </m:sSubPr>
                                <m:e>
                                  <m:r>
                                    <m:rPr>
                                      <m:brk m:alnAt="7"/>
                                    </m:rPr>
                                    <a:rPr lang="en-US" b="1" i="1" smtClean="0">
                                      <a:solidFill>
                                        <a:srgbClr val="FFFF00"/>
                                      </a:solidFill>
                                      <a:latin typeface="Cambria Math" panose="02040503050406030204" pitchFamily="18" charset="0"/>
                                    </a:rPr>
                                    <m:t>𝒂</m:t>
                                  </m:r>
                                </m:e>
                                <m:sub>
                                  <m:r>
                                    <m:rPr>
                                      <m:brk m:alnAt="7"/>
                                    </m:rPr>
                                    <a:rPr lang="en-US" b="1" i="1" smtClean="0">
                                      <a:solidFill>
                                        <a:srgbClr val="FFFF00"/>
                                      </a:solidFill>
                                      <a:latin typeface="Cambria Math" panose="02040503050406030204" pitchFamily="18" charset="0"/>
                                    </a:rPr>
                                    <m:t>𝟐</m:t>
                                  </m:r>
                                  <m:r>
                                    <a:rPr lang="en-US" b="1" i="1" smtClean="0">
                                      <a:solidFill>
                                        <a:srgbClr val="FFFF00"/>
                                      </a:solidFill>
                                      <a:latin typeface="Cambria Math" panose="02040503050406030204" pitchFamily="18" charset="0"/>
                                    </a:rPr>
                                    <m:t>𝟐</m:t>
                                  </m:r>
                                </m:sub>
                              </m:sSub>
                            </m:e>
                            <m:e>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𝒂</m:t>
                                  </m:r>
                                </m:e>
                                <m:sub>
                                  <m:r>
                                    <a:rPr lang="en-US" b="1" i="1" smtClean="0">
                                      <a:solidFill>
                                        <a:srgbClr val="FFFF00"/>
                                      </a:solidFill>
                                      <a:latin typeface="Cambria Math" panose="02040503050406030204" pitchFamily="18" charset="0"/>
                                    </a:rPr>
                                    <m:t>𝟏𝟐</m:t>
                                  </m:r>
                                </m:sub>
                              </m:sSub>
                            </m:e>
                          </m:mr>
                          <m:mr>
                            <m:e>
                              <m:r>
                                <a:rPr lang="en-US" b="1" i="1" smtClean="0">
                                  <a:solidFill>
                                    <a:srgbClr val="FFFF00"/>
                                  </a:solidFill>
                                  <a:latin typeface="Cambria Math" panose="02040503050406030204" pitchFamily="18" charset="0"/>
                                </a:rPr>
                                <m:t>−</m:t>
                              </m:r>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𝒂</m:t>
                                  </m:r>
                                </m:e>
                                <m:sub>
                                  <m:r>
                                    <a:rPr lang="en-US" b="1" i="1" smtClean="0">
                                      <a:solidFill>
                                        <a:srgbClr val="FFFF00"/>
                                      </a:solidFill>
                                      <a:latin typeface="Cambria Math" panose="02040503050406030204" pitchFamily="18" charset="0"/>
                                    </a:rPr>
                                    <m:t>𝟐𝟏</m:t>
                                  </m:r>
                                </m:sub>
                              </m:sSub>
                            </m:e>
                            <m:e>
                              <m:sSub>
                                <m:sSubPr>
                                  <m:ctrlPr>
                                    <a:rPr lang="en-US" b="1" i="1" smtClean="0">
                                      <a:solidFill>
                                        <a:srgbClr val="FFFF00"/>
                                      </a:solidFill>
                                      <a:latin typeface="Cambria Math" panose="02040503050406030204" pitchFamily="18" charset="0"/>
                                    </a:rPr>
                                  </m:ctrlPr>
                                </m:sSubPr>
                                <m:e>
                                  <m:r>
                                    <a:rPr lang="en-US" b="1" i="1" smtClean="0">
                                      <a:solidFill>
                                        <a:srgbClr val="FFFF00"/>
                                      </a:solidFill>
                                      <a:latin typeface="Cambria Math" panose="02040503050406030204" pitchFamily="18" charset="0"/>
                                    </a:rPr>
                                    <m:t>𝒂</m:t>
                                  </m:r>
                                </m:e>
                                <m:sub>
                                  <m:r>
                                    <a:rPr lang="en-US" b="1" i="1" smtClean="0">
                                      <a:solidFill>
                                        <a:srgbClr val="FFFF00"/>
                                      </a:solidFill>
                                      <a:latin typeface="Cambria Math" panose="02040503050406030204" pitchFamily="18" charset="0"/>
                                    </a:rPr>
                                    <m:t>𝟏𝟏</m:t>
                                  </m:r>
                                </m:sub>
                              </m:sSub>
                            </m:e>
                          </m:mr>
                        </m:m>
                      </m:e>
                    </m:d>
                  </m:oMath>
                </a14:m>
                <a:r>
                  <a:rPr lang="en-US" b="1" dirty="0">
                    <a:solidFill>
                      <a:srgbClr val="FFFF00"/>
                    </a:solidFill>
                  </a:rPr>
                  <a:t>     </a:t>
                </a:r>
                <a:endParaRPr lang="he-IL" b="1" dirty="0"/>
              </a:p>
            </p:txBody>
          </p:sp>
        </mc:Choice>
        <mc:Fallback xmlns="">
          <p:sp>
            <p:nvSpPr>
              <p:cNvPr id="9" name="Rectangle 8">
                <a:extLst>
                  <a:ext uri="{FF2B5EF4-FFF2-40B4-BE49-F238E27FC236}">
                    <a16:creationId xmlns:a16="http://schemas.microsoft.com/office/drawing/2014/main" id="{946D4FF7-E623-CF0C-802E-4660F904A62E}"/>
                  </a:ext>
                </a:extLst>
              </p:cNvPr>
              <p:cNvSpPr>
                <a:spLocks noRot="1" noChangeAspect="1" noMove="1" noResize="1" noEditPoints="1" noAdjustHandles="1" noChangeArrowheads="1" noChangeShapeType="1" noTextEdit="1"/>
              </p:cNvSpPr>
              <p:nvPr/>
            </p:nvSpPr>
            <p:spPr>
              <a:xfrm>
                <a:off x="1408181" y="3951502"/>
                <a:ext cx="7052553" cy="607667"/>
              </a:xfrm>
              <a:prstGeom prst="rect">
                <a:avLst/>
              </a:prstGeom>
              <a:blipFill>
                <a:blip r:embed="rId3"/>
                <a:stretch>
                  <a:fillRect/>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95A2EE3-5CC2-F2E9-66F0-FC5F225B007B}"/>
                  </a:ext>
                </a:extLst>
              </p:cNvPr>
              <p:cNvSpPr/>
              <p:nvPr/>
            </p:nvSpPr>
            <p:spPr>
              <a:xfrm>
                <a:off x="1067713" y="4826460"/>
                <a:ext cx="7393021" cy="75875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14:m>
                  <m:oMath xmlns:m="http://schemas.openxmlformats.org/officeDocument/2006/math">
                    <m:r>
                      <a:rPr lang="en-US" b="0" i="1" smtClean="0">
                        <a:latin typeface="Cambria Math" panose="02040503050406030204" pitchFamily="18" charset="0"/>
                      </a:rPr>
                      <m:t>𝑎𝑠𝑠𝑢𝑚𝑒</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m:t>
                    </m:r>
                    <m:d>
                      <m:dPr>
                        <m:ctrlPr>
                          <a:rPr lang="en-US" i="1">
                            <a:latin typeface="Cambria Math" panose="02040503050406030204" pitchFamily="18" charset="0"/>
                          </a:rPr>
                        </m:ctrlPr>
                      </m:dPr>
                      <m:e>
                        <m:m>
                          <m:mPr>
                            <m:mcs>
                              <m:mc>
                                <m:mcPr>
                                  <m:count m:val="2"/>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m:rPr>
                                      <m:brk m:alnAt="7"/>
                                    </m:rPr>
                                    <a:rPr lang="en-US" i="1">
                                      <a:latin typeface="Cambria Math" panose="02040503050406030204" pitchFamily="18" charset="0"/>
                                    </a:rPr>
                                    <m:t>𝑎</m:t>
                                  </m:r>
                                </m:e>
                                <m:sub>
                                  <m:r>
                                    <m:rPr>
                                      <m:brk m:alnAt="7"/>
                                    </m:rPr>
                                    <a:rPr lang="en-US" i="1">
                                      <a:latin typeface="Cambria Math" panose="02040503050406030204" pitchFamily="18" charset="0"/>
                                    </a:rPr>
                                    <m:t>1</m:t>
                                  </m:r>
                                  <m:r>
                                    <a:rPr lang="en-US" i="1">
                                      <a:latin typeface="Cambria Math" panose="02040503050406030204" pitchFamily="18" charset="0"/>
                                    </a:rPr>
                                    <m:t>1</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12</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21</m:t>
                                  </m:r>
                                </m:sub>
                              </m:sSub>
                            </m:e>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22</m:t>
                                  </m:r>
                                </m:sub>
                              </m:sSub>
                            </m:e>
                          </m:mr>
                        </m:m>
                      </m:e>
                    </m:d>
                  </m:oMath>
                </a14:m>
                <a:r>
                  <a:rPr lang="en-US"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a:t>
                </a:r>
                <a14:m>
                  <m:oMath xmlns:m="http://schemas.openxmlformats.org/officeDocument/2006/math">
                    <m:sSubSup>
                      <m:sSubSupPr>
                        <m:ctrlPr>
                          <a:rPr lang="en-US" b="1" i="1" smtClean="0">
                            <a:solidFill>
                              <a:srgbClr val="00B050"/>
                            </a:solidFill>
                            <a:latin typeface="Cambria Math" panose="02040503050406030204" pitchFamily="18" charset="0"/>
                          </a:rPr>
                        </m:ctrlPr>
                      </m:sSubSupPr>
                      <m:e>
                        <m:r>
                          <a:rPr lang="en-US" b="1" i="1" smtClean="0">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𝟏</m:t>
                        </m:r>
                      </m:sub>
                      <m:sup>
                        <m:r>
                          <a:rPr lang="en-US" b="1" i="1" smtClean="0">
                            <a:solidFill>
                              <a:srgbClr val="00B050"/>
                            </a:solidFill>
                            <a:latin typeface="Cambria Math" panose="02040503050406030204" pitchFamily="18" charset="0"/>
                          </a:rPr>
                          <m:t>′</m:t>
                        </m:r>
                      </m:sup>
                    </m:sSubSup>
                    <m:r>
                      <a:rPr lang="en-US" b="1" i="1" smtClean="0">
                        <a:solidFill>
                          <a:srgbClr val="00B050"/>
                        </a:solidFill>
                        <a:latin typeface="Cambria Math" panose="02040503050406030204" pitchFamily="18" charset="0"/>
                      </a:rPr>
                      <m:t>=</m:t>
                    </m:r>
                    <m:f>
                      <m:fPr>
                        <m:ctrlPr>
                          <a:rPr lang="en-US" b="1" i="1" smtClean="0">
                            <a:solidFill>
                              <a:srgbClr val="00B050"/>
                            </a:solidFill>
                            <a:latin typeface="Cambria Math" panose="02040503050406030204" pitchFamily="18" charset="0"/>
                          </a:rPr>
                        </m:ctrlPr>
                      </m:fPr>
                      <m:num>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𝒂</m:t>
                            </m:r>
                          </m:e>
                          <m:sub>
                            <m:r>
                              <a:rPr lang="en-US" b="1" i="1" smtClean="0">
                                <a:solidFill>
                                  <a:srgbClr val="00B050"/>
                                </a:solidFill>
                                <a:latin typeface="Cambria Math" panose="02040503050406030204" pitchFamily="18" charset="0"/>
                              </a:rPr>
                              <m:t>𝟏𝟐</m:t>
                            </m:r>
                          </m:sub>
                        </m:sSub>
                        <m:r>
                          <a:rPr lang="en-US" b="1" i="1" smtClean="0">
                            <a:solidFill>
                              <a:srgbClr val="00B050"/>
                            </a:solidFill>
                            <a:latin typeface="Cambria Math" panose="02040503050406030204" pitchFamily="18" charset="0"/>
                          </a:rPr>
                          <m:t>∗</m:t>
                        </m:r>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𝟐</m:t>
                            </m:r>
                          </m:sub>
                        </m:sSub>
                        <m:r>
                          <a:rPr lang="en-US" b="1" i="1" smtClean="0">
                            <a:solidFill>
                              <a:srgbClr val="00B050"/>
                            </a:solidFill>
                            <a:latin typeface="Cambria Math" panose="02040503050406030204" pitchFamily="18" charset="0"/>
                          </a:rPr>
                          <m:t>−</m:t>
                        </m:r>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𝒂</m:t>
                            </m:r>
                          </m:e>
                          <m:sub>
                            <m:r>
                              <a:rPr lang="en-US" b="1" i="1" smtClean="0">
                                <a:solidFill>
                                  <a:srgbClr val="00B050"/>
                                </a:solidFill>
                                <a:latin typeface="Cambria Math" panose="02040503050406030204" pitchFamily="18" charset="0"/>
                              </a:rPr>
                              <m:t>𝟐𝟐</m:t>
                            </m:r>
                          </m:sub>
                        </m:sSub>
                        <m:r>
                          <a:rPr lang="en-US" b="1" i="1" smtClean="0">
                            <a:solidFill>
                              <a:srgbClr val="00B050"/>
                            </a:solidFill>
                            <a:latin typeface="Cambria Math" panose="02040503050406030204" pitchFamily="18" charset="0"/>
                          </a:rPr>
                          <m:t>∗</m:t>
                        </m:r>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𝟏</m:t>
                            </m:r>
                          </m:sub>
                        </m:sSub>
                      </m:num>
                      <m:den>
                        <m:func>
                          <m:funcPr>
                            <m:ctrlPr>
                              <a:rPr lang="en-US" b="1" i="1" smtClean="0">
                                <a:solidFill>
                                  <a:srgbClr val="00B050"/>
                                </a:solidFill>
                                <a:latin typeface="Cambria Math" panose="02040503050406030204" pitchFamily="18" charset="0"/>
                              </a:rPr>
                            </m:ctrlPr>
                          </m:funcPr>
                          <m:fName>
                            <m:r>
                              <a:rPr lang="en-US" b="1" i="0" smtClean="0">
                                <a:solidFill>
                                  <a:srgbClr val="00B050"/>
                                </a:solidFill>
                                <a:latin typeface="Cambria Math" panose="02040503050406030204" pitchFamily="18" charset="0"/>
                              </a:rPr>
                              <m:t>𝐝𝐞𝐭</m:t>
                            </m:r>
                          </m:fName>
                          <m:e>
                            <m:d>
                              <m:dPr>
                                <m:ctrlPr>
                                  <a:rPr lang="en-US" b="1" i="1" smtClean="0">
                                    <a:solidFill>
                                      <a:srgbClr val="00B050"/>
                                    </a:solidFill>
                                    <a:latin typeface="Cambria Math" panose="02040503050406030204" pitchFamily="18" charset="0"/>
                                  </a:rPr>
                                </m:ctrlPr>
                              </m:dPr>
                              <m:e>
                                <m:r>
                                  <a:rPr lang="en-US" b="1" i="1" smtClean="0">
                                    <a:solidFill>
                                      <a:srgbClr val="00B050"/>
                                    </a:solidFill>
                                    <a:latin typeface="Cambria Math" panose="02040503050406030204" pitchFamily="18" charset="0"/>
                                  </a:rPr>
                                  <m:t>𝑨</m:t>
                                </m:r>
                              </m:e>
                            </m:d>
                          </m:e>
                        </m:func>
                      </m:den>
                    </m:f>
                  </m:oMath>
                </a14:m>
                <a:r>
                  <a:rPr lang="en-US" b="1" dirty="0">
                    <a:solidFill>
                      <a:srgbClr val="00B050"/>
                    </a:solidFill>
                  </a:rPr>
                  <a:t>      &amp;     </a:t>
                </a:r>
                <a14:m>
                  <m:oMath xmlns:m="http://schemas.openxmlformats.org/officeDocument/2006/math">
                    <m:sSubSup>
                      <m:sSubSupPr>
                        <m:ctrlPr>
                          <a:rPr lang="en-US" b="1" i="1">
                            <a:solidFill>
                              <a:srgbClr val="00B050"/>
                            </a:solidFill>
                            <a:latin typeface="Cambria Math" panose="02040503050406030204" pitchFamily="18" charset="0"/>
                          </a:rPr>
                        </m:ctrlPr>
                      </m:sSubSupPr>
                      <m:e>
                        <m:r>
                          <a:rPr lang="en-US" b="1" i="1">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𝟐</m:t>
                        </m:r>
                      </m:sub>
                      <m:sup>
                        <m:r>
                          <a:rPr lang="en-US" b="1" i="1">
                            <a:solidFill>
                              <a:srgbClr val="00B050"/>
                            </a:solidFill>
                            <a:latin typeface="Cambria Math" panose="02040503050406030204" pitchFamily="18" charset="0"/>
                          </a:rPr>
                          <m:t>′</m:t>
                        </m:r>
                      </m:sup>
                    </m:sSubSup>
                    <m:r>
                      <a:rPr lang="en-US" b="1" i="1">
                        <a:solidFill>
                          <a:srgbClr val="00B050"/>
                        </a:solidFill>
                        <a:latin typeface="Cambria Math" panose="02040503050406030204" pitchFamily="18" charset="0"/>
                      </a:rPr>
                      <m:t>=</m:t>
                    </m:r>
                    <m:f>
                      <m:fPr>
                        <m:ctrlPr>
                          <a:rPr lang="en-US" b="1" i="1">
                            <a:solidFill>
                              <a:srgbClr val="00B050"/>
                            </a:solidFill>
                            <a:latin typeface="Cambria Math" panose="02040503050406030204" pitchFamily="18" charset="0"/>
                          </a:rPr>
                        </m:ctrlPr>
                      </m:fPr>
                      <m:num>
                        <m:sSub>
                          <m:sSubPr>
                            <m:ctrlPr>
                              <a:rPr lang="en-US" b="1" i="1" smtClean="0">
                                <a:solidFill>
                                  <a:srgbClr val="00B050"/>
                                </a:solidFill>
                                <a:latin typeface="Cambria Math" panose="02040503050406030204" pitchFamily="18" charset="0"/>
                              </a:rPr>
                            </m:ctrlPr>
                          </m:sSubPr>
                          <m:e>
                            <m:r>
                              <a:rPr lang="en-US" b="1" i="1" smtClean="0">
                                <a:solidFill>
                                  <a:srgbClr val="00B050"/>
                                </a:solidFill>
                                <a:latin typeface="Cambria Math" panose="02040503050406030204" pitchFamily="18" charset="0"/>
                              </a:rPr>
                              <m:t>𝒂</m:t>
                            </m:r>
                          </m:e>
                          <m:sub>
                            <m:r>
                              <a:rPr lang="en-US" b="1" i="1" smtClean="0">
                                <a:solidFill>
                                  <a:srgbClr val="00B050"/>
                                </a:solidFill>
                                <a:latin typeface="Cambria Math" panose="02040503050406030204" pitchFamily="18" charset="0"/>
                              </a:rPr>
                              <m:t>𝟐𝟏</m:t>
                            </m:r>
                          </m:sub>
                        </m:sSub>
                        <m:r>
                          <a:rPr lang="en-US" b="1" i="1">
                            <a:solidFill>
                              <a:srgbClr val="00B050"/>
                            </a:solidFill>
                            <a:latin typeface="Cambria Math" panose="02040503050406030204" pitchFamily="18" charset="0"/>
                          </a:rPr>
                          <m:t>∗</m:t>
                        </m:r>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𝟏</m:t>
                            </m:r>
                          </m:sub>
                        </m:sSub>
                        <m:r>
                          <a:rPr lang="en-US" b="1" i="1">
                            <a:solidFill>
                              <a:srgbClr val="00B050"/>
                            </a:solidFill>
                            <a:latin typeface="Cambria Math" panose="02040503050406030204" pitchFamily="18" charset="0"/>
                          </a:rPr>
                          <m:t>−</m:t>
                        </m:r>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𝒂</m:t>
                            </m:r>
                          </m:e>
                          <m:sub>
                            <m:r>
                              <a:rPr lang="en-US" b="1" i="1" smtClean="0">
                                <a:solidFill>
                                  <a:srgbClr val="00B050"/>
                                </a:solidFill>
                                <a:latin typeface="Cambria Math" panose="02040503050406030204" pitchFamily="18" charset="0"/>
                              </a:rPr>
                              <m:t>𝟏𝟏</m:t>
                            </m:r>
                          </m:sub>
                        </m:sSub>
                        <m:r>
                          <a:rPr lang="en-US" b="1" i="1">
                            <a:solidFill>
                              <a:srgbClr val="00B050"/>
                            </a:solidFill>
                            <a:latin typeface="Cambria Math" panose="02040503050406030204" pitchFamily="18" charset="0"/>
                          </a:rPr>
                          <m:t>∗</m:t>
                        </m:r>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𝒃</m:t>
                            </m:r>
                          </m:e>
                          <m:sub>
                            <m:r>
                              <a:rPr lang="en-US" b="1" i="1" smtClean="0">
                                <a:solidFill>
                                  <a:srgbClr val="00B050"/>
                                </a:solidFill>
                                <a:latin typeface="Cambria Math" panose="02040503050406030204" pitchFamily="18" charset="0"/>
                              </a:rPr>
                              <m:t>𝟐</m:t>
                            </m:r>
                          </m:sub>
                        </m:sSub>
                      </m:num>
                      <m:den>
                        <m:func>
                          <m:funcPr>
                            <m:ctrlPr>
                              <a:rPr lang="en-US" b="1" i="1">
                                <a:solidFill>
                                  <a:srgbClr val="00B050"/>
                                </a:solidFill>
                                <a:latin typeface="Cambria Math" panose="02040503050406030204" pitchFamily="18" charset="0"/>
                              </a:rPr>
                            </m:ctrlPr>
                          </m:funcPr>
                          <m:fName>
                            <m:r>
                              <a:rPr lang="en-US" b="1" i="1">
                                <a:solidFill>
                                  <a:srgbClr val="00B050"/>
                                </a:solidFill>
                                <a:latin typeface="Cambria Math" panose="02040503050406030204" pitchFamily="18" charset="0"/>
                              </a:rPr>
                              <m:t>𝒅𝒆𝒕</m:t>
                            </m:r>
                          </m:fName>
                          <m:e>
                            <m:d>
                              <m:dPr>
                                <m:ctrlPr>
                                  <a:rPr lang="en-US" b="1" i="1">
                                    <a:solidFill>
                                      <a:srgbClr val="00B050"/>
                                    </a:solidFill>
                                    <a:latin typeface="Cambria Math" panose="02040503050406030204" pitchFamily="18" charset="0"/>
                                  </a:rPr>
                                </m:ctrlPr>
                              </m:dPr>
                              <m:e>
                                <m:r>
                                  <a:rPr lang="en-US" b="1" i="1">
                                    <a:solidFill>
                                      <a:srgbClr val="00B050"/>
                                    </a:solidFill>
                                    <a:latin typeface="Cambria Math" panose="02040503050406030204" pitchFamily="18" charset="0"/>
                                  </a:rPr>
                                  <m:t>𝑨</m:t>
                                </m:r>
                              </m:e>
                            </m:d>
                          </m:e>
                        </m:func>
                      </m:den>
                    </m:f>
                  </m:oMath>
                </a14:m>
                <a:endParaRPr lang="he-IL" b="1" dirty="0"/>
              </a:p>
            </p:txBody>
          </p:sp>
        </mc:Choice>
        <mc:Fallback xmlns="">
          <p:sp>
            <p:nvSpPr>
              <p:cNvPr id="10" name="Rectangle 9">
                <a:extLst>
                  <a:ext uri="{FF2B5EF4-FFF2-40B4-BE49-F238E27FC236}">
                    <a16:creationId xmlns:a16="http://schemas.microsoft.com/office/drawing/2014/main" id="{195A2EE3-5CC2-F2E9-66F0-FC5F225B007B}"/>
                  </a:ext>
                </a:extLst>
              </p:cNvPr>
              <p:cNvSpPr>
                <a:spLocks noRot="1" noChangeAspect="1" noMove="1" noResize="1" noEditPoints="1" noAdjustHandles="1" noChangeArrowheads="1" noChangeShapeType="1" noTextEdit="1"/>
              </p:cNvSpPr>
              <p:nvPr/>
            </p:nvSpPr>
            <p:spPr>
              <a:xfrm>
                <a:off x="1067713" y="4826460"/>
                <a:ext cx="7393021" cy="758758"/>
              </a:xfrm>
              <a:prstGeom prst="rect">
                <a:avLst/>
              </a:prstGeom>
              <a:blipFill>
                <a:blip r:embed="rId4"/>
                <a:stretch>
                  <a:fillRect/>
                </a:stretch>
              </a:blipFill>
            </p:spPr>
            <p:txBody>
              <a:bodyPr/>
              <a:lstStyle/>
              <a:p>
                <a:r>
                  <a:rPr lang="he-IL">
                    <a:noFill/>
                  </a:rPr>
                  <a:t> </a:t>
                </a:r>
              </a:p>
            </p:txBody>
          </p:sp>
        </mc:Fallback>
      </mc:AlternateContent>
      <p:sp>
        <p:nvSpPr>
          <p:cNvPr id="13" name="Right Brace 12">
            <a:extLst>
              <a:ext uri="{FF2B5EF4-FFF2-40B4-BE49-F238E27FC236}">
                <a16:creationId xmlns:a16="http://schemas.microsoft.com/office/drawing/2014/main" id="{22905A76-669F-0E1D-2A0E-A91B5602C0E3}"/>
              </a:ext>
            </a:extLst>
          </p:cNvPr>
          <p:cNvSpPr/>
          <p:nvPr/>
        </p:nvSpPr>
        <p:spPr>
          <a:xfrm>
            <a:off x="8205791" y="2110902"/>
            <a:ext cx="447471" cy="1318098"/>
          </a:xfrm>
          <a:prstGeom prst="rightBrace">
            <a:avLst/>
          </a:prstGeom>
          <a:ln w="57150"/>
        </p:spPr>
        <p:style>
          <a:lnRef idx="2">
            <a:schemeClr val="accent1"/>
          </a:lnRef>
          <a:fillRef idx="0">
            <a:schemeClr val="accent1"/>
          </a:fillRef>
          <a:effectRef idx="1">
            <a:schemeClr val="accent1"/>
          </a:effectRef>
          <a:fontRef idx="minor">
            <a:schemeClr val="tx1"/>
          </a:fontRef>
        </p:style>
        <p:txBody>
          <a:bodyPr rtlCol="1" anchor="ctr"/>
          <a:lstStyle/>
          <a:p>
            <a:pPr algn="ctr"/>
            <a:endParaRPr lang="he-IL"/>
          </a:p>
        </p:txBody>
      </p:sp>
      <p:sp>
        <p:nvSpPr>
          <p:cNvPr id="16" name="Arrow: Curved Left 15">
            <a:extLst>
              <a:ext uri="{FF2B5EF4-FFF2-40B4-BE49-F238E27FC236}">
                <a16:creationId xmlns:a16="http://schemas.microsoft.com/office/drawing/2014/main" id="{615C9E9A-D143-0E28-FBF1-09CF6973D895}"/>
              </a:ext>
            </a:extLst>
          </p:cNvPr>
          <p:cNvSpPr/>
          <p:nvPr/>
        </p:nvSpPr>
        <p:spPr>
          <a:xfrm>
            <a:off x="8773844" y="2738254"/>
            <a:ext cx="613855" cy="2150309"/>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9" name="TextBox 18">
            <a:extLst>
              <a:ext uri="{FF2B5EF4-FFF2-40B4-BE49-F238E27FC236}">
                <a16:creationId xmlns:a16="http://schemas.microsoft.com/office/drawing/2014/main" id="{7C60DE8D-D0DB-8A1B-BFB1-9F17921D7F63}"/>
              </a:ext>
            </a:extLst>
          </p:cNvPr>
          <p:cNvSpPr txBox="1"/>
          <p:nvPr/>
        </p:nvSpPr>
        <p:spPr>
          <a:xfrm>
            <a:off x="9666459" y="1228085"/>
            <a:ext cx="2497980" cy="2585323"/>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determinant is crucial because it indicates whether the matrix is invertible. If the determinant is 0, the matrix has no inverse, meaning the transformation cannot be reversed.</a:t>
            </a:r>
            <a:endParaRPr lang="he-IL" dirty="0"/>
          </a:p>
        </p:txBody>
      </p:sp>
      <p:cxnSp>
        <p:nvCxnSpPr>
          <p:cNvPr id="21" name="Straight Arrow Connector 20">
            <a:extLst>
              <a:ext uri="{FF2B5EF4-FFF2-40B4-BE49-F238E27FC236}">
                <a16:creationId xmlns:a16="http://schemas.microsoft.com/office/drawing/2014/main" id="{6B9F55A5-82A2-6E2C-BE5E-BB179F500949}"/>
              </a:ext>
            </a:extLst>
          </p:cNvPr>
          <p:cNvCxnSpPr/>
          <p:nvPr/>
        </p:nvCxnSpPr>
        <p:spPr>
          <a:xfrm flipH="1">
            <a:off x="7276289" y="1896894"/>
            <a:ext cx="2390170"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06147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8DCEFD1-573B-BF48-7251-B25099A6051B}"/>
              </a:ext>
            </a:extLst>
          </p:cNvPr>
          <p:cNvSpPr>
            <a:spLocks noGrp="1"/>
          </p:cNvSpPr>
          <p:nvPr>
            <p:ph type="sldNum" sz="quarter" idx="12"/>
          </p:nvPr>
        </p:nvSpPr>
        <p:spPr>
          <a:xfrm>
            <a:off x="11741285" y="27774"/>
            <a:ext cx="450715" cy="365125"/>
          </a:xfrm>
        </p:spPr>
        <p:txBody>
          <a:bodyPr/>
          <a:lstStyle/>
          <a:p>
            <a:fld id="{1E5BF412-EFCF-4C51-A2DF-B419076696E3}" type="slidenum">
              <a:rPr lang="he-IL" sz="1600" smtClean="0"/>
              <a:t>10</a:t>
            </a:fld>
            <a:endParaRPr lang="he-IL" sz="1600" dirty="0"/>
          </a:p>
        </p:txBody>
      </p:sp>
      <p:pic>
        <p:nvPicPr>
          <p:cNvPr id="5" name="Picture 4">
            <a:extLst>
              <a:ext uri="{FF2B5EF4-FFF2-40B4-BE49-F238E27FC236}">
                <a16:creationId xmlns:a16="http://schemas.microsoft.com/office/drawing/2014/main" id="{93E829F0-8E22-4BB7-08D5-C3BA7D584F0E}"/>
              </a:ext>
            </a:extLst>
          </p:cNvPr>
          <p:cNvPicPr>
            <a:picLocks noChangeAspect="1"/>
          </p:cNvPicPr>
          <p:nvPr/>
        </p:nvPicPr>
        <p:blipFill>
          <a:blip r:embed="rId3"/>
          <a:stretch>
            <a:fillRect/>
          </a:stretch>
        </p:blipFill>
        <p:spPr>
          <a:xfrm>
            <a:off x="0" y="856039"/>
            <a:ext cx="12192000" cy="5145921"/>
          </a:xfrm>
          <a:prstGeom prst="rect">
            <a:avLst/>
          </a:prstGeom>
        </p:spPr>
      </p:pic>
      <p:sp>
        <p:nvSpPr>
          <p:cNvPr id="2" name="TextBox 1">
            <a:extLst>
              <a:ext uri="{FF2B5EF4-FFF2-40B4-BE49-F238E27FC236}">
                <a16:creationId xmlns:a16="http://schemas.microsoft.com/office/drawing/2014/main" id="{2EF1BDDA-44C0-B442-ECC7-9BD33F404045}"/>
              </a:ext>
            </a:extLst>
          </p:cNvPr>
          <p:cNvSpPr txBox="1"/>
          <p:nvPr/>
        </p:nvSpPr>
        <p:spPr>
          <a:xfrm>
            <a:off x="310154" y="0"/>
            <a:ext cx="11221495" cy="523220"/>
          </a:xfrm>
          <a:prstGeom prst="rect">
            <a:avLst/>
          </a:prstGeom>
          <a:noFill/>
        </p:spPr>
        <p:txBody>
          <a:bodyPr wrap="square">
            <a:spAutoFit/>
          </a:bodyPr>
          <a:lstStyle/>
          <a:p>
            <a:pPr algn="ctr"/>
            <a:r>
              <a:rPr lang="en-US" sz="2800" b="1" u="sng" dirty="0">
                <a:solidFill>
                  <a:srgbClr val="0070C0"/>
                </a:solidFill>
              </a:rPr>
              <a:t>31.4 –” DoAffineTransform” function – </a:t>
            </a:r>
            <a:r>
              <a:rPr lang="en-US" sz="2800" b="1" u="sng" dirty="0">
                <a:solidFill>
                  <a:srgbClr val="FF0000"/>
                </a:solidFill>
              </a:rPr>
              <a:t>part 1</a:t>
            </a:r>
            <a:endParaRPr lang="en-IL" sz="2800" b="1" u="sng" dirty="0">
              <a:solidFill>
                <a:srgbClr val="FF0000"/>
              </a:solidFill>
            </a:endParaRPr>
          </a:p>
        </p:txBody>
      </p:sp>
      <p:sp>
        <p:nvSpPr>
          <p:cNvPr id="6" name="TextBox 5">
            <a:extLst>
              <a:ext uri="{FF2B5EF4-FFF2-40B4-BE49-F238E27FC236}">
                <a16:creationId xmlns:a16="http://schemas.microsoft.com/office/drawing/2014/main" id="{2FBA8DC0-69B6-D9C2-36E0-8FCF0ED2AE66}"/>
              </a:ext>
            </a:extLst>
          </p:cNvPr>
          <p:cNvSpPr txBox="1"/>
          <p:nvPr/>
        </p:nvSpPr>
        <p:spPr>
          <a:xfrm>
            <a:off x="7249538" y="2149813"/>
            <a:ext cx="4861398" cy="1754326"/>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DoAffineTransform function is responsible for applying an affine transformation to an image. It takes a source image, a destination image, and the affine transformation parameters, and it generates a new image in which the transformation has been applied.</a:t>
            </a:r>
            <a:endParaRPr lang="he-IL" dirty="0"/>
          </a:p>
        </p:txBody>
      </p:sp>
      <p:sp>
        <p:nvSpPr>
          <p:cNvPr id="7" name="Rectangle 6">
            <a:extLst>
              <a:ext uri="{FF2B5EF4-FFF2-40B4-BE49-F238E27FC236}">
                <a16:creationId xmlns:a16="http://schemas.microsoft.com/office/drawing/2014/main" id="{DE93C621-140D-99C9-29E3-6B3212B1E43F}"/>
              </a:ext>
            </a:extLst>
          </p:cNvPr>
          <p:cNvSpPr/>
          <p:nvPr/>
        </p:nvSpPr>
        <p:spPr>
          <a:xfrm>
            <a:off x="3853773" y="6168406"/>
            <a:ext cx="4134255" cy="5933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Deeper step by step explanation about that function – in the next slides</a:t>
            </a:r>
            <a:endParaRPr lang="he-IL" dirty="0"/>
          </a:p>
        </p:txBody>
      </p:sp>
    </p:spTree>
    <p:extLst>
      <p:ext uri="{BB962C8B-B14F-4D97-AF65-F5344CB8AC3E}">
        <p14:creationId xmlns:p14="http://schemas.microsoft.com/office/powerpoint/2010/main" val="3764352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54F65F08-6351-5EE4-3E57-3A207439C406}"/>
              </a:ext>
            </a:extLst>
          </p:cNvPr>
          <p:cNvSpPr>
            <a:spLocks noGrp="1"/>
          </p:cNvSpPr>
          <p:nvPr>
            <p:ph type="sldNum" sz="quarter" idx="12"/>
          </p:nvPr>
        </p:nvSpPr>
        <p:spPr>
          <a:xfrm>
            <a:off x="11741285" y="27774"/>
            <a:ext cx="450715" cy="365125"/>
          </a:xfrm>
        </p:spPr>
        <p:txBody>
          <a:bodyPr/>
          <a:lstStyle/>
          <a:p>
            <a:fld id="{1E5BF412-EFCF-4C51-A2DF-B419076696E3}" type="slidenum">
              <a:rPr lang="he-IL" sz="1600" smtClean="0"/>
              <a:t>11</a:t>
            </a:fld>
            <a:endParaRPr lang="he-IL" sz="1600" dirty="0"/>
          </a:p>
        </p:txBody>
      </p:sp>
      <p:sp>
        <p:nvSpPr>
          <p:cNvPr id="5" name="TextBox 4">
            <a:extLst>
              <a:ext uri="{FF2B5EF4-FFF2-40B4-BE49-F238E27FC236}">
                <a16:creationId xmlns:a16="http://schemas.microsoft.com/office/drawing/2014/main" id="{2E92276F-8E85-B4AB-1F54-E99F72C7680F}"/>
              </a:ext>
            </a:extLst>
          </p:cNvPr>
          <p:cNvSpPr txBox="1"/>
          <p:nvPr/>
        </p:nvSpPr>
        <p:spPr>
          <a:xfrm>
            <a:off x="310154" y="0"/>
            <a:ext cx="11221495" cy="523220"/>
          </a:xfrm>
          <a:prstGeom prst="rect">
            <a:avLst/>
          </a:prstGeom>
          <a:noFill/>
        </p:spPr>
        <p:txBody>
          <a:bodyPr wrap="square">
            <a:spAutoFit/>
          </a:bodyPr>
          <a:lstStyle/>
          <a:p>
            <a:pPr algn="ctr"/>
            <a:r>
              <a:rPr lang="en-US" sz="2800" b="1" u="sng" dirty="0">
                <a:solidFill>
                  <a:srgbClr val="0070C0"/>
                </a:solidFill>
              </a:rPr>
              <a:t>31.4 –” DoAffineTransform” function – </a:t>
            </a:r>
            <a:r>
              <a:rPr lang="en-US" sz="2800" b="1" u="sng" dirty="0">
                <a:solidFill>
                  <a:srgbClr val="FF0000"/>
                </a:solidFill>
              </a:rPr>
              <a:t>part 2</a:t>
            </a:r>
            <a:endParaRPr lang="en-IL" sz="2800" b="1" u="sng" dirty="0">
              <a:solidFill>
                <a:srgbClr val="FF0000"/>
              </a:solidFill>
            </a:endParaRPr>
          </a:p>
        </p:txBody>
      </p:sp>
      <p:sp>
        <p:nvSpPr>
          <p:cNvPr id="9" name="TextBox 8">
            <a:extLst>
              <a:ext uri="{FF2B5EF4-FFF2-40B4-BE49-F238E27FC236}">
                <a16:creationId xmlns:a16="http://schemas.microsoft.com/office/drawing/2014/main" id="{E60F4199-9A2D-F5E3-EF7C-ABBBD7CFE6A8}"/>
              </a:ext>
            </a:extLst>
          </p:cNvPr>
          <p:cNvSpPr txBox="1"/>
          <p:nvPr/>
        </p:nvSpPr>
        <p:spPr>
          <a:xfrm>
            <a:off x="1994171" y="662788"/>
            <a:ext cx="7811310"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starts by calculating the reverse affine transformation using the </a:t>
            </a:r>
            <a:r>
              <a:rPr lang="en-US" b="1" dirty="0"/>
              <a:t>CalculateReverseAffineTransform</a:t>
            </a:r>
            <a:r>
              <a:rPr lang="en-US" dirty="0"/>
              <a:t> function.</a:t>
            </a:r>
            <a:endParaRPr lang="he-IL" dirty="0"/>
          </a:p>
        </p:txBody>
      </p:sp>
      <p:pic>
        <p:nvPicPr>
          <p:cNvPr id="11" name="Picture 10">
            <a:extLst>
              <a:ext uri="{FF2B5EF4-FFF2-40B4-BE49-F238E27FC236}">
                <a16:creationId xmlns:a16="http://schemas.microsoft.com/office/drawing/2014/main" id="{D859E985-2BE1-D84D-AFEA-BE2446F967BA}"/>
              </a:ext>
            </a:extLst>
          </p:cNvPr>
          <p:cNvPicPr>
            <a:picLocks noChangeAspect="1"/>
          </p:cNvPicPr>
          <p:nvPr/>
        </p:nvPicPr>
        <p:blipFill>
          <a:blip r:embed="rId2"/>
          <a:stretch>
            <a:fillRect/>
          </a:stretch>
        </p:blipFill>
        <p:spPr>
          <a:xfrm>
            <a:off x="958687" y="1448687"/>
            <a:ext cx="10782598" cy="365125"/>
          </a:xfrm>
          <a:prstGeom prst="rect">
            <a:avLst/>
          </a:prstGeom>
        </p:spPr>
      </p:pic>
      <p:sp>
        <p:nvSpPr>
          <p:cNvPr id="12" name="Oval 11">
            <a:extLst>
              <a:ext uri="{FF2B5EF4-FFF2-40B4-BE49-F238E27FC236}">
                <a16:creationId xmlns:a16="http://schemas.microsoft.com/office/drawing/2014/main" id="{AA4065A5-416A-46AB-68EA-FA0518DA9851}"/>
              </a:ext>
            </a:extLst>
          </p:cNvPr>
          <p:cNvSpPr/>
          <p:nvPr/>
        </p:nvSpPr>
        <p:spPr>
          <a:xfrm>
            <a:off x="1264596" y="662788"/>
            <a:ext cx="5642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dirty="0"/>
              <a:t>1</a:t>
            </a:r>
            <a:endParaRPr lang="he-IL" dirty="0"/>
          </a:p>
        </p:txBody>
      </p:sp>
      <p:sp>
        <p:nvSpPr>
          <p:cNvPr id="13" name="Arrow: Down 12">
            <a:extLst>
              <a:ext uri="{FF2B5EF4-FFF2-40B4-BE49-F238E27FC236}">
                <a16:creationId xmlns:a16="http://schemas.microsoft.com/office/drawing/2014/main" id="{17E96E13-1DE8-5493-0570-6CAFAB9D1669}"/>
              </a:ext>
            </a:extLst>
          </p:cNvPr>
          <p:cNvSpPr/>
          <p:nvPr/>
        </p:nvSpPr>
        <p:spPr>
          <a:xfrm>
            <a:off x="5687437" y="1888430"/>
            <a:ext cx="466928" cy="6089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Oval 13">
            <a:extLst>
              <a:ext uri="{FF2B5EF4-FFF2-40B4-BE49-F238E27FC236}">
                <a16:creationId xmlns:a16="http://schemas.microsoft.com/office/drawing/2014/main" id="{C3A8DA87-2ECC-0F1D-F93A-1731121F49A8}"/>
              </a:ext>
            </a:extLst>
          </p:cNvPr>
          <p:cNvSpPr/>
          <p:nvPr/>
        </p:nvSpPr>
        <p:spPr>
          <a:xfrm>
            <a:off x="1546698" y="2987468"/>
            <a:ext cx="5642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dirty="0"/>
              <a:t>2</a:t>
            </a:r>
            <a:endParaRPr lang="he-IL" dirty="0"/>
          </a:p>
        </p:txBody>
      </p:sp>
      <p:pic>
        <p:nvPicPr>
          <p:cNvPr id="16" name="Picture 15">
            <a:extLst>
              <a:ext uri="{FF2B5EF4-FFF2-40B4-BE49-F238E27FC236}">
                <a16:creationId xmlns:a16="http://schemas.microsoft.com/office/drawing/2014/main" id="{5CD0EE74-7719-F6DA-5852-9262B58C64A7}"/>
              </a:ext>
            </a:extLst>
          </p:cNvPr>
          <p:cNvPicPr>
            <a:picLocks noChangeAspect="1"/>
          </p:cNvPicPr>
          <p:nvPr/>
        </p:nvPicPr>
        <p:blipFill>
          <a:blip r:embed="rId3"/>
          <a:stretch>
            <a:fillRect/>
          </a:stretch>
        </p:blipFill>
        <p:spPr>
          <a:xfrm>
            <a:off x="2393414" y="4123916"/>
            <a:ext cx="6588046" cy="798551"/>
          </a:xfrm>
          <a:prstGeom prst="rect">
            <a:avLst/>
          </a:prstGeom>
        </p:spPr>
      </p:pic>
      <p:sp>
        <p:nvSpPr>
          <p:cNvPr id="18" name="TextBox 17">
            <a:extLst>
              <a:ext uri="{FF2B5EF4-FFF2-40B4-BE49-F238E27FC236}">
                <a16:creationId xmlns:a16="http://schemas.microsoft.com/office/drawing/2014/main" id="{2404BDF2-94A0-8A51-47F8-95005BA86088}"/>
              </a:ext>
            </a:extLst>
          </p:cNvPr>
          <p:cNvSpPr txBox="1"/>
          <p:nvPr/>
        </p:nvSpPr>
        <p:spPr>
          <a:xfrm>
            <a:off x="2270700" y="2571970"/>
            <a:ext cx="7632057" cy="1477328"/>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marL="400050" indent="-400050">
              <a:buFont typeface="+mj-lt"/>
              <a:buAutoNum type="romanUcPeriod"/>
            </a:pPr>
            <a:r>
              <a:rPr lang="en-US" dirty="0"/>
              <a:t>Variables </a:t>
            </a:r>
            <a:r>
              <a:rPr lang="en-US" dirty="0">
                <a:solidFill>
                  <a:srgbClr val="00B050"/>
                </a:solidFill>
              </a:rPr>
              <a:t>oldRow</a:t>
            </a:r>
            <a:r>
              <a:rPr lang="en-US" dirty="0"/>
              <a:t> and </a:t>
            </a:r>
            <a:r>
              <a:rPr lang="en-US" dirty="0">
                <a:solidFill>
                  <a:srgbClr val="00B050"/>
                </a:solidFill>
              </a:rPr>
              <a:t>oldColumn</a:t>
            </a:r>
            <a:r>
              <a:rPr lang="en-US" dirty="0"/>
              <a:t> store the coordinates in the source image corresponding to the current pixel in the destination image.</a:t>
            </a:r>
          </a:p>
          <a:p>
            <a:pPr marL="400050" indent="-400050">
              <a:buFont typeface="+mj-lt"/>
              <a:buAutoNum type="romanUcPeriod"/>
            </a:pPr>
            <a:r>
              <a:rPr lang="en-US" dirty="0">
                <a:solidFill>
                  <a:srgbClr val="00B050"/>
                </a:solidFill>
              </a:rPr>
              <a:t>interpolatedValue</a:t>
            </a:r>
            <a:r>
              <a:rPr lang="en-US" dirty="0"/>
              <a:t> will hold the pixel value after interpolation.</a:t>
            </a:r>
          </a:p>
          <a:p>
            <a:pPr marL="400050" indent="-400050">
              <a:buFont typeface="+mj-lt"/>
              <a:buAutoNum type="romanUcPeriod"/>
            </a:pPr>
            <a:r>
              <a:rPr lang="en-US" dirty="0">
                <a:solidFill>
                  <a:srgbClr val="00B050"/>
                </a:solidFill>
              </a:rPr>
              <a:t>ptrToDestPixel</a:t>
            </a:r>
            <a:r>
              <a:rPr lang="en-US" dirty="0"/>
              <a:t> is a pointer to the first pixel in the destination image, used to directly write pixel values into the image.</a:t>
            </a:r>
          </a:p>
        </p:txBody>
      </p:sp>
      <p:sp>
        <p:nvSpPr>
          <p:cNvPr id="19" name="Arrow: Down 18">
            <a:extLst>
              <a:ext uri="{FF2B5EF4-FFF2-40B4-BE49-F238E27FC236}">
                <a16:creationId xmlns:a16="http://schemas.microsoft.com/office/drawing/2014/main" id="{8A7C2E17-614E-4075-85B8-4557BD0CA97F}"/>
              </a:ext>
            </a:extLst>
          </p:cNvPr>
          <p:cNvSpPr/>
          <p:nvPr/>
        </p:nvSpPr>
        <p:spPr>
          <a:xfrm>
            <a:off x="5862536" y="4997084"/>
            <a:ext cx="466928" cy="167608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666683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5D0E7CC-E2C3-B016-6212-AF75545EAD4D}"/>
              </a:ext>
            </a:extLst>
          </p:cNvPr>
          <p:cNvSpPr>
            <a:spLocks noGrp="1"/>
          </p:cNvSpPr>
          <p:nvPr>
            <p:ph type="sldNum" sz="quarter" idx="12"/>
          </p:nvPr>
        </p:nvSpPr>
        <p:spPr>
          <a:xfrm>
            <a:off x="11741285" y="27774"/>
            <a:ext cx="450715" cy="365125"/>
          </a:xfrm>
        </p:spPr>
        <p:txBody>
          <a:bodyPr/>
          <a:lstStyle/>
          <a:p>
            <a:fld id="{1E5BF412-EFCF-4C51-A2DF-B419076696E3}" type="slidenum">
              <a:rPr lang="he-IL" sz="1600" smtClean="0"/>
              <a:t>12</a:t>
            </a:fld>
            <a:endParaRPr lang="he-IL" sz="1600" dirty="0"/>
          </a:p>
        </p:txBody>
      </p:sp>
      <p:sp>
        <p:nvSpPr>
          <p:cNvPr id="3" name="TextBox 2">
            <a:extLst>
              <a:ext uri="{FF2B5EF4-FFF2-40B4-BE49-F238E27FC236}">
                <a16:creationId xmlns:a16="http://schemas.microsoft.com/office/drawing/2014/main" id="{818B2ACD-6A32-9B4E-F33B-FC1ED448B705}"/>
              </a:ext>
            </a:extLst>
          </p:cNvPr>
          <p:cNvSpPr txBox="1"/>
          <p:nvPr/>
        </p:nvSpPr>
        <p:spPr>
          <a:xfrm>
            <a:off x="310154" y="0"/>
            <a:ext cx="11221495" cy="523220"/>
          </a:xfrm>
          <a:prstGeom prst="rect">
            <a:avLst/>
          </a:prstGeom>
          <a:noFill/>
        </p:spPr>
        <p:txBody>
          <a:bodyPr wrap="square">
            <a:spAutoFit/>
          </a:bodyPr>
          <a:lstStyle/>
          <a:p>
            <a:pPr algn="ctr"/>
            <a:r>
              <a:rPr lang="en-US" sz="2800" b="1" u="sng" dirty="0">
                <a:solidFill>
                  <a:srgbClr val="0070C0"/>
                </a:solidFill>
              </a:rPr>
              <a:t>31.4 –” DoAffineTransform” function – </a:t>
            </a:r>
            <a:r>
              <a:rPr lang="en-US" sz="2800" b="1" u="sng" dirty="0">
                <a:solidFill>
                  <a:srgbClr val="FF0000"/>
                </a:solidFill>
              </a:rPr>
              <a:t>part 3</a:t>
            </a:r>
            <a:endParaRPr lang="en-IL" sz="2800" b="1" u="sng" dirty="0">
              <a:solidFill>
                <a:srgbClr val="FF0000"/>
              </a:solidFill>
            </a:endParaRPr>
          </a:p>
        </p:txBody>
      </p:sp>
      <p:pic>
        <p:nvPicPr>
          <p:cNvPr id="5" name="Picture 4">
            <a:extLst>
              <a:ext uri="{FF2B5EF4-FFF2-40B4-BE49-F238E27FC236}">
                <a16:creationId xmlns:a16="http://schemas.microsoft.com/office/drawing/2014/main" id="{966FEBCD-3A9D-E1F2-DB4F-C5BF808C01A8}"/>
              </a:ext>
            </a:extLst>
          </p:cNvPr>
          <p:cNvPicPr>
            <a:picLocks noChangeAspect="1"/>
          </p:cNvPicPr>
          <p:nvPr/>
        </p:nvPicPr>
        <p:blipFill>
          <a:blip r:embed="rId2"/>
          <a:stretch>
            <a:fillRect/>
          </a:stretch>
        </p:blipFill>
        <p:spPr>
          <a:xfrm>
            <a:off x="2286284" y="1620872"/>
            <a:ext cx="7489527" cy="2844124"/>
          </a:xfrm>
          <a:prstGeom prst="rect">
            <a:avLst/>
          </a:prstGeom>
        </p:spPr>
      </p:pic>
      <p:sp>
        <p:nvSpPr>
          <p:cNvPr id="6" name="Oval 5">
            <a:extLst>
              <a:ext uri="{FF2B5EF4-FFF2-40B4-BE49-F238E27FC236}">
                <a16:creationId xmlns:a16="http://schemas.microsoft.com/office/drawing/2014/main" id="{08BBB777-8FD1-B0B4-D7A3-5A280544C953}"/>
              </a:ext>
            </a:extLst>
          </p:cNvPr>
          <p:cNvSpPr/>
          <p:nvPr/>
        </p:nvSpPr>
        <p:spPr>
          <a:xfrm>
            <a:off x="1429965" y="693303"/>
            <a:ext cx="5642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dirty="0"/>
              <a:t>3</a:t>
            </a:r>
            <a:endParaRPr lang="he-IL" dirty="0"/>
          </a:p>
        </p:txBody>
      </p:sp>
      <p:sp>
        <p:nvSpPr>
          <p:cNvPr id="8" name="TextBox 7">
            <a:extLst>
              <a:ext uri="{FF2B5EF4-FFF2-40B4-BE49-F238E27FC236}">
                <a16:creationId xmlns:a16="http://schemas.microsoft.com/office/drawing/2014/main" id="{721A026B-0F46-66DF-1B7C-C55467073495}"/>
              </a:ext>
            </a:extLst>
          </p:cNvPr>
          <p:cNvSpPr txBox="1"/>
          <p:nvPr/>
        </p:nvSpPr>
        <p:spPr>
          <a:xfrm>
            <a:off x="2333625" y="554804"/>
            <a:ext cx="7394846"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For each pixel (row, column) in the </a:t>
            </a:r>
            <a:r>
              <a:rPr lang="en-US" b="1" dirty="0"/>
              <a:t>destination</a:t>
            </a:r>
            <a:r>
              <a:rPr lang="en-US" dirty="0"/>
              <a:t> image, the function calculates the corresponding pixel coordinates (oldRow, oldColumn) in the source image using the reverse affine transformation.</a:t>
            </a:r>
            <a:endParaRPr lang="he-IL" dirty="0"/>
          </a:p>
        </p:txBody>
      </p:sp>
      <p:sp>
        <p:nvSpPr>
          <p:cNvPr id="9" name="Arrow: Down 8">
            <a:extLst>
              <a:ext uri="{FF2B5EF4-FFF2-40B4-BE49-F238E27FC236}">
                <a16:creationId xmlns:a16="http://schemas.microsoft.com/office/drawing/2014/main" id="{D3C44109-0E68-E292-75B4-4C663D0D9D3E}"/>
              </a:ext>
            </a:extLst>
          </p:cNvPr>
          <p:cNvSpPr/>
          <p:nvPr/>
        </p:nvSpPr>
        <p:spPr>
          <a:xfrm>
            <a:off x="5920901" y="4628206"/>
            <a:ext cx="466928" cy="60892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Oval 9">
            <a:extLst>
              <a:ext uri="{FF2B5EF4-FFF2-40B4-BE49-F238E27FC236}">
                <a16:creationId xmlns:a16="http://schemas.microsoft.com/office/drawing/2014/main" id="{C0FEF4E2-FF68-6555-1AEE-91C2789FFA41}"/>
              </a:ext>
            </a:extLst>
          </p:cNvPr>
          <p:cNvSpPr/>
          <p:nvPr/>
        </p:nvSpPr>
        <p:spPr>
          <a:xfrm>
            <a:off x="28052" y="5270296"/>
            <a:ext cx="564204" cy="6463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3200" dirty="0"/>
              <a:t>4</a:t>
            </a:r>
            <a:endParaRPr lang="he-IL" dirty="0"/>
          </a:p>
        </p:txBody>
      </p:sp>
      <p:pic>
        <p:nvPicPr>
          <p:cNvPr id="12" name="Picture 11">
            <a:extLst>
              <a:ext uri="{FF2B5EF4-FFF2-40B4-BE49-F238E27FC236}">
                <a16:creationId xmlns:a16="http://schemas.microsoft.com/office/drawing/2014/main" id="{A5217EF0-FD67-1564-B1D8-B967BBD37267}"/>
              </a:ext>
            </a:extLst>
          </p:cNvPr>
          <p:cNvPicPr>
            <a:picLocks noChangeAspect="1"/>
          </p:cNvPicPr>
          <p:nvPr/>
        </p:nvPicPr>
        <p:blipFill>
          <a:blip r:embed="rId3"/>
          <a:stretch>
            <a:fillRect/>
          </a:stretch>
        </p:blipFill>
        <p:spPr>
          <a:xfrm>
            <a:off x="1638299" y="6030297"/>
            <a:ext cx="9032132" cy="660188"/>
          </a:xfrm>
          <a:prstGeom prst="rect">
            <a:avLst/>
          </a:prstGeom>
        </p:spPr>
      </p:pic>
      <p:sp>
        <p:nvSpPr>
          <p:cNvPr id="14" name="TextBox 13">
            <a:extLst>
              <a:ext uri="{FF2B5EF4-FFF2-40B4-BE49-F238E27FC236}">
                <a16:creationId xmlns:a16="http://schemas.microsoft.com/office/drawing/2014/main" id="{5F8F5386-2344-20E7-A353-40611DBAB84D}"/>
              </a:ext>
            </a:extLst>
          </p:cNvPr>
          <p:cNvSpPr txBox="1"/>
          <p:nvPr/>
        </p:nvSpPr>
        <p:spPr>
          <a:xfrm>
            <a:off x="840803" y="5275156"/>
            <a:ext cx="11221495"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then uses the </a:t>
            </a:r>
            <a:r>
              <a:rPr lang="en-US" b="1" dirty="0"/>
              <a:t>CalcInterpolatedPixValue</a:t>
            </a:r>
            <a:r>
              <a:rPr lang="en-US" dirty="0"/>
              <a:t> function to determine the pixel value at (oldRow, oldColumn) in the source image , and then rounded to the nearest integer and written to the </a:t>
            </a:r>
            <a:r>
              <a:rPr lang="en-US" b="1" dirty="0"/>
              <a:t>destination</a:t>
            </a:r>
            <a:r>
              <a:rPr lang="en-US" dirty="0"/>
              <a:t> image.</a:t>
            </a:r>
            <a:endParaRPr lang="he-IL" dirty="0"/>
          </a:p>
        </p:txBody>
      </p:sp>
    </p:spTree>
    <p:extLst>
      <p:ext uri="{BB962C8B-B14F-4D97-AF65-F5344CB8AC3E}">
        <p14:creationId xmlns:p14="http://schemas.microsoft.com/office/powerpoint/2010/main" val="2655503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21830" y="0"/>
            <a:ext cx="470170" cy="365125"/>
          </a:xfrm>
        </p:spPr>
        <p:txBody>
          <a:bodyPr/>
          <a:lstStyle/>
          <a:p>
            <a:fld id="{1E5BF412-EFCF-4C51-A2DF-B419076696E3}" type="slidenum">
              <a:rPr lang="he-IL" sz="1600" smtClean="0"/>
              <a:t>13</a:t>
            </a:fld>
            <a:endParaRPr lang="he-IL" sz="1600" dirty="0"/>
          </a:p>
        </p:txBody>
      </p:sp>
      <p:pic>
        <p:nvPicPr>
          <p:cNvPr id="5" name="Picture 4">
            <a:extLst>
              <a:ext uri="{FF2B5EF4-FFF2-40B4-BE49-F238E27FC236}">
                <a16:creationId xmlns:a16="http://schemas.microsoft.com/office/drawing/2014/main" id="{F90F9F84-822F-D572-1046-F5225E5527EC}"/>
              </a:ext>
            </a:extLst>
          </p:cNvPr>
          <p:cNvPicPr>
            <a:picLocks noChangeAspect="1"/>
          </p:cNvPicPr>
          <p:nvPr/>
        </p:nvPicPr>
        <p:blipFill>
          <a:blip r:embed="rId2"/>
          <a:stretch>
            <a:fillRect/>
          </a:stretch>
        </p:blipFill>
        <p:spPr>
          <a:xfrm>
            <a:off x="-1" y="814270"/>
            <a:ext cx="12192000" cy="3186652"/>
          </a:xfrm>
          <a:prstGeom prst="rect">
            <a:avLst/>
          </a:prstGeom>
        </p:spPr>
      </p:pic>
      <p:sp>
        <p:nvSpPr>
          <p:cNvPr id="2" name="TextBox 1">
            <a:extLst>
              <a:ext uri="{FF2B5EF4-FFF2-40B4-BE49-F238E27FC236}">
                <a16:creationId xmlns:a16="http://schemas.microsoft.com/office/drawing/2014/main" id="{3BAB931E-B498-B6E0-8EB4-3B777FA44846}"/>
              </a:ext>
            </a:extLst>
          </p:cNvPr>
          <p:cNvSpPr txBox="1"/>
          <p:nvPr/>
        </p:nvSpPr>
        <p:spPr>
          <a:xfrm>
            <a:off x="2384332" y="0"/>
            <a:ext cx="7423335" cy="523220"/>
          </a:xfrm>
          <a:prstGeom prst="rect">
            <a:avLst/>
          </a:prstGeom>
          <a:noFill/>
        </p:spPr>
        <p:txBody>
          <a:bodyPr wrap="square">
            <a:spAutoFit/>
          </a:bodyPr>
          <a:lstStyle/>
          <a:p>
            <a:pPr algn="ctr"/>
            <a:r>
              <a:rPr lang="en-US" sz="2800" b="1" u="sng" dirty="0">
                <a:solidFill>
                  <a:srgbClr val="0070C0"/>
                </a:solidFill>
              </a:rPr>
              <a:t>31.5 –” CalcInterpolatedPixValue ” function</a:t>
            </a:r>
            <a:endParaRPr lang="en-IL" sz="2800" b="1" u="sng" dirty="0">
              <a:solidFill>
                <a:srgbClr val="FF0000"/>
              </a:solidFill>
            </a:endParaRPr>
          </a:p>
        </p:txBody>
      </p:sp>
    </p:spTree>
    <p:extLst>
      <p:ext uri="{BB962C8B-B14F-4D97-AF65-F5344CB8AC3E}">
        <p14:creationId xmlns:p14="http://schemas.microsoft.com/office/powerpoint/2010/main" val="1890858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F880C-0B00-7659-B5F9-2EAB0CDCDAC5}"/>
              </a:ext>
            </a:extLst>
          </p:cNvPr>
          <p:cNvPicPr>
            <a:picLocks noChangeAspect="1"/>
          </p:cNvPicPr>
          <p:nvPr/>
        </p:nvPicPr>
        <p:blipFill>
          <a:blip r:embed="rId2"/>
          <a:stretch>
            <a:fillRect/>
          </a:stretch>
        </p:blipFill>
        <p:spPr>
          <a:xfrm>
            <a:off x="0" y="668569"/>
            <a:ext cx="9776298" cy="6189431"/>
          </a:xfrm>
          <a:prstGeom prst="rect">
            <a:avLst/>
          </a:prstGeom>
        </p:spPr>
      </p:pic>
      <p:sp>
        <p:nvSpPr>
          <p:cNvPr id="13" name="TextBox 12">
            <a:extLst>
              <a:ext uri="{FF2B5EF4-FFF2-40B4-BE49-F238E27FC236}">
                <a16:creationId xmlns:a16="http://schemas.microsoft.com/office/drawing/2014/main" id="{3A941F90-41CC-C882-670D-75C557237B5A}"/>
              </a:ext>
            </a:extLst>
          </p:cNvPr>
          <p:cNvSpPr txBox="1"/>
          <p:nvPr/>
        </p:nvSpPr>
        <p:spPr>
          <a:xfrm>
            <a:off x="6196519" y="1186774"/>
            <a:ext cx="5995481"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These variables are used to track the minimum and maximum values of the transformed coordinates. This is essential because after applying the affine transformation, the image might no longer fit within its original dimensions. </a:t>
            </a:r>
            <a:endParaRPr lang="he-IL" dirty="0"/>
          </a:p>
        </p:txBody>
      </p:sp>
      <p:sp>
        <p:nvSpPr>
          <p:cNvPr id="14" name="Right Brace 13">
            <a:extLst>
              <a:ext uri="{FF2B5EF4-FFF2-40B4-BE49-F238E27FC236}">
                <a16:creationId xmlns:a16="http://schemas.microsoft.com/office/drawing/2014/main" id="{1799403B-B480-6703-666B-494CEFA07BDF}"/>
              </a:ext>
            </a:extLst>
          </p:cNvPr>
          <p:cNvSpPr/>
          <p:nvPr/>
        </p:nvSpPr>
        <p:spPr>
          <a:xfrm>
            <a:off x="2937753" y="1186774"/>
            <a:ext cx="321013" cy="768486"/>
          </a:xfrm>
          <a:prstGeom prst="rightBrace">
            <a:avLst/>
          </a:prstGeom>
        </p:spPr>
        <p:style>
          <a:lnRef idx="3">
            <a:schemeClr val="accent5"/>
          </a:lnRef>
          <a:fillRef idx="0">
            <a:schemeClr val="accent5"/>
          </a:fillRef>
          <a:effectRef idx="2">
            <a:schemeClr val="accent5"/>
          </a:effectRef>
          <a:fontRef idx="minor">
            <a:schemeClr val="tx1"/>
          </a:fontRef>
        </p:style>
        <p:txBody>
          <a:bodyPr rtlCol="1" anchor="ctr"/>
          <a:lstStyle/>
          <a:p>
            <a:pPr algn="ctr"/>
            <a:endParaRPr lang="he-IL"/>
          </a:p>
        </p:txBody>
      </p:sp>
      <p:cxnSp>
        <p:nvCxnSpPr>
          <p:cNvPr id="16" name="Straight Arrow Connector 15">
            <a:extLst>
              <a:ext uri="{FF2B5EF4-FFF2-40B4-BE49-F238E27FC236}">
                <a16:creationId xmlns:a16="http://schemas.microsoft.com/office/drawing/2014/main" id="{ADFE2E7C-D8E0-9FF2-094E-9AAB81705C82}"/>
              </a:ext>
            </a:extLst>
          </p:cNvPr>
          <p:cNvCxnSpPr/>
          <p:nvPr/>
        </p:nvCxnSpPr>
        <p:spPr>
          <a:xfrm>
            <a:off x="3411166" y="1575881"/>
            <a:ext cx="2684834" cy="0"/>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8087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9B2228-B02E-8A4E-E7E8-34E2A2D6B014}"/>
              </a:ext>
            </a:extLst>
          </p:cNvPr>
          <p:cNvPicPr>
            <a:picLocks noChangeAspect="1"/>
          </p:cNvPicPr>
          <p:nvPr/>
        </p:nvPicPr>
        <p:blipFill>
          <a:blip r:embed="rId2"/>
          <a:stretch>
            <a:fillRect/>
          </a:stretch>
        </p:blipFill>
        <p:spPr>
          <a:xfrm>
            <a:off x="0" y="1782823"/>
            <a:ext cx="12192000" cy="3292354"/>
          </a:xfrm>
          <a:prstGeom prst="rect">
            <a:avLst/>
          </a:prstGeom>
        </p:spPr>
      </p:pic>
      <p:sp>
        <p:nvSpPr>
          <p:cNvPr id="12" name="TextBox 11">
            <a:extLst>
              <a:ext uri="{FF2B5EF4-FFF2-40B4-BE49-F238E27FC236}">
                <a16:creationId xmlns:a16="http://schemas.microsoft.com/office/drawing/2014/main" id="{B3CD9DA2-7A0F-4BC0-46D1-079585206970}"/>
              </a:ext>
            </a:extLst>
          </p:cNvPr>
          <p:cNvSpPr txBox="1"/>
          <p:nvPr/>
        </p:nvSpPr>
        <p:spPr>
          <a:xfrm>
            <a:off x="2940184" y="5496527"/>
            <a:ext cx="6094378" cy="923330"/>
          </a:xfrm>
          <a:prstGeom prst="rect">
            <a:avLst/>
          </a:prstGeom>
          <a:noFill/>
        </p:spPr>
        <p:txBody>
          <a:bodyPr wrap="square">
            <a:spAutoFit/>
          </a:bodyPr>
          <a:lstStyle/>
          <a:p>
            <a:r>
              <a:rPr lang="en-US" dirty="0"/>
              <a:t>This function adjusts the size of the destination image based on the transformation and then applies the affine transformation.</a:t>
            </a:r>
            <a:endParaRPr lang="he-IL" dirty="0"/>
          </a:p>
        </p:txBody>
      </p:sp>
      <p:sp>
        <p:nvSpPr>
          <p:cNvPr id="14" name="TextBox 13">
            <a:extLst>
              <a:ext uri="{FF2B5EF4-FFF2-40B4-BE49-F238E27FC236}">
                <a16:creationId xmlns:a16="http://schemas.microsoft.com/office/drawing/2014/main" id="{B44F646E-8429-641D-4F79-F4A0DD1AD743}"/>
              </a:ext>
            </a:extLst>
          </p:cNvPr>
          <p:cNvSpPr txBox="1"/>
          <p:nvPr/>
        </p:nvSpPr>
        <p:spPr>
          <a:xfrm>
            <a:off x="8706255" y="3575204"/>
            <a:ext cx="3485745" cy="1754326"/>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Finally, the </a:t>
            </a:r>
            <a:r>
              <a:rPr lang="en-US" b="1" dirty="0"/>
              <a:t>DoAffineTransform</a:t>
            </a:r>
            <a:r>
              <a:rPr lang="en-US" dirty="0"/>
              <a:t> function is called to apply the actual affine transformation to the source image, filling in the destination image with the appropriately transformed pixels.</a:t>
            </a:r>
            <a:endParaRPr lang="he-IL" dirty="0"/>
          </a:p>
        </p:txBody>
      </p:sp>
      <p:cxnSp>
        <p:nvCxnSpPr>
          <p:cNvPr id="15" name="Straight Arrow Connector 14">
            <a:extLst>
              <a:ext uri="{FF2B5EF4-FFF2-40B4-BE49-F238E27FC236}">
                <a16:creationId xmlns:a16="http://schemas.microsoft.com/office/drawing/2014/main" id="{625D87EF-FF88-5D36-DF93-2236D0D7B75B}"/>
              </a:ext>
            </a:extLst>
          </p:cNvPr>
          <p:cNvCxnSpPr>
            <a:cxnSpLocks/>
          </p:cNvCxnSpPr>
          <p:nvPr/>
        </p:nvCxnSpPr>
        <p:spPr>
          <a:xfrm>
            <a:off x="7623242" y="4766554"/>
            <a:ext cx="1083013" cy="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1237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FA9813-C783-571C-81BF-CC94CA5A1E98}"/>
              </a:ext>
            </a:extLst>
          </p:cNvPr>
          <p:cNvPicPr>
            <a:picLocks noChangeAspect="1"/>
          </p:cNvPicPr>
          <p:nvPr/>
        </p:nvPicPr>
        <p:blipFill>
          <a:blip r:embed="rId2"/>
          <a:stretch>
            <a:fillRect/>
          </a:stretch>
        </p:blipFill>
        <p:spPr>
          <a:xfrm>
            <a:off x="0" y="554034"/>
            <a:ext cx="9980579" cy="6303966"/>
          </a:xfrm>
          <a:prstGeom prst="rect">
            <a:avLst/>
          </a:prstGeom>
        </p:spPr>
      </p:pic>
    </p:spTree>
    <p:extLst>
      <p:ext uri="{BB962C8B-B14F-4D97-AF65-F5344CB8AC3E}">
        <p14:creationId xmlns:p14="http://schemas.microsoft.com/office/powerpoint/2010/main" val="26196266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4161D5-145C-0F72-5C57-619A4D0F597D}"/>
              </a:ext>
            </a:extLst>
          </p:cNvPr>
          <p:cNvPicPr>
            <a:picLocks noChangeAspect="1"/>
          </p:cNvPicPr>
          <p:nvPr/>
        </p:nvPicPr>
        <p:blipFill>
          <a:blip r:embed="rId2"/>
          <a:stretch>
            <a:fillRect/>
          </a:stretch>
        </p:blipFill>
        <p:spPr>
          <a:xfrm>
            <a:off x="0" y="825938"/>
            <a:ext cx="8401050" cy="5400675"/>
          </a:xfrm>
          <a:prstGeom prst="rect">
            <a:avLst/>
          </a:prstGeom>
        </p:spPr>
      </p:pic>
      <p:sp>
        <p:nvSpPr>
          <p:cNvPr id="7" name="TextBox 6">
            <a:extLst>
              <a:ext uri="{FF2B5EF4-FFF2-40B4-BE49-F238E27FC236}">
                <a16:creationId xmlns:a16="http://schemas.microsoft.com/office/drawing/2014/main" id="{F7DDCAA5-BF74-74DA-5E23-0E6645D4E181}"/>
              </a:ext>
            </a:extLst>
          </p:cNvPr>
          <p:cNvSpPr txBox="1"/>
          <p:nvPr/>
        </p:nvSpPr>
        <p:spPr>
          <a:xfrm>
            <a:off x="8964850" y="825938"/>
            <a:ext cx="3227150" cy="123270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These parameters scale the image. </a:t>
            </a:r>
            <a:r>
              <a:rPr lang="en-US" dirty="0" err="1"/>
              <a:t>Sx</a:t>
            </a:r>
            <a:r>
              <a:rPr lang="en-US" dirty="0"/>
              <a:t> stretches or shrinks the image horizontally, while Sy does the same vertically. </a:t>
            </a:r>
            <a:endParaRPr lang="he-IL" dirty="0"/>
          </a:p>
        </p:txBody>
      </p:sp>
      <p:sp>
        <p:nvSpPr>
          <p:cNvPr id="9" name="TextBox 8">
            <a:extLst>
              <a:ext uri="{FF2B5EF4-FFF2-40B4-BE49-F238E27FC236}">
                <a16:creationId xmlns:a16="http://schemas.microsoft.com/office/drawing/2014/main" id="{0E291E40-C8D2-F164-5977-4473C0C155C3}"/>
              </a:ext>
            </a:extLst>
          </p:cNvPr>
          <p:cNvSpPr txBox="1"/>
          <p:nvPr/>
        </p:nvSpPr>
        <p:spPr>
          <a:xfrm>
            <a:off x="8964848" y="2737342"/>
            <a:ext cx="3227151"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image is rotated by 17 degrees around a point (20, 10). This is calculated using trigonometric functions </a:t>
            </a:r>
            <a:endParaRPr lang="he-IL" dirty="0"/>
          </a:p>
        </p:txBody>
      </p:sp>
      <p:sp>
        <p:nvSpPr>
          <p:cNvPr id="11" name="TextBox 10">
            <a:extLst>
              <a:ext uri="{FF2B5EF4-FFF2-40B4-BE49-F238E27FC236}">
                <a16:creationId xmlns:a16="http://schemas.microsoft.com/office/drawing/2014/main" id="{F4364894-E177-4933-999C-EE46F8F623E8}"/>
              </a:ext>
            </a:extLst>
          </p:cNvPr>
          <p:cNvSpPr txBox="1"/>
          <p:nvPr/>
        </p:nvSpPr>
        <p:spPr>
          <a:xfrm>
            <a:off x="9214929" y="2074825"/>
            <a:ext cx="2726987"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image is moved 40 pixels to the left</a:t>
            </a:r>
            <a:endParaRPr lang="he-IL" dirty="0"/>
          </a:p>
        </p:txBody>
      </p:sp>
    </p:spTree>
    <p:extLst>
      <p:ext uri="{BB962C8B-B14F-4D97-AF65-F5344CB8AC3E}">
        <p14:creationId xmlns:p14="http://schemas.microsoft.com/office/powerpoint/2010/main" val="1044407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80196" y="6492875"/>
            <a:ext cx="411804" cy="365125"/>
          </a:xfrm>
        </p:spPr>
        <p:txBody>
          <a:bodyPr/>
          <a:lstStyle/>
          <a:p>
            <a:fld id="{1E5BF412-EFCF-4C51-A2DF-B419076696E3}" type="slidenum">
              <a:rPr lang="he-IL" sz="1600" smtClean="0"/>
              <a:t>18</a:t>
            </a:fld>
            <a:endParaRPr lang="he-IL" sz="1600" dirty="0"/>
          </a:p>
        </p:txBody>
      </p:sp>
      <p:sp>
        <p:nvSpPr>
          <p:cNvPr id="5" name="TextBox 4">
            <a:extLst>
              <a:ext uri="{FF2B5EF4-FFF2-40B4-BE49-F238E27FC236}">
                <a16:creationId xmlns:a16="http://schemas.microsoft.com/office/drawing/2014/main" id="{6AD8C917-0DD0-7C4C-18B7-C7CF81A13626}"/>
              </a:ext>
            </a:extLst>
          </p:cNvPr>
          <p:cNvSpPr txBox="1"/>
          <p:nvPr/>
        </p:nvSpPr>
        <p:spPr>
          <a:xfrm>
            <a:off x="3560324" y="0"/>
            <a:ext cx="4435812" cy="523220"/>
          </a:xfrm>
          <a:prstGeom prst="rect">
            <a:avLst/>
          </a:prstGeom>
          <a:noFill/>
        </p:spPr>
        <p:txBody>
          <a:bodyPr wrap="square">
            <a:spAutoFit/>
          </a:bodyPr>
          <a:lstStyle/>
          <a:p>
            <a:pPr algn="ctr"/>
            <a:r>
              <a:rPr lang="en-US" sz="2800" b="1" u="sng" dirty="0">
                <a:solidFill>
                  <a:srgbClr val="0070C0"/>
                </a:solidFill>
              </a:rPr>
              <a:t>31.7 – the “main” function</a:t>
            </a:r>
            <a:endParaRPr lang="en-IL" sz="2800" u="sng" dirty="0">
              <a:solidFill>
                <a:srgbClr val="FF0000"/>
              </a:solidFill>
              <a:latin typeface="Cooper Black" panose="0208090404030B020404" pitchFamily="18" charset="0"/>
            </a:endParaRPr>
          </a:p>
        </p:txBody>
      </p:sp>
      <p:pic>
        <p:nvPicPr>
          <p:cNvPr id="6" name="Picture 5">
            <a:extLst>
              <a:ext uri="{FF2B5EF4-FFF2-40B4-BE49-F238E27FC236}">
                <a16:creationId xmlns:a16="http://schemas.microsoft.com/office/drawing/2014/main" id="{AEE0B1A5-0E1D-C02A-904B-779E6D5D8F57}"/>
              </a:ext>
            </a:extLst>
          </p:cNvPr>
          <p:cNvPicPr>
            <a:picLocks noChangeAspect="1"/>
          </p:cNvPicPr>
          <p:nvPr/>
        </p:nvPicPr>
        <p:blipFill>
          <a:blip r:embed="rId2"/>
          <a:stretch>
            <a:fillRect/>
          </a:stretch>
        </p:blipFill>
        <p:spPr>
          <a:xfrm>
            <a:off x="0" y="831753"/>
            <a:ext cx="8560340" cy="4808526"/>
          </a:xfrm>
          <a:prstGeom prst="rect">
            <a:avLst/>
          </a:prstGeom>
        </p:spPr>
      </p:pic>
      <p:sp>
        <p:nvSpPr>
          <p:cNvPr id="8" name="TextBox 7">
            <a:extLst>
              <a:ext uri="{FF2B5EF4-FFF2-40B4-BE49-F238E27FC236}">
                <a16:creationId xmlns:a16="http://schemas.microsoft.com/office/drawing/2014/main" id="{C9C0D69E-6DC5-8AF0-4AD3-A0B8C860008F}"/>
              </a:ext>
            </a:extLst>
          </p:cNvPr>
          <p:cNvSpPr txBox="1"/>
          <p:nvPr/>
        </p:nvSpPr>
        <p:spPr>
          <a:xfrm>
            <a:off x="8560340" y="1110717"/>
            <a:ext cx="3631660"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image grayImage13.bmp is loaded into the </a:t>
            </a:r>
            <a:r>
              <a:rPr lang="en-US" b="1" dirty="0"/>
              <a:t>src</a:t>
            </a:r>
            <a:r>
              <a:rPr lang="en-US" dirty="0"/>
              <a:t> object, which represents the source image.</a:t>
            </a:r>
            <a:endParaRPr lang="he-IL" dirty="0"/>
          </a:p>
        </p:txBody>
      </p:sp>
      <p:sp>
        <p:nvSpPr>
          <p:cNvPr id="10" name="TextBox 9">
            <a:extLst>
              <a:ext uri="{FF2B5EF4-FFF2-40B4-BE49-F238E27FC236}">
                <a16:creationId xmlns:a16="http://schemas.microsoft.com/office/drawing/2014/main" id="{DD46F6EA-595E-4B5F-C636-69E2853ECAE9}"/>
              </a:ext>
            </a:extLst>
          </p:cNvPr>
          <p:cNvSpPr txBox="1"/>
          <p:nvPr/>
        </p:nvSpPr>
        <p:spPr>
          <a:xfrm>
            <a:off x="9056451" y="2034047"/>
            <a:ext cx="3135549"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a:t>
            </a:r>
            <a:r>
              <a:rPr lang="en-US" b="1" dirty="0"/>
              <a:t>dest</a:t>
            </a:r>
            <a:r>
              <a:rPr lang="en-US" dirty="0"/>
              <a:t> object is prepared to hold the transformed image.</a:t>
            </a:r>
            <a:endParaRPr lang="he-IL" dirty="0"/>
          </a:p>
        </p:txBody>
      </p:sp>
      <p:sp>
        <p:nvSpPr>
          <p:cNvPr id="12" name="TextBox 11">
            <a:extLst>
              <a:ext uri="{FF2B5EF4-FFF2-40B4-BE49-F238E27FC236}">
                <a16:creationId xmlns:a16="http://schemas.microsoft.com/office/drawing/2014/main" id="{BCCC17C0-E22B-3599-406B-760C6FA87C72}"/>
              </a:ext>
            </a:extLst>
          </p:cNvPr>
          <p:cNvSpPr txBox="1"/>
          <p:nvPr/>
        </p:nvSpPr>
        <p:spPr>
          <a:xfrm>
            <a:off x="8704635" y="2726545"/>
            <a:ext cx="3487365" cy="1754326"/>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affine transformation is applied twice, once using Nearest Neighbor interpolation (result saved as A31.bmp) and once using Bilinear interpolation (result saved as A32.bmp).</a:t>
            </a:r>
            <a:endParaRPr lang="he-IL" dirty="0"/>
          </a:p>
        </p:txBody>
      </p:sp>
    </p:spTree>
    <p:extLst>
      <p:ext uri="{BB962C8B-B14F-4D97-AF65-F5344CB8AC3E}">
        <p14:creationId xmlns:p14="http://schemas.microsoft.com/office/powerpoint/2010/main" val="1491618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87CEE20-E459-E011-61F0-E48BF534F39F}"/>
              </a:ext>
            </a:extLst>
          </p:cNvPr>
          <p:cNvSpPr txBox="1"/>
          <p:nvPr/>
        </p:nvSpPr>
        <p:spPr>
          <a:xfrm>
            <a:off x="1449422" y="0"/>
            <a:ext cx="9155008" cy="523220"/>
          </a:xfrm>
          <a:prstGeom prst="rect">
            <a:avLst/>
          </a:prstGeom>
          <a:noFill/>
        </p:spPr>
        <p:txBody>
          <a:bodyPr wrap="square">
            <a:spAutoFit/>
          </a:bodyPr>
          <a:lstStyle/>
          <a:p>
            <a:pPr algn="ctr"/>
            <a:r>
              <a:rPr lang="en-US" sz="2800" b="1" u="sng" dirty="0">
                <a:solidFill>
                  <a:srgbClr val="0070C0"/>
                </a:solidFill>
              </a:rPr>
              <a:t>31.8 - Resulted photographs – “A31.bmp”,”A32.bmp”</a:t>
            </a:r>
            <a:endParaRPr lang="en-IL" sz="2800" u="sng" dirty="0">
              <a:latin typeface="Cooper Black" panose="0208090404030B020404" pitchFamily="18" charset="0"/>
            </a:endParaRPr>
          </a:p>
        </p:txBody>
      </p:sp>
      <p:sp>
        <p:nvSpPr>
          <p:cNvPr id="6" name="Slide Number Placeholder 5">
            <a:extLst>
              <a:ext uri="{FF2B5EF4-FFF2-40B4-BE49-F238E27FC236}">
                <a16:creationId xmlns:a16="http://schemas.microsoft.com/office/drawing/2014/main" id="{FE465186-D7DA-F9F8-96E5-9F7C695A2E29}"/>
              </a:ext>
            </a:extLst>
          </p:cNvPr>
          <p:cNvSpPr>
            <a:spLocks noGrp="1"/>
          </p:cNvSpPr>
          <p:nvPr>
            <p:ph type="sldNum" sz="quarter" idx="12"/>
          </p:nvPr>
        </p:nvSpPr>
        <p:spPr>
          <a:xfrm>
            <a:off x="11780196" y="22287"/>
            <a:ext cx="411804" cy="365125"/>
          </a:xfrm>
        </p:spPr>
        <p:txBody>
          <a:bodyPr/>
          <a:lstStyle/>
          <a:p>
            <a:fld id="{1E5BF412-EFCF-4C51-A2DF-B419076696E3}" type="slidenum">
              <a:rPr lang="he-IL" sz="1600" smtClean="0"/>
              <a:t>19</a:t>
            </a:fld>
            <a:endParaRPr lang="he-IL" sz="1600" dirty="0"/>
          </a:p>
        </p:txBody>
      </p:sp>
      <p:sp>
        <p:nvSpPr>
          <p:cNvPr id="9" name="מלבן 5">
            <a:extLst>
              <a:ext uri="{FF2B5EF4-FFF2-40B4-BE49-F238E27FC236}">
                <a16:creationId xmlns:a16="http://schemas.microsoft.com/office/drawing/2014/main" id="{788CDEB0-BD3C-1862-D8B5-56924D43E1CE}"/>
              </a:ext>
            </a:extLst>
          </p:cNvPr>
          <p:cNvSpPr/>
          <p:nvPr/>
        </p:nvSpPr>
        <p:spPr>
          <a:xfrm>
            <a:off x="4652642" y="2923533"/>
            <a:ext cx="2345079" cy="58477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en-US" sz="1600" b="1" dirty="0">
                <a:solidFill>
                  <a:schemeClr val="bg1"/>
                </a:solidFill>
              </a:rPr>
              <a:t>“grayImage13.bmp” - input image </a:t>
            </a:r>
          </a:p>
        </p:txBody>
      </p:sp>
      <p:sp>
        <p:nvSpPr>
          <p:cNvPr id="11" name="TextBox 10">
            <a:extLst>
              <a:ext uri="{FF2B5EF4-FFF2-40B4-BE49-F238E27FC236}">
                <a16:creationId xmlns:a16="http://schemas.microsoft.com/office/drawing/2014/main" id="{5E13CC8F-4D88-7BBB-F13A-2C0FA7591737}"/>
              </a:ext>
            </a:extLst>
          </p:cNvPr>
          <p:cNvSpPr txBox="1"/>
          <p:nvPr/>
        </p:nvSpPr>
        <p:spPr>
          <a:xfrm>
            <a:off x="276541" y="6105926"/>
            <a:ext cx="3894776" cy="646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“A31.bmp” - Created by using nearest neighbor interpolation</a:t>
            </a:r>
            <a:endParaRPr lang="he-IL" sz="1800" b="1" dirty="0">
              <a:solidFill>
                <a:schemeClr val="bg1"/>
              </a:solidFill>
            </a:endParaRPr>
          </a:p>
        </p:txBody>
      </p:sp>
      <p:sp>
        <p:nvSpPr>
          <p:cNvPr id="14" name="TextBox 13">
            <a:extLst>
              <a:ext uri="{FF2B5EF4-FFF2-40B4-BE49-F238E27FC236}">
                <a16:creationId xmlns:a16="http://schemas.microsoft.com/office/drawing/2014/main" id="{39E8F388-B887-3C64-8CCE-DC17E1643B90}"/>
              </a:ext>
            </a:extLst>
          </p:cNvPr>
          <p:cNvSpPr txBox="1"/>
          <p:nvPr/>
        </p:nvSpPr>
        <p:spPr>
          <a:xfrm>
            <a:off x="8299170" y="6211098"/>
            <a:ext cx="339278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pPr algn="ctr" rtl="0"/>
            <a:r>
              <a:rPr lang="en-US" sz="1800" b="1" dirty="0">
                <a:solidFill>
                  <a:schemeClr val="bg1"/>
                </a:solidFill>
              </a:rPr>
              <a:t>“A32.bmp” - Created by using </a:t>
            </a:r>
          </a:p>
          <a:p>
            <a:pPr algn="ctr" rtl="0"/>
            <a:r>
              <a:rPr lang="en-US" sz="1800" b="1" dirty="0">
                <a:solidFill>
                  <a:schemeClr val="bg1"/>
                </a:solidFill>
              </a:rPr>
              <a:t>bilinear interpolation</a:t>
            </a:r>
          </a:p>
        </p:txBody>
      </p:sp>
      <p:pic>
        <p:nvPicPr>
          <p:cNvPr id="16" name="Picture 15" descr="A black and white circular pattern&#10;&#10;Description automatically generated">
            <a:extLst>
              <a:ext uri="{FF2B5EF4-FFF2-40B4-BE49-F238E27FC236}">
                <a16:creationId xmlns:a16="http://schemas.microsoft.com/office/drawing/2014/main" id="{F6F92594-9DAA-D928-2C2F-573E7C69E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182" y="567689"/>
            <a:ext cx="3048000" cy="2286000"/>
          </a:xfrm>
          <a:prstGeom prst="rect">
            <a:avLst/>
          </a:prstGeom>
        </p:spPr>
      </p:pic>
      <p:sp>
        <p:nvSpPr>
          <p:cNvPr id="17" name="Arrow: Bent 16">
            <a:extLst>
              <a:ext uri="{FF2B5EF4-FFF2-40B4-BE49-F238E27FC236}">
                <a16:creationId xmlns:a16="http://schemas.microsoft.com/office/drawing/2014/main" id="{473259B3-78EC-4C03-0F58-541B0B7A0180}"/>
              </a:ext>
            </a:extLst>
          </p:cNvPr>
          <p:cNvSpPr/>
          <p:nvPr/>
        </p:nvSpPr>
        <p:spPr>
          <a:xfrm rot="5400000">
            <a:off x="8493865" y="266172"/>
            <a:ext cx="739302" cy="2809349"/>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sp>
        <p:nvSpPr>
          <p:cNvPr id="18" name="Arrow: Bent 17">
            <a:extLst>
              <a:ext uri="{FF2B5EF4-FFF2-40B4-BE49-F238E27FC236}">
                <a16:creationId xmlns:a16="http://schemas.microsoft.com/office/drawing/2014/main" id="{812F63D4-E18C-E60E-C2D7-D49D26E3A02B}"/>
              </a:ext>
            </a:extLst>
          </p:cNvPr>
          <p:cNvSpPr/>
          <p:nvPr/>
        </p:nvSpPr>
        <p:spPr>
          <a:xfrm rot="16200000" flipH="1">
            <a:off x="2663859" y="561145"/>
            <a:ext cx="729636" cy="2209735"/>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solidFill>
                <a:schemeClr val="tx1"/>
              </a:solidFill>
            </a:endParaRPr>
          </a:p>
        </p:txBody>
      </p:sp>
      <p:pic>
        <p:nvPicPr>
          <p:cNvPr id="3" name="Picture 2" descr="A black and white circular object&#10;&#10;Description automatically generated">
            <a:extLst>
              <a:ext uri="{FF2B5EF4-FFF2-40B4-BE49-F238E27FC236}">
                <a16:creationId xmlns:a16="http://schemas.microsoft.com/office/drawing/2014/main" id="{641C8A14-A369-86BF-0D8D-2385320955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17" y="2112247"/>
            <a:ext cx="3264625" cy="3912263"/>
          </a:xfrm>
          <a:prstGeom prst="rect">
            <a:avLst/>
          </a:prstGeom>
        </p:spPr>
      </p:pic>
      <p:pic>
        <p:nvPicPr>
          <p:cNvPr id="7" name="Picture 6">
            <a:extLst>
              <a:ext uri="{FF2B5EF4-FFF2-40B4-BE49-F238E27FC236}">
                <a16:creationId xmlns:a16="http://schemas.microsoft.com/office/drawing/2014/main" id="{0C000CDC-7D97-108D-4067-D9213613D4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5759" y="2169667"/>
            <a:ext cx="3264624" cy="3912262"/>
          </a:xfrm>
          <a:prstGeom prst="rect">
            <a:avLst/>
          </a:prstGeom>
        </p:spPr>
      </p:pic>
      <p:sp>
        <p:nvSpPr>
          <p:cNvPr id="8" name="Rectangle 7">
            <a:extLst>
              <a:ext uri="{FF2B5EF4-FFF2-40B4-BE49-F238E27FC236}">
                <a16:creationId xmlns:a16="http://schemas.microsoft.com/office/drawing/2014/main" id="{AAF43C39-649C-C8C5-C864-639C211E4A9B}"/>
              </a:ext>
            </a:extLst>
          </p:cNvPr>
          <p:cNvSpPr/>
          <p:nvPr/>
        </p:nvSpPr>
        <p:spPr>
          <a:xfrm>
            <a:off x="4756060" y="3922462"/>
            <a:ext cx="2894208" cy="9366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size of the created images has been changed from 320x240 to 494x592</a:t>
            </a:r>
            <a:endParaRPr lang="he-IL" dirty="0"/>
          </a:p>
        </p:txBody>
      </p:sp>
      <p:sp>
        <p:nvSpPr>
          <p:cNvPr id="10" name="Rectangle 9">
            <a:extLst>
              <a:ext uri="{FF2B5EF4-FFF2-40B4-BE49-F238E27FC236}">
                <a16:creationId xmlns:a16="http://schemas.microsoft.com/office/drawing/2014/main" id="{D193CB10-1CFF-F751-9FBA-751300E72563}"/>
              </a:ext>
            </a:extLst>
          </p:cNvPr>
          <p:cNvSpPr/>
          <p:nvPr/>
        </p:nvSpPr>
        <p:spPr>
          <a:xfrm>
            <a:off x="4756060" y="5045386"/>
            <a:ext cx="2894208" cy="12861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Pay attention that A31.bmp and A32.bmp are larger in size than presented here. Sized only to fit the slide of the PowerPoint</a:t>
            </a:r>
            <a:endParaRPr lang="he-IL" dirty="0"/>
          </a:p>
        </p:txBody>
      </p:sp>
    </p:spTree>
    <p:extLst>
      <p:ext uri="{BB962C8B-B14F-4D97-AF65-F5344CB8AC3E}">
        <p14:creationId xmlns:p14="http://schemas.microsoft.com/office/powerpoint/2010/main" val="1878876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20</a:t>
            </a:fld>
            <a:endParaRPr lang="he-IL" sz="1600" dirty="0"/>
          </a:p>
        </p:txBody>
      </p:sp>
      <p:sp>
        <p:nvSpPr>
          <p:cNvPr id="2" name="TextBox 1">
            <a:extLst>
              <a:ext uri="{FF2B5EF4-FFF2-40B4-BE49-F238E27FC236}">
                <a16:creationId xmlns:a16="http://schemas.microsoft.com/office/drawing/2014/main" id="{A533F1A4-BDEC-907E-6866-73FA452EE6ED}"/>
              </a:ext>
            </a:extLst>
          </p:cNvPr>
          <p:cNvSpPr txBox="1"/>
          <p:nvPr/>
        </p:nvSpPr>
        <p:spPr>
          <a:xfrm>
            <a:off x="51233" y="-79048"/>
            <a:ext cx="11674480" cy="523220"/>
          </a:xfrm>
          <a:prstGeom prst="rect">
            <a:avLst/>
          </a:prstGeom>
          <a:noFill/>
        </p:spPr>
        <p:txBody>
          <a:bodyPr wrap="square">
            <a:spAutoFit/>
          </a:bodyPr>
          <a:lstStyle/>
          <a:p>
            <a:pPr algn="ctr"/>
            <a:r>
              <a:rPr lang="en-US" sz="2800" b="1" u="sng" dirty="0">
                <a:solidFill>
                  <a:srgbClr val="0070C0"/>
                </a:solidFill>
              </a:rPr>
              <a:t>31.9 –profilers of Resulted photographs – “A31.bmp”,”A32.bmp” – </a:t>
            </a:r>
            <a:r>
              <a:rPr lang="en-US" sz="2800" b="1" u="sng" dirty="0">
                <a:solidFill>
                  <a:srgbClr val="FF0000"/>
                </a:solidFill>
              </a:rPr>
              <a:t>part 1</a:t>
            </a:r>
            <a:endParaRPr lang="en-IL" sz="2800" u="sng" dirty="0">
              <a:solidFill>
                <a:srgbClr val="FF0000"/>
              </a:solidFill>
              <a:latin typeface="Cooper Black" panose="0208090404030B020404" pitchFamily="18" charset="0"/>
            </a:endParaRPr>
          </a:p>
        </p:txBody>
      </p:sp>
      <p:cxnSp>
        <p:nvCxnSpPr>
          <p:cNvPr id="13" name="Straight Connector 12">
            <a:extLst>
              <a:ext uri="{FF2B5EF4-FFF2-40B4-BE49-F238E27FC236}">
                <a16:creationId xmlns:a16="http://schemas.microsoft.com/office/drawing/2014/main" id="{0E39925F-47B0-F59F-F4B1-433D5F75BA73}"/>
              </a:ext>
            </a:extLst>
          </p:cNvPr>
          <p:cNvCxnSpPr/>
          <p:nvPr/>
        </p:nvCxnSpPr>
        <p:spPr>
          <a:xfrm>
            <a:off x="5888473" y="556144"/>
            <a:ext cx="0" cy="633478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D51E30D7-BBDE-B610-563B-7671225A69AE}"/>
              </a:ext>
            </a:extLst>
          </p:cNvPr>
          <p:cNvSpPr txBox="1"/>
          <p:nvPr/>
        </p:nvSpPr>
        <p:spPr>
          <a:xfrm>
            <a:off x="2487623" y="431112"/>
            <a:ext cx="1166712"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20" name="TextBox 19">
            <a:extLst>
              <a:ext uri="{FF2B5EF4-FFF2-40B4-BE49-F238E27FC236}">
                <a16:creationId xmlns:a16="http://schemas.microsoft.com/office/drawing/2014/main" id="{B21BA9A6-B705-ABF8-2243-3422EA6F7614}"/>
              </a:ext>
            </a:extLst>
          </p:cNvPr>
          <p:cNvSpPr txBox="1"/>
          <p:nvPr/>
        </p:nvSpPr>
        <p:spPr>
          <a:xfrm>
            <a:off x="9102195" y="494047"/>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pic>
        <p:nvPicPr>
          <p:cNvPr id="27" name="Picture 26">
            <a:extLst>
              <a:ext uri="{FF2B5EF4-FFF2-40B4-BE49-F238E27FC236}">
                <a16:creationId xmlns:a16="http://schemas.microsoft.com/office/drawing/2014/main" id="{99E0DCB6-7171-7C54-A627-AD9E55BB25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0889" y1="26222" x2="40889" y2="26222"/>
                        <a14:foregroundMark x1="53333" y1="50667" x2="53333" y2="50667"/>
                      </a14:backgroundRemoval>
                    </a14:imgEffect>
                  </a14:imgLayer>
                </a14:imgProps>
              </a:ext>
            </a:extLst>
          </a:blip>
          <a:stretch>
            <a:fillRect/>
          </a:stretch>
        </p:blipFill>
        <p:spPr>
          <a:xfrm>
            <a:off x="5690904" y="3085002"/>
            <a:ext cx="1441422" cy="1441422"/>
          </a:xfrm>
          <a:prstGeom prst="rect">
            <a:avLst/>
          </a:prstGeom>
        </p:spPr>
      </p:pic>
      <p:pic>
        <p:nvPicPr>
          <p:cNvPr id="7" name="Picture 6">
            <a:extLst>
              <a:ext uri="{FF2B5EF4-FFF2-40B4-BE49-F238E27FC236}">
                <a16:creationId xmlns:a16="http://schemas.microsoft.com/office/drawing/2014/main" id="{A087370A-337B-1AA8-C9CC-7412DEF033B8}"/>
              </a:ext>
            </a:extLst>
          </p:cNvPr>
          <p:cNvPicPr>
            <a:picLocks noChangeAspect="1"/>
          </p:cNvPicPr>
          <p:nvPr/>
        </p:nvPicPr>
        <p:blipFill>
          <a:blip r:embed="rId4"/>
          <a:stretch>
            <a:fillRect/>
          </a:stretch>
        </p:blipFill>
        <p:spPr>
          <a:xfrm>
            <a:off x="515562" y="3714750"/>
            <a:ext cx="4829175" cy="3143250"/>
          </a:xfrm>
          <a:prstGeom prst="rect">
            <a:avLst/>
          </a:prstGeom>
        </p:spPr>
      </p:pic>
      <p:pic>
        <p:nvPicPr>
          <p:cNvPr id="11" name="Picture 10">
            <a:extLst>
              <a:ext uri="{FF2B5EF4-FFF2-40B4-BE49-F238E27FC236}">
                <a16:creationId xmlns:a16="http://schemas.microsoft.com/office/drawing/2014/main" id="{9EE0BA43-3712-AA61-4A73-22EF15C218EB}"/>
              </a:ext>
            </a:extLst>
          </p:cNvPr>
          <p:cNvPicPr>
            <a:picLocks noChangeAspect="1"/>
          </p:cNvPicPr>
          <p:nvPr/>
        </p:nvPicPr>
        <p:blipFill>
          <a:blip r:embed="rId5"/>
          <a:stretch>
            <a:fillRect/>
          </a:stretch>
        </p:blipFill>
        <p:spPr>
          <a:xfrm>
            <a:off x="374731" y="847958"/>
            <a:ext cx="5110835" cy="2788499"/>
          </a:xfrm>
          <a:prstGeom prst="rect">
            <a:avLst/>
          </a:prstGeom>
        </p:spPr>
      </p:pic>
      <p:pic>
        <p:nvPicPr>
          <p:cNvPr id="17" name="Picture 16">
            <a:extLst>
              <a:ext uri="{FF2B5EF4-FFF2-40B4-BE49-F238E27FC236}">
                <a16:creationId xmlns:a16="http://schemas.microsoft.com/office/drawing/2014/main" id="{599228B2-4D3B-178A-AF1C-5559B53D065E}"/>
              </a:ext>
            </a:extLst>
          </p:cNvPr>
          <p:cNvPicPr>
            <a:picLocks noChangeAspect="1"/>
          </p:cNvPicPr>
          <p:nvPr/>
        </p:nvPicPr>
        <p:blipFill rotWithShape="1">
          <a:blip r:embed="rId6"/>
          <a:srcRect r="1993"/>
          <a:stretch/>
        </p:blipFill>
        <p:spPr>
          <a:xfrm>
            <a:off x="6934755" y="847958"/>
            <a:ext cx="5007568" cy="2769335"/>
          </a:xfrm>
          <a:prstGeom prst="rect">
            <a:avLst/>
          </a:prstGeom>
        </p:spPr>
      </p:pic>
      <p:pic>
        <p:nvPicPr>
          <p:cNvPr id="19" name="Picture 18">
            <a:extLst>
              <a:ext uri="{FF2B5EF4-FFF2-40B4-BE49-F238E27FC236}">
                <a16:creationId xmlns:a16="http://schemas.microsoft.com/office/drawing/2014/main" id="{0CE0C360-A7F7-3062-1577-F90B0FD257CD}"/>
              </a:ext>
            </a:extLst>
          </p:cNvPr>
          <p:cNvPicPr>
            <a:picLocks noChangeAspect="1"/>
          </p:cNvPicPr>
          <p:nvPr/>
        </p:nvPicPr>
        <p:blipFill rotWithShape="1">
          <a:blip r:embed="rId7"/>
          <a:srcRect l="1343"/>
          <a:stretch/>
        </p:blipFill>
        <p:spPr>
          <a:xfrm>
            <a:off x="7051685" y="3772998"/>
            <a:ext cx="4773708" cy="3124200"/>
          </a:xfrm>
          <a:prstGeom prst="rect">
            <a:avLst/>
          </a:prstGeom>
        </p:spPr>
      </p:pic>
    </p:spTree>
    <p:extLst>
      <p:ext uri="{BB962C8B-B14F-4D97-AF65-F5344CB8AC3E}">
        <p14:creationId xmlns:p14="http://schemas.microsoft.com/office/powerpoint/2010/main" val="31296750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EF6C73D2-E624-FB6E-C6BA-C01873E5EB38}"/>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21</a:t>
            </a:fld>
            <a:endParaRPr lang="he-IL" sz="1600" dirty="0"/>
          </a:p>
        </p:txBody>
      </p:sp>
      <p:sp>
        <p:nvSpPr>
          <p:cNvPr id="5" name="TextBox 4">
            <a:extLst>
              <a:ext uri="{FF2B5EF4-FFF2-40B4-BE49-F238E27FC236}">
                <a16:creationId xmlns:a16="http://schemas.microsoft.com/office/drawing/2014/main" id="{ECAFA8EB-0BE2-A87B-7279-19F4A5AF6B2D}"/>
              </a:ext>
            </a:extLst>
          </p:cNvPr>
          <p:cNvSpPr txBox="1"/>
          <p:nvPr/>
        </p:nvSpPr>
        <p:spPr>
          <a:xfrm>
            <a:off x="0" y="-79048"/>
            <a:ext cx="11634157" cy="523220"/>
          </a:xfrm>
          <a:prstGeom prst="rect">
            <a:avLst/>
          </a:prstGeom>
          <a:noFill/>
        </p:spPr>
        <p:txBody>
          <a:bodyPr wrap="square">
            <a:spAutoFit/>
          </a:bodyPr>
          <a:lstStyle/>
          <a:p>
            <a:pPr algn="ctr"/>
            <a:r>
              <a:rPr lang="en-US" sz="2800" b="1" u="sng" dirty="0">
                <a:solidFill>
                  <a:srgbClr val="0070C0"/>
                </a:solidFill>
              </a:rPr>
              <a:t>31.9 –profilers of Resulted photographs – “A31.bmp”,”A32.bmp” – </a:t>
            </a:r>
            <a:r>
              <a:rPr lang="en-US" sz="2800" b="1" u="sng" dirty="0">
                <a:solidFill>
                  <a:srgbClr val="FF0000"/>
                </a:solidFill>
              </a:rPr>
              <a:t>part 2</a:t>
            </a:r>
            <a:endParaRPr lang="en-IL" sz="2800" u="sng" dirty="0">
              <a:solidFill>
                <a:srgbClr val="FF0000"/>
              </a:solidFill>
              <a:latin typeface="Cooper Black" panose="0208090404030B020404" pitchFamily="18" charset="0"/>
            </a:endParaRPr>
          </a:p>
        </p:txBody>
      </p:sp>
      <p:sp>
        <p:nvSpPr>
          <p:cNvPr id="8" name="Rectangle 7">
            <a:extLst>
              <a:ext uri="{FF2B5EF4-FFF2-40B4-BE49-F238E27FC236}">
                <a16:creationId xmlns:a16="http://schemas.microsoft.com/office/drawing/2014/main" id="{0D0565CB-133E-D310-E58B-2DB9F200A3AA}"/>
              </a:ext>
            </a:extLst>
          </p:cNvPr>
          <p:cNvSpPr/>
          <p:nvPr/>
        </p:nvSpPr>
        <p:spPr>
          <a:xfrm>
            <a:off x="3274979" y="581007"/>
            <a:ext cx="5642041" cy="4377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Conclusions about the profilers: (presented at part 1)</a:t>
            </a:r>
            <a:endParaRPr lang="he-IL" dirty="0"/>
          </a:p>
        </p:txBody>
      </p:sp>
      <p:sp>
        <p:nvSpPr>
          <p:cNvPr id="12" name="TextBox 11">
            <a:extLst>
              <a:ext uri="{FF2B5EF4-FFF2-40B4-BE49-F238E27FC236}">
                <a16:creationId xmlns:a16="http://schemas.microsoft.com/office/drawing/2014/main" id="{6202D4D6-79F0-4217-D445-FCA378EBF201}"/>
              </a:ext>
            </a:extLst>
          </p:cNvPr>
          <p:cNvSpPr txBox="1"/>
          <p:nvPr/>
        </p:nvSpPr>
        <p:spPr>
          <a:xfrm>
            <a:off x="2258437" y="2086655"/>
            <a:ext cx="7675124"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The column profile in the bilinear interpolation shows smoother transitions between pixel values compared to the nearest neighbor interpolation.</a:t>
            </a:r>
          </a:p>
          <a:p>
            <a:r>
              <a:rPr lang="en-US" dirty="0"/>
              <a:t> The curves are more gradual, with fewer sharp jumps.</a:t>
            </a:r>
            <a:endParaRPr lang="he-IL" dirty="0"/>
          </a:p>
        </p:txBody>
      </p:sp>
      <p:sp>
        <p:nvSpPr>
          <p:cNvPr id="14" name="TextBox 13">
            <a:extLst>
              <a:ext uri="{FF2B5EF4-FFF2-40B4-BE49-F238E27FC236}">
                <a16:creationId xmlns:a16="http://schemas.microsoft.com/office/drawing/2014/main" id="{057FA2FC-731A-C3C0-97A4-6E94DE65270E}"/>
              </a:ext>
            </a:extLst>
          </p:cNvPr>
          <p:cNvSpPr txBox="1"/>
          <p:nvPr/>
        </p:nvSpPr>
        <p:spPr>
          <a:xfrm>
            <a:off x="2258437" y="3315823"/>
            <a:ext cx="7675124"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Like the column profile, the row profile in the bilinear interpolation also exhibits smoother transitions. There are still fluctuations, but they are less abrupt than in the nearest neighbor profile.</a:t>
            </a:r>
            <a:endParaRPr lang="he-IL" dirty="0"/>
          </a:p>
        </p:txBody>
      </p:sp>
      <p:sp>
        <p:nvSpPr>
          <p:cNvPr id="16" name="TextBox 15">
            <a:extLst>
              <a:ext uri="{FF2B5EF4-FFF2-40B4-BE49-F238E27FC236}">
                <a16:creationId xmlns:a16="http://schemas.microsoft.com/office/drawing/2014/main" id="{ED58CEB3-15C4-4B8E-B793-533078E28F34}"/>
              </a:ext>
            </a:extLst>
          </p:cNvPr>
          <p:cNvSpPr txBox="1"/>
          <p:nvPr/>
        </p:nvSpPr>
        <p:spPr>
          <a:xfrm>
            <a:off x="2258437" y="4547099"/>
            <a:ext cx="7675124"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Bilinear interpolation introduces more intermediate grayscale levels, leading to a smoother and more continuous intensity distribution, whereas nearest neighbor interpolation maintains more discrete levels, often resulting in a more binary appearance.</a:t>
            </a:r>
            <a:endParaRPr lang="he-IL" dirty="0"/>
          </a:p>
        </p:txBody>
      </p:sp>
      <p:sp>
        <p:nvSpPr>
          <p:cNvPr id="17" name="Arrow: Down 16">
            <a:extLst>
              <a:ext uri="{FF2B5EF4-FFF2-40B4-BE49-F238E27FC236}">
                <a16:creationId xmlns:a16="http://schemas.microsoft.com/office/drawing/2014/main" id="{425AEF75-1EB4-6422-0D66-AF328A38320C}"/>
              </a:ext>
            </a:extLst>
          </p:cNvPr>
          <p:cNvSpPr/>
          <p:nvPr/>
        </p:nvSpPr>
        <p:spPr>
          <a:xfrm>
            <a:off x="5680953" y="1120937"/>
            <a:ext cx="671209" cy="9233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8" name="Rectangle 17">
            <a:extLst>
              <a:ext uri="{FF2B5EF4-FFF2-40B4-BE49-F238E27FC236}">
                <a16:creationId xmlns:a16="http://schemas.microsoft.com/office/drawing/2014/main" id="{D3F2ED7D-5200-D666-4569-CA21C19EA1C3}"/>
              </a:ext>
            </a:extLst>
          </p:cNvPr>
          <p:cNvSpPr/>
          <p:nvPr/>
        </p:nvSpPr>
        <p:spPr>
          <a:xfrm>
            <a:off x="4610911" y="6108970"/>
            <a:ext cx="3073940" cy="4474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More ? </a:t>
            </a:r>
            <a:endParaRPr lang="he-IL" b="1" dirty="0">
              <a:solidFill>
                <a:srgbClr val="FFFF00"/>
              </a:solidFill>
            </a:endParaRPr>
          </a:p>
        </p:txBody>
      </p:sp>
    </p:spTree>
    <p:extLst>
      <p:ext uri="{BB962C8B-B14F-4D97-AF65-F5344CB8AC3E}">
        <p14:creationId xmlns:p14="http://schemas.microsoft.com/office/powerpoint/2010/main" val="12001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CEAF5E-FBF0-BE1F-DD15-CC50C9AFFBB2}"/>
              </a:ext>
            </a:extLst>
          </p:cNvPr>
          <p:cNvSpPr txBox="1"/>
          <p:nvPr/>
        </p:nvSpPr>
        <p:spPr>
          <a:xfrm>
            <a:off x="717198" y="-27224"/>
            <a:ext cx="10843322" cy="523220"/>
          </a:xfrm>
          <a:prstGeom prst="rect">
            <a:avLst/>
          </a:prstGeom>
          <a:noFill/>
        </p:spPr>
        <p:txBody>
          <a:bodyPr wrap="square">
            <a:spAutoFit/>
          </a:bodyPr>
          <a:lstStyle/>
          <a:p>
            <a:pPr algn="ctr"/>
            <a:r>
              <a:rPr lang="en-US" sz="2800" b="1" u="sng" dirty="0">
                <a:solidFill>
                  <a:srgbClr val="0070C0"/>
                </a:solidFill>
              </a:rPr>
              <a:t>31.10 –deeper look at the results-“A31.bmp” vs ”A32.bmp” – </a:t>
            </a:r>
            <a:r>
              <a:rPr lang="en-US" sz="2800" b="1" u="sng" dirty="0">
                <a:solidFill>
                  <a:srgbClr val="FF0000"/>
                </a:solidFill>
              </a:rPr>
              <a:t>part 1 </a:t>
            </a:r>
            <a:endParaRPr lang="en-IL" sz="2800" u="sng" dirty="0">
              <a:solidFill>
                <a:srgbClr val="FF0000"/>
              </a:solidFill>
              <a:latin typeface="Cooper Black" panose="0208090404030B020404" pitchFamily="18" charset="0"/>
            </a:endParaRPr>
          </a:p>
        </p:txBody>
      </p:sp>
      <p:sp>
        <p:nvSpPr>
          <p:cNvPr id="6" name="TextBox 5">
            <a:extLst>
              <a:ext uri="{FF2B5EF4-FFF2-40B4-BE49-F238E27FC236}">
                <a16:creationId xmlns:a16="http://schemas.microsoft.com/office/drawing/2014/main" id="{C34A833A-60A1-7BF6-5472-1E2717177BC2}"/>
              </a:ext>
            </a:extLst>
          </p:cNvPr>
          <p:cNvSpPr txBox="1"/>
          <p:nvPr/>
        </p:nvSpPr>
        <p:spPr>
          <a:xfrm>
            <a:off x="1863149" y="693941"/>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8" name="TextBox 7">
            <a:extLst>
              <a:ext uri="{FF2B5EF4-FFF2-40B4-BE49-F238E27FC236}">
                <a16:creationId xmlns:a16="http://schemas.microsoft.com/office/drawing/2014/main" id="{E90B8485-4411-FF72-CACA-460E3FE1BD8D}"/>
              </a:ext>
            </a:extLst>
          </p:cNvPr>
          <p:cNvSpPr txBox="1"/>
          <p:nvPr/>
        </p:nvSpPr>
        <p:spPr>
          <a:xfrm>
            <a:off x="9377911" y="614142"/>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pic>
        <p:nvPicPr>
          <p:cNvPr id="7" name="Picture 6" descr="A black and white circular object&#10;&#10;Description automatically generated">
            <a:extLst>
              <a:ext uri="{FF2B5EF4-FFF2-40B4-BE49-F238E27FC236}">
                <a16:creationId xmlns:a16="http://schemas.microsoft.com/office/drawing/2014/main" id="{68927E81-87AB-A40E-60A1-6CD3D2016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282" y="1046744"/>
            <a:ext cx="4705350" cy="5638800"/>
          </a:xfrm>
          <a:prstGeom prst="rect">
            <a:avLst/>
          </a:prstGeom>
        </p:spPr>
      </p:pic>
      <p:pic>
        <p:nvPicPr>
          <p:cNvPr id="10" name="Picture 9" descr="A black and white circular pattern&#10;&#10;Description automatically generated">
            <a:extLst>
              <a:ext uri="{FF2B5EF4-FFF2-40B4-BE49-F238E27FC236}">
                <a16:creationId xmlns:a16="http://schemas.microsoft.com/office/drawing/2014/main" id="{9BB35803-47D6-4C1F-9468-FF36471F2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1086" y="1032495"/>
            <a:ext cx="4705350" cy="5638800"/>
          </a:xfrm>
          <a:prstGeom prst="rect">
            <a:avLst/>
          </a:prstGeom>
        </p:spPr>
      </p:pic>
      <p:sp>
        <p:nvSpPr>
          <p:cNvPr id="11" name="Rectangle 10">
            <a:extLst>
              <a:ext uri="{FF2B5EF4-FFF2-40B4-BE49-F238E27FC236}">
                <a16:creationId xmlns:a16="http://schemas.microsoft.com/office/drawing/2014/main" id="{010CCC7E-0498-BAD5-D106-416CAAA78CB1}"/>
              </a:ext>
            </a:extLst>
          </p:cNvPr>
          <p:cNvSpPr/>
          <p:nvPr/>
        </p:nvSpPr>
        <p:spPr>
          <a:xfrm>
            <a:off x="5310791" y="866717"/>
            <a:ext cx="1659787" cy="15904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Pay attention – here the images are in their original size 494x592</a:t>
            </a:r>
            <a:endParaRPr lang="he-IL" dirty="0"/>
          </a:p>
        </p:txBody>
      </p:sp>
      <p:sp>
        <p:nvSpPr>
          <p:cNvPr id="17" name="Rectangle 16">
            <a:extLst>
              <a:ext uri="{FF2B5EF4-FFF2-40B4-BE49-F238E27FC236}">
                <a16:creationId xmlns:a16="http://schemas.microsoft.com/office/drawing/2014/main" id="{655CF4A1-4669-6520-F529-53C2CE3FFF20}"/>
              </a:ext>
            </a:extLst>
          </p:cNvPr>
          <p:cNvSpPr/>
          <p:nvPr/>
        </p:nvSpPr>
        <p:spPr>
          <a:xfrm>
            <a:off x="2903458" y="1704716"/>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18" name="Rectangle 17">
            <a:extLst>
              <a:ext uri="{FF2B5EF4-FFF2-40B4-BE49-F238E27FC236}">
                <a16:creationId xmlns:a16="http://schemas.microsoft.com/office/drawing/2014/main" id="{04AF7F90-8536-CFA7-123D-99894A7E28DC}"/>
              </a:ext>
            </a:extLst>
          </p:cNvPr>
          <p:cNvSpPr/>
          <p:nvPr/>
        </p:nvSpPr>
        <p:spPr>
          <a:xfrm>
            <a:off x="3669379" y="1173144"/>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9" name="Rectangle 18">
            <a:extLst>
              <a:ext uri="{FF2B5EF4-FFF2-40B4-BE49-F238E27FC236}">
                <a16:creationId xmlns:a16="http://schemas.microsoft.com/office/drawing/2014/main" id="{474B00BF-2BD9-5569-55CC-586530E9416C}"/>
              </a:ext>
            </a:extLst>
          </p:cNvPr>
          <p:cNvSpPr/>
          <p:nvPr/>
        </p:nvSpPr>
        <p:spPr>
          <a:xfrm>
            <a:off x="2903457" y="3095175"/>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20" name="Rectangle 19">
            <a:extLst>
              <a:ext uri="{FF2B5EF4-FFF2-40B4-BE49-F238E27FC236}">
                <a16:creationId xmlns:a16="http://schemas.microsoft.com/office/drawing/2014/main" id="{85785EF8-1D98-3CE1-4798-DD18B8C363A4}"/>
              </a:ext>
            </a:extLst>
          </p:cNvPr>
          <p:cNvSpPr/>
          <p:nvPr/>
        </p:nvSpPr>
        <p:spPr>
          <a:xfrm>
            <a:off x="937042" y="3866144"/>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13" name="Rectangle 12">
            <a:extLst>
              <a:ext uri="{FF2B5EF4-FFF2-40B4-BE49-F238E27FC236}">
                <a16:creationId xmlns:a16="http://schemas.microsoft.com/office/drawing/2014/main" id="{E9C7B199-CF90-B480-A675-BF88F39F1DBE}"/>
              </a:ext>
            </a:extLst>
          </p:cNvPr>
          <p:cNvSpPr/>
          <p:nvPr/>
        </p:nvSpPr>
        <p:spPr>
          <a:xfrm>
            <a:off x="9884675" y="1668934"/>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1</a:t>
            </a:r>
            <a:endParaRPr lang="he-IL" dirty="0"/>
          </a:p>
        </p:txBody>
      </p:sp>
      <p:sp>
        <p:nvSpPr>
          <p:cNvPr id="14" name="Rectangle 13">
            <a:extLst>
              <a:ext uri="{FF2B5EF4-FFF2-40B4-BE49-F238E27FC236}">
                <a16:creationId xmlns:a16="http://schemas.microsoft.com/office/drawing/2014/main" id="{319C98A2-A194-813D-CD25-6CD7CEF97758}"/>
              </a:ext>
            </a:extLst>
          </p:cNvPr>
          <p:cNvSpPr/>
          <p:nvPr/>
        </p:nvSpPr>
        <p:spPr>
          <a:xfrm>
            <a:off x="10572774" y="1046744"/>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2</a:t>
            </a:r>
            <a:endParaRPr lang="he-IL" dirty="0"/>
          </a:p>
        </p:txBody>
      </p:sp>
      <p:sp>
        <p:nvSpPr>
          <p:cNvPr id="15" name="Rectangle 14">
            <a:extLst>
              <a:ext uri="{FF2B5EF4-FFF2-40B4-BE49-F238E27FC236}">
                <a16:creationId xmlns:a16="http://schemas.microsoft.com/office/drawing/2014/main" id="{8F72BB35-10C5-6647-E6CB-1CA08B602C68}"/>
              </a:ext>
            </a:extLst>
          </p:cNvPr>
          <p:cNvSpPr/>
          <p:nvPr/>
        </p:nvSpPr>
        <p:spPr>
          <a:xfrm>
            <a:off x="9787397" y="2947531"/>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3</a:t>
            </a:r>
            <a:endParaRPr lang="he-IL" dirty="0"/>
          </a:p>
        </p:txBody>
      </p:sp>
      <p:sp>
        <p:nvSpPr>
          <p:cNvPr id="16" name="Rectangle 15">
            <a:extLst>
              <a:ext uri="{FF2B5EF4-FFF2-40B4-BE49-F238E27FC236}">
                <a16:creationId xmlns:a16="http://schemas.microsoft.com/office/drawing/2014/main" id="{54D19A5C-3ADA-C724-45B7-095816127CC0}"/>
              </a:ext>
            </a:extLst>
          </p:cNvPr>
          <p:cNvSpPr/>
          <p:nvPr/>
        </p:nvSpPr>
        <p:spPr>
          <a:xfrm>
            <a:off x="7869621" y="3772096"/>
            <a:ext cx="437745" cy="33074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4</a:t>
            </a:r>
            <a:endParaRPr lang="he-IL" dirty="0"/>
          </a:p>
        </p:txBody>
      </p:sp>
      <p:sp>
        <p:nvSpPr>
          <p:cNvPr id="27" name="Rectangle 26">
            <a:extLst>
              <a:ext uri="{FF2B5EF4-FFF2-40B4-BE49-F238E27FC236}">
                <a16:creationId xmlns:a16="http://schemas.microsoft.com/office/drawing/2014/main" id="{23BD2BF2-CBAA-7D22-5DBD-0B3A9B400DB8}"/>
              </a:ext>
            </a:extLst>
          </p:cNvPr>
          <p:cNvSpPr/>
          <p:nvPr/>
        </p:nvSpPr>
        <p:spPr>
          <a:xfrm>
            <a:off x="5161886" y="3025302"/>
            <a:ext cx="1953946" cy="11715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Numbers 1-4 are points to look at and are explained next slide</a:t>
            </a:r>
            <a:endParaRPr lang="he-IL" dirty="0"/>
          </a:p>
        </p:txBody>
      </p:sp>
      <p:sp>
        <p:nvSpPr>
          <p:cNvPr id="28" name="Slide Number Placeholder 5">
            <a:extLst>
              <a:ext uri="{FF2B5EF4-FFF2-40B4-BE49-F238E27FC236}">
                <a16:creationId xmlns:a16="http://schemas.microsoft.com/office/drawing/2014/main" id="{A2A6A414-EAF6-FAF3-4881-5CF591007F42}"/>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22</a:t>
            </a:fld>
            <a:endParaRPr lang="he-IL" sz="1600" dirty="0"/>
          </a:p>
        </p:txBody>
      </p:sp>
    </p:spTree>
    <p:extLst>
      <p:ext uri="{BB962C8B-B14F-4D97-AF65-F5344CB8AC3E}">
        <p14:creationId xmlns:p14="http://schemas.microsoft.com/office/powerpoint/2010/main" val="27440768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F9A651-5507-8BBF-1382-B542A54A5803}"/>
              </a:ext>
            </a:extLst>
          </p:cNvPr>
          <p:cNvSpPr/>
          <p:nvPr/>
        </p:nvSpPr>
        <p:spPr>
          <a:xfrm>
            <a:off x="620701" y="578674"/>
            <a:ext cx="10950597" cy="12309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342900" indent="-342900">
              <a:buFont typeface="+mj-lt"/>
              <a:buAutoNum type="arabicPeriod"/>
            </a:pPr>
            <a:r>
              <a:rPr lang="en-US" dirty="0"/>
              <a:t>The black straight lines are much more disrupted in the A31.bmp.</a:t>
            </a:r>
          </a:p>
          <a:p>
            <a:pPr marL="342900" indent="-342900">
              <a:buFont typeface="+mj-lt"/>
              <a:buAutoNum type="arabicPeriod"/>
            </a:pPr>
            <a:r>
              <a:rPr lang="en-US" dirty="0"/>
              <a:t>The small white rectangles in the corners – their outline are much more disrupted in the A31.bmp.</a:t>
            </a:r>
          </a:p>
          <a:p>
            <a:pPr marL="342900" indent="-342900">
              <a:buFont typeface="+mj-lt"/>
              <a:buAutoNum type="arabicPeriod"/>
            </a:pPr>
            <a:r>
              <a:rPr lang="en-US" dirty="0"/>
              <a:t>The area around the center circle is much more disrupted – a lot of added noise in A31.bmp.</a:t>
            </a:r>
          </a:p>
          <a:p>
            <a:pPr marL="342900" indent="-342900">
              <a:buFont typeface="+mj-lt"/>
              <a:buAutoNum type="arabicPeriod"/>
            </a:pPr>
            <a:r>
              <a:rPr lang="en-US" dirty="0"/>
              <a:t>The black and white lines (like sun) that start at the center circle are much more disrupted in the A31.bmp</a:t>
            </a:r>
          </a:p>
        </p:txBody>
      </p:sp>
      <p:sp>
        <p:nvSpPr>
          <p:cNvPr id="6" name="TextBox 5">
            <a:extLst>
              <a:ext uri="{FF2B5EF4-FFF2-40B4-BE49-F238E27FC236}">
                <a16:creationId xmlns:a16="http://schemas.microsoft.com/office/drawing/2014/main" id="{BDE839AB-8DFC-A819-C1EA-259A1FDDA840}"/>
              </a:ext>
            </a:extLst>
          </p:cNvPr>
          <p:cNvSpPr txBox="1"/>
          <p:nvPr/>
        </p:nvSpPr>
        <p:spPr>
          <a:xfrm>
            <a:off x="717198" y="-27224"/>
            <a:ext cx="10843322" cy="523220"/>
          </a:xfrm>
          <a:prstGeom prst="rect">
            <a:avLst/>
          </a:prstGeom>
          <a:noFill/>
        </p:spPr>
        <p:txBody>
          <a:bodyPr wrap="square">
            <a:spAutoFit/>
          </a:bodyPr>
          <a:lstStyle/>
          <a:p>
            <a:pPr algn="ctr"/>
            <a:r>
              <a:rPr lang="en-US" sz="2800" b="1" u="sng" dirty="0">
                <a:solidFill>
                  <a:srgbClr val="0070C0"/>
                </a:solidFill>
              </a:rPr>
              <a:t>31.10 –deeper look at the results-“A31.bmp” vs ”A32.bmp” – </a:t>
            </a:r>
            <a:r>
              <a:rPr lang="en-US" sz="2800" b="1" u="sng" dirty="0">
                <a:solidFill>
                  <a:srgbClr val="FF0000"/>
                </a:solidFill>
              </a:rPr>
              <a:t>part 1 </a:t>
            </a:r>
            <a:endParaRPr lang="en-IL" sz="2800" u="sng" dirty="0">
              <a:solidFill>
                <a:srgbClr val="FF0000"/>
              </a:solidFill>
              <a:latin typeface="Cooper Black" panose="0208090404030B020404" pitchFamily="18" charset="0"/>
            </a:endParaRPr>
          </a:p>
        </p:txBody>
      </p:sp>
      <p:sp>
        <p:nvSpPr>
          <p:cNvPr id="7" name="Slide Number Placeholder 5">
            <a:extLst>
              <a:ext uri="{FF2B5EF4-FFF2-40B4-BE49-F238E27FC236}">
                <a16:creationId xmlns:a16="http://schemas.microsoft.com/office/drawing/2014/main" id="{E3866BAA-9745-40D9-3620-8D58C0166613}"/>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23</a:t>
            </a:fld>
            <a:endParaRPr lang="he-IL" sz="1600" dirty="0"/>
          </a:p>
        </p:txBody>
      </p:sp>
      <p:pic>
        <p:nvPicPr>
          <p:cNvPr id="9" name="Picture 8">
            <a:extLst>
              <a:ext uri="{FF2B5EF4-FFF2-40B4-BE49-F238E27FC236}">
                <a16:creationId xmlns:a16="http://schemas.microsoft.com/office/drawing/2014/main" id="{AC393095-B91A-98B4-2315-573E3DC780B2}"/>
              </a:ext>
            </a:extLst>
          </p:cNvPr>
          <p:cNvPicPr>
            <a:picLocks noChangeAspect="1"/>
          </p:cNvPicPr>
          <p:nvPr/>
        </p:nvPicPr>
        <p:blipFill>
          <a:blip r:embed="rId2"/>
          <a:stretch>
            <a:fillRect/>
          </a:stretch>
        </p:blipFill>
        <p:spPr>
          <a:xfrm>
            <a:off x="171014" y="2106065"/>
            <a:ext cx="1672043" cy="2645870"/>
          </a:xfrm>
          <a:prstGeom prst="rect">
            <a:avLst/>
          </a:prstGeom>
        </p:spPr>
      </p:pic>
      <p:pic>
        <p:nvPicPr>
          <p:cNvPr id="11" name="Picture 10">
            <a:extLst>
              <a:ext uri="{FF2B5EF4-FFF2-40B4-BE49-F238E27FC236}">
                <a16:creationId xmlns:a16="http://schemas.microsoft.com/office/drawing/2014/main" id="{ED132F67-C664-9C04-2F81-BB194AB2746F}"/>
              </a:ext>
            </a:extLst>
          </p:cNvPr>
          <p:cNvPicPr>
            <a:picLocks noChangeAspect="1"/>
          </p:cNvPicPr>
          <p:nvPr/>
        </p:nvPicPr>
        <p:blipFill>
          <a:blip r:embed="rId3"/>
          <a:stretch>
            <a:fillRect/>
          </a:stretch>
        </p:blipFill>
        <p:spPr>
          <a:xfrm>
            <a:off x="10442136" y="2050480"/>
            <a:ext cx="1672043" cy="2632578"/>
          </a:xfrm>
          <a:prstGeom prst="rect">
            <a:avLst/>
          </a:prstGeom>
        </p:spPr>
      </p:pic>
      <p:pic>
        <p:nvPicPr>
          <p:cNvPr id="13" name="Picture 12">
            <a:extLst>
              <a:ext uri="{FF2B5EF4-FFF2-40B4-BE49-F238E27FC236}">
                <a16:creationId xmlns:a16="http://schemas.microsoft.com/office/drawing/2014/main" id="{57AD7F6E-F2E9-B015-51CB-E8AA8ED50F03}"/>
              </a:ext>
            </a:extLst>
          </p:cNvPr>
          <p:cNvPicPr>
            <a:picLocks noChangeAspect="1"/>
          </p:cNvPicPr>
          <p:nvPr/>
        </p:nvPicPr>
        <p:blipFill>
          <a:blip r:embed="rId4"/>
          <a:stretch>
            <a:fillRect/>
          </a:stretch>
        </p:blipFill>
        <p:spPr>
          <a:xfrm>
            <a:off x="2009536" y="2102769"/>
            <a:ext cx="1891726" cy="2599318"/>
          </a:xfrm>
          <a:prstGeom prst="rect">
            <a:avLst/>
          </a:prstGeom>
        </p:spPr>
      </p:pic>
      <p:pic>
        <p:nvPicPr>
          <p:cNvPr id="15" name="Picture 14">
            <a:extLst>
              <a:ext uri="{FF2B5EF4-FFF2-40B4-BE49-F238E27FC236}">
                <a16:creationId xmlns:a16="http://schemas.microsoft.com/office/drawing/2014/main" id="{BF7ED6D1-F0F8-DD20-B91B-FBB247F3CFDD}"/>
              </a:ext>
            </a:extLst>
          </p:cNvPr>
          <p:cNvPicPr>
            <a:picLocks noChangeAspect="1"/>
          </p:cNvPicPr>
          <p:nvPr/>
        </p:nvPicPr>
        <p:blipFill>
          <a:blip r:embed="rId5"/>
          <a:stretch>
            <a:fillRect/>
          </a:stretch>
        </p:blipFill>
        <p:spPr>
          <a:xfrm>
            <a:off x="8252301" y="2050480"/>
            <a:ext cx="1984917" cy="2651607"/>
          </a:xfrm>
          <a:prstGeom prst="rect">
            <a:avLst/>
          </a:prstGeom>
        </p:spPr>
      </p:pic>
      <p:pic>
        <p:nvPicPr>
          <p:cNvPr id="17" name="Picture 16">
            <a:extLst>
              <a:ext uri="{FF2B5EF4-FFF2-40B4-BE49-F238E27FC236}">
                <a16:creationId xmlns:a16="http://schemas.microsoft.com/office/drawing/2014/main" id="{1FA9ED7D-0ACD-7E2F-83DE-7716F7EA516D}"/>
              </a:ext>
            </a:extLst>
          </p:cNvPr>
          <p:cNvPicPr>
            <a:picLocks noChangeAspect="1"/>
          </p:cNvPicPr>
          <p:nvPr/>
        </p:nvPicPr>
        <p:blipFill>
          <a:blip r:embed="rId6"/>
          <a:stretch>
            <a:fillRect/>
          </a:stretch>
        </p:blipFill>
        <p:spPr>
          <a:xfrm>
            <a:off x="1007035" y="4855353"/>
            <a:ext cx="1815441" cy="1884600"/>
          </a:xfrm>
          <a:prstGeom prst="rect">
            <a:avLst/>
          </a:prstGeom>
        </p:spPr>
      </p:pic>
      <p:pic>
        <p:nvPicPr>
          <p:cNvPr id="19" name="Picture 18">
            <a:extLst>
              <a:ext uri="{FF2B5EF4-FFF2-40B4-BE49-F238E27FC236}">
                <a16:creationId xmlns:a16="http://schemas.microsoft.com/office/drawing/2014/main" id="{FB1DA6B1-4A52-F50D-5FD5-63A74953892B}"/>
              </a:ext>
            </a:extLst>
          </p:cNvPr>
          <p:cNvPicPr>
            <a:picLocks noChangeAspect="1"/>
          </p:cNvPicPr>
          <p:nvPr/>
        </p:nvPicPr>
        <p:blipFill>
          <a:blip r:embed="rId7"/>
          <a:stretch>
            <a:fillRect/>
          </a:stretch>
        </p:blipFill>
        <p:spPr>
          <a:xfrm>
            <a:off x="9372722" y="4855353"/>
            <a:ext cx="1728991" cy="1884600"/>
          </a:xfrm>
          <a:prstGeom prst="rect">
            <a:avLst/>
          </a:prstGeom>
        </p:spPr>
      </p:pic>
      <p:cxnSp>
        <p:nvCxnSpPr>
          <p:cNvPr id="20" name="Straight Connector 19">
            <a:extLst>
              <a:ext uri="{FF2B5EF4-FFF2-40B4-BE49-F238E27FC236}">
                <a16:creationId xmlns:a16="http://schemas.microsoft.com/office/drawing/2014/main" id="{5026F235-BBF7-6331-1D67-E53997045FD8}"/>
              </a:ext>
            </a:extLst>
          </p:cNvPr>
          <p:cNvCxnSpPr>
            <a:cxnSpLocks/>
          </p:cNvCxnSpPr>
          <p:nvPr/>
        </p:nvCxnSpPr>
        <p:spPr>
          <a:xfrm>
            <a:off x="5859290" y="2050480"/>
            <a:ext cx="0" cy="4780296"/>
          </a:xfrm>
          <a:prstGeom prst="line">
            <a:avLst/>
          </a:prstGeom>
          <a:ln>
            <a:prstDash val="dash"/>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id="{D9AAB268-4405-2CB2-383E-66F45179369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40889" y1="26222" x2="40889" y2="26222"/>
                        <a14:foregroundMark x1="53333" y1="50667" x2="53333" y2="50667"/>
                      </a14:backgroundRemoval>
                    </a14:imgEffect>
                  </a14:imgLayer>
                </a14:imgProps>
              </a:ext>
            </a:extLst>
          </a:blip>
          <a:stretch>
            <a:fillRect/>
          </a:stretch>
        </p:blipFill>
        <p:spPr>
          <a:xfrm>
            <a:off x="6332711" y="2999206"/>
            <a:ext cx="1441422" cy="1441422"/>
          </a:xfrm>
          <a:prstGeom prst="rect">
            <a:avLst/>
          </a:prstGeom>
        </p:spPr>
      </p:pic>
    </p:spTree>
    <p:extLst>
      <p:ext uri="{BB962C8B-B14F-4D97-AF65-F5344CB8AC3E}">
        <p14:creationId xmlns:p14="http://schemas.microsoft.com/office/powerpoint/2010/main" val="2765624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3DF34DD-9E6F-C322-EDCF-E1E3389301ED}"/>
              </a:ext>
            </a:extLst>
          </p:cNvPr>
          <p:cNvSpPr txBox="1"/>
          <p:nvPr/>
        </p:nvSpPr>
        <p:spPr>
          <a:xfrm>
            <a:off x="139866" y="1097250"/>
            <a:ext cx="5589726"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Image Characteristics: </a:t>
            </a:r>
            <a:r>
              <a:rPr lang="en-US" dirty="0"/>
              <a:t>The output image show noticeable pixelation, with sharp transitions between pixel colors</a:t>
            </a:r>
            <a:r>
              <a:rPr lang="en-US" dirty="0">
                <a:solidFill>
                  <a:srgbClr val="FFFF00"/>
                </a:solidFill>
              </a:rPr>
              <a:t>. This is because it doesn't consider surrounding pixels, leading to lower quality in areas where the image was resized or rotated.</a:t>
            </a:r>
            <a:endParaRPr lang="he-IL" dirty="0">
              <a:solidFill>
                <a:srgbClr val="FFFF00"/>
              </a:solidFill>
            </a:endParaRPr>
          </a:p>
        </p:txBody>
      </p:sp>
      <p:cxnSp>
        <p:nvCxnSpPr>
          <p:cNvPr id="8" name="Straight Connector 7">
            <a:extLst>
              <a:ext uri="{FF2B5EF4-FFF2-40B4-BE49-F238E27FC236}">
                <a16:creationId xmlns:a16="http://schemas.microsoft.com/office/drawing/2014/main" id="{84E77EFC-953E-311C-4282-59786E1AE0BD}"/>
              </a:ext>
            </a:extLst>
          </p:cNvPr>
          <p:cNvCxnSpPr>
            <a:cxnSpLocks/>
          </p:cNvCxnSpPr>
          <p:nvPr/>
        </p:nvCxnSpPr>
        <p:spPr>
          <a:xfrm>
            <a:off x="6095999" y="502104"/>
            <a:ext cx="0" cy="5179862"/>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2BE175D-BE6D-D541-8809-04AEC7E0631D}"/>
              </a:ext>
            </a:extLst>
          </p:cNvPr>
          <p:cNvSpPr txBox="1"/>
          <p:nvPr/>
        </p:nvSpPr>
        <p:spPr>
          <a:xfrm>
            <a:off x="2082308" y="630400"/>
            <a:ext cx="1166712"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A31.bmp</a:t>
            </a:r>
            <a:endParaRPr lang="he-IL" sz="1600" dirty="0">
              <a:solidFill>
                <a:schemeClr val="bg1"/>
              </a:solidFill>
            </a:endParaRPr>
          </a:p>
        </p:txBody>
      </p:sp>
      <p:sp>
        <p:nvSpPr>
          <p:cNvPr id="10" name="TextBox 9">
            <a:extLst>
              <a:ext uri="{FF2B5EF4-FFF2-40B4-BE49-F238E27FC236}">
                <a16:creationId xmlns:a16="http://schemas.microsoft.com/office/drawing/2014/main" id="{36639CD5-74CF-AEB2-5808-87EC0BFE343E}"/>
              </a:ext>
            </a:extLst>
          </p:cNvPr>
          <p:cNvSpPr txBox="1"/>
          <p:nvPr/>
        </p:nvSpPr>
        <p:spPr>
          <a:xfrm>
            <a:off x="9069384" y="630400"/>
            <a:ext cx="1040308" cy="338554"/>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sz="1600" b="1" u="sng" dirty="0">
                <a:solidFill>
                  <a:schemeClr val="bg1"/>
                </a:solidFill>
              </a:rPr>
              <a:t>A32.bmp</a:t>
            </a:r>
            <a:endParaRPr lang="he-IL" sz="1600" dirty="0">
              <a:solidFill>
                <a:schemeClr val="bg1"/>
              </a:solidFill>
            </a:endParaRPr>
          </a:p>
        </p:txBody>
      </p:sp>
      <p:sp>
        <p:nvSpPr>
          <p:cNvPr id="11" name="TextBox 10">
            <a:extLst>
              <a:ext uri="{FF2B5EF4-FFF2-40B4-BE49-F238E27FC236}">
                <a16:creationId xmlns:a16="http://schemas.microsoft.com/office/drawing/2014/main" id="{01469A8D-7297-741C-B3A0-E54437B6CD25}"/>
              </a:ext>
            </a:extLst>
          </p:cNvPr>
          <p:cNvSpPr txBox="1"/>
          <p:nvPr/>
        </p:nvSpPr>
        <p:spPr>
          <a:xfrm>
            <a:off x="739792" y="-21116"/>
            <a:ext cx="10712415" cy="523220"/>
          </a:xfrm>
          <a:prstGeom prst="rect">
            <a:avLst/>
          </a:prstGeom>
          <a:noFill/>
        </p:spPr>
        <p:txBody>
          <a:bodyPr wrap="square">
            <a:spAutoFit/>
          </a:bodyPr>
          <a:lstStyle/>
          <a:p>
            <a:pPr algn="ctr"/>
            <a:r>
              <a:rPr lang="en-US" sz="2800" b="1" u="sng" dirty="0">
                <a:solidFill>
                  <a:srgbClr val="0070C0"/>
                </a:solidFill>
              </a:rPr>
              <a:t>31.11 –comparison between the results on the basis of </a:t>
            </a:r>
            <a:r>
              <a:rPr lang="en-US" sz="2800" b="1" u="sng" dirty="0" err="1">
                <a:solidFill>
                  <a:srgbClr val="0070C0"/>
                </a:solidFill>
              </a:rPr>
              <a:t>critirias</a:t>
            </a:r>
            <a:endParaRPr lang="en-IL" sz="2800" u="sng" dirty="0">
              <a:latin typeface="Cooper Black" panose="0208090404030B020404" pitchFamily="18" charset="0"/>
            </a:endParaRPr>
          </a:p>
        </p:txBody>
      </p:sp>
      <p:sp>
        <p:nvSpPr>
          <p:cNvPr id="13" name="TextBox 12">
            <a:extLst>
              <a:ext uri="{FF2B5EF4-FFF2-40B4-BE49-F238E27FC236}">
                <a16:creationId xmlns:a16="http://schemas.microsoft.com/office/drawing/2014/main" id="{C257751D-DD66-C829-798E-FA1B1DC8DD55}"/>
              </a:ext>
            </a:extLst>
          </p:cNvPr>
          <p:cNvSpPr txBox="1"/>
          <p:nvPr/>
        </p:nvSpPr>
        <p:spPr>
          <a:xfrm>
            <a:off x="6383777" y="1097250"/>
            <a:ext cx="5589722" cy="1477328"/>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Image Characteristics</a:t>
            </a:r>
            <a:r>
              <a:rPr lang="en-US" dirty="0"/>
              <a:t>: The output image is generally smoother, with less pixelation and better-preserved details. Edges and gradients are handled better compared to the nearest neighbor method, making the image appear more natural.</a:t>
            </a:r>
            <a:endParaRPr lang="he-IL" dirty="0"/>
          </a:p>
        </p:txBody>
      </p:sp>
      <p:sp>
        <p:nvSpPr>
          <p:cNvPr id="15" name="TextBox 14">
            <a:extLst>
              <a:ext uri="{FF2B5EF4-FFF2-40B4-BE49-F238E27FC236}">
                <a16:creationId xmlns:a16="http://schemas.microsoft.com/office/drawing/2014/main" id="{C18F1500-9D3F-44C4-66FB-FE1132903DE0}"/>
              </a:ext>
            </a:extLst>
          </p:cNvPr>
          <p:cNvSpPr txBox="1"/>
          <p:nvPr/>
        </p:nvSpPr>
        <p:spPr>
          <a:xfrm>
            <a:off x="139864" y="2789444"/>
            <a:ext cx="5589726" cy="1477328"/>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Edges in the image appear jagged or "staircased," especially noticeable along diagonal lines or curves. </a:t>
            </a:r>
            <a:r>
              <a:rPr lang="en-US" dirty="0">
                <a:solidFill>
                  <a:srgbClr val="FFFF00"/>
                </a:solidFill>
              </a:rPr>
              <a:t>This occurs because the interpolation does not introduce any new pixel values, just replicates existing ones.</a:t>
            </a:r>
            <a:endParaRPr lang="he-IL" dirty="0">
              <a:solidFill>
                <a:srgbClr val="FFFF00"/>
              </a:solidFill>
            </a:endParaRPr>
          </a:p>
        </p:txBody>
      </p:sp>
      <p:sp>
        <p:nvSpPr>
          <p:cNvPr id="17" name="TextBox 16">
            <a:extLst>
              <a:ext uri="{FF2B5EF4-FFF2-40B4-BE49-F238E27FC236}">
                <a16:creationId xmlns:a16="http://schemas.microsoft.com/office/drawing/2014/main" id="{263274CD-8AE3-6D65-DD91-668A600E66E0}"/>
              </a:ext>
            </a:extLst>
          </p:cNvPr>
          <p:cNvSpPr txBox="1"/>
          <p:nvPr/>
        </p:nvSpPr>
        <p:spPr>
          <a:xfrm>
            <a:off x="6383775" y="2789444"/>
            <a:ext cx="5589723" cy="1477328"/>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Edges are smoother with this method.</a:t>
            </a:r>
          </a:p>
          <a:p>
            <a:r>
              <a:rPr lang="en-US" dirty="0"/>
              <a:t>The interpolation creates new pixel values by averaging the nearest pixels, leading to softer transitions along edges. </a:t>
            </a:r>
            <a:r>
              <a:rPr lang="en-US" b="1" dirty="0">
                <a:solidFill>
                  <a:srgbClr val="C00000"/>
                </a:solidFill>
              </a:rPr>
              <a:t>This reduces the staircasing effect seen in nearest neighbor interpolation.</a:t>
            </a:r>
            <a:endParaRPr lang="he-IL" b="1" dirty="0">
              <a:solidFill>
                <a:srgbClr val="C00000"/>
              </a:solidFill>
            </a:endParaRPr>
          </a:p>
        </p:txBody>
      </p:sp>
      <p:sp>
        <p:nvSpPr>
          <p:cNvPr id="19" name="TextBox 18">
            <a:extLst>
              <a:ext uri="{FF2B5EF4-FFF2-40B4-BE49-F238E27FC236}">
                <a16:creationId xmlns:a16="http://schemas.microsoft.com/office/drawing/2014/main" id="{D28239DE-19D6-F5C7-C64A-E10FE7A190F0}"/>
              </a:ext>
            </a:extLst>
          </p:cNvPr>
          <p:cNvSpPr txBox="1"/>
          <p:nvPr/>
        </p:nvSpPr>
        <p:spPr>
          <a:xfrm>
            <a:off x="139864" y="4481638"/>
            <a:ext cx="5589724"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image display more artifacts, such as aliasing, due to the sharp transitions between pixels. These artifacts are more prominent in areas with high contrast or fine details.</a:t>
            </a:r>
            <a:endParaRPr lang="he-IL" dirty="0"/>
          </a:p>
        </p:txBody>
      </p:sp>
      <p:sp>
        <p:nvSpPr>
          <p:cNvPr id="21" name="TextBox 20">
            <a:extLst>
              <a:ext uri="{FF2B5EF4-FFF2-40B4-BE49-F238E27FC236}">
                <a16:creationId xmlns:a16="http://schemas.microsoft.com/office/drawing/2014/main" id="{9D7778F6-261C-26C2-1720-A2B929E86B37}"/>
              </a:ext>
            </a:extLst>
          </p:cNvPr>
          <p:cNvSpPr txBox="1"/>
          <p:nvPr/>
        </p:nvSpPr>
        <p:spPr>
          <a:xfrm>
            <a:off x="6383775" y="4481637"/>
            <a:ext cx="5589721" cy="1200329"/>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Bilinear interpolation generally introduces fewer artifacts. However, it might slightly blur sharp edges due to the averaging of pixel values. This trade-off is often acceptable for a smoother overall appearance.</a:t>
            </a:r>
            <a:endParaRPr lang="he-IL" dirty="0"/>
          </a:p>
        </p:txBody>
      </p:sp>
      <p:sp>
        <p:nvSpPr>
          <p:cNvPr id="24" name="TextBox 23">
            <a:extLst>
              <a:ext uri="{FF2B5EF4-FFF2-40B4-BE49-F238E27FC236}">
                <a16:creationId xmlns:a16="http://schemas.microsoft.com/office/drawing/2014/main" id="{7D8D2C78-E38A-EA05-F628-A76FE0D19002}"/>
              </a:ext>
            </a:extLst>
          </p:cNvPr>
          <p:cNvSpPr txBox="1"/>
          <p:nvPr/>
        </p:nvSpPr>
        <p:spPr>
          <a:xfrm>
            <a:off x="553072" y="5894231"/>
            <a:ext cx="11085853" cy="923330"/>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b="1" dirty="0"/>
              <a:t>In summary, bilinear interpolation generally provides better visual quality for transformed images by producing smoother transitions and reducing pixelation, while nearest neighbor interpolation is simpler and faster but can lead to a more pixelated appearance with more noticeable artifacts.</a:t>
            </a:r>
            <a:endParaRPr lang="he-IL" b="1" dirty="0"/>
          </a:p>
        </p:txBody>
      </p:sp>
      <p:sp>
        <p:nvSpPr>
          <p:cNvPr id="26" name="Slide Number Placeholder 5">
            <a:extLst>
              <a:ext uri="{FF2B5EF4-FFF2-40B4-BE49-F238E27FC236}">
                <a16:creationId xmlns:a16="http://schemas.microsoft.com/office/drawing/2014/main" id="{5A2F5EA2-C194-57F8-9A70-DCA96AEB5254}"/>
              </a:ext>
            </a:extLst>
          </p:cNvPr>
          <p:cNvSpPr>
            <a:spLocks noGrp="1"/>
          </p:cNvSpPr>
          <p:nvPr>
            <p:ph type="sldNum" sz="quarter" idx="12"/>
          </p:nvPr>
        </p:nvSpPr>
        <p:spPr>
          <a:xfrm>
            <a:off x="11692647" y="0"/>
            <a:ext cx="499353" cy="365125"/>
          </a:xfrm>
        </p:spPr>
        <p:txBody>
          <a:bodyPr/>
          <a:lstStyle/>
          <a:p>
            <a:fld id="{1E5BF412-EFCF-4C51-A2DF-B419076696E3}" type="slidenum">
              <a:rPr lang="he-IL" sz="1600" smtClean="0"/>
              <a:t>24</a:t>
            </a:fld>
            <a:endParaRPr lang="he-IL" sz="1600" dirty="0"/>
          </a:p>
        </p:txBody>
      </p:sp>
    </p:spTree>
    <p:extLst>
      <p:ext uri="{BB962C8B-B14F-4D97-AF65-F5344CB8AC3E}">
        <p14:creationId xmlns:p14="http://schemas.microsoft.com/office/powerpoint/2010/main" val="301956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3D7E73-6459-69A9-6673-504D8F57154B}"/>
              </a:ext>
            </a:extLst>
          </p:cNvPr>
          <p:cNvSpPr>
            <a:spLocks noGrp="1"/>
          </p:cNvSpPr>
          <p:nvPr>
            <p:ph type="sldNum" sz="quarter" idx="12"/>
          </p:nvPr>
        </p:nvSpPr>
        <p:spPr>
          <a:xfrm>
            <a:off x="11721830" y="6492875"/>
            <a:ext cx="470170" cy="365125"/>
          </a:xfrm>
        </p:spPr>
        <p:txBody>
          <a:bodyPr/>
          <a:lstStyle/>
          <a:p>
            <a:fld id="{1E5BF412-EFCF-4C51-A2DF-B419076696E3}" type="slidenum">
              <a:rPr lang="he-IL" sz="1600" smtClean="0"/>
              <a:t>25</a:t>
            </a:fld>
            <a:endParaRPr lang="he-IL" sz="1600" dirty="0"/>
          </a:p>
        </p:txBody>
      </p:sp>
      <p:sp>
        <p:nvSpPr>
          <p:cNvPr id="3" name="TextBox 2">
            <a:extLst>
              <a:ext uri="{FF2B5EF4-FFF2-40B4-BE49-F238E27FC236}">
                <a16:creationId xmlns:a16="http://schemas.microsoft.com/office/drawing/2014/main" id="{0FFBFC39-30C1-DB88-4428-A2A84821D377}"/>
              </a:ext>
            </a:extLst>
          </p:cNvPr>
          <p:cNvSpPr txBox="1"/>
          <p:nvPr/>
        </p:nvSpPr>
        <p:spPr>
          <a:xfrm>
            <a:off x="3641046" y="0"/>
            <a:ext cx="4909907" cy="523220"/>
          </a:xfrm>
          <a:prstGeom prst="rect">
            <a:avLst/>
          </a:prstGeom>
          <a:noFill/>
        </p:spPr>
        <p:txBody>
          <a:bodyPr wrap="square">
            <a:spAutoFit/>
          </a:bodyPr>
          <a:lstStyle/>
          <a:p>
            <a:pPr algn="ctr"/>
            <a:r>
              <a:rPr lang="en-US" sz="2800" b="1" u="sng" dirty="0">
                <a:solidFill>
                  <a:srgbClr val="0070C0"/>
                </a:solidFill>
              </a:rPr>
              <a:t>31.8 – </a:t>
            </a:r>
            <a:r>
              <a:rPr lang="en-US" sz="2800" b="1" u="sng" dirty="0">
                <a:solidFill>
                  <a:srgbClr val="0070C0"/>
                </a:solidFill>
                <a:latin typeface="+mn-lt"/>
              </a:rPr>
              <a:t>What did we learn ?</a:t>
            </a:r>
            <a:endParaRPr lang="en-IL" sz="2800" u="sng" dirty="0">
              <a:solidFill>
                <a:srgbClr val="FF0000"/>
              </a:solidFill>
              <a:latin typeface="Cooper Black" panose="0208090404030B020404" pitchFamily="18" charset="0"/>
            </a:endParaRPr>
          </a:p>
        </p:txBody>
      </p:sp>
      <p:sp>
        <p:nvSpPr>
          <p:cNvPr id="7" name="TextBox 6">
            <a:extLst>
              <a:ext uri="{FF2B5EF4-FFF2-40B4-BE49-F238E27FC236}">
                <a16:creationId xmlns:a16="http://schemas.microsoft.com/office/drawing/2014/main" id="{DDDD3E1B-0B17-F13F-80FB-D17654F40DAE}"/>
              </a:ext>
            </a:extLst>
          </p:cNvPr>
          <p:cNvSpPr txBox="1"/>
          <p:nvPr/>
        </p:nvSpPr>
        <p:spPr>
          <a:xfrm>
            <a:off x="1580788" y="795743"/>
            <a:ext cx="8071104" cy="3785652"/>
          </a:xfrm>
          <a:prstGeom prst="rect">
            <a:avLst/>
          </a:prstGeom>
          <a:noFill/>
        </p:spPr>
        <p:txBody>
          <a:bodyPr wrap="square" rtlCol="1">
            <a:spAutoFit/>
          </a:bodyPr>
          <a:lstStyle/>
          <a:p>
            <a:pPr algn="l" rtl="0"/>
            <a:r>
              <a:rPr lang="en-US" sz="2400" dirty="0"/>
              <a:t>1) To use two algorithms that can create the same result in different ways: Bilinear interpolation and nearest neighbor.</a:t>
            </a:r>
          </a:p>
          <a:p>
            <a:pPr algn="l" rtl="0"/>
            <a:r>
              <a:rPr lang="en-US" sz="2400" dirty="0"/>
              <a:t>2) To acknowledge  what is interpolation and how it use it.</a:t>
            </a:r>
          </a:p>
          <a:p>
            <a:pPr algn="l" rtl="0"/>
            <a:r>
              <a:rPr lang="en-US" sz="2400" dirty="0"/>
              <a:t>3) How to use Nearest Neighbor Interpolation algorithm to rotate the image.</a:t>
            </a:r>
          </a:p>
          <a:p>
            <a:pPr algn="l" rtl="0"/>
            <a:r>
              <a:rPr lang="en-US" sz="2400" dirty="0"/>
              <a:t>4) How to use Bilinear Interpolation algorithm to rotate the image.</a:t>
            </a:r>
          </a:p>
          <a:p>
            <a:pPr algn="l" rtl="0"/>
            <a:r>
              <a:rPr lang="en-US" sz="2400" dirty="0"/>
              <a:t>5) To apply sequence of  operations on an image (move it, scale it, rotate it around the point). </a:t>
            </a:r>
          </a:p>
          <a:p>
            <a:pPr algn="l" rtl="0"/>
            <a:endParaRPr lang="en-US" sz="2400" dirty="0"/>
          </a:p>
        </p:txBody>
      </p:sp>
    </p:spTree>
    <p:extLst>
      <p:ext uri="{BB962C8B-B14F-4D97-AF65-F5344CB8AC3E}">
        <p14:creationId xmlns:p14="http://schemas.microsoft.com/office/powerpoint/2010/main" val="567020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435</TotalTime>
  <Words>2146</Words>
  <Application>Microsoft Office PowerPoint</Application>
  <PresentationFormat>Widescreen</PresentationFormat>
  <Paragraphs>175</Paragraphs>
  <Slides>25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Cambria Math</vt:lpstr>
      <vt:lpstr>Cooper Black</vt:lpstr>
      <vt:lpstr>Office Theme</vt:lpstr>
      <vt:lpstr>Course: Image Processing 31651 Assignment #31 Geometrical Transforms – version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31</cp:revision>
  <dcterms:created xsi:type="dcterms:W3CDTF">2024-07-29T11:22:20Z</dcterms:created>
  <dcterms:modified xsi:type="dcterms:W3CDTF">2024-08-18T08:41:31Z</dcterms:modified>
</cp:coreProperties>
</file>