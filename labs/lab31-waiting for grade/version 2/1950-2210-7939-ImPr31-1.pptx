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3" r:id="rId5"/>
    <p:sldId id="259" r:id="rId6"/>
    <p:sldId id="260" r:id="rId7"/>
    <p:sldId id="271" r:id="rId8"/>
    <p:sldId id="261" r:id="rId9"/>
    <p:sldId id="264" r:id="rId10"/>
    <p:sldId id="268" r:id="rId11"/>
    <p:sldId id="272" r:id="rId12"/>
    <p:sldId id="274" r:id="rId13"/>
    <p:sldId id="275" r:id="rId14"/>
    <p:sldId id="273" r:id="rId15"/>
    <p:sldId id="265" r:id="rId16"/>
    <p:sldId id="269" r:id="rId17"/>
    <p:sldId id="267" r:id="rId18"/>
    <p:sldId id="270" r:id="rId19"/>
    <p:sldId id="266" r:id="rId20"/>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F497E-EA0B-8286-57BF-72F4DE1A2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2F403FFE-06B7-F7F4-FB94-439EF53D5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F5A2315D-AA71-4BC7-A298-288137A3B1DC}"/>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585C33F3-FB35-EF37-3F9B-CD60ACB8229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FC7C119-03F7-9F7E-2234-08E7BC992DD2}"/>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159184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A1A8-A770-DAAF-7E1D-49EB171FF6E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DCBDFF2-F629-4520-2D2E-A9A9D9AE7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9404835-6B83-0C61-24B8-1DCB7B9EC18D}"/>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09D20B74-7AE9-0B44-1940-C4B82A2F903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65043EA-DCF6-705F-EEF9-06799F613DE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1477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BD62-D237-806E-85A4-CC3B07E11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FC558E8C-164C-EF3C-26E2-6B5C3CAA85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6C10AE-B185-D4C9-0B8E-C766C8655E5A}"/>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80D62A3B-CCB5-9232-DE6F-17AE6E5D4F2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9630CC1-D43A-C3A5-30A9-F04D49AD7ABC}"/>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24947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D7A0-F4A3-CD6D-8C15-5F16B30A7C19}"/>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971D5D7-54D3-D5B6-D87F-2B019ABC5C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4EEF606-B62A-BF04-A1D1-F6EBB52517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D056D8C8-9215-3F5A-E4C7-BA832155C4DA}"/>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6" name="Footer Placeholder 5">
            <a:extLst>
              <a:ext uri="{FF2B5EF4-FFF2-40B4-BE49-F238E27FC236}">
                <a16:creationId xmlns:a16="http://schemas.microsoft.com/office/drawing/2014/main" id="{0C1F51E6-092D-2D0B-A349-C38B8A1CA94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C473EBEA-25CD-0E7A-D5D0-D71F54AD48D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9490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F0E6E-2BA4-8921-EC3C-92BC65BB0961}"/>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84009D1-636A-5673-6F1C-FF6FFFA160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4DF345-23F4-FBCC-AB52-0CB8426FB6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5EF0B4F-465A-20F4-143D-7983482CE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4C69FF-F523-C21F-2620-8893AED27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E11B2408-7975-307D-9EB0-BC2003ECC041}"/>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8" name="Footer Placeholder 7">
            <a:extLst>
              <a:ext uri="{FF2B5EF4-FFF2-40B4-BE49-F238E27FC236}">
                <a16:creationId xmlns:a16="http://schemas.microsoft.com/office/drawing/2014/main" id="{074689D9-D24B-9EA0-636A-711CF7BBA3A4}"/>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BEFA1F3A-9B76-3602-BDFA-11FFD4D758C9}"/>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107528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4272-014F-8914-6520-70B86B847183}"/>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D8673DBA-92FC-5F31-3483-62655B6B5F3A}"/>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4" name="Footer Placeholder 3">
            <a:extLst>
              <a:ext uri="{FF2B5EF4-FFF2-40B4-BE49-F238E27FC236}">
                <a16:creationId xmlns:a16="http://schemas.microsoft.com/office/drawing/2014/main" id="{4D810AB3-2613-D67D-4870-0429404DF3F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CB08E792-3E37-2D6E-7567-F01C02FC03E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76920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7833CA-83E9-E7E0-58CD-23C70E8EEE15}"/>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3" name="Footer Placeholder 2">
            <a:extLst>
              <a:ext uri="{FF2B5EF4-FFF2-40B4-BE49-F238E27FC236}">
                <a16:creationId xmlns:a16="http://schemas.microsoft.com/office/drawing/2014/main" id="{CF4A2DC1-AD17-9F6E-C608-F8FBA0A25CCA}"/>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6A90B9B-31C2-7BBC-DF72-6C5640D9491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3279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58DC3-2067-C85E-0CCD-55238C602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7EACFE42-524A-63FF-148A-51AF03ADA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D81E71A-ABC3-5223-36DF-846655E29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B45FF-85C8-5527-AC49-19A1A14807E1}"/>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6" name="Footer Placeholder 5">
            <a:extLst>
              <a:ext uri="{FF2B5EF4-FFF2-40B4-BE49-F238E27FC236}">
                <a16:creationId xmlns:a16="http://schemas.microsoft.com/office/drawing/2014/main" id="{62BA80B9-CE32-614E-1CC8-BC0531476EA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3117E0D-F971-ECD9-1EA6-143A5A62F4F8}"/>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865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9A44-8AED-201B-0C94-DB044FFB9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A714F39-E108-7C34-436C-CAA1249F2F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B107B681-2BA9-0CA2-F6C7-2DFE610E9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C782A4-03A1-A6F2-AD2A-7312AD7AAB30}"/>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6" name="Footer Placeholder 5">
            <a:extLst>
              <a:ext uri="{FF2B5EF4-FFF2-40B4-BE49-F238E27FC236}">
                <a16:creationId xmlns:a16="http://schemas.microsoft.com/office/drawing/2014/main" id="{590F476C-6373-CDCA-644B-89E387AA1D5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76852B8-C3AE-DFA2-9BE1-E7B462F4FD9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97909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501D-83BB-0EAB-E720-EF7310921594}"/>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EEA785F3-1072-9AF1-7C45-B49D104549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0B2B7A7-8EA9-7378-29C9-440F1A680989}"/>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B553EC07-E76A-4762-729C-402E71FBFEA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9D15BF6-7D65-1E93-4A6A-B290432C573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4304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957F6-D24E-446D-5313-0E74A27460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94F4C634-7644-F244-34D3-E157195B3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E9310547-52D2-9624-FE9E-A3D63B5EDB33}"/>
              </a:ext>
            </a:extLst>
          </p:cNvPr>
          <p:cNvSpPr>
            <a:spLocks noGrp="1"/>
          </p:cNvSpPr>
          <p:nvPr>
            <p:ph type="dt" sz="half" idx="10"/>
          </p:nvPr>
        </p:nvSpPr>
        <p:spPr/>
        <p:txBody>
          <a:body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AA272227-D85E-8E3F-5F6B-0E6B5EE91B2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9DBBCA7-61AE-CF0F-7AA8-B0F84B6F75DB}"/>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67048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E12FA-9539-F39C-A693-7A763EC9B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7FA26994-819C-7197-2B19-7932D105D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14CF0199-A933-E6D9-6BA4-FE0B78C24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5C63C7-FA0A-417A-9239-B53F4ACA5229}" type="datetimeFigureOut">
              <a:rPr lang="he-IL" smtClean="0"/>
              <a:t>י'/אב/תשפ"ד</a:t>
            </a:fld>
            <a:endParaRPr lang="he-IL"/>
          </a:p>
        </p:txBody>
      </p:sp>
      <p:sp>
        <p:nvSpPr>
          <p:cNvPr id="5" name="Footer Placeholder 4">
            <a:extLst>
              <a:ext uri="{FF2B5EF4-FFF2-40B4-BE49-F238E27FC236}">
                <a16:creationId xmlns:a16="http://schemas.microsoft.com/office/drawing/2014/main" id="{B5C60151-5020-8A81-ACD4-E43B55B27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FCEFC10E-E97A-9628-B65B-59B4CA15E6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036AE8-FF5C-4037-94BA-A70BC55617A0}" type="slidenum">
              <a:rPr lang="he-IL" smtClean="0"/>
              <a:t>‹#›</a:t>
            </a:fld>
            <a:endParaRPr lang="he-IL"/>
          </a:p>
        </p:txBody>
      </p:sp>
    </p:spTree>
    <p:extLst>
      <p:ext uri="{BB962C8B-B14F-4D97-AF65-F5344CB8AC3E}">
        <p14:creationId xmlns:p14="http://schemas.microsoft.com/office/powerpoint/2010/main" val="316651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#31</a:t>
            </a:r>
            <a:br>
              <a:rPr lang="en-US" sz="3200" b="1" dirty="0">
                <a:solidFill>
                  <a:srgbClr val="0070C0"/>
                </a:solidFill>
              </a:rPr>
            </a:br>
            <a:r>
              <a:rPr lang="en-US" sz="3200" b="1" dirty="0">
                <a:solidFill>
                  <a:srgbClr val="0070C0"/>
                </a:solidFill>
              </a:rPr>
              <a:t>Geometrical Transforms</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2</a:t>
            </a:fld>
            <a:endParaRPr lang="he-IL" sz="1600" dirty="0"/>
          </a:p>
        </p:txBody>
      </p:sp>
      <p:pic>
        <p:nvPicPr>
          <p:cNvPr id="6" name="Picture 5">
            <a:extLst>
              <a:ext uri="{FF2B5EF4-FFF2-40B4-BE49-F238E27FC236}">
                <a16:creationId xmlns:a16="http://schemas.microsoft.com/office/drawing/2014/main" id="{8BF915E5-9FC2-4F73-3D1B-8EC50278ECC8}"/>
              </a:ext>
            </a:extLst>
          </p:cNvPr>
          <p:cNvPicPr>
            <a:picLocks noChangeAspect="1"/>
          </p:cNvPicPr>
          <p:nvPr/>
        </p:nvPicPr>
        <p:blipFill>
          <a:blip r:embed="rId2"/>
          <a:stretch>
            <a:fillRect/>
          </a:stretch>
        </p:blipFill>
        <p:spPr>
          <a:xfrm>
            <a:off x="1348914" y="323849"/>
            <a:ext cx="9494171" cy="6388235"/>
          </a:xfrm>
          <a:prstGeom prst="rect">
            <a:avLst/>
          </a:prstGeom>
        </p:spPr>
      </p:pic>
    </p:spTree>
    <p:extLst>
      <p:ext uri="{BB962C8B-B14F-4D97-AF65-F5344CB8AC3E}">
        <p14:creationId xmlns:p14="http://schemas.microsoft.com/office/powerpoint/2010/main" val="170180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3</a:t>
            </a:fld>
            <a:endParaRPr lang="he-IL" sz="1600" dirty="0"/>
          </a:p>
        </p:txBody>
      </p:sp>
      <p:sp>
        <p:nvSpPr>
          <p:cNvPr id="2" name="TextBox 1">
            <a:extLst>
              <a:ext uri="{FF2B5EF4-FFF2-40B4-BE49-F238E27FC236}">
                <a16:creationId xmlns:a16="http://schemas.microsoft.com/office/drawing/2014/main" id="{603F8030-09AD-04D8-BD09-490E318896A5}"/>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1 </a:t>
            </a:r>
            <a:endParaRPr lang="en-IL" sz="2800" u="sng" dirty="0">
              <a:solidFill>
                <a:srgbClr val="FF0000"/>
              </a:solidFill>
              <a:latin typeface="Cooper Black" panose="0208090404030B020404" pitchFamily="18" charset="0"/>
            </a:endParaRPr>
          </a:p>
        </p:txBody>
      </p:sp>
      <p:sp>
        <p:nvSpPr>
          <p:cNvPr id="3" name="Rectangle 2">
            <a:extLst>
              <a:ext uri="{FF2B5EF4-FFF2-40B4-BE49-F238E27FC236}">
                <a16:creationId xmlns:a16="http://schemas.microsoft.com/office/drawing/2014/main" id="{4DBF6B86-B970-C600-60BF-F92D70E6578A}"/>
              </a:ext>
            </a:extLst>
          </p:cNvPr>
          <p:cNvSpPr/>
          <p:nvPr/>
        </p:nvSpPr>
        <p:spPr>
          <a:xfrm>
            <a:off x="2934509" y="651753"/>
            <a:ext cx="6322979" cy="933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are going to use several affine transformations according to the demand of the task – all the transformations (operations) will be modeled using matrix operations :</a:t>
            </a:r>
            <a:endParaRPr lang="he-IL" dirty="0"/>
          </a:p>
        </p:txBody>
      </p:sp>
      <p:cxnSp>
        <p:nvCxnSpPr>
          <p:cNvPr id="6" name="Straight Arrow Connector 5">
            <a:extLst>
              <a:ext uri="{FF2B5EF4-FFF2-40B4-BE49-F238E27FC236}">
                <a16:creationId xmlns:a16="http://schemas.microsoft.com/office/drawing/2014/main" id="{264CAA66-EB2B-4B7C-4626-24A5C0AE094D}"/>
              </a:ext>
            </a:extLst>
          </p:cNvPr>
          <p:cNvCxnSpPr>
            <a:cxnSpLocks/>
          </p:cNvCxnSpPr>
          <p:nvPr/>
        </p:nvCxnSpPr>
        <p:spPr>
          <a:xfrm flipH="1">
            <a:off x="1857983" y="1585608"/>
            <a:ext cx="1076526" cy="149002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AD36931-4FF9-DFF3-D0E6-BC00E8EC6E2E}"/>
                  </a:ext>
                </a:extLst>
              </p:cNvPr>
              <p:cNvSpPr txBox="1"/>
              <p:nvPr/>
            </p:nvSpPr>
            <p:spPr>
              <a:xfrm>
                <a:off x="0" y="3075634"/>
                <a:ext cx="2957211" cy="226305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u="sng" dirty="0"/>
                  <a:t>Scaling in the X Direction:</a:t>
                </a:r>
                <a:br>
                  <a:rPr lang="en-US" b="1" u="sng" dirty="0"/>
                </a:br>
                <a:r>
                  <a:rPr lang="en-US" dirty="0"/>
                  <a:t>Scaling changes the size of the image in one or more directions. For scaling in the X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0" name="TextBox 9">
                <a:extLst>
                  <a:ext uri="{FF2B5EF4-FFF2-40B4-BE49-F238E27FC236}">
                    <a16:creationId xmlns:a16="http://schemas.microsoft.com/office/drawing/2014/main" id="{7AD36931-4FF9-DFF3-D0E6-BC00E8EC6E2E}"/>
                  </a:ext>
                </a:extLst>
              </p:cNvPr>
              <p:cNvSpPr txBox="1">
                <a:spLocks noRot="1" noChangeAspect="1" noMove="1" noResize="1" noEditPoints="1" noAdjustHandles="1" noChangeArrowheads="1" noChangeShapeType="1" noTextEdit="1"/>
              </p:cNvSpPr>
              <p:nvPr/>
            </p:nvSpPr>
            <p:spPr>
              <a:xfrm>
                <a:off x="0" y="3075634"/>
                <a:ext cx="2957211" cy="2263055"/>
              </a:xfrm>
              <a:prstGeom prst="rect">
                <a:avLst/>
              </a:prstGeom>
              <a:blipFill>
                <a:blip r:embed="rId2"/>
                <a:stretch>
                  <a:fillRect/>
                </a:stretch>
              </a:blipFill>
            </p:spPr>
            <p:txBody>
              <a:bodyPr/>
              <a:lstStyle/>
              <a:p>
                <a:r>
                  <a:rPr lang="he-IL">
                    <a:noFill/>
                  </a:rPr>
                  <a:t> </a:t>
                </a:r>
              </a:p>
            </p:txBody>
          </p:sp>
        </mc:Fallback>
      </mc:AlternateContent>
      <p:cxnSp>
        <p:nvCxnSpPr>
          <p:cNvPr id="12" name="Straight Arrow Connector 11">
            <a:extLst>
              <a:ext uri="{FF2B5EF4-FFF2-40B4-BE49-F238E27FC236}">
                <a16:creationId xmlns:a16="http://schemas.microsoft.com/office/drawing/2014/main" id="{378DC3D0-4576-0569-E447-4D79079F1B7F}"/>
              </a:ext>
            </a:extLst>
          </p:cNvPr>
          <p:cNvCxnSpPr>
            <a:cxnSpLocks/>
            <a:endCxn id="15" idx="0"/>
          </p:cNvCxnSpPr>
          <p:nvPr/>
        </p:nvCxnSpPr>
        <p:spPr>
          <a:xfrm flipH="1">
            <a:off x="4522132" y="1580776"/>
            <a:ext cx="375730" cy="1678584"/>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C96B9C-11B8-924F-D625-127125E14237}"/>
                  </a:ext>
                </a:extLst>
              </p:cNvPr>
              <p:cNvSpPr txBox="1"/>
              <p:nvPr/>
            </p:nvSpPr>
            <p:spPr>
              <a:xfrm>
                <a:off x="3043526" y="3259360"/>
                <a:ext cx="2957211" cy="2270045"/>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b="1" u="sng" dirty="0"/>
                  <a:t>Scaling in the Y Direction:</a:t>
                </a:r>
                <a:br>
                  <a:rPr lang="en-US" b="1" u="sng" dirty="0"/>
                </a:br>
                <a:r>
                  <a:rPr lang="en-US" dirty="0"/>
                  <a:t>same concept as scaling in the X direction . For scaling in the Y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5" name="TextBox 14">
                <a:extLst>
                  <a:ext uri="{FF2B5EF4-FFF2-40B4-BE49-F238E27FC236}">
                    <a16:creationId xmlns:a16="http://schemas.microsoft.com/office/drawing/2014/main" id="{0EC96B9C-11B8-924F-D625-127125E14237}"/>
                  </a:ext>
                </a:extLst>
              </p:cNvPr>
              <p:cNvSpPr txBox="1">
                <a:spLocks noRot="1" noChangeAspect="1" noMove="1" noResize="1" noEditPoints="1" noAdjustHandles="1" noChangeArrowheads="1" noChangeShapeType="1" noTextEdit="1"/>
              </p:cNvSpPr>
              <p:nvPr/>
            </p:nvSpPr>
            <p:spPr>
              <a:xfrm>
                <a:off x="3043526" y="3259360"/>
                <a:ext cx="2957211" cy="2270045"/>
              </a:xfrm>
              <a:prstGeom prst="rect">
                <a:avLst/>
              </a:prstGeom>
              <a:blipFill>
                <a:blip r:embed="rId3"/>
                <a:stretch>
                  <a:fillRect/>
                </a:stretch>
              </a:blipFill>
            </p:spPr>
            <p:txBody>
              <a:bodyPr/>
              <a:lstStyle/>
              <a:p>
                <a:r>
                  <a:rPr lang="he-IL">
                    <a:noFill/>
                  </a:rPr>
                  <a:t> </a:t>
                </a:r>
              </a:p>
            </p:txBody>
          </p:sp>
        </mc:Fallback>
      </mc:AlternateContent>
      <p:cxnSp>
        <p:nvCxnSpPr>
          <p:cNvPr id="17" name="Straight Arrow Connector 16">
            <a:extLst>
              <a:ext uri="{FF2B5EF4-FFF2-40B4-BE49-F238E27FC236}">
                <a16:creationId xmlns:a16="http://schemas.microsoft.com/office/drawing/2014/main" id="{B752F25E-1943-494C-9706-F0DEE3ACF904}"/>
              </a:ext>
            </a:extLst>
          </p:cNvPr>
          <p:cNvCxnSpPr>
            <a:cxnSpLocks/>
          </p:cNvCxnSpPr>
          <p:nvPr/>
        </p:nvCxnSpPr>
        <p:spPr>
          <a:xfrm>
            <a:off x="9234788" y="1583192"/>
            <a:ext cx="1099226" cy="168100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7BD276-7C09-1DBC-C33C-3804DF852101}"/>
                  </a:ext>
                </a:extLst>
              </p:cNvPr>
              <p:cNvSpPr txBox="1"/>
              <p:nvPr/>
            </p:nvSpPr>
            <p:spPr>
              <a:xfrm>
                <a:off x="9257488" y="3281762"/>
                <a:ext cx="2934512" cy="294497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u="sng" dirty="0"/>
                  <a:t>Moving:</a:t>
                </a:r>
                <a:br>
                  <a:rPr lang="en-US" b="1" u="sng" dirty="0"/>
                </a:br>
                <a:r>
                  <a:rPr lang="en-US" dirty="0"/>
                  <a:t>moves every point of an image by a certain offset.</a:t>
                </a:r>
              </a:p>
              <a:p>
                <a:r>
                  <a:rPr lang="en-US" dirty="0"/>
                  <a:t>For a translation by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 </m:t>
                    </m:r>
                  </m:oMath>
                </a14:m>
                <a:r>
                  <a:rPr lang="en-US" dirty="0"/>
                  <a:t>pixels right and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𝑦</m:t>
                        </m:r>
                      </m:sub>
                    </m:sSub>
                  </m:oMath>
                </a14:m>
                <a:r>
                  <a:rPr lang="en-US" dirty="0"/>
                  <a:t> pixels up:</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𝑥</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1</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𝑦</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US" dirty="0"/>
              </a:p>
              <a:p>
                <a:r>
                  <a:rPr lang="en-US" dirty="0"/>
                  <a:t>Therefore – for moving down or left we use negative sign </a:t>
                </a:r>
                <a:endParaRPr lang="he-IL" dirty="0"/>
              </a:p>
            </p:txBody>
          </p:sp>
        </mc:Choice>
        <mc:Fallback xmlns="">
          <p:sp>
            <p:nvSpPr>
              <p:cNvPr id="20" name="TextBox 19">
                <a:extLst>
                  <a:ext uri="{FF2B5EF4-FFF2-40B4-BE49-F238E27FC236}">
                    <a16:creationId xmlns:a16="http://schemas.microsoft.com/office/drawing/2014/main" id="{B17BD276-7C09-1DBC-C33C-3804DF852101}"/>
                  </a:ext>
                </a:extLst>
              </p:cNvPr>
              <p:cNvSpPr txBox="1">
                <a:spLocks noRot="1" noChangeAspect="1" noMove="1" noResize="1" noEditPoints="1" noAdjustHandles="1" noChangeArrowheads="1" noChangeShapeType="1" noTextEdit="1"/>
              </p:cNvSpPr>
              <p:nvPr/>
            </p:nvSpPr>
            <p:spPr>
              <a:xfrm>
                <a:off x="9257488" y="3281762"/>
                <a:ext cx="2934512" cy="2944973"/>
              </a:xfrm>
              <a:prstGeom prst="rect">
                <a:avLst/>
              </a:prstGeom>
              <a:blipFill>
                <a:blip r:embed="rId4"/>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05965E7C-42E2-AAA0-0E2E-B7089336700E}"/>
              </a:ext>
            </a:extLst>
          </p:cNvPr>
          <p:cNvCxnSpPr>
            <a:cxnSpLocks/>
          </p:cNvCxnSpPr>
          <p:nvPr/>
        </p:nvCxnSpPr>
        <p:spPr>
          <a:xfrm flipH="1">
            <a:off x="7446318" y="1580776"/>
            <a:ext cx="240961" cy="1681000"/>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78D8BDD-67E0-DE03-FBA9-7C2E93C8D93D}"/>
                  </a:ext>
                </a:extLst>
              </p:cNvPr>
              <p:cNvSpPr txBox="1"/>
              <p:nvPr/>
            </p:nvSpPr>
            <p:spPr>
              <a:xfrm>
                <a:off x="6072680" y="3259360"/>
                <a:ext cx="3112864" cy="203132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u="sng" dirty="0"/>
                  <a:t>Rotation Around a Specific Point </a:t>
                </a:r>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b="1" u="sng" dirty="0"/>
                  <a:t>:</a:t>
                </a:r>
                <a:br>
                  <a:rPr lang="en-US" b="1" u="sng" dirty="0"/>
                </a:br>
                <a:r>
                  <a:rPr lang="en-US" dirty="0"/>
                  <a:t>To rotate around a point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we must move the image so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r>
                  <a:rPr lang="en-US" dirty="0"/>
                  <a:t> becomes the origin, apply the rotation, and then move back.</a:t>
                </a:r>
                <a:endParaRPr lang="he-IL" dirty="0"/>
              </a:p>
            </p:txBody>
          </p:sp>
        </mc:Choice>
        <mc:Fallback xmlns="">
          <p:sp>
            <p:nvSpPr>
              <p:cNvPr id="26" name="TextBox 25">
                <a:extLst>
                  <a:ext uri="{FF2B5EF4-FFF2-40B4-BE49-F238E27FC236}">
                    <a16:creationId xmlns:a16="http://schemas.microsoft.com/office/drawing/2014/main" id="{D78D8BDD-67E0-DE03-FBA9-7C2E93C8D93D}"/>
                  </a:ext>
                </a:extLst>
              </p:cNvPr>
              <p:cNvSpPr txBox="1">
                <a:spLocks noRot="1" noChangeAspect="1" noMove="1" noResize="1" noEditPoints="1" noAdjustHandles="1" noChangeArrowheads="1" noChangeShapeType="1" noTextEdit="1"/>
              </p:cNvSpPr>
              <p:nvPr/>
            </p:nvSpPr>
            <p:spPr>
              <a:xfrm>
                <a:off x="6072680" y="3259360"/>
                <a:ext cx="3112864" cy="2031325"/>
              </a:xfrm>
              <a:prstGeom prst="rect">
                <a:avLst/>
              </a:prstGeom>
              <a:blipFill>
                <a:blip r:embed="rId5"/>
                <a:stretch>
                  <a:fillRect/>
                </a:stretch>
              </a:blipFill>
            </p:spPr>
            <p:txBody>
              <a:bodyPr/>
              <a:lstStyle/>
              <a:p>
                <a:r>
                  <a:rPr lang="he-IL">
                    <a:noFill/>
                  </a:rPr>
                  <a:t> </a:t>
                </a:r>
              </a:p>
            </p:txBody>
          </p:sp>
        </mc:Fallback>
      </mc:AlternateContent>
      <p:cxnSp>
        <p:nvCxnSpPr>
          <p:cNvPr id="27" name="Straight Arrow Connector 26">
            <a:extLst>
              <a:ext uri="{FF2B5EF4-FFF2-40B4-BE49-F238E27FC236}">
                <a16:creationId xmlns:a16="http://schemas.microsoft.com/office/drawing/2014/main" id="{B58507B0-BD61-3831-726D-784823C8D52E}"/>
              </a:ext>
            </a:extLst>
          </p:cNvPr>
          <p:cNvCxnSpPr>
            <a:cxnSpLocks/>
          </p:cNvCxnSpPr>
          <p:nvPr/>
        </p:nvCxnSpPr>
        <p:spPr>
          <a:xfrm>
            <a:off x="7439018" y="5265305"/>
            <a:ext cx="0" cy="629657"/>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F1D065-820F-A24A-E7A8-9C98D0E7206C}"/>
                  </a:ext>
                </a:extLst>
              </p:cNvPr>
              <p:cNvSpPr txBox="1"/>
              <p:nvPr/>
            </p:nvSpPr>
            <p:spPr>
              <a:xfrm>
                <a:off x="3929973" y="5894962"/>
                <a:ext cx="5179781" cy="824906"/>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𝑅𝑂𝑇𝐴𝑇𝐼𝑂𝑁</m:t>
                      </m:r>
                      <m:r>
                        <a:rPr lang="en-US" b="0" i="1" smtClean="0">
                          <a:latin typeface="Cambria Math" panose="02040503050406030204" pitchFamily="18" charset="0"/>
                        </a:rPr>
                        <m:t> </m:t>
                      </m:r>
                      <m:r>
                        <a:rPr lang="en-US" b="0" i="1" smtClean="0">
                          <a:latin typeface="Cambria Math" panose="02040503050406030204" pitchFamily="18" charset="0"/>
                        </a:rPr>
                        <m:t>𝑀𝐴𝑇𝑅𝐼𝑋</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m:oMathPara>
                </a14:m>
                <a:endParaRPr lang="he-IL" dirty="0"/>
              </a:p>
            </p:txBody>
          </p:sp>
        </mc:Choice>
        <mc:Fallback xmlns="">
          <p:sp>
            <p:nvSpPr>
              <p:cNvPr id="29" name="TextBox 28">
                <a:extLst>
                  <a:ext uri="{FF2B5EF4-FFF2-40B4-BE49-F238E27FC236}">
                    <a16:creationId xmlns:a16="http://schemas.microsoft.com/office/drawing/2014/main" id="{E4F1D065-820F-A24A-E7A8-9C98D0E7206C}"/>
                  </a:ext>
                </a:extLst>
              </p:cNvPr>
              <p:cNvSpPr txBox="1">
                <a:spLocks noRot="1" noChangeAspect="1" noMove="1" noResize="1" noEditPoints="1" noAdjustHandles="1" noChangeArrowheads="1" noChangeShapeType="1" noTextEdit="1"/>
              </p:cNvSpPr>
              <p:nvPr/>
            </p:nvSpPr>
            <p:spPr>
              <a:xfrm>
                <a:off x="3929973" y="5894962"/>
                <a:ext cx="5179781" cy="824906"/>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30862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DDBA3F-85DD-8C73-8FDC-A860B3ADDB50}"/>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2 </a:t>
            </a:r>
            <a:endParaRPr lang="en-IL" sz="2800" u="sng" dirty="0">
              <a:solidFill>
                <a:srgbClr val="FF0000"/>
              </a:solidFill>
              <a:latin typeface="Cooper Black" panose="0208090404030B020404" pitchFamily="18" charset="0"/>
            </a:endParaRPr>
          </a:p>
        </p:txBody>
      </p:sp>
      <p:sp>
        <p:nvSpPr>
          <p:cNvPr id="5" name="TextBox 4">
            <a:extLst>
              <a:ext uri="{FF2B5EF4-FFF2-40B4-BE49-F238E27FC236}">
                <a16:creationId xmlns:a16="http://schemas.microsoft.com/office/drawing/2014/main" id="{6515AEC7-7D90-BBAD-731B-B8D2E46AE9D8}"/>
              </a:ext>
            </a:extLst>
          </p:cNvPr>
          <p:cNvSpPr txBox="1"/>
          <p:nvPr/>
        </p:nvSpPr>
        <p:spPr>
          <a:xfrm>
            <a:off x="2364348" y="650716"/>
            <a:ext cx="8134511"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total matrix for the operation of “Rotate it clockwise to 17 degrees</a:t>
            </a:r>
          </a:p>
          <a:p>
            <a:r>
              <a:rPr lang="en-US" dirty="0"/>
              <a:t>around the point {x = 20, y = 10 } ” will be comprised of the 3 matrix (=3 steps)</a:t>
            </a:r>
            <a:endParaRPr lang="he-IL" dirty="0"/>
          </a:p>
        </p:txBody>
      </p:sp>
      <p:sp>
        <p:nvSpPr>
          <p:cNvPr id="6" name="Arrow: Right 5">
            <a:extLst>
              <a:ext uri="{FF2B5EF4-FFF2-40B4-BE49-F238E27FC236}">
                <a16:creationId xmlns:a16="http://schemas.microsoft.com/office/drawing/2014/main" id="{748399A3-E9AE-FCFA-6019-1AB485C0E562}"/>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D83E840-9264-F290-26D7-0A94C39EA64B}"/>
                  </a:ext>
                </a:extLst>
              </p:cNvPr>
              <p:cNvSpPr/>
              <p:nvPr/>
            </p:nvSpPr>
            <p:spPr>
              <a:xfrm>
                <a:off x="2089317" y="2023313"/>
                <a:ext cx="7181200"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m:t>
                              </m:r>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m:t>
                              </m:r>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to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endParaRPr lang="he-IL" dirty="0"/>
              </a:p>
            </p:txBody>
          </p:sp>
        </mc:Choice>
        <mc:Fallback xmlns="">
          <p:sp>
            <p:nvSpPr>
              <p:cNvPr id="7" name="Rectangle 6">
                <a:extLst>
                  <a:ext uri="{FF2B5EF4-FFF2-40B4-BE49-F238E27FC236}">
                    <a16:creationId xmlns:a16="http://schemas.microsoft.com/office/drawing/2014/main" id="{0D83E840-9264-F290-26D7-0A94C39EA64B}"/>
                  </a:ext>
                </a:extLst>
              </p:cNvPr>
              <p:cNvSpPr>
                <a:spLocks noRot="1" noChangeAspect="1" noMove="1" noResize="1" noEditPoints="1" noAdjustHandles="1" noChangeArrowheads="1" noChangeShapeType="1" noTextEdit="1"/>
              </p:cNvSpPr>
              <p:nvPr/>
            </p:nvSpPr>
            <p:spPr>
              <a:xfrm>
                <a:off x="2089317" y="2023313"/>
                <a:ext cx="7181200" cy="963039"/>
              </a:xfrm>
              <a:prstGeom prst="rect">
                <a:avLst/>
              </a:prstGeom>
              <a:blipFill>
                <a:blip r:embed="rId2"/>
                <a:stretch>
                  <a:fillRect/>
                </a:stretch>
              </a:blipFill>
            </p:spPr>
            <p:txBody>
              <a:bodyPr/>
              <a:lstStyle/>
              <a:p>
                <a:r>
                  <a:rPr lang="he-IL">
                    <a:noFill/>
                  </a:rPr>
                  <a:t> </a:t>
                </a:r>
              </a:p>
            </p:txBody>
          </p:sp>
        </mc:Fallback>
      </mc:AlternateContent>
      <p:sp>
        <p:nvSpPr>
          <p:cNvPr id="8" name="Arrow: Down 7">
            <a:extLst>
              <a:ext uri="{FF2B5EF4-FFF2-40B4-BE49-F238E27FC236}">
                <a16:creationId xmlns:a16="http://schemas.microsoft.com/office/drawing/2014/main" id="{A22FA5C9-DFA2-4BC3-2C20-4979BB048C8E}"/>
              </a:ext>
            </a:extLst>
          </p:cNvPr>
          <p:cNvSpPr/>
          <p:nvPr/>
        </p:nvSpPr>
        <p:spPr>
          <a:xfrm>
            <a:off x="5766880" y="136079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93772E9-CB9E-91EB-6002-BFC81EDCEAB9}"/>
                  </a:ext>
                </a:extLst>
              </p:cNvPr>
              <p:cNvSpPr/>
              <p:nvPr/>
            </p:nvSpPr>
            <p:spPr>
              <a:xfrm>
                <a:off x="2089317" y="3115968"/>
                <a:ext cx="9758972"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a14:m>
                <a:r>
                  <a:rPr lang="en-US" dirty="0"/>
                  <a:t> for applying the rotation (angle in minus because we rotate clockwise)</a:t>
                </a:r>
                <a:endParaRPr lang="he-IL" dirty="0"/>
              </a:p>
            </p:txBody>
          </p:sp>
        </mc:Choice>
        <mc:Fallback xmlns="">
          <p:sp>
            <p:nvSpPr>
              <p:cNvPr id="9" name="Rectangle 8">
                <a:extLst>
                  <a:ext uri="{FF2B5EF4-FFF2-40B4-BE49-F238E27FC236}">
                    <a16:creationId xmlns:a16="http://schemas.microsoft.com/office/drawing/2014/main" id="{293772E9-CB9E-91EB-6002-BFC81EDCEAB9}"/>
                  </a:ext>
                </a:extLst>
              </p:cNvPr>
              <p:cNvSpPr>
                <a:spLocks noRot="1" noChangeAspect="1" noMove="1" noResize="1" noEditPoints="1" noAdjustHandles="1" noChangeArrowheads="1" noChangeShapeType="1" noTextEdit="1"/>
              </p:cNvSpPr>
              <p:nvPr/>
            </p:nvSpPr>
            <p:spPr>
              <a:xfrm>
                <a:off x="2089317" y="3115968"/>
                <a:ext cx="9758972" cy="963039"/>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CC01D33-910C-2EEE-6868-6E0101885720}"/>
                  </a:ext>
                </a:extLst>
              </p:cNvPr>
              <p:cNvSpPr/>
              <p:nvPr/>
            </p:nvSpPr>
            <p:spPr>
              <a:xfrm>
                <a:off x="2089317" y="4208623"/>
                <a:ext cx="8922394"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from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en-US" dirty="0"/>
                  <a:t> back to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endParaRPr lang="he-IL" dirty="0"/>
              </a:p>
            </p:txBody>
          </p:sp>
        </mc:Choice>
        <mc:Fallback xmlns="">
          <p:sp>
            <p:nvSpPr>
              <p:cNvPr id="10" name="Rectangle 9">
                <a:extLst>
                  <a:ext uri="{FF2B5EF4-FFF2-40B4-BE49-F238E27FC236}">
                    <a16:creationId xmlns:a16="http://schemas.microsoft.com/office/drawing/2014/main" id="{4CC01D33-910C-2EEE-6868-6E0101885720}"/>
                  </a:ext>
                </a:extLst>
              </p:cNvPr>
              <p:cNvSpPr>
                <a:spLocks noRot="1" noChangeAspect="1" noMove="1" noResize="1" noEditPoints="1" noAdjustHandles="1" noChangeArrowheads="1" noChangeShapeType="1" noTextEdit="1"/>
              </p:cNvSpPr>
              <p:nvPr/>
            </p:nvSpPr>
            <p:spPr>
              <a:xfrm>
                <a:off x="2089317" y="4208623"/>
                <a:ext cx="8922394" cy="963039"/>
              </a:xfrm>
              <a:prstGeom prst="rect">
                <a:avLst/>
              </a:prstGeom>
              <a:blipFill>
                <a:blip r:embed="rId4"/>
                <a:stretch>
                  <a:fillRect/>
                </a:stretch>
              </a:blipFill>
            </p:spPr>
            <p:txBody>
              <a:bodyPr/>
              <a:lstStyle/>
              <a:p>
                <a:r>
                  <a:rPr lang="he-IL">
                    <a:noFill/>
                  </a:rPr>
                  <a:t> </a:t>
                </a:r>
              </a:p>
            </p:txBody>
          </p:sp>
        </mc:Fallback>
      </mc:AlternateContent>
      <p:sp>
        <p:nvSpPr>
          <p:cNvPr id="11" name="Arrow: Down 10">
            <a:extLst>
              <a:ext uri="{FF2B5EF4-FFF2-40B4-BE49-F238E27FC236}">
                <a16:creationId xmlns:a16="http://schemas.microsoft.com/office/drawing/2014/main" id="{454E4959-C6B1-8EAC-493D-1657952D125C}"/>
              </a:ext>
            </a:extLst>
          </p:cNvPr>
          <p:cNvSpPr/>
          <p:nvPr/>
        </p:nvSpPr>
        <p:spPr>
          <a:xfrm>
            <a:off x="5872820" y="518081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D3E6E08-D9AE-572E-FDB9-34DCD0868360}"/>
                  </a:ext>
                </a:extLst>
              </p:cNvPr>
              <p:cNvSpPr/>
              <p:nvPr/>
            </p:nvSpPr>
            <p:spPr>
              <a:xfrm>
                <a:off x="2089317" y="5863032"/>
                <a:ext cx="8336605" cy="646331"/>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b="1" dirty="0"/>
                  <a:t>The total matrix operation for the rotation is :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𝒂𝒓𝒐𝒖𝒏𝒅</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r>
                      <a:rPr lang="en-US" b="1" i="1" smtClean="0">
                        <a:latin typeface="Cambria Math" panose="02040503050406030204" pitchFamily="18" charset="0"/>
                      </a:rPr>
                      <m:t>𝑹</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oMath>
                </a14:m>
                <a:endParaRPr lang="he-IL" b="1" dirty="0"/>
              </a:p>
            </p:txBody>
          </p:sp>
        </mc:Choice>
        <mc:Fallback xmlns="">
          <p:sp>
            <p:nvSpPr>
              <p:cNvPr id="12" name="Rectangle 11">
                <a:extLst>
                  <a:ext uri="{FF2B5EF4-FFF2-40B4-BE49-F238E27FC236}">
                    <a16:creationId xmlns:a16="http://schemas.microsoft.com/office/drawing/2014/main" id="{FD3E6E08-D9AE-572E-FDB9-34DCD0868360}"/>
                  </a:ext>
                </a:extLst>
              </p:cNvPr>
              <p:cNvSpPr>
                <a:spLocks noRot="1" noChangeAspect="1" noMove="1" noResize="1" noEditPoints="1" noAdjustHandles="1" noChangeArrowheads="1" noChangeShapeType="1" noTextEdit="1"/>
              </p:cNvSpPr>
              <p:nvPr/>
            </p:nvSpPr>
            <p:spPr>
              <a:xfrm>
                <a:off x="2089317" y="5863032"/>
                <a:ext cx="8336605" cy="646331"/>
              </a:xfrm>
              <a:prstGeom prst="rect">
                <a:avLst/>
              </a:prstGeom>
              <a:blipFill>
                <a:blip r:embed="rId5"/>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45809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5</a:t>
            </a:fld>
            <a:endParaRPr lang="he-IL" sz="1600" dirty="0"/>
          </a:p>
        </p:txBody>
      </p:sp>
      <p:sp>
        <p:nvSpPr>
          <p:cNvPr id="2" name="TextBox 1">
            <a:extLst>
              <a:ext uri="{FF2B5EF4-FFF2-40B4-BE49-F238E27FC236}">
                <a16:creationId xmlns:a16="http://schemas.microsoft.com/office/drawing/2014/main" id="{5293F3E6-F5D3-E59F-AA26-68A165E52837}"/>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3 </a:t>
            </a:r>
            <a:endParaRPr lang="en-IL" sz="2800" u="sng" dirty="0">
              <a:solidFill>
                <a:srgbClr val="FF0000"/>
              </a:solidFill>
              <a:latin typeface="Cooper Black" panose="0208090404030B020404" pitchFamily="18" charset="0"/>
            </a:endParaRPr>
          </a:p>
        </p:txBody>
      </p:sp>
      <p:sp>
        <p:nvSpPr>
          <p:cNvPr id="3" name="Arrow: Right 2">
            <a:extLst>
              <a:ext uri="{FF2B5EF4-FFF2-40B4-BE49-F238E27FC236}">
                <a16:creationId xmlns:a16="http://schemas.microsoft.com/office/drawing/2014/main" id="{45975AFD-D74D-4FFD-8D64-98E0EEACDCDA}"/>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0AA460-A336-EE51-B2BF-F961422A366D}"/>
                  </a:ext>
                </a:extLst>
              </p:cNvPr>
              <p:cNvSpPr txBox="1"/>
              <p:nvPr/>
            </p:nvSpPr>
            <p:spPr>
              <a:xfrm>
                <a:off x="2455140" y="766824"/>
                <a:ext cx="8134511" cy="66826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total matrix for the operation of will be comprised of the 6 matrix (=6 steps):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m:oMathPara>
                </a14:m>
                <a:endParaRPr lang="he-IL" dirty="0"/>
              </a:p>
            </p:txBody>
          </p:sp>
        </mc:Choice>
        <mc:Fallback xmlns="">
          <p:sp>
            <p:nvSpPr>
              <p:cNvPr id="5" name="TextBox 4">
                <a:extLst>
                  <a:ext uri="{FF2B5EF4-FFF2-40B4-BE49-F238E27FC236}">
                    <a16:creationId xmlns:a16="http://schemas.microsoft.com/office/drawing/2014/main" id="{9C0AA460-A336-EE51-B2BF-F961422A366D}"/>
                  </a:ext>
                </a:extLst>
              </p:cNvPr>
              <p:cNvSpPr txBox="1">
                <a:spLocks noRot="1" noChangeAspect="1" noMove="1" noResize="1" noEditPoints="1" noAdjustHandles="1" noChangeArrowheads="1" noChangeShapeType="1" noTextEdit="1"/>
              </p:cNvSpPr>
              <p:nvPr/>
            </p:nvSpPr>
            <p:spPr>
              <a:xfrm>
                <a:off x="2455140" y="766824"/>
                <a:ext cx="8134511" cy="668260"/>
              </a:xfrm>
              <a:prstGeom prst="rect">
                <a:avLst/>
              </a:prstGeom>
              <a:blipFill>
                <a:blip r:embed="rId2"/>
                <a:stretch>
                  <a:fillRect/>
                </a:stretch>
              </a:blipFill>
            </p:spPr>
            <p:txBody>
              <a:bodyPr/>
              <a:lstStyle/>
              <a:p>
                <a:r>
                  <a:rPr lang="he-IL">
                    <a:noFill/>
                  </a:rPr>
                  <a:t> </a:t>
                </a:r>
              </a:p>
            </p:txBody>
          </p:sp>
        </mc:Fallback>
      </mc:AlternateContent>
      <p:sp>
        <p:nvSpPr>
          <p:cNvPr id="6" name="Arrow: Down 5">
            <a:extLst>
              <a:ext uri="{FF2B5EF4-FFF2-40B4-BE49-F238E27FC236}">
                <a16:creationId xmlns:a16="http://schemas.microsoft.com/office/drawing/2014/main" id="{B63E58C9-0869-D6B9-2980-901F50ED867D}"/>
              </a:ext>
            </a:extLst>
          </p:cNvPr>
          <p:cNvSpPr/>
          <p:nvPr/>
        </p:nvSpPr>
        <p:spPr>
          <a:xfrm>
            <a:off x="5924145" y="161479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TextBox 6">
            <a:extLst>
              <a:ext uri="{FF2B5EF4-FFF2-40B4-BE49-F238E27FC236}">
                <a16:creationId xmlns:a16="http://schemas.microsoft.com/office/drawing/2014/main" id="{49DBFFC1-B06D-6046-DC5A-C7F5EDC853D1}"/>
              </a:ext>
            </a:extLst>
          </p:cNvPr>
          <p:cNvSpPr txBox="1"/>
          <p:nvPr/>
        </p:nvSpPr>
        <p:spPr>
          <a:xfrm>
            <a:off x="2455139" y="2914841"/>
            <a:ext cx="822583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task is : “Scale an image in the X direction by a factor </a:t>
            </a:r>
            <a:r>
              <a:rPr lang="en-US" dirty="0" err="1"/>
              <a:t>Sx</a:t>
            </a:r>
            <a:r>
              <a:rPr lang="en-US" dirty="0"/>
              <a:t> = 1.13 , Move it 40 pixels LEFT , Rotate it clockwise to 17 degrees around the point {x = 20, y = 10 } , </a:t>
            </a:r>
          </a:p>
          <a:p>
            <a:r>
              <a:rPr lang="en-US" dirty="0"/>
              <a:t>Scale an image in the y direction by a factor Sy = 2.13.</a:t>
            </a:r>
          </a:p>
        </p:txBody>
      </p:sp>
      <p:sp>
        <p:nvSpPr>
          <p:cNvPr id="8" name="Arrow: Down 7">
            <a:extLst>
              <a:ext uri="{FF2B5EF4-FFF2-40B4-BE49-F238E27FC236}">
                <a16:creationId xmlns:a16="http://schemas.microsoft.com/office/drawing/2014/main" id="{9D230D6E-55A3-0C28-18F3-42E9EAFCA5AA}"/>
              </a:ext>
            </a:extLst>
          </p:cNvPr>
          <p:cNvSpPr/>
          <p:nvPr/>
        </p:nvSpPr>
        <p:spPr>
          <a:xfrm>
            <a:off x="5924145" y="397090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A82ED9-4AD2-B599-3014-5B5C97EAA917}"/>
                  </a:ext>
                </a:extLst>
              </p:cNvPr>
              <p:cNvSpPr txBox="1"/>
              <p:nvPr/>
            </p:nvSpPr>
            <p:spPr>
              <a:xfrm>
                <a:off x="3196477" y="5242277"/>
                <a:ext cx="6424178" cy="66588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The total matrix for the operation with final numbers will be :</a:t>
                </a:r>
              </a:p>
              <a:p>
                <a:pPr/>
                <a14:m>
                  <m:oMathPara xmlns:m="http://schemas.openxmlformats.org/officeDocument/2006/math">
                    <m:oMathParaPr>
                      <m:jc m:val="centerGroup"/>
                    </m:oMathParaPr>
                    <m:oMath xmlns:m="http://schemas.openxmlformats.org/officeDocument/2006/math">
                      <m:r>
                        <a:rPr lang="en-US" b="1" i="1" smtClean="0">
                          <a:solidFill>
                            <a:srgbClr val="FFFF00"/>
                          </a:solidFill>
                          <a:latin typeface="Cambria Math" panose="02040503050406030204" pitchFamily="18" charset="0"/>
                        </a:rPr>
                        <m:t>𝑨</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𝟐</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𝑹</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𝟏</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oMath>
                  </m:oMathPara>
                </a14:m>
                <a:endParaRPr lang="he-IL" b="1" dirty="0">
                  <a:solidFill>
                    <a:srgbClr val="FFFF00"/>
                  </a:solidFill>
                </a:endParaRPr>
              </a:p>
            </p:txBody>
          </p:sp>
        </mc:Choice>
        <mc:Fallback xmlns="">
          <p:sp>
            <p:nvSpPr>
              <p:cNvPr id="9" name="TextBox 8">
                <a:extLst>
                  <a:ext uri="{FF2B5EF4-FFF2-40B4-BE49-F238E27FC236}">
                    <a16:creationId xmlns:a16="http://schemas.microsoft.com/office/drawing/2014/main" id="{CEA82ED9-4AD2-B599-3014-5B5C97EAA917}"/>
                  </a:ext>
                </a:extLst>
              </p:cNvPr>
              <p:cNvSpPr txBox="1">
                <a:spLocks noRot="1" noChangeAspect="1" noMove="1" noResize="1" noEditPoints="1" noAdjustHandles="1" noChangeArrowheads="1" noChangeShapeType="1" noTextEdit="1"/>
              </p:cNvSpPr>
              <p:nvPr/>
            </p:nvSpPr>
            <p:spPr>
              <a:xfrm>
                <a:off x="3196477" y="5242277"/>
                <a:ext cx="6424178" cy="665888"/>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9198B29-0878-C399-D615-B0FBA7E7D297}"/>
                  </a:ext>
                </a:extLst>
              </p:cNvPr>
              <p:cNvSpPr txBox="1"/>
              <p:nvPr/>
            </p:nvSpPr>
            <p:spPr>
              <a:xfrm>
                <a:off x="3196476" y="5941381"/>
                <a:ext cx="6910561" cy="76950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In addition, the angle in the cos and sin functions of the rotation matrix has to be in radians – so: </a:t>
                </a:r>
                <a14:m>
                  <m:oMath xmlns:m="http://schemas.openxmlformats.org/officeDocument/2006/math">
                    <m:r>
                      <a:rPr lang="en-US" b="1" i="1" smtClean="0">
                        <a:solidFill>
                          <a:srgbClr val="FFFF00"/>
                        </a:solidFill>
                        <a:latin typeface="Cambria Math" panose="02040503050406030204" pitchFamily="18" charset="0"/>
                      </a:rPr>
                      <m:t>𝜽</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m:t>
                    </m:r>
                    <m:f>
                      <m:fPr>
                        <m:ctrlPr>
                          <a:rPr lang="en-US" b="1" i="1" smtClean="0">
                            <a:solidFill>
                              <a:srgbClr val="FFFF00"/>
                            </a:solidFill>
                            <a:latin typeface="Cambria Math" panose="02040503050406030204" pitchFamily="18" charset="0"/>
                            <a:ea typeface="Cambria Math" panose="02040503050406030204" pitchFamily="18" charset="0"/>
                          </a:rPr>
                        </m:ctrlPr>
                      </m:fPr>
                      <m:num>
                        <m:r>
                          <a:rPr lang="en-US" b="1" i="1" smtClean="0">
                            <a:solidFill>
                              <a:srgbClr val="FFFF00"/>
                            </a:solidFill>
                            <a:latin typeface="Cambria Math" panose="02040503050406030204" pitchFamily="18" charset="0"/>
                            <a:ea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𝝅</m:t>
                        </m:r>
                      </m:num>
                      <m:den>
                        <m:r>
                          <a:rPr lang="en-US" b="1" i="1" smtClean="0">
                            <a:solidFill>
                              <a:srgbClr val="FFFF00"/>
                            </a:solidFill>
                            <a:latin typeface="Cambria Math" panose="02040503050406030204" pitchFamily="18" charset="0"/>
                            <a:ea typeface="Cambria Math" panose="02040503050406030204" pitchFamily="18" charset="0"/>
                          </a:rPr>
                          <m:t>𝟏𝟖𝟎</m:t>
                        </m:r>
                      </m:den>
                    </m:f>
                    <m:r>
                      <a:rPr lang="en-US" b="1" i="1" smtClean="0">
                        <a:solidFill>
                          <a:srgbClr val="FFFF00"/>
                        </a:solidFill>
                        <a:latin typeface="Cambria Math" panose="02040503050406030204" pitchFamily="18" charset="0"/>
                        <a:ea typeface="Cambria Math" panose="02040503050406030204" pitchFamily="18" charset="0"/>
                      </a:rPr>
                      <m:t> [</m:t>
                    </m:r>
                    <m:r>
                      <a:rPr lang="en-US" b="1" i="1" smtClean="0">
                        <a:solidFill>
                          <a:srgbClr val="FFFF00"/>
                        </a:solidFill>
                        <a:latin typeface="Cambria Math" panose="02040503050406030204" pitchFamily="18" charset="0"/>
                        <a:ea typeface="Cambria Math" panose="02040503050406030204" pitchFamily="18" charset="0"/>
                      </a:rPr>
                      <m:t>𝒓𝒂𝒅</m:t>
                    </m:r>
                    <m:r>
                      <a:rPr lang="en-US" b="1" i="1" smtClean="0">
                        <a:solidFill>
                          <a:srgbClr val="FFFF00"/>
                        </a:solidFill>
                        <a:latin typeface="Cambria Math" panose="02040503050406030204" pitchFamily="18" charset="0"/>
                        <a:ea typeface="Cambria Math" panose="02040503050406030204" pitchFamily="18" charset="0"/>
                      </a:rPr>
                      <m:t>]</m:t>
                    </m:r>
                  </m:oMath>
                </a14:m>
                <a:r>
                  <a:rPr lang="en-US" b="1" dirty="0">
                    <a:solidFill>
                      <a:srgbClr val="FFFF00"/>
                    </a:solidFill>
                  </a:rPr>
                  <a:t> </a:t>
                </a:r>
                <a:endParaRPr lang="he-IL" b="1" dirty="0">
                  <a:solidFill>
                    <a:srgbClr val="FFFF00"/>
                  </a:solidFill>
                </a:endParaRPr>
              </a:p>
            </p:txBody>
          </p:sp>
        </mc:Choice>
        <mc:Fallback xmlns="">
          <p:sp>
            <p:nvSpPr>
              <p:cNvPr id="11" name="TextBox 10">
                <a:extLst>
                  <a:ext uri="{FF2B5EF4-FFF2-40B4-BE49-F238E27FC236}">
                    <a16:creationId xmlns:a16="http://schemas.microsoft.com/office/drawing/2014/main" id="{09198B29-0878-C399-D615-B0FBA7E7D297}"/>
                  </a:ext>
                </a:extLst>
              </p:cNvPr>
              <p:cNvSpPr txBox="1">
                <a:spLocks noRot="1" noChangeAspect="1" noMove="1" noResize="1" noEditPoints="1" noAdjustHandles="1" noChangeArrowheads="1" noChangeShapeType="1" noTextEdit="1"/>
              </p:cNvSpPr>
              <p:nvPr/>
            </p:nvSpPr>
            <p:spPr>
              <a:xfrm>
                <a:off x="3196476" y="5941381"/>
                <a:ext cx="6910561" cy="769506"/>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92854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6</a:t>
            </a:fld>
            <a:endParaRPr lang="he-IL" sz="1600" dirty="0"/>
          </a:p>
        </p:txBody>
      </p:sp>
      <p:pic>
        <p:nvPicPr>
          <p:cNvPr id="9" name="Picture 8">
            <a:extLst>
              <a:ext uri="{FF2B5EF4-FFF2-40B4-BE49-F238E27FC236}">
                <a16:creationId xmlns:a16="http://schemas.microsoft.com/office/drawing/2014/main" id="{D657F89D-9164-D5EF-5E62-CA28E8ED3683}"/>
              </a:ext>
            </a:extLst>
          </p:cNvPr>
          <p:cNvPicPr>
            <a:picLocks noChangeAspect="1"/>
          </p:cNvPicPr>
          <p:nvPr/>
        </p:nvPicPr>
        <p:blipFill>
          <a:blip r:embed="rId2"/>
          <a:stretch>
            <a:fillRect/>
          </a:stretch>
        </p:blipFill>
        <p:spPr>
          <a:xfrm>
            <a:off x="1264596" y="1169480"/>
            <a:ext cx="4831404" cy="4328133"/>
          </a:xfrm>
          <a:prstGeom prst="rect">
            <a:avLst/>
          </a:prstGeom>
        </p:spPr>
      </p:pic>
      <p:sp>
        <p:nvSpPr>
          <p:cNvPr id="11" name="TextBox 10">
            <a:extLst>
              <a:ext uri="{FF2B5EF4-FFF2-40B4-BE49-F238E27FC236}">
                <a16:creationId xmlns:a16="http://schemas.microsoft.com/office/drawing/2014/main" id="{6BA87945-8D37-D8C5-211B-F0FB69E277AB}"/>
              </a:ext>
            </a:extLst>
          </p:cNvPr>
          <p:cNvSpPr txBox="1"/>
          <p:nvPr/>
        </p:nvSpPr>
        <p:spPr>
          <a:xfrm>
            <a:off x="6515099" y="3292879"/>
            <a:ext cx="5119181" cy="203132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AffineTransformParams</a:t>
            </a:r>
            <a:r>
              <a:rPr lang="en-US" dirty="0"/>
              <a:t> holds six coefficients (</a:t>
            </a:r>
            <a:r>
              <a:rPr lang="en-US" u="sng" dirty="0"/>
              <a:t>matrices</a:t>
            </a:r>
            <a:r>
              <a:rPr lang="en-US" dirty="0"/>
              <a:t> in fact) that control how the image is transformed (stretched, moved, and rotated).</a:t>
            </a:r>
          </a:p>
          <a:p>
            <a:pPr marL="342900" indent="-342900">
              <a:buFont typeface="+mj-lt"/>
              <a:buAutoNum type="alphaLcParenR"/>
            </a:pPr>
            <a:r>
              <a:rPr lang="en-US" dirty="0"/>
              <a:t>a11, a12, a21, a22 - control how the image is stretched or rotated.</a:t>
            </a:r>
          </a:p>
          <a:p>
            <a:pPr marL="342900" indent="-342900">
              <a:buFont typeface="+mj-lt"/>
              <a:buAutoNum type="alphaLcParenR"/>
            </a:pPr>
            <a:r>
              <a:rPr lang="en-US" dirty="0"/>
              <a:t>b1, b2 control how the image is moved (up, down, left, or right).</a:t>
            </a:r>
            <a:endParaRPr lang="he-IL" dirty="0"/>
          </a:p>
        </p:txBody>
      </p:sp>
      <p:sp>
        <p:nvSpPr>
          <p:cNvPr id="17" name="TextBox 16">
            <a:extLst>
              <a:ext uri="{FF2B5EF4-FFF2-40B4-BE49-F238E27FC236}">
                <a16:creationId xmlns:a16="http://schemas.microsoft.com/office/drawing/2014/main" id="{88196096-93E3-0CBC-7946-7F30BCF17CFD}"/>
              </a:ext>
            </a:extLst>
          </p:cNvPr>
          <p:cNvSpPr txBox="1"/>
          <p:nvPr/>
        </p:nvSpPr>
        <p:spPr>
          <a:xfrm>
            <a:off x="6515099" y="1961813"/>
            <a:ext cx="5363995"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a:t>NearestNeigbor</a:t>
            </a:r>
            <a:r>
              <a:rPr lang="en-US" dirty="0"/>
              <a:t> and </a:t>
            </a:r>
            <a:r>
              <a:rPr lang="en-US" b="1" dirty="0"/>
              <a:t>Bilinear</a:t>
            </a:r>
            <a:r>
              <a:rPr lang="en-US" dirty="0"/>
              <a:t>: These are the two methods we are going to use. </a:t>
            </a:r>
            <a:endParaRPr lang="he-IL"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E710152-245F-31B8-9442-5BD5582B92E0}"/>
                  </a:ext>
                </a:extLst>
              </p:cNvPr>
              <p:cNvSpPr txBox="1"/>
              <p:nvPr/>
            </p:nvSpPr>
            <p:spPr>
              <a:xfrm>
                <a:off x="6515099" y="5486714"/>
                <a:ext cx="5022714" cy="1170385"/>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struct holds the parameters of the affine transformation matrix:</a:t>
                </a:r>
              </a:p>
              <a:p>
                <a14:m>
                  <m:oMathPara xmlns:m="http://schemas.openxmlformats.org/officeDocument/2006/math">
                    <m:oMathParaPr>
                      <m:jc m:val="centerGroup"/>
                    </m:oMathParaPr>
                    <m:oMath xmlns:m="http://schemas.openxmlformats.org/officeDocument/2006/math">
                      <m:d>
                        <m:dPr>
                          <m:begChr m:val="["/>
                          <m:endChr m:val="]"/>
                          <m:ctrlPr>
                            <a:rPr lang="en-US" b="0" i="1" dirty="0" smtClean="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m:rPr>
                                        <m:brk m:alnAt="7"/>
                                      </m:rPr>
                                      <a:rPr lang="en-US" i="1" dirty="0">
                                        <a:latin typeface="Cambria Math" panose="02040503050406030204" pitchFamily="18" charset="0"/>
                                      </a:rPr>
                                      <m:t>𝑎</m:t>
                                    </m:r>
                                  </m:e>
                                  <m:sub>
                                    <m:r>
                                      <m:rPr>
                                        <m:brk m:alnAt="7"/>
                                      </m:rPr>
                                      <a:rPr lang="en-US" i="1" dirty="0">
                                        <a:latin typeface="Cambria Math" panose="02040503050406030204" pitchFamily="18" charset="0"/>
                                      </a:rPr>
                                      <m:t>1</m:t>
                                    </m:r>
                                    <m:r>
                                      <a:rPr lang="en-US" i="1"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21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22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2</m:t>
                                    </m:r>
                                  </m:sub>
                                </m:sSub>
                              </m:e>
                            </m:mr>
                          </m:m>
                        </m:e>
                      </m:d>
                    </m:oMath>
                  </m:oMathPara>
                </a14:m>
                <a:endParaRPr lang="he-IL" dirty="0"/>
              </a:p>
            </p:txBody>
          </p:sp>
        </mc:Choice>
        <mc:Fallback>
          <p:sp>
            <p:nvSpPr>
              <p:cNvPr id="19" name="TextBox 18">
                <a:extLst>
                  <a:ext uri="{FF2B5EF4-FFF2-40B4-BE49-F238E27FC236}">
                    <a16:creationId xmlns:a16="http://schemas.microsoft.com/office/drawing/2014/main" id="{CE710152-245F-31B8-9442-5BD5582B92E0}"/>
                  </a:ext>
                </a:extLst>
              </p:cNvPr>
              <p:cNvSpPr txBox="1">
                <a:spLocks noRot="1" noChangeAspect="1" noMove="1" noResize="1" noEditPoints="1" noAdjustHandles="1" noChangeArrowheads="1" noChangeShapeType="1" noTextEdit="1"/>
              </p:cNvSpPr>
              <p:nvPr/>
            </p:nvSpPr>
            <p:spPr>
              <a:xfrm>
                <a:off x="6515099" y="5486714"/>
                <a:ext cx="5022714" cy="1170385"/>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65512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ECF744D-9711-9B18-E39A-10A2B139D94B}"/>
              </a:ext>
            </a:extLst>
          </p:cNvPr>
          <p:cNvSpPr>
            <a:spLocks noGrp="1"/>
          </p:cNvSpPr>
          <p:nvPr>
            <p:ph type="sldNum" sz="quarter" idx="12"/>
          </p:nvPr>
        </p:nvSpPr>
        <p:spPr>
          <a:xfrm>
            <a:off x="11851533" y="0"/>
            <a:ext cx="312906" cy="365125"/>
          </a:xfrm>
        </p:spPr>
        <p:txBody>
          <a:bodyPr/>
          <a:lstStyle/>
          <a:p>
            <a:fld id="{1E5BF412-EFCF-4C51-A2DF-B419076696E3}" type="slidenum">
              <a:rPr lang="he-IL" sz="1600" smtClean="0"/>
              <a:t>7</a:t>
            </a:fld>
            <a:endParaRPr lang="he-IL" sz="1600" dirty="0"/>
          </a:p>
        </p:txBody>
      </p:sp>
      <p:pic>
        <p:nvPicPr>
          <p:cNvPr id="6" name="Picture 5">
            <a:extLst>
              <a:ext uri="{FF2B5EF4-FFF2-40B4-BE49-F238E27FC236}">
                <a16:creationId xmlns:a16="http://schemas.microsoft.com/office/drawing/2014/main" id="{0C692FF0-0254-D1F8-9D61-7FCC5C8525C9}"/>
              </a:ext>
            </a:extLst>
          </p:cNvPr>
          <p:cNvPicPr>
            <a:picLocks noChangeAspect="1"/>
          </p:cNvPicPr>
          <p:nvPr/>
        </p:nvPicPr>
        <p:blipFill>
          <a:blip r:embed="rId2"/>
          <a:stretch>
            <a:fillRect/>
          </a:stretch>
        </p:blipFill>
        <p:spPr>
          <a:xfrm>
            <a:off x="0" y="1572639"/>
            <a:ext cx="10467975" cy="2895600"/>
          </a:xfrm>
          <a:prstGeom prst="rect">
            <a:avLst/>
          </a:prstGeom>
        </p:spPr>
      </p:pic>
      <p:sp>
        <p:nvSpPr>
          <p:cNvPr id="9" name="TextBox 8">
            <a:extLst>
              <a:ext uri="{FF2B5EF4-FFF2-40B4-BE49-F238E27FC236}">
                <a16:creationId xmlns:a16="http://schemas.microsoft.com/office/drawing/2014/main" id="{E426CCBE-42E3-086B-BF2E-9165E53B18A3}"/>
              </a:ext>
            </a:extLst>
          </p:cNvPr>
          <p:cNvSpPr txBox="1"/>
          <p:nvPr/>
        </p:nvSpPr>
        <p:spPr>
          <a:xfrm>
            <a:off x="449904" y="4806101"/>
            <a:ext cx="6232998"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function calculates the inverse of the affine transformation. If you think of the affine transformation as an operation that maps coordinates from the original image to the transformed image, this function reverses that operation.</a:t>
            </a:r>
            <a:endParaRPr lang="he-IL" dirty="0"/>
          </a:p>
        </p:txBody>
      </p:sp>
      <p:sp>
        <p:nvSpPr>
          <p:cNvPr id="12" name="TextBox 11">
            <a:extLst>
              <a:ext uri="{FF2B5EF4-FFF2-40B4-BE49-F238E27FC236}">
                <a16:creationId xmlns:a16="http://schemas.microsoft.com/office/drawing/2014/main" id="{934E9234-5F54-B79D-C2C6-60E8AA717446}"/>
              </a:ext>
            </a:extLst>
          </p:cNvPr>
          <p:cNvSpPr txBox="1"/>
          <p:nvPr/>
        </p:nvSpPr>
        <p:spPr>
          <a:xfrm>
            <a:off x="7065524" y="4800837"/>
            <a:ext cx="4676572"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 note : In matrix operations, the determinant is used to determine if the matrix is invertible. If det is zero, the matrix is singular, meaning it can’t be inverted (hence the exception).</a:t>
            </a:r>
            <a:endParaRPr lang="he-IL" dirty="0"/>
          </a:p>
        </p:txBody>
      </p:sp>
      <p:grpSp>
        <p:nvGrpSpPr>
          <p:cNvPr id="37" name="Group 36">
            <a:extLst>
              <a:ext uri="{FF2B5EF4-FFF2-40B4-BE49-F238E27FC236}">
                <a16:creationId xmlns:a16="http://schemas.microsoft.com/office/drawing/2014/main" id="{AB952638-E3ED-C0D5-DCE7-2935D8C90A6E}"/>
              </a:ext>
            </a:extLst>
          </p:cNvPr>
          <p:cNvGrpSpPr/>
          <p:nvPr/>
        </p:nvGrpSpPr>
        <p:grpSpPr>
          <a:xfrm>
            <a:off x="7324927" y="2801566"/>
            <a:ext cx="2208179" cy="1999271"/>
            <a:chOff x="7334655" y="2801566"/>
            <a:chExt cx="2208179" cy="1999271"/>
          </a:xfrm>
        </p:grpSpPr>
        <p:cxnSp>
          <p:nvCxnSpPr>
            <p:cNvPr id="29" name="Straight Connector 28">
              <a:extLst>
                <a:ext uri="{FF2B5EF4-FFF2-40B4-BE49-F238E27FC236}">
                  <a16:creationId xmlns:a16="http://schemas.microsoft.com/office/drawing/2014/main" id="{7211A4C7-780D-421D-C46B-D3C95D24B2F9}"/>
                </a:ext>
              </a:extLst>
            </p:cNvPr>
            <p:cNvCxnSpPr>
              <a:cxnSpLocks/>
            </p:cNvCxnSpPr>
            <p:nvPr/>
          </p:nvCxnSpPr>
          <p:spPr>
            <a:xfrm>
              <a:off x="7334655" y="2801566"/>
              <a:ext cx="2208179"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0D6C1F6-F8C9-6E84-D0E5-94787F4F2261}"/>
                </a:ext>
              </a:extLst>
            </p:cNvPr>
            <p:cNvCxnSpPr>
              <a:cxnSpLocks/>
            </p:cNvCxnSpPr>
            <p:nvPr/>
          </p:nvCxnSpPr>
          <p:spPr>
            <a:xfrm>
              <a:off x="9513650" y="2801566"/>
              <a:ext cx="0" cy="199927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6260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8</a:t>
            </a:fld>
            <a:endParaRPr lang="he-IL" sz="1600" dirty="0"/>
          </a:p>
        </p:txBody>
      </p:sp>
      <p:pic>
        <p:nvPicPr>
          <p:cNvPr id="5" name="Picture 4">
            <a:extLst>
              <a:ext uri="{FF2B5EF4-FFF2-40B4-BE49-F238E27FC236}">
                <a16:creationId xmlns:a16="http://schemas.microsoft.com/office/drawing/2014/main" id="{93E829F0-8E22-4BB7-08D5-C3BA7D584F0E}"/>
              </a:ext>
            </a:extLst>
          </p:cNvPr>
          <p:cNvPicPr>
            <a:picLocks noChangeAspect="1"/>
          </p:cNvPicPr>
          <p:nvPr/>
        </p:nvPicPr>
        <p:blipFill>
          <a:blip r:embed="rId2"/>
          <a:stretch>
            <a:fillRect/>
          </a:stretch>
        </p:blipFill>
        <p:spPr>
          <a:xfrm>
            <a:off x="0" y="856039"/>
            <a:ext cx="12192000" cy="5145921"/>
          </a:xfrm>
          <a:prstGeom prst="rect">
            <a:avLst/>
          </a:prstGeom>
        </p:spPr>
      </p:pic>
      <p:sp>
        <p:nvSpPr>
          <p:cNvPr id="10" name="TextBox 9">
            <a:extLst>
              <a:ext uri="{FF2B5EF4-FFF2-40B4-BE49-F238E27FC236}">
                <a16:creationId xmlns:a16="http://schemas.microsoft.com/office/drawing/2014/main" id="{DA1CA744-4B4D-21F2-3E4D-719AE274011E}"/>
              </a:ext>
            </a:extLst>
          </p:cNvPr>
          <p:cNvSpPr txBox="1"/>
          <p:nvPr/>
        </p:nvSpPr>
        <p:spPr>
          <a:xfrm>
            <a:off x="8190689" y="1671005"/>
            <a:ext cx="3844858" cy="92628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That function calculates where each pixel in the transformed image comes from in the original image.</a:t>
            </a:r>
            <a:endParaRPr lang="he-IL" dirty="0"/>
          </a:p>
        </p:txBody>
      </p:sp>
      <p:sp>
        <p:nvSpPr>
          <p:cNvPr id="12" name="TextBox 11">
            <a:extLst>
              <a:ext uri="{FF2B5EF4-FFF2-40B4-BE49-F238E27FC236}">
                <a16:creationId xmlns:a16="http://schemas.microsoft.com/office/drawing/2014/main" id="{46D6E095-7F78-EFB8-1395-D5E860460C23}"/>
              </a:ext>
            </a:extLst>
          </p:cNvPr>
          <p:cNvSpPr txBox="1"/>
          <p:nvPr/>
        </p:nvSpPr>
        <p:spPr>
          <a:xfrm>
            <a:off x="8190689" y="2597285"/>
            <a:ext cx="3912951"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a:t>
            </a:r>
            <a:r>
              <a:rPr lang="en-US" dirty="0" err="1"/>
              <a:t>ptrToDestPixel</a:t>
            </a:r>
            <a:r>
              <a:rPr lang="en-US" dirty="0"/>
              <a:t>++ is moving through the destination image memory to place each transformed pixel value.</a:t>
            </a:r>
            <a:endParaRPr lang="he-IL" dirty="0"/>
          </a:p>
        </p:txBody>
      </p:sp>
    </p:spTree>
    <p:extLst>
      <p:ext uri="{BB962C8B-B14F-4D97-AF65-F5344CB8AC3E}">
        <p14:creationId xmlns:p14="http://schemas.microsoft.com/office/powerpoint/2010/main" val="376435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9</a:t>
            </a:fld>
            <a:endParaRPr lang="he-IL" sz="1600" dirty="0"/>
          </a:p>
        </p:txBody>
      </p:sp>
      <p:pic>
        <p:nvPicPr>
          <p:cNvPr id="5" name="Picture 4">
            <a:extLst>
              <a:ext uri="{FF2B5EF4-FFF2-40B4-BE49-F238E27FC236}">
                <a16:creationId xmlns:a16="http://schemas.microsoft.com/office/drawing/2014/main" id="{F90F9F84-822F-D572-1046-F5225E5527EC}"/>
              </a:ext>
            </a:extLst>
          </p:cNvPr>
          <p:cNvPicPr>
            <a:picLocks noChangeAspect="1"/>
          </p:cNvPicPr>
          <p:nvPr/>
        </p:nvPicPr>
        <p:blipFill>
          <a:blip r:embed="rId2"/>
          <a:stretch>
            <a:fillRect/>
          </a:stretch>
        </p:blipFill>
        <p:spPr>
          <a:xfrm>
            <a:off x="0" y="1709214"/>
            <a:ext cx="12192000" cy="3186652"/>
          </a:xfrm>
          <a:prstGeom prst="rect">
            <a:avLst/>
          </a:prstGeom>
        </p:spPr>
      </p:pic>
    </p:spTree>
    <p:extLst>
      <p:ext uri="{BB962C8B-B14F-4D97-AF65-F5344CB8AC3E}">
        <p14:creationId xmlns:p14="http://schemas.microsoft.com/office/powerpoint/2010/main" val="189085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F880C-0B00-7659-B5F9-2EAB0CDCDAC5}"/>
              </a:ext>
            </a:extLst>
          </p:cNvPr>
          <p:cNvPicPr>
            <a:picLocks noChangeAspect="1"/>
          </p:cNvPicPr>
          <p:nvPr/>
        </p:nvPicPr>
        <p:blipFill>
          <a:blip r:embed="rId2"/>
          <a:stretch>
            <a:fillRect/>
          </a:stretch>
        </p:blipFill>
        <p:spPr>
          <a:xfrm>
            <a:off x="0" y="668569"/>
            <a:ext cx="9776298" cy="6189431"/>
          </a:xfrm>
          <a:prstGeom prst="rect">
            <a:avLst/>
          </a:prstGeom>
        </p:spPr>
      </p:pic>
      <p:sp>
        <p:nvSpPr>
          <p:cNvPr id="13" name="TextBox 12">
            <a:extLst>
              <a:ext uri="{FF2B5EF4-FFF2-40B4-BE49-F238E27FC236}">
                <a16:creationId xmlns:a16="http://schemas.microsoft.com/office/drawing/2014/main" id="{3A941F90-41CC-C882-670D-75C557237B5A}"/>
              </a:ext>
            </a:extLst>
          </p:cNvPr>
          <p:cNvSpPr txBox="1"/>
          <p:nvPr/>
        </p:nvSpPr>
        <p:spPr>
          <a:xfrm>
            <a:off x="6196519" y="1186774"/>
            <a:ext cx="5995481"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These variables are used to track the minimum and maximum values of the transformed coordinates. This is essential because after applying the affine transformation, the image might no longer fit within its original dimensions. </a:t>
            </a:r>
            <a:endParaRPr lang="he-IL" dirty="0"/>
          </a:p>
        </p:txBody>
      </p:sp>
      <p:sp>
        <p:nvSpPr>
          <p:cNvPr id="14" name="Right Brace 13">
            <a:extLst>
              <a:ext uri="{FF2B5EF4-FFF2-40B4-BE49-F238E27FC236}">
                <a16:creationId xmlns:a16="http://schemas.microsoft.com/office/drawing/2014/main" id="{1799403B-B480-6703-666B-494CEFA07BDF}"/>
              </a:ext>
            </a:extLst>
          </p:cNvPr>
          <p:cNvSpPr/>
          <p:nvPr/>
        </p:nvSpPr>
        <p:spPr>
          <a:xfrm>
            <a:off x="2937753" y="1186774"/>
            <a:ext cx="321013" cy="768486"/>
          </a:xfrm>
          <a:prstGeom prst="rightBrace">
            <a:avLst/>
          </a:prstGeom>
        </p:spPr>
        <p:style>
          <a:lnRef idx="3">
            <a:schemeClr val="accent5"/>
          </a:lnRef>
          <a:fillRef idx="0">
            <a:schemeClr val="accent5"/>
          </a:fillRef>
          <a:effectRef idx="2">
            <a:schemeClr val="accent5"/>
          </a:effectRef>
          <a:fontRef idx="minor">
            <a:schemeClr val="tx1"/>
          </a:fontRef>
        </p:style>
        <p:txBody>
          <a:bodyPr rtlCol="1" anchor="ctr"/>
          <a:lstStyle/>
          <a:p>
            <a:pPr algn="ctr"/>
            <a:endParaRPr lang="he-IL"/>
          </a:p>
        </p:txBody>
      </p:sp>
      <p:cxnSp>
        <p:nvCxnSpPr>
          <p:cNvPr id="16" name="Straight Arrow Connector 15">
            <a:extLst>
              <a:ext uri="{FF2B5EF4-FFF2-40B4-BE49-F238E27FC236}">
                <a16:creationId xmlns:a16="http://schemas.microsoft.com/office/drawing/2014/main" id="{ADFE2E7C-D8E0-9FF2-094E-9AAB81705C82}"/>
              </a:ext>
            </a:extLst>
          </p:cNvPr>
          <p:cNvCxnSpPr/>
          <p:nvPr/>
        </p:nvCxnSpPr>
        <p:spPr>
          <a:xfrm>
            <a:off x="3411166" y="1575881"/>
            <a:ext cx="2684834" cy="0"/>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808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9B2228-B02E-8A4E-E7E8-34E2A2D6B014}"/>
              </a:ext>
            </a:extLst>
          </p:cNvPr>
          <p:cNvPicPr>
            <a:picLocks noChangeAspect="1"/>
          </p:cNvPicPr>
          <p:nvPr/>
        </p:nvPicPr>
        <p:blipFill>
          <a:blip r:embed="rId2"/>
          <a:stretch>
            <a:fillRect/>
          </a:stretch>
        </p:blipFill>
        <p:spPr>
          <a:xfrm>
            <a:off x="0" y="1782823"/>
            <a:ext cx="12192000" cy="3292354"/>
          </a:xfrm>
          <a:prstGeom prst="rect">
            <a:avLst/>
          </a:prstGeom>
        </p:spPr>
      </p:pic>
      <p:sp>
        <p:nvSpPr>
          <p:cNvPr id="12" name="TextBox 11">
            <a:extLst>
              <a:ext uri="{FF2B5EF4-FFF2-40B4-BE49-F238E27FC236}">
                <a16:creationId xmlns:a16="http://schemas.microsoft.com/office/drawing/2014/main" id="{B3CD9DA2-7A0F-4BC0-46D1-079585206970}"/>
              </a:ext>
            </a:extLst>
          </p:cNvPr>
          <p:cNvSpPr txBox="1"/>
          <p:nvPr/>
        </p:nvSpPr>
        <p:spPr>
          <a:xfrm>
            <a:off x="2940184" y="5496527"/>
            <a:ext cx="6094378" cy="923330"/>
          </a:xfrm>
          <a:prstGeom prst="rect">
            <a:avLst/>
          </a:prstGeom>
          <a:noFill/>
        </p:spPr>
        <p:txBody>
          <a:bodyPr wrap="square">
            <a:spAutoFit/>
          </a:bodyPr>
          <a:lstStyle/>
          <a:p>
            <a:r>
              <a:rPr lang="en-US" dirty="0"/>
              <a:t>This function adjusts the size of the destination image based on the transformation and then applies the affine transformation.</a:t>
            </a:r>
            <a:endParaRPr lang="he-IL" dirty="0"/>
          </a:p>
        </p:txBody>
      </p:sp>
      <p:sp>
        <p:nvSpPr>
          <p:cNvPr id="14" name="TextBox 13">
            <a:extLst>
              <a:ext uri="{FF2B5EF4-FFF2-40B4-BE49-F238E27FC236}">
                <a16:creationId xmlns:a16="http://schemas.microsoft.com/office/drawing/2014/main" id="{B44F646E-8429-641D-4F79-F4A0DD1AD743}"/>
              </a:ext>
            </a:extLst>
          </p:cNvPr>
          <p:cNvSpPr txBox="1"/>
          <p:nvPr/>
        </p:nvSpPr>
        <p:spPr>
          <a:xfrm>
            <a:off x="8706255" y="3575204"/>
            <a:ext cx="3485745"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Finally, the </a:t>
            </a:r>
            <a:r>
              <a:rPr lang="en-US" b="1" dirty="0"/>
              <a:t>DoAffineTransform</a:t>
            </a:r>
            <a:r>
              <a:rPr lang="en-US" dirty="0"/>
              <a:t> function is called to apply the actual affine transformation to the source image, filling in the destination image with the appropriately transformed pixels.</a:t>
            </a:r>
            <a:endParaRPr lang="he-IL" dirty="0"/>
          </a:p>
        </p:txBody>
      </p:sp>
      <p:cxnSp>
        <p:nvCxnSpPr>
          <p:cNvPr id="15" name="Straight Arrow Connector 14">
            <a:extLst>
              <a:ext uri="{FF2B5EF4-FFF2-40B4-BE49-F238E27FC236}">
                <a16:creationId xmlns:a16="http://schemas.microsoft.com/office/drawing/2014/main" id="{625D87EF-FF88-5D36-DF93-2236D0D7B75B}"/>
              </a:ext>
            </a:extLst>
          </p:cNvPr>
          <p:cNvCxnSpPr>
            <a:cxnSpLocks/>
          </p:cNvCxnSpPr>
          <p:nvPr/>
        </p:nvCxnSpPr>
        <p:spPr>
          <a:xfrm>
            <a:off x="7623242" y="4766554"/>
            <a:ext cx="1083013" cy="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1237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0BF7FC-F2FE-5D76-F297-2277A4B8D169}"/>
              </a:ext>
            </a:extLst>
          </p:cNvPr>
          <p:cNvPicPr>
            <a:picLocks noChangeAspect="1"/>
          </p:cNvPicPr>
          <p:nvPr/>
        </p:nvPicPr>
        <p:blipFill>
          <a:blip r:embed="rId2"/>
          <a:stretch>
            <a:fillRect/>
          </a:stretch>
        </p:blipFill>
        <p:spPr>
          <a:xfrm>
            <a:off x="0" y="1224141"/>
            <a:ext cx="12192000" cy="3261854"/>
          </a:xfrm>
          <a:prstGeom prst="rect">
            <a:avLst/>
          </a:prstGeom>
        </p:spPr>
      </p:pic>
    </p:spTree>
    <p:extLst>
      <p:ext uri="{BB962C8B-B14F-4D97-AF65-F5344CB8AC3E}">
        <p14:creationId xmlns:p14="http://schemas.microsoft.com/office/powerpoint/2010/main" val="3168905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FA9813-C783-571C-81BF-CC94CA5A1E98}"/>
              </a:ext>
            </a:extLst>
          </p:cNvPr>
          <p:cNvPicPr>
            <a:picLocks noChangeAspect="1"/>
          </p:cNvPicPr>
          <p:nvPr/>
        </p:nvPicPr>
        <p:blipFill>
          <a:blip r:embed="rId2"/>
          <a:stretch>
            <a:fillRect/>
          </a:stretch>
        </p:blipFill>
        <p:spPr>
          <a:xfrm>
            <a:off x="0" y="554034"/>
            <a:ext cx="9980579" cy="6303966"/>
          </a:xfrm>
          <a:prstGeom prst="rect">
            <a:avLst/>
          </a:prstGeom>
        </p:spPr>
      </p:pic>
    </p:spTree>
    <p:extLst>
      <p:ext uri="{BB962C8B-B14F-4D97-AF65-F5344CB8AC3E}">
        <p14:creationId xmlns:p14="http://schemas.microsoft.com/office/powerpoint/2010/main" val="2619626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4161D5-145C-0F72-5C57-619A4D0F597D}"/>
              </a:ext>
            </a:extLst>
          </p:cNvPr>
          <p:cNvPicPr>
            <a:picLocks noChangeAspect="1"/>
          </p:cNvPicPr>
          <p:nvPr/>
        </p:nvPicPr>
        <p:blipFill>
          <a:blip r:embed="rId2"/>
          <a:stretch>
            <a:fillRect/>
          </a:stretch>
        </p:blipFill>
        <p:spPr>
          <a:xfrm>
            <a:off x="0" y="825938"/>
            <a:ext cx="8401050" cy="5400675"/>
          </a:xfrm>
          <a:prstGeom prst="rect">
            <a:avLst/>
          </a:prstGeom>
        </p:spPr>
      </p:pic>
      <p:sp>
        <p:nvSpPr>
          <p:cNvPr id="7" name="TextBox 6">
            <a:extLst>
              <a:ext uri="{FF2B5EF4-FFF2-40B4-BE49-F238E27FC236}">
                <a16:creationId xmlns:a16="http://schemas.microsoft.com/office/drawing/2014/main" id="{F7DDCAA5-BF74-74DA-5E23-0E6645D4E181}"/>
              </a:ext>
            </a:extLst>
          </p:cNvPr>
          <p:cNvSpPr txBox="1"/>
          <p:nvPr/>
        </p:nvSpPr>
        <p:spPr>
          <a:xfrm>
            <a:off x="8964850" y="825938"/>
            <a:ext cx="3227150" cy="123270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These parameters scale the image. </a:t>
            </a:r>
            <a:r>
              <a:rPr lang="en-US" dirty="0" err="1"/>
              <a:t>Sx</a:t>
            </a:r>
            <a:r>
              <a:rPr lang="en-US" dirty="0"/>
              <a:t> stretches or shrinks the image horizontally, while Sy does the same vertically. </a:t>
            </a:r>
            <a:endParaRPr lang="he-IL" dirty="0"/>
          </a:p>
        </p:txBody>
      </p:sp>
      <p:sp>
        <p:nvSpPr>
          <p:cNvPr id="9" name="TextBox 8">
            <a:extLst>
              <a:ext uri="{FF2B5EF4-FFF2-40B4-BE49-F238E27FC236}">
                <a16:creationId xmlns:a16="http://schemas.microsoft.com/office/drawing/2014/main" id="{0E291E40-C8D2-F164-5977-4473C0C155C3}"/>
              </a:ext>
            </a:extLst>
          </p:cNvPr>
          <p:cNvSpPr txBox="1"/>
          <p:nvPr/>
        </p:nvSpPr>
        <p:spPr>
          <a:xfrm>
            <a:off x="8964848" y="2737342"/>
            <a:ext cx="3227151"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image is rotated by 17 degrees around a point (20, 10). This is calculated using trigonometric functions </a:t>
            </a:r>
            <a:endParaRPr lang="he-IL" dirty="0"/>
          </a:p>
        </p:txBody>
      </p:sp>
      <p:sp>
        <p:nvSpPr>
          <p:cNvPr id="11" name="TextBox 10">
            <a:extLst>
              <a:ext uri="{FF2B5EF4-FFF2-40B4-BE49-F238E27FC236}">
                <a16:creationId xmlns:a16="http://schemas.microsoft.com/office/drawing/2014/main" id="{F4364894-E177-4933-999C-EE46F8F623E8}"/>
              </a:ext>
            </a:extLst>
          </p:cNvPr>
          <p:cNvSpPr txBox="1"/>
          <p:nvPr/>
        </p:nvSpPr>
        <p:spPr>
          <a:xfrm>
            <a:off x="9214929" y="2074825"/>
            <a:ext cx="2726987"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image is moved 40 pixels to the left</a:t>
            </a:r>
            <a:endParaRPr lang="he-IL" dirty="0"/>
          </a:p>
        </p:txBody>
      </p:sp>
    </p:spTree>
    <p:extLst>
      <p:ext uri="{BB962C8B-B14F-4D97-AF65-F5344CB8AC3E}">
        <p14:creationId xmlns:p14="http://schemas.microsoft.com/office/powerpoint/2010/main" val="1044407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80196" y="6492875"/>
            <a:ext cx="411804" cy="365125"/>
          </a:xfrm>
        </p:spPr>
        <p:txBody>
          <a:bodyPr/>
          <a:lstStyle/>
          <a:p>
            <a:fld id="{1E5BF412-EFCF-4C51-A2DF-B419076696E3}" type="slidenum">
              <a:rPr lang="he-IL" sz="1600" smtClean="0"/>
              <a:t>15</a:t>
            </a:fld>
            <a:endParaRPr lang="he-IL" sz="1600" dirty="0"/>
          </a:p>
        </p:txBody>
      </p:sp>
      <p:sp>
        <p:nvSpPr>
          <p:cNvPr id="5" name="TextBox 4">
            <a:extLst>
              <a:ext uri="{FF2B5EF4-FFF2-40B4-BE49-F238E27FC236}">
                <a16:creationId xmlns:a16="http://schemas.microsoft.com/office/drawing/2014/main" id="{6AD8C917-0DD0-7C4C-18B7-C7CF81A13626}"/>
              </a:ext>
            </a:extLst>
          </p:cNvPr>
          <p:cNvSpPr txBox="1"/>
          <p:nvPr/>
        </p:nvSpPr>
        <p:spPr>
          <a:xfrm>
            <a:off x="3560324" y="0"/>
            <a:ext cx="4435812" cy="523220"/>
          </a:xfrm>
          <a:prstGeom prst="rect">
            <a:avLst/>
          </a:prstGeom>
          <a:noFill/>
        </p:spPr>
        <p:txBody>
          <a:bodyPr wrap="square">
            <a:spAutoFit/>
          </a:bodyPr>
          <a:lstStyle/>
          <a:p>
            <a:pPr algn="ctr"/>
            <a:r>
              <a:rPr lang="en-US" sz="2800" b="1" u="sng" dirty="0">
                <a:solidFill>
                  <a:srgbClr val="0070C0"/>
                </a:solidFill>
              </a:rPr>
              <a:t>31.7 – the “main” function</a:t>
            </a:r>
            <a:endParaRPr lang="en-IL" sz="2800" u="sng" dirty="0">
              <a:solidFill>
                <a:srgbClr val="FF0000"/>
              </a:solidFill>
              <a:latin typeface="Cooper Black" panose="0208090404030B020404" pitchFamily="18" charset="0"/>
            </a:endParaRPr>
          </a:p>
        </p:txBody>
      </p:sp>
      <p:pic>
        <p:nvPicPr>
          <p:cNvPr id="6" name="Picture 5">
            <a:extLst>
              <a:ext uri="{FF2B5EF4-FFF2-40B4-BE49-F238E27FC236}">
                <a16:creationId xmlns:a16="http://schemas.microsoft.com/office/drawing/2014/main" id="{AEE0B1A5-0E1D-C02A-904B-779E6D5D8F57}"/>
              </a:ext>
            </a:extLst>
          </p:cNvPr>
          <p:cNvPicPr>
            <a:picLocks noChangeAspect="1"/>
          </p:cNvPicPr>
          <p:nvPr/>
        </p:nvPicPr>
        <p:blipFill>
          <a:blip r:embed="rId2"/>
          <a:stretch>
            <a:fillRect/>
          </a:stretch>
        </p:blipFill>
        <p:spPr>
          <a:xfrm>
            <a:off x="0" y="831753"/>
            <a:ext cx="8560340" cy="4808526"/>
          </a:xfrm>
          <a:prstGeom prst="rect">
            <a:avLst/>
          </a:prstGeom>
        </p:spPr>
      </p:pic>
      <p:sp>
        <p:nvSpPr>
          <p:cNvPr id="8" name="TextBox 7">
            <a:extLst>
              <a:ext uri="{FF2B5EF4-FFF2-40B4-BE49-F238E27FC236}">
                <a16:creationId xmlns:a16="http://schemas.microsoft.com/office/drawing/2014/main" id="{C9C0D69E-6DC5-8AF0-4AD3-A0B8C860008F}"/>
              </a:ext>
            </a:extLst>
          </p:cNvPr>
          <p:cNvSpPr txBox="1"/>
          <p:nvPr/>
        </p:nvSpPr>
        <p:spPr>
          <a:xfrm>
            <a:off x="8560340" y="1110717"/>
            <a:ext cx="3631660"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image grayImage13.bmp is loaded into the </a:t>
            </a:r>
            <a:r>
              <a:rPr lang="en-US" b="1" dirty="0"/>
              <a:t>src</a:t>
            </a:r>
            <a:r>
              <a:rPr lang="en-US" dirty="0"/>
              <a:t> object, which represents the source image.</a:t>
            </a:r>
            <a:endParaRPr lang="he-IL" dirty="0"/>
          </a:p>
        </p:txBody>
      </p:sp>
      <p:sp>
        <p:nvSpPr>
          <p:cNvPr id="10" name="TextBox 9">
            <a:extLst>
              <a:ext uri="{FF2B5EF4-FFF2-40B4-BE49-F238E27FC236}">
                <a16:creationId xmlns:a16="http://schemas.microsoft.com/office/drawing/2014/main" id="{DD46F6EA-595E-4B5F-C636-69E2853ECAE9}"/>
              </a:ext>
            </a:extLst>
          </p:cNvPr>
          <p:cNvSpPr txBox="1"/>
          <p:nvPr/>
        </p:nvSpPr>
        <p:spPr>
          <a:xfrm>
            <a:off x="9056451" y="2034047"/>
            <a:ext cx="3135549"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a:t>
            </a:r>
            <a:r>
              <a:rPr lang="en-US" b="1" dirty="0"/>
              <a:t>dest</a:t>
            </a:r>
            <a:r>
              <a:rPr lang="en-US" dirty="0"/>
              <a:t> object is prepared to hold the transformed image.</a:t>
            </a:r>
            <a:endParaRPr lang="he-IL" dirty="0"/>
          </a:p>
        </p:txBody>
      </p:sp>
      <p:sp>
        <p:nvSpPr>
          <p:cNvPr id="12" name="TextBox 11">
            <a:extLst>
              <a:ext uri="{FF2B5EF4-FFF2-40B4-BE49-F238E27FC236}">
                <a16:creationId xmlns:a16="http://schemas.microsoft.com/office/drawing/2014/main" id="{BCCC17C0-E22B-3599-406B-760C6FA87C72}"/>
              </a:ext>
            </a:extLst>
          </p:cNvPr>
          <p:cNvSpPr txBox="1"/>
          <p:nvPr/>
        </p:nvSpPr>
        <p:spPr>
          <a:xfrm>
            <a:off x="8704635" y="2726545"/>
            <a:ext cx="3487365" cy="175432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affine transformation is applied twice, once using Nearest Neighbor interpolation (result saved as A31.bmp) and once using Bilinear interpolation (result saved as A32.bmp).</a:t>
            </a:r>
            <a:endParaRPr lang="he-IL" dirty="0"/>
          </a:p>
        </p:txBody>
      </p:sp>
    </p:spTree>
    <p:extLst>
      <p:ext uri="{BB962C8B-B14F-4D97-AF65-F5344CB8AC3E}">
        <p14:creationId xmlns:p14="http://schemas.microsoft.com/office/powerpoint/2010/main" val="1491618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7CEE20-E459-E011-61F0-E48BF534F39F}"/>
              </a:ext>
            </a:extLst>
          </p:cNvPr>
          <p:cNvSpPr txBox="1"/>
          <p:nvPr/>
        </p:nvSpPr>
        <p:spPr>
          <a:xfrm>
            <a:off x="1449422" y="0"/>
            <a:ext cx="9155008" cy="523220"/>
          </a:xfrm>
          <a:prstGeom prst="rect">
            <a:avLst/>
          </a:prstGeom>
          <a:noFill/>
        </p:spPr>
        <p:txBody>
          <a:bodyPr wrap="square">
            <a:spAutoFit/>
          </a:bodyPr>
          <a:lstStyle/>
          <a:p>
            <a:pPr algn="ctr"/>
            <a:r>
              <a:rPr lang="en-US" sz="2800" b="1" u="sng" dirty="0">
                <a:solidFill>
                  <a:srgbClr val="0070C0"/>
                </a:solidFill>
              </a:rPr>
              <a:t>31.8 - Resulted photographs – “A31.bmp”,”A32.bmp”</a:t>
            </a:r>
            <a:endParaRPr lang="en-IL" sz="2800" u="sng" dirty="0">
              <a:latin typeface="Cooper Black" panose="0208090404030B020404" pitchFamily="18" charset="0"/>
            </a:endParaRPr>
          </a:p>
        </p:txBody>
      </p:sp>
      <p:sp>
        <p:nvSpPr>
          <p:cNvPr id="6" name="Slide Number Placeholder 5">
            <a:extLst>
              <a:ext uri="{FF2B5EF4-FFF2-40B4-BE49-F238E27FC236}">
                <a16:creationId xmlns:a16="http://schemas.microsoft.com/office/drawing/2014/main" id="{FE465186-D7DA-F9F8-96E5-9F7C695A2E29}"/>
              </a:ext>
            </a:extLst>
          </p:cNvPr>
          <p:cNvSpPr>
            <a:spLocks noGrp="1"/>
          </p:cNvSpPr>
          <p:nvPr>
            <p:ph type="sldNum" sz="quarter" idx="12"/>
          </p:nvPr>
        </p:nvSpPr>
        <p:spPr>
          <a:xfrm>
            <a:off x="11780196" y="6492875"/>
            <a:ext cx="411804" cy="365125"/>
          </a:xfrm>
        </p:spPr>
        <p:txBody>
          <a:bodyPr/>
          <a:lstStyle/>
          <a:p>
            <a:fld id="{1E5BF412-EFCF-4C51-A2DF-B419076696E3}" type="slidenum">
              <a:rPr lang="he-IL" sz="1600" smtClean="0"/>
              <a:t>16</a:t>
            </a:fld>
            <a:endParaRPr lang="he-IL" sz="1600" dirty="0"/>
          </a:p>
        </p:txBody>
      </p:sp>
      <p:sp>
        <p:nvSpPr>
          <p:cNvPr id="9" name="מלבן 5">
            <a:extLst>
              <a:ext uri="{FF2B5EF4-FFF2-40B4-BE49-F238E27FC236}">
                <a16:creationId xmlns:a16="http://schemas.microsoft.com/office/drawing/2014/main" id="{788CDEB0-BD3C-1862-D8B5-56924D43E1CE}"/>
              </a:ext>
            </a:extLst>
          </p:cNvPr>
          <p:cNvSpPr/>
          <p:nvPr/>
        </p:nvSpPr>
        <p:spPr>
          <a:xfrm>
            <a:off x="4133542" y="2920392"/>
            <a:ext cx="3383280" cy="30777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400" b="1" dirty="0">
                <a:solidFill>
                  <a:schemeClr val="bg1"/>
                </a:solidFill>
              </a:rPr>
              <a:t>“grayImage13.bmp” - Source image </a:t>
            </a:r>
          </a:p>
        </p:txBody>
      </p:sp>
      <p:sp>
        <p:nvSpPr>
          <p:cNvPr id="11" name="TextBox 10">
            <a:extLst>
              <a:ext uri="{FF2B5EF4-FFF2-40B4-BE49-F238E27FC236}">
                <a16:creationId xmlns:a16="http://schemas.microsoft.com/office/drawing/2014/main" id="{5E13CC8F-4D88-7BBB-F13A-2C0FA7591737}"/>
              </a:ext>
            </a:extLst>
          </p:cNvPr>
          <p:cNvSpPr txBox="1"/>
          <p:nvPr/>
        </p:nvSpPr>
        <p:spPr>
          <a:xfrm>
            <a:off x="1743958" y="6002039"/>
            <a:ext cx="339278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“A31.bmp” - Created by using </a:t>
            </a:r>
          </a:p>
          <a:p>
            <a:pPr algn="ctr" rtl="0"/>
            <a:r>
              <a:rPr lang="en-US" sz="1800" b="1" dirty="0">
                <a:solidFill>
                  <a:schemeClr val="bg1"/>
                </a:solidFill>
              </a:rPr>
              <a:t>nearest neighbor interpolation</a:t>
            </a:r>
            <a:endParaRPr lang="he-IL" sz="1800" b="1" dirty="0">
              <a:solidFill>
                <a:schemeClr val="bg1"/>
              </a:solidFill>
            </a:endParaRPr>
          </a:p>
        </p:txBody>
      </p:sp>
      <p:sp>
        <p:nvSpPr>
          <p:cNvPr id="14" name="TextBox 13">
            <a:extLst>
              <a:ext uri="{FF2B5EF4-FFF2-40B4-BE49-F238E27FC236}">
                <a16:creationId xmlns:a16="http://schemas.microsoft.com/office/drawing/2014/main" id="{39E8F388-B887-3C64-8CCE-DC17E1643B90}"/>
              </a:ext>
            </a:extLst>
          </p:cNvPr>
          <p:cNvSpPr txBox="1"/>
          <p:nvPr/>
        </p:nvSpPr>
        <p:spPr>
          <a:xfrm>
            <a:off x="7055263" y="5967579"/>
            <a:ext cx="339278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“A32.bmp” - Created by using </a:t>
            </a:r>
          </a:p>
          <a:p>
            <a:pPr algn="ctr" rtl="0"/>
            <a:r>
              <a:rPr lang="en-US" sz="1800" b="1" dirty="0">
                <a:solidFill>
                  <a:schemeClr val="bg1"/>
                </a:solidFill>
              </a:rPr>
              <a:t>bilinear interpolation</a:t>
            </a:r>
          </a:p>
        </p:txBody>
      </p:sp>
      <p:pic>
        <p:nvPicPr>
          <p:cNvPr id="16" name="Picture 15" descr="A black and white circular pattern&#10;&#10;Description automatically generated">
            <a:extLst>
              <a:ext uri="{FF2B5EF4-FFF2-40B4-BE49-F238E27FC236}">
                <a16:creationId xmlns:a16="http://schemas.microsoft.com/office/drawing/2014/main" id="{F6F92594-9DAA-D928-2C2F-573E7C69E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182" y="567689"/>
            <a:ext cx="3048000" cy="2286000"/>
          </a:xfrm>
          <a:prstGeom prst="rect">
            <a:avLst/>
          </a:prstGeom>
        </p:spPr>
      </p:pic>
      <p:sp>
        <p:nvSpPr>
          <p:cNvPr id="17" name="Arrow: Bent 16">
            <a:extLst>
              <a:ext uri="{FF2B5EF4-FFF2-40B4-BE49-F238E27FC236}">
                <a16:creationId xmlns:a16="http://schemas.microsoft.com/office/drawing/2014/main" id="{473259B3-78EC-4C03-0F58-541B0B7A0180}"/>
              </a:ext>
            </a:extLst>
          </p:cNvPr>
          <p:cNvSpPr/>
          <p:nvPr/>
        </p:nvSpPr>
        <p:spPr>
          <a:xfrm rot="5400000">
            <a:off x="7523891" y="1814663"/>
            <a:ext cx="1550559" cy="13453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8" name="Arrow: Bent 17">
            <a:extLst>
              <a:ext uri="{FF2B5EF4-FFF2-40B4-BE49-F238E27FC236}">
                <a16:creationId xmlns:a16="http://schemas.microsoft.com/office/drawing/2014/main" id="{812F63D4-E18C-E60E-C2D7-D49D26E3A02B}"/>
              </a:ext>
            </a:extLst>
          </p:cNvPr>
          <p:cNvSpPr/>
          <p:nvPr/>
        </p:nvSpPr>
        <p:spPr>
          <a:xfrm rot="16200000" flipH="1">
            <a:off x="2575913" y="1814664"/>
            <a:ext cx="1550559" cy="1345376"/>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1878876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17</a:t>
            </a:fld>
            <a:endParaRPr lang="he-IL" sz="1600" dirty="0"/>
          </a:p>
        </p:txBody>
      </p:sp>
      <p:sp>
        <p:nvSpPr>
          <p:cNvPr id="2" name="TextBox 1">
            <a:extLst>
              <a:ext uri="{FF2B5EF4-FFF2-40B4-BE49-F238E27FC236}">
                <a16:creationId xmlns:a16="http://schemas.microsoft.com/office/drawing/2014/main" id="{A533F1A4-BDEC-907E-6866-73FA452EE6ED}"/>
              </a:ext>
            </a:extLst>
          </p:cNvPr>
          <p:cNvSpPr txBox="1"/>
          <p:nvPr/>
        </p:nvSpPr>
        <p:spPr>
          <a:xfrm>
            <a:off x="739791" y="-47863"/>
            <a:ext cx="10712415" cy="523220"/>
          </a:xfrm>
          <a:prstGeom prst="rect">
            <a:avLst/>
          </a:prstGeom>
          <a:noFill/>
        </p:spPr>
        <p:txBody>
          <a:bodyPr wrap="square">
            <a:spAutoFit/>
          </a:bodyPr>
          <a:lstStyle/>
          <a:p>
            <a:pPr algn="ctr"/>
            <a:r>
              <a:rPr lang="en-US" sz="2800" b="1" u="sng" dirty="0">
                <a:solidFill>
                  <a:srgbClr val="0070C0"/>
                </a:solidFill>
              </a:rPr>
              <a:t>31.9 –profilers of Resulted photographs – “A31.bmp”,”A32.bmp”</a:t>
            </a:r>
            <a:endParaRPr lang="en-IL" sz="2800" u="sng" dirty="0">
              <a:latin typeface="Cooper Black" panose="0208090404030B020404" pitchFamily="18" charset="0"/>
            </a:endParaRPr>
          </a:p>
        </p:txBody>
      </p:sp>
      <p:cxnSp>
        <p:nvCxnSpPr>
          <p:cNvPr id="13" name="Straight Connector 12">
            <a:extLst>
              <a:ext uri="{FF2B5EF4-FFF2-40B4-BE49-F238E27FC236}">
                <a16:creationId xmlns:a16="http://schemas.microsoft.com/office/drawing/2014/main" id="{0E39925F-47B0-F59F-F4B1-433D5F75BA73}"/>
              </a:ext>
            </a:extLst>
          </p:cNvPr>
          <p:cNvCxnSpPr/>
          <p:nvPr/>
        </p:nvCxnSpPr>
        <p:spPr>
          <a:xfrm>
            <a:off x="6034388" y="562418"/>
            <a:ext cx="0" cy="633478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51E30D7-BBDE-B610-563B-7671225A69AE}"/>
              </a:ext>
            </a:extLst>
          </p:cNvPr>
          <p:cNvSpPr txBox="1"/>
          <p:nvPr/>
        </p:nvSpPr>
        <p:spPr>
          <a:xfrm>
            <a:off x="962994" y="473118"/>
            <a:ext cx="1166712"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20" name="TextBox 19">
            <a:extLst>
              <a:ext uri="{FF2B5EF4-FFF2-40B4-BE49-F238E27FC236}">
                <a16:creationId xmlns:a16="http://schemas.microsoft.com/office/drawing/2014/main" id="{B21BA9A6-B705-ABF8-2243-3422EA6F7614}"/>
              </a:ext>
            </a:extLst>
          </p:cNvPr>
          <p:cNvSpPr txBox="1"/>
          <p:nvPr/>
        </p:nvSpPr>
        <p:spPr>
          <a:xfrm>
            <a:off x="7925148" y="386867"/>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sp>
        <p:nvSpPr>
          <p:cNvPr id="26" name="TextBox 25">
            <a:extLst>
              <a:ext uri="{FF2B5EF4-FFF2-40B4-BE49-F238E27FC236}">
                <a16:creationId xmlns:a16="http://schemas.microsoft.com/office/drawing/2014/main" id="{2E8FB689-2E10-0FFD-F6CA-5F1063A82079}"/>
              </a:ext>
            </a:extLst>
          </p:cNvPr>
          <p:cNvSpPr txBox="1"/>
          <p:nvPr/>
        </p:nvSpPr>
        <p:spPr>
          <a:xfrm>
            <a:off x="162125" y="3257845"/>
            <a:ext cx="1186774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endParaRPr lang="he-IL" b="1" dirty="0"/>
          </a:p>
        </p:txBody>
      </p:sp>
      <p:pic>
        <p:nvPicPr>
          <p:cNvPr id="27" name="Picture 26">
            <a:extLst>
              <a:ext uri="{FF2B5EF4-FFF2-40B4-BE49-F238E27FC236}">
                <a16:creationId xmlns:a16="http://schemas.microsoft.com/office/drawing/2014/main" id="{99E0DCB6-7171-7C54-A627-AD9E55BB25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0889" y1="26222" x2="40889" y2="26222"/>
                        <a14:foregroundMark x1="53333" y1="50667" x2="53333" y2="50667"/>
                      </a14:backgroundRemoval>
                    </a14:imgEffect>
                  </a14:imgLayer>
                </a14:imgProps>
              </a:ext>
            </a:extLst>
          </a:blip>
          <a:stretch>
            <a:fillRect/>
          </a:stretch>
        </p:blipFill>
        <p:spPr>
          <a:xfrm>
            <a:off x="5803083" y="1244276"/>
            <a:ext cx="1441422" cy="1441422"/>
          </a:xfrm>
          <a:prstGeom prst="rect">
            <a:avLst/>
          </a:prstGeom>
        </p:spPr>
      </p:pic>
      <p:sp>
        <p:nvSpPr>
          <p:cNvPr id="28" name="Rectangle 27">
            <a:extLst>
              <a:ext uri="{FF2B5EF4-FFF2-40B4-BE49-F238E27FC236}">
                <a16:creationId xmlns:a16="http://schemas.microsoft.com/office/drawing/2014/main" id="{B684DA94-D8BF-B190-38B2-E86AB172727E}"/>
              </a:ext>
            </a:extLst>
          </p:cNvPr>
          <p:cNvSpPr/>
          <p:nvPr/>
        </p:nvSpPr>
        <p:spPr>
          <a:xfrm>
            <a:off x="4306985" y="1089498"/>
            <a:ext cx="381747" cy="58365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9" name="Rectangle 28">
            <a:extLst>
              <a:ext uri="{FF2B5EF4-FFF2-40B4-BE49-F238E27FC236}">
                <a16:creationId xmlns:a16="http://schemas.microsoft.com/office/drawing/2014/main" id="{654E8068-0B72-A94B-E5BE-530BA903E39E}"/>
              </a:ext>
            </a:extLst>
          </p:cNvPr>
          <p:cNvSpPr/>
          <p:nvPr/>
        </p:nvSpPr>
        <p:spPr>
          <a:xfrm>
            <a:off x="10767440" y="1100322"/>
            <a:ext cx="381747" cy="58365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129675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CEAF5E-FBF0-BE1F-DD15-CC50C9AFFBB2}"/>
              </a:ext>
            </a:extLst>
          </p:cNvPr>
          <p:cNvSpPr txBox="1"/>
          <p:nvPr/>
        </p:nvSpPr>
        <p:spPr>
          <a:xfrm>
            <a:off x="739792" y="0"/>
            <a:ext cx="10712415" cy="523220"/>
          </a:xfrm>
          <a:prstGeom prst="rect">
            <a:avLst/>
          </a:prstGeom>
          <a:noFill/>
        </p:spPr>
        <p:txBody>
          <a:bodyPr wrap="square">
            <a:spAutoFit/>
          </a:bodyPr>
          <a:lstStyle/>
          <a:p>
            <a:pPr algn="ctr"/>
            <a:r>
              <a:rPr lang="en-US" sz="2800" b="1" u="sng" dirty="0">
                <a:solidFill>
                  <a:srgbClr val="0070C0"/>
                </a:solidFill>
              </a:rPr>
              <a:t>31.10 –deeper look at the results-“A31.bmp” vs ”A32.bmp” </a:t>
            </a:r>
            <a:endParaRPr lang="en-IL" sz="2800" u="sng" dirty="0">
              <a:latin typeface="Cooper Black" panose="0208090404030B020404" pitchFamily="18" charset="0"/>
            </a:endParaRPr>
          </a:p>
        </p:txBody>
      </p:sp>
      <p:sp>
        <p:nvSpPr>
          <p:cNvPr id="6" name="TextBox 5">
            <a:extLst>
              <a:ext uri="{FF2B5EF4-FFF2-40B4-BE49-F238E27FC236}">
                <a16:creationId xmlns:a16="http://schemas.microsoft.com/office/drawing/2014/main" id="{C34A833A-60A1-7BF6-5472-1E2717177BC2}"/>
              </a:ext>
            </a:extLst>
          </p:cNvPr>
          <p:cNvSpPr txBox="1"/>
          <p:nvPr/>
        </p:nvSpPr>
        <p:spPr>
          <a:xfrm>
            <a:off x="1989610" y="483432"/>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8" name="TextBox 7">
            <a:extLst>
              <a:ext uri="{FF2B5EF4-FFF2-40B4-BE49-F238E27FC236}">
                <a16:creationId xmlns:a16="http://schemas.microsoft.com/office/drawing/2014/main" id="{E90B8485-4411-FF72-CACA-460E3FE1BD8D}"/>
              </a:ext>
            </a:extLst>
          </p:cNvPr>
          <p:cNvSpPr txBox="1"/>
          <p:nvPr/>
        </p:nvSpPr>
        <p:spPr>
          <a:xfrm>
            <a:off x="9384297" y="503326"/>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sp>
        <p:nvSpPr>
          <p:cNvPr id="17" name="Rectangle 16">
            <a:extLst>
              <a:ext uri="{FF2B5EF4-FFF2-40B4-BE49-F238E27FC236}">
                <a16:creationId xmlns:a16="http://schemas.microsoft.com/office/drawing/2014/main" id="{655CF4A1-4669-6520-F529-53C2CE3FFF20}"/>
              </a:ext>
            </a:extLst>
          </p:cNvPr>
          <p:cNvSpPr/>
          <p:nvPr/>
        </p:nvSpPr>
        <p:spPr>
          <a:xfrm>
            <a:off x="1989610" y="1888563"/>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18" name="Rectangle 17">
            <a:extLst>
              <a:ext uri="{FF2B5EF4-FFF2-40B4-BE49-F238E27FC236}">
                <a16:creationId xmlns:a16="http://schemas.microsoft.com/office/drawing/2014/main" id="{04AF7F90-8536-CFA7-123D-99894A7E28DC}"/>
              </a:ext>
            </a:extLst>
          </p:cNvPr>
          <p:cNvSpPr/>
          <p:nvPr/>
        </p:nvSpPr>
        <p:spPr>
          <a:xfrm>
            <a:off x="4927059" y="3377927"/>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9" name="Rectangle 18">
            <a:extLst>
              <a:ext uri="{FF2B5EF4-FFF2-40B4-BE49-F238E27FC236}">
                <a16:creationId xmlns:a16="http://schemas.microsoft.com/office/drawing/2014/main" id="{474B00BF-2BD9-5569-55CC-586530E9416C}"/>
              </a:ext>
            </a:extLst>
          </p:cNvPr>
          <p:cNvSpPr/>
          <p:nvPr/>
        </p:nvSpPr>
        <p:spPr>
          <a:xfrm>
            <a:off x="3290183" y="292559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20" name="Rectangle 19">
            <a:extLst>
              <a:ext uri="{FF2B5EF4-FFF2-40B4-BE49-F238E27FC236}">
                <a16:creationId xmlns:a16="http://schemas.microsoft.com/office/drawing/2014/main" id="{85785EF8-1D98-3CE1-4798-DD18B8C363A4}"/>
              </a:ext>
            </a:extLst>
          </p:cNvPr>
          <p:cNvSpPr/>
          <p:nvPr/>
        </p:nvSpPr>
        <p:spPr>
          <a:xfrm>
            <a:off x="1886504" y="3047187"/>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21" name="Rectangle 20">
            <a:extLst>
              <a:ext uri="{FF2B5EF4-FFF2-40B4-BE49-F238E27FC236}">
                <a16:creationId xmlns:a16="http://schemas.microsoft.com/office/drawing/2014/main" id="{DF088C28-9D5A-F33C-8579-5903630CEF37}"/>
              </a:ext>
            </a:extLst>
          </p:cNvPr>
          <p:cNvSpPr/>
          <p:nvPr/>
        </p:nvSpPr>
        <p:spPr>
          <a:xfrm>
            <a:off x="11754255" y="3429000"/>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22" name="Rectangle 21">
            <a:extLst>
              <a:ext uri="{FF2B5EF4-FFF2-40B4-BE49-F238E27FC236}">
                <a16:creationId xmlns:a16="http://schemas.microsoft.com/office/drawing/2014/main" id="{EC86C0A6-153B-FB3E-518E-B4ED749B358C}"/>
              </a:ext>
            </a:extLst>
          </p:cNvPr>
          <p:cNvSpPr/>
          <p:nvPr/>
        </p:nvSpPr>
        <p:spPr>
          <a:xfrm>
            <a:off x="10321048" y="286601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23" name="Rectangle 22">
            <a:extLst>
              <a:ext uri="{FF2B5EF4-FFF2-40B4-BE49-F238E27FC236}">
                <a16:creationId xmlns:a16="http://schemas.microsoft.com/office/drawing/2014/main" id="{A9DA3E26-72E9-608C-5457-531C1200F00A}"/>
              </a:ext>
            </a:extLst>
          </p:cNvPr>
          <p:cNvSpPr/>
          <p:nvPr/>
        </p:nvSpPr>
        <p:spPr>
          <a:xfrm>
            <a:off x="8920105" y="2001646"/>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24" name="Rectangle 23">
            <a:extLst>
              <a:ext uri="{FF2B5EF4-FFF2-40B4-BE49-F238E27FC236}">
                <a16:creationId xmlns:a16="http://schemas.microsoft.com/office/drawing/2014/main" id="{D91BB944-C3E5-D5D7-B8F8-A5E9097940A8}"/>
              </a:ext>
            </a:extLst>
          </p:cNvPr>
          <p:cNvSpPr/>
          <p:nvPr/>
        </p:nvSpPr>
        <p:spPr>
          <a:xfrm>
            <a:off x="8917369" y="309096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25" name="Arrow: Down 24">
            <a:extLst>
              <a:ext uri="{FF2B5EF4-FFF2-40B4-BE49-F238E27FC236}">
                <a16:creationId xmlns:a16="http://schemas.microsoft.com/office/drawing/2014/main" id="{EE211662-F66B-3C32-375F-4AD5B8AF20BE}"/>
              </a:ext>
            </a:extLst>
          </p:cNvPr>
          <p:cNvSpPr/>
          <p:nvPr/>
        </p:nvSpPr>
        <p:spPr>
          <a:xfrm>
            <a:off x="5688567" y="4054924"/>
            <a:ext cx="768485" cy="7295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6" name="Rectangle 25">
            <a:extLst>
              <a:ext uri="{FF2B5EF4-FFF2-40B4-BE49-F238E27FC236}">
                <a16:creationId xmlns:a16="http://schemas.microsoft.com/office/drawing/2014/main" id="{A0E1BAB1-3F37-8FF8-15BF-5EC2BFEF3D2E}"/>
              </a:ext>
            </a:extLst>
          </p:cNvPr>
          <p:cNvSpPr/>
          <p:nvPr/>
        </p:nvSpPr>
        <p:spPr>
          <a:xfrm>
            <a:off x="693412" y="4844407"/>
            <a:ext cx="10758793" cy="12309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342900" indent="-342900">
              <a:buFont typeface="+mj-lt"/>
              <a:buAutoNum type="arabicPeriod"/>
            </a:pPr>
            <a:r>
              <a:rPr lang="en-US" dirty="0"/>
              <a:t>The black straight lines are much more disrupted in the A31.bmp.</a:t>
            </a:r>
          </a:p>
          <a:p>
            <a:pPr marL="342900" indent="-342900">
              <a:buFont typeface="+mj-lt"/>
              <a:buAutoNum type="arabicPeriod"/>
            </a:pPr>
            <a:r>
              <a:rPr lang="en-US" dirty="0"/>
              <a:t>The small white rectangles in the corners – their outline are much more disrupted in the A31.bmp.</a:t>
            </a:r>
          </a:p>
          <a:p>
            <a:pPr marL="342900" indent="-342900">
              <a:buFont typeface="+mj-lt"/>
              <a:buAutoNum type="arabicPeriod"/>
            </a:pPr>
            <a:r>
              <a:rPr lang="en-US" dirty="0"/>
              <a:t>The area from the right hand side of the center is much more disrupted – a lot of added noise in A31.bmp.</a:t>
            </a:r>
          </a:p>
          <a:p>
            <a:pPr marL="342900" indent="-342900">
              <a:buFont typeface="+mj-lt"/>
              <a:buAutoNum type="arabicPeriod"/>
            </a:pPr>
            <a:r>
              <a:rPr lang="en-US" dirty="0"/>
              <a:t>The lines that assemble the black and white circle in the center are much more disrupted in A31.bmp.</a:t>
            </a:r>
          </a:p>
        </p:txBody>
      </p:sp>
      <p:sp>
        <p:nvSpPr>
          <p:cNvPr id="31" name="TextBox 30">
            <a:extLst>
              <a:ext uri="{FF2B5EF4-FFF2-40B4-BE49-F238E27FC236}">
                <a16:creationId xmlns:a16="http://schemas.microsoft.com/office/drawing/2014/main" id="{CDE5DAD7-3ABB-A330-EDCB-110295981F87}"/>
              </a:ext>
            </a:extLst>
          </p:cNvPr>
          <p:cNvSpPr txBox="1"/>
          <p:nvPr/>
        </p:nvSpPr>
        <p:spPr>
          <a:xfrm>
            <a:off x="1300263" y="6135307"/>
            <a:ext cx="9591472" cy="693470"/>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defPPr>
              <a:defRPr lang="he-IL"/>
            </a:defPPr>
            <a:lvl1pPr marL="342900" indent="-342900">
              <a:buFont typeface="+mj-lt"/>
              <a:buAutoNum type="arabicPeriod"/>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en-US" b="1" dirty="0">
                <a:solidFill>
                  <a:srgbClr val="FFFF00"/>
                </a:solidFill>
              </a:rPr>
              <a:t>Therefore, our opinion is that the bilinear interpolation is a way more successful method than the nearest neighbor interpolation.</a:t>
            </a:r>
            <a:endParaRPr lang="he-IL" b="1" dirty="0">
              <a:solidFill>
                <a:srgbClr val="FFFF00"/>
              </a:solidFill>
            </a:endParaRPr>
          </a:p>
        </p:txBody>
      </p:sp>
    </p:spTree>
    <p:extLst>
      <p:ext uri="{BB962C8B-B14F-4D97-AF65-F5344CB8AC3E}">
        <p14:creationId xmlns:p14="http://schemas.microsoft.com/office/powerpoint/2010/main" val="2744076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21830" y="6492875"/>
            <a:ext cx="470170" cy="365125"/>
          </a:xfrm>
        </p:spPr>
        <p:txBody>
          <a:bodyPr/>
          <a:lstStyle/>
          <a:p>
            <a:fld id="{1E5BF412-EFCF-4C51-A2DF-B419076696E3}" type="slidenum">
              <a:rPr lang="he-IL" sz="1600" smtClean="0"/>
              <a:t>19</a:t>
            </a:fld>
            <a:endParaRPr lang="he-IL" sz="1600" dirty="0"/>
          </a:p>
        </p:txBody>
      </p:sp>
      <p:sp>
        <p:nvSpPr>
          <p:cNvPr id="3" name="TextBox 2">
            <a:extLst>
              <a:ext uri="{FF2B5EF4-FFF2-40B4-BE49-F238E27FC236}">
                <a16:creationId xmlns:a16="http://schemas.microsoft.com/office/drawing/2014/main" id="{0FFBFC39-30C1-DB88-4428-A2A84821D377}"/>
              </a:ext>
            </a:extLst>
          </p:cNvPr>
          <p:cNvSpPr txBox="1"/>
          <p:nvPr/>
        </p:nvSpPr>
        <p:spPr>
          <a:xfrm>
            <a:off x="3641046" y="0"/>
            <a:ext cx="4909907" cy="523220"/>
          </a:xfrm>
          <a:prstGeom prst="rect">
            <a:avLst/>
          </a:prstGeom>
          <a:noFill/>
        </p:spPr>
        <p:txBody>
          <a:bodyPr wrap="square">
            <a:spAutoFit/>
          </a:bodyPr>
          <a:lstStyle/>
          <a:p>
            <a:pPr algn="ctr"/>
            <a:r>
              <a:rPr lang="en-US" sz="2800" b="1" u="sng" dirty="0">
                <a:solidFill>
                  <a:srgbClr val="0070C0"/>
                </a:solidFill>
              </a:rPr>
              <a:t>31.8 – </a:t>
            </a:r>
            <a:r>
              <a:rPr lang="en-US" sz="2800" b="1" u="sng" dirty="0">
                <a:solidFill>
                  <a:srgbClr val="0070C0"/>
                </a:solidFill>
                <a:latin typeface="+mn-lt"/>
              </a:rPr>
              <a:t>What did we learn ?</a:t>
            </a:r>
            <a:endParaRPr lang="en-IL" sz="2800" u="sng" dirty="0">
              <a:solidFill>
                <a:srgbClr val="FF0000"/>
              </a:solidFill>
              <a:latin typeface="Cooper Black" panose="0208090404030B020404" pitchFamily="18" charset="0"/>
            </a:endParaRPr>
          </a:p>
        </p:txBody>
      </p:sp>
      <p:sp>
        <p:nvSpPr>
          <p:cNvPr id="7" name="TextBox 6">
            <a:extLst>
              <a:ext uri="{FF2B5EF4-FFF2-40B4-BE49-F238E27FC236}">
                <a16:creationId xmlns:a16="http://schemas.microsoft.com/office/drawing/2014/main" id="{DDDD3E1B-0B17-F13F-80FB-D17654F40DAE}"/>
              </a:ext>
            </a:extLst>
          </p:cNvPr>
          <p:cNvSpPr txBox="1"/>
          <p:nvPr/>
        </p:nvSpPr>
        <p:spPr>
          <a:xfrm>
            <a:off x="1580788" y="795743"/>
            <a:ext cx="8071104" cy="3785652"/>
          </a:xfrm>
          <a:prstGeom prst="rect">
            <a:avLst/>
          </a:prstGeom>
          <a:noFill/>
        </p:spPr>
        <p:txBody>
          <a:bodyPr wrap="square" rtlCol="1">
            <a:spAutoFit/>
          </a:bodyPr>
          <a:lstStyle/>
          <a:p>
            <a:pPr algn="l" rtl="0"/>
            <a:r>
              <a:rPr lang="en-US" sz="2400" dirty="0"/>
              <a:t>1) To use two algorithms that can create the same result in different ways: Bilinear interpolation and nearest neighbor.</a:t>
            </a:r>
          </a:p>
          <a:p>
            <a:pPr algn="l" rtl="0"/>
            <a:r>
              <a:rPr lang="en-US" sz="2400" dirty="0"/>
              <a:t>2) To acknowledge  what is interpolation and how it use it.</a:t>
            </a:r>
          </a:p>
          <a:p>
            <a:pPr algn="l" rtl="0"/>
            <a:r>
              <a:rPr lang="en-US" sz="2400" dirty="0"/>
              <a:t>3) How to use Nearest Neighbor Interpolation algorithm to rotate the image.</a:t>
            </a:r>
          </a:p>
          <a:p>
            <a:pPr algn="l" rtl="0"/>
            <a:r>
              <a:rPr lang="en-US" sz="2400" dirty="0"/>
              <a:t>4) How to use Bilinear Interpolation algorithm to rotate the image.</a:t>
            </a:r>
          </a:p>
          <a:p>
            <a:pPr algn="l" rtl="0"/>
            <a:r>
              <a:rPr lang="en-US" sz="2400" dirty="0"/>
              <a:t>5) To apply sequence of  operations on an image (move it, scale it, rotate it around the point). </a:t>
            </a:r>
          </a:p>
          <a:p>
            <a:pPr algn="l" rtl="0"/>
            <a:endParaRPr lang="en-US" sz="2400" dirty="0"/>
          </a:p>
        </p:txBody>
      </p:sp>
    </p:spTree>
    <p:extLst>
      <p:ext uri="{BB962C8B-B14F-4D97-AF65-F5344CB8AC3E}">
        <p14:creationId xmlns:p14="http://schemas.microsoft.com/office/powerpoint/2010/main" val="567020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TotalTime>
  <Words>1237</Words>
  <Application>Microsoft Office PowerPoint</Application>
  <PresentationFormat>Widescreen</PresentationFormat>
  <Paragraphs>117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Cambria Math</vt:lpstr>
      <vt:lpstr>Cooper Black</vt:lpstr>
      <vt:lpstr>Office Theme</vt:lpstr>
      <vt:lpstr>Course: Image Processing 31651 Assignment #31 Geometrical Transforms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21</cp:revision>
  <dcterms:created xsi:type="dcterms:W3CDTF">2024-07-29T11:22:20Z</dcterms:created>
  <dcterms:modified xsi:type="dcterms:W3CDTF">2024-08-14T15:16:14Z</dcterms:modified>
</cp:coreProperties>
</file>