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256" r:id="rId3"/>
    <p:sldId id="258" r:id="rId4"/>
    <p:sldId id="259" r:id="rId5"/>
    <p:sldId id="260" r:id="rId6"/>
    <p:sldId id="281" r:id="rId7"/>
    <p:sldId id="261" r:id="rId8"/>
    <p:sldId id="263" r:id="rId9"/>
    <p:sldId id="272" r:id="rId10"/>
    <p:sldId id="276" r:id="rId11"/>
    <p:sldId id="275" r:id="rId12"/>
    <p:sldId id="277" r:id="rId13"/>
    <p:sldId id="282" r:id="rId14"/>
    <p:sldId id="283" r:id="rId15"/>
    <p:sldId id="284" r:id="rId16"/>
    <p:sldId id="279" r:id="rId17"/>
    <p:sldId id="278" r:id="rId18"/>
    <p:sldId id="264" r:id="rId19"/>
    <p:sldId id="265" r:id="rId20"/>
    <p:sldId id="266" r:id="rId21"/>
    <p:sldId id="273" r:id="rId22"/>
    <p:sldId id="274" r:id="rId23"/>
    <p:sldId id="285" r:id="rId24"/>
    <p:sldId id="267" r:id="rId25"/>
    <p:sldId id="268" r:id="rId26"/>
    <p:sldId id="269" r:id="rId27"/>
    <p:sldId id="271" r:id="rId28"/>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AFB334DA-C793-44E4-B394-9B1C2BDBCEFD}" type="datetimeFigureOut">
              <a:rPr lang="he-IL" smtClean="0"/>
              <a:t>כ"א/אב/תשפ"ד</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ED0111F3-2A8E-44C9-8FA3-873288262D2C}" type="slidenum">
              <a:rPr lang="he-IL" smtClean="0"/>
              <a:t>‹#›</a:t>
            </a:fld>
            <a:endParaRPr lang="he-IL"/>
          </a:p>
        </p:txBody>
      </p:sp>
    </p:spTree>
    <p:extLst>
      <p:ext uri="{BB962C8B-B14F-4D97-AF65-F5344CB8AC3E}">
        <p14:creationId xmlns:p14="http://schemas.microsoft.com/office/powerpoint/2010/main" val="964340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ED0111F3-2A8E-44C9-8FA3-873288262D2C}" type="slidenum">
              <a:rPr lang="he-IL" smtClean="0"/>
              <a:t>17</a:t>
            </a:fld>
            <a:endParaRPr lang="he-IL"/>
          </a:p>
        </p:txBody>
      </p:sp>
    </p:spTree>
    <p:extLst>
      <p:ext uri="{BB962C8B-B14F-4D97-AF65-F5344CB8AC3E}">
        <p14:creationId xmlns:p14="http://schemas.microsoft.com/office/powerpoint/2010/main" val="1839590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827C3-D6FA-66C7-369D-8DE41A8DC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59DF6AD8-E6D5-7B73-1DAD-C5C7367065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2C629893-8E50-5C9B-B314-8E39D39E9299}"/>
              </a:ext>
            </a:extLst>
          </p:cNvPr>
          <p:cNvSpPr>
            <a:spLocks noGrp="1"/>
          </p:cNvSpPr>
          <p:nvPr>
            <p:ph type="dt" sz="half" idx="10"/>
          </p:nvPr>
        </p:nvSpPr>
        <p:spPr/>
        <p:txBody>
          <a:bodyPr/>
          <a:lstStyle/>
          <a:p>
            <a:fld id="{DCD9A065-77D1-4BB5-913F-6F21EA3E767D}" type="datetime8">
              <a:rPr lang="he-IL" smtClean="0"/>
              <a:t>25 אוגוסט 24</a:t>
            </a:fld>
            <a:endParaRPr lang="he-IL"/>
          </a:p>
        </p:txBody>
      </p:sp>
      <p:sp>
        <p:nvSpPr>
          <p:cNvPr id="5" name="Footer Placeholder 4">
            <a:extLst>
              <a:ext uri="{FF2B5EF4-FFF2-40B4-BE49-F238E27FC236}">
                <a16:creationId xmlns:a16="http://schemas.microsoft.com/office/drawing/2014/main" id="{6F97481A-EF47-D3D4-181F-68588765E94F}"/>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7627652-E9C2-CCEA-1159-3E2A468EB227}"/>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610607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44BA-89BE-0791-E8F3-9333620EAF07}"/>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908764F6-EE5C-2D86-37F7-A1B110E31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B122C2F0-207F-89AC-0FDF-D257046A5759}"/>
              </a:ext>
            </a:extLst>
          </p:cNvPr>
          <p:cNvSpPr>
            <a:spLocks noGrp="1"/>
          </p:cNvSpPr>
          <p:nvPr>
            <p:ph type="dt" sz="half" idx="10"/>
          </p:nvPr>
        </p:nvSpPr>
        <p:spPr/>
        <p:txBody>
          <a:bodyPr/>
          <a:lstStyle/>
          <a:p>
            <a:fld id="{6332F5D1-07B7-4DED-ADAA-07379330798F}" type="datetime8">
              <a:rPr lang="he-IL" smtClean="0"/>
              <a:t>25 אוגוסט 24</a:t>
            </a:fld>
            <a:endParaRPr lang="he-IL"/>
          </a:p>
        </p:txBody>
      </p:sp>
      <p:sp>
        <p:nvSpPr>
          <p:cNvPr id="5" name="Footer Placeholder 4">
            <a:extLst>
              <a:ext uri="{FF2B5EF4-FFF2-40B4-BE49-F238E27FC236}">
                <a16:creationId xmlns:a16="http://schemas.microsoft.com/office/drawing/2014/main" id="{A4999A65-55F4-0A7B-14D3-6626E36C510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04B461D4-BC6A-C1AB-E50F-C95AA6E8532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623575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37767-8025-D151-1032-3811604FCE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5C34F012-40A0-E999-4054-875307A2DA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4895AA-F6EA-9A32-5637-0234A01B50BC}"/>
              </a:ext>
            </a:extLst>
          </p:cNvPr>
          <p:cNvSpPr>
            <a:spLocks noGrp="1"/>
          </p:cNvSpPr>
          <p:nvPr>
            <p:ph type="dt" sz="half" idx="10"/>
          </p:nvPr>
        </p:nvSpPr>
        <p:spPr/>
        <p:txBody>
          <a:bodyPr/>
          <a:lstStyle/>
          <a:p>
            <a:fld id="{90E21049-26CE-4894-ABA1-F507D930348C}" type="datetime8">
              <a:rPr lang="he-IL" smtClean="0"/>
              <a:t>25 אוגוסט 24</a:t>
            </a:fld>
            <a:endParaRPr lang="he-IL"/>
          </a:p>
        </p:txBody>
      </p:sp>
      <p:sp>
        <p:nvSpPr>
          <p:cNvPr id="5" name="Footer Placeholder 4">
            <a:extLst>
              <a:ext uri="{FF2B5EF4-FFF2-40B4-BE49-F238E27FC236}">
                <a16:creationId xmlns:a16="http://schemas.microsoft.com/office/drawing/2014/main" id="{5025F018-2478-EB6F-85D0-B61B488DC788}"/>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E8067CB2-DB44-02AA-BDB6-24F3721F914F}"/>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39442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A5148-028E-E997-FEDA-0E608EE2D29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ECECC1D5-0C56-601F-4F62-2F5A748710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0F9EF57E-9C2F-5C56-4A32-1EDB4E44A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C75A50C5-964D-610E-73B7-DEF919671D83}"/>
              </a:ext>
            </a:extLst>
          </p:cNvPr>
          <p:cNvSpPr>
            <a:spLocks noGrp="1"/>
          </p:cNvSpPr>
          <p:nvPr>
            <p:ph type="dt" sz="half" idx="10"/>
          </p:nvPr>
        </p:nvSpPr>
        <p:spPr/>
        <p:txBody>
          <a:bodyPr/>
          <a:lstStyle/>
          <a:p>
            <a:fld id="{D4AC38E6-4CD8-405F-8818-5109329025F5}" type="datetime8">
              <a:rPr lang="he-IL" smtClean="0"/>
              <a:t>25 אוגוסט 24</a:t>
            </a:fld>
            <a:endParaRPr lang="he-IL"/>
          </a:p>
        </p:txBody>
      </p:sp>
      <p:sp>
        <p:nvSpPr>
          <p:cNvPr id="6" name="Footer Placeholder 5">
            <a:extLst>
              <a:ext uri="{FF2B5EF4-FFF2-40B4-BE49-F238E27FC236}">
                <a16:creationId xmlns:a16="http://schemas.microsoft.com/office/drawing/2014/main" id="{AADFC7B4-2012-EBB1-F27E-0D4E490BAEC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85CF4791-59BA-7A4C-61E1-3BB948E5994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958844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E904-44E7-64AF-6EA2-09106FCE8995}"/>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F245126-195C-D8F0-D632-24FF3C6DC3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F84FA-8A83-D586-5A0A-5FA6171099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245A2644-AE96-0B6C-1558-3F2659F813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3A2F93-088D-304D-D359-A3165B784F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225F0DD4-215D-423B-D191-053E9501A170}"/>
              </a:ext>
            </a:extLst>
          </p:cNvPr>
          <p:cNvSpPr>
            <a:spLocks noGrp="1"/>
          </p:cNvSpPr>
          <p:nvPr>
            <p:ph type="dt" sz="half" idx="10"/>
          </p:nvPr>
        </p:nvSpPr>
        <p:spPr/>
        <p:txBody>
          <a:bodyPr/>
          <a:lstStyle/>
          <a:p>
            <a:fld id="{729B336C-2388-467E-B959-6B70B437B2B0}" type="datetime8">
              <a:rPr lang="he-IL" smtClean="0"/>
              <a:t>25 אוגוסט 24</a:t>
            </a:fld>
            <a:endParaRPr lang="he-IL"/>
          </a:p>
        </p:txBody>
      </p:sp>
      <p:sp>
        <p:nvSpPr>
          <p:cNvPr id="8" name="Footer Placeholder 7">
            <a:extLst>
              <a:ext uri="{FF2B5EF4-FFF2-40B4-BE49-F238E27FC236}">
                <a16:creationId xmlns:a16="http://schemas.microsoft.com/office/drawing/2014/main" id="{3FAA5396-5503-5092-7139-69646B1BBCC3}"/>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6321D9E1-3DAC-6570-5099-E2806668B4A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452110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4607B-3A97-292A-27C3-CD4EF0C6C8A4}"/>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F6AC28B4-490A-F37C-D686-A24EAE78806E}"/>
              </a:ext>
            </a:extLst>
          </p:cNvPr>
          <p:cNvSpPr>
            <a:spLocks noGrp="1"/>
          </p:cNvSpPr>
          <p:nvPr>
            <p:ph type="dt" sz="half" idx="10"/>
          </p:nvPr>
        </p:nvSpPr>
        <p:spPr/>
        <p:txBody>
          <a:bodyPr/>
          <a:lstStyle/>
          <a:p>
            <a:fld id="{D5124FE0-FCC2-48EF-9D98-9F69E9926681}" type="datetime8">
              <a:rPr lang="he-IL" smtClean="0"/>
              <a:t>25 אוגוסט 24</a:t>
            </a:fld>
            <a:endParaRPr lang="he-IL"/>
          </a:p>
        </p:txBody>
      </p:sp>
      <p:sp>
        <p:nvSpPr>
          <p:cNvPr id="4" name="Footer Placeholder 3">
            <a:extLst>
              <a:ext uri="{FF2B5EF4-FFF2-40B4-BE49-F238E27FC236}">
                <a16:creationId xmlns:a16="http://schemas.microsoft.com/office/drawing/2014/main" id="{C71CB608-00C1-6042-80C7-2CED09E78A5D}"/>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A4E8451B-2DCD-CBFF-5DB8-BB93D8B3313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280060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97823E-3C82-2A94-13C4-D2A39E1F32D5}"/>
              </a:ext>
            </a:extLst>
          </p:cNvPr>
          <p:cNvSpPr>
            <a:spLocks noGrp="1"/>
          </p:cNvSpPr>
          <p:nvPr>
            <p:ph type="dt" sz="half" idx="10"/>
          </p:nvPr>
        </p:nvSpPr>
        <p:spPr/>
        <p:txBody>
          <a:bodyPr/>
          <a:lstStyle/>
          <a:p>
            <a:fld id="{9C30FD23-55FE-4CC8-8277-39BB0EAEE0FA}" type="datetime8">
              <a:rPr lang="he-IL" smtClean="0"/>
              <a:t>25 אוגוסט 24</a:t>
            </a:fld>
            <a:endParaRPr lang="he-IL"/>
          </a:p>
        </p:txBody>
      </p:sp>
      <p:sp>
        <p:nvSpPr>
          <p:cNvPr id="3" name="Footer Placeholder 2">
            <a:extLst>
              <a:ext uri="{FF2B5EF4-FFF2-40B4-BE49-F238E27FC236}">
                <a16:creationId xmlns:a16="http://schemas.microsoft.com/office/drawing/2014/main" id="{74A7B998-B3AF-19BF-4AB1-8DABBFCE5A07}"/>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239C4964-9B67-F490-122C-8FF47A82E3E2}"/>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846969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752B-6686-B1D1-F428-80262051D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48EDFBEA-BE44-F870-7F62-FF8E0DD40B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E06AFEFB-C927-EAEC-47F7-15CD4DC97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0696BF-A572-A4F6-710D-15B5A81DD09E}"/>
              </a:ext>
            </a:extLst>
          </p:cNvPr>
          <p:cNvSpPr>
            <a:spLocks noGrp="1"/>
          </p:cNvSpPr>
          <p:nvPr>
            <p:ph type="dt" sz="half" idx="10"/>
          </p:nvPr>
        </p:nvSpPr>
        <p:spPr/>
        <p:txBody>
          <a:bodyPr/>
          <a:lstStyle/>
          <a:p>
            <a:fld id="{37567DF8-D905-4650-92BF-EF6FBCF65DB5}" type="datetime8">
              <a:rPr lang="he-IL" smtClean="0"/>
              <a:t>25 אוגוסט 24</a:t>
            </a:fld>
            <a:endParaRPr lang="he-IL"/>
          </a:p>
        </p:txBody>
      </p:sp>
      <p:sp>
        <p:nvSpPr>
          <p:cNvPr id="6" name="Footer Placeholder 5">
            <a:extLst>
              <a:ext uri="{FF2B5EF4-FFF2-40B4-BE49-F238E27FC236}">
                <a16:creationId xmlns:a16="http://schemas.microsoft.com/office/drawing/2014/main" id="{F4C62ACE-62FA-A1E7-7983-520BC307A9D3}"/>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D5ACDC73-DDD9-E0FA-1F49-203514CEF9B4}"/>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247137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6C5C-3CBA-958A-FAC3-8546891A6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A01FA004-BC52-B5FD-8A00-32359E30FE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5062E2EA-DA9E-6C9B-5C98-8062598268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DF2F45-5560-84D7-5B68-522C8B7CD616}"/>
              </a:ext>
            </a:extLst>
          </p:cNvPr>
          <p:cNvSpPr>
            <a:spLocks noGrp="1"/>
          </p:cNvSpPr>
          <p:nvPr>
            <p:ph type="dt" sz="half" idx="10"/>
          </p:nvPr>
        </p:nvSpPr>
        <p:spPr/>
        <p:txBody>
          <a:bodyPr/>
          <a:lstStyle/>
          <a:p>
            <a:fld id="{14EDC78A-9B06-4685-BDED-5E58DA920AAA}" type="datetime8">
              <a:rPr lang="he-IL" smtClean="0"/>
              <a:t>25 אוגוסט 24</a:t>
            </a:fld>
            <a:endParaRPr lang="he-IL"/>
          </a:p>
        </p:txBody>
      </p:sp>
      <p:sp>
        <p:nvSpPr>
          <p:cNvPr id="6" name="Footer Placeholder 5">
            <a:extLst>
              <a:ext uri="{FF2B5EF4-FFF2-40B4-BE49-F238E27FC236}">
                <a16:creationId xmlns:a16="http://schemas.microsoft.com/office/drawing/2014/main" id="{266CD0C0-BC7C-78FC-6819-C848C482EB0D}"/>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350AFA1C-0E8A-980E-D6A1-5AA47C47D023}"/>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697700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010D0-4FBF-8C1F-36DD-7027CBFDA432}"/>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6938040C-8F1D-93B3-9211-A09CF883A3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E436E1D-93A5-BCC3-DDEF-B35110E19360}"/>
              </a:ext>
            </a:extLst>
          </p:cNvPr>
          <p:cNvSpPr>
            <a:spLocks noGrp="1"/>
          </p:cNvSpPr>
          <p:nvPr>
            <p:ph type="dt" sz="half" idx="10"/>
          </p:nvPr>
        </p:nvSpPr>
        <p:spPr/>
        <p:txBody>
          <a:bodyPr/>
          <a:lstStyle/>
          <a:p>
            <a:fld id="{051AF78F-7F0D-4982-817D-86660B6E51D5}" type="datetime8">
              <a:rPr lang="he-IL" smtClean="0"/>
              <a:t>25 אוגוסט 24</a:t>
            </a:fld>
            <a:endParaRPr lang="he-IL"/>
          </a:p>
        </p:txBody>
      </p:sp>
      <p:sp>
        <p:nvSpPr>
          <p:cNvPr id="5" name="Footer Placeholder 4">
            <a:extLst>
              <a:ext uri="{FF2B5EF4-FFF2-40B4-BE49-F238E27FC236}">
                <a16:creationId xmlns:a16="http://schemas.microsoft.com/office/drawing/2014/main" id="{81662B09-2F96-2601-000E-A57B4C3ECB5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FFDC0FA-FFB1-E7A3-14A0-EFCD6F2209E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271196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580661-F659-1514-139C-0584218641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49472CC3-99AD-268D-1E56-A171FCCF98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32729E30-DC6E-4C01-F4AB-FB5148D77696}"/>
              </a:ext>
            </a:extLst>
          </p:cNvPr>
          <p:cNvSpPr>
            <a:spLocks noGrp="1"/>
          </p:cNvSpPr>
          <p:nvPr>
            <p:ph type="dt" sz="half" idx="10"/>
          </p:nvPr>
        </p:nvSpPr>
        <p:spPr/>
        <p:txBody>
          <a:bodyPr/>
          <a:lstStyle/>
          <a:p>
            <a:fld id="{E5DA3DA1-5CDE-4F50-9CE1-030A5B61402A}" type="datetime8">
              <a:rPr lang="he-IL" smtClean="0"/>
              <a:t>25 אוגוסט 24</a:t>
            </a:fld>
            <a:endParaRPr lang="he-IL"/>
          </a:p>
        </p:txBody>
      </p:sp>
      <p:sp>
        <p:nvSpPr>
          <p:cNvPr id="5" name="Footer Placeholder 4">
            <a:extLst>
              <a:ext uri="{FF2B5EF4-FFF2-40B4-BE49-F238E27FC236}">
                <a16:creationId xmlns:a16="http://schemas.microsoft.com/office/drawing/2014/main" id="{B7074491-34F5-9D0F-67EC-AD9E11A6987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DC6A970-C368-6D00-E749-A8CF5AE8ABA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387584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225BC-2BFE-9BE2-56A2-1D472AD4E9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80CE685-CD0D-C053-4392-2CC0FEF7F4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DF600C61-3AFE-29B4-BC49-B91EE3B40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080159-467D-459C-83C1-C34DD7114053}" type="datetime8">
              <a:rPr lang="he-IL" smtClean="0"/>
              <a:t>25 אוגוסט 24</a:t>
            </a:fld>
            <a:endParaRPr lang="he-IL"/>
          </a:p>
        </p:txBody>
      </p:sp>
      <p:sp>
        <p:nvSpPr>
          <p:cNvPr id="5" name="Footer Placeholder 4">
            <a:extLst>
              <a:ext uri="{FF2B5EF4-FFF2-40B4-BE49-F238E27FC236}">
                <a16:creationId xmlns:a16="http://schemas.microsoft.com/office/drawing/2014/main" id="{D7F75550-E82A-9F65-7370-EA8244E4A1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C464429F-9EA2-4D93-87E9-D7EF32ECE4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122904-1B5F-4679-B3DC-5E87602DE7DA}" type="slidenum">
              <a:rPr lang="he-IL" smtClean="0"/>
              <a:t>‹#›</a:t>
            </a:fld>
            <a:endParaRPr lang="he-IL"/>
          </a:p>
        </p:txBody>
      </p:sp>
    </p:spTree>
    <p:extLst>
      <p:ext uri="{BB962C8B-B14F-4D97-AF65-F5344CB8AC3E}">
        <p14:creationId xmlns:p14="http://schemas.microsoft.com/office/powerpoint/2010/main" val="230751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364457-9AE2-EF93-CC4B-12276FBCF7A9}"/>
              </a:ext>
            </a:extLst>
          </p:cNvPr>
          <p:cNvSpPr>
            <a:spLocks noGrp="1"/>
          </p:cNvSpPr>
          <p:nvPr>
            <p:ph type="ctrTitle"/>
          </p:nvPr>
        </p:nvSpPr>
        <p:spPr>
          <a:xfrm>
            <a:off x="2250861" y="-6486"/>
            <a:ext cx="7651895" cy="1436438"/>
          </a:xfrm>
        </p:spPr>
        <p:txBody>
          <a:bodyPr>
            <a:normAutofit/>
          </a:bodyPr>
          <a:lstStyle/>
          <a:p>
            <a:pPr rtl="0"/>
            <a:r>
              <a:rPr lang="en-US" sz="3200" b="1" dirty="0">
                <a:solidFill>
                  <a:srgbClr val="0070C0"/>
                </a:solidFill>
              </a:rPr>
              <a:t>Course: Image Processing 31651</a:t>
            </a:r>
            <a:br>
              <a:rPr lang="en-US" sz="3200" b="1" dirty="0">
                <a:solidFill>
                  <a:srgbClr val="0070C0"/>
                </a:solidFill>
              </a:rPr>
            </a:br>
            <a:r>
              <a:rPr lang="en-US" sz="3200" b="1" dirty="0">
                <a:solidFill>
                  <a:srgbClr val="0070C0"/>
                </a:solidFill>
              </a:rPr>
              <a:t>Assignment #24</a:t>
            </a:r>
            <a:br>
              <a:rPr lang="en-US" sz="3200" b="1" dirty="0">
                <a:solidFill>
                  <a:srgbClr val="0070C0"/>
                </a:solidFill>
              </a:rPr>
            </a:br>
            <a:r>
              <a:rPr lang="en-US" sz="3200" b="1" dirty="0">
                <a:solidFill>
                  <a:srgbClr val="0070C0"/>
                </a:solidFill>
              </a:rPr>
              <a:t>Pixel to Pixel Operations (Part 4) – </a:t>
            </a:r>
            <a:r>
              <a:rPr lang="en-US" sz="3200" b="1" dirty="0">
                <a:solidFill>
                  <a:srgbClr val="FF0000"/>
                </a:solidFill>
              </a:rPr>
              <a:t>version 2</a:t>
            </a:r>
            <a:endParaRPr lang="he-IL" sz="3200" b="1" dirty="0">
              <a:solidFill>
                <a:srgbClr val="FF0000"/>
              </a:solidFill>
            </a:endParaRPr>
          </a:p>
        </p:txBody>
      </p:sp>
      <p:graphicFrame>
        <p:nvGraphicFramePr>
          <p:cNvPr id="5" name="Table 4">
            <a:extLst>
              <a:ext uri="{FF2B5EF4-FFF2-40B4-BE49-F238E27FC236}">
                <a16:creationId xmlns:a16="http://schemas.microsoft.com/office/drawing/2014/main" id="{B2310BE6-3F81-9FB9-07A6-25E1FC274E98}"/>
              </a:ext>
            </a:extLst>
          </p:cNvPr>
          <p:cNvGraphicFramePr>
            <a:graphicFrameLocks noGrp="1"/>
          </p:cNvGraphicFramePr>
          <p:nvPr/>
        </p:nvGraphicFramePr>
        <p:xfrm>
          <a:off x="505839" y="1443045"/>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sp>
        <p:nvSpPr>
          <p:cNvPr id="6" name="Slide Number Placeholder 5">
            <a:extLst>
              <a:ext uri="{FF2B5EF4-FFF2-40B4-BE49-F238E27FC236}">
                <a16:creationId xmlns:a16="http://schemas.microsoft.com/office/drawing/2014/main" id="{630DDD76-149D-5CD9-20D8-E0D7C8A1C65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1</a:t>
            </a:fld>
            <a:endParaRPr lang="he-IL" sz="1600" dirty="0"/>
          </a:p>
        </p:txBody>
      </p:sp>
      <p:pic>
        <p:nvPicPr>
          <p:cNvPr id="2" name="Picture 1" descr="A person standing on a stone wall with a bridge in the background&#10;&#10;Description automatically generated">
            <a:extLst>
              <a:ext uri="{FF2B5EF4-FFF2-40B4-BE49-F238E27FC236}">
                <a16:creationId xmlns:a16="http://schemas.microsoft.com/office/drawing/2014/main" id="{30125289-0874-E85E-63D6-B9B4F2C31DDE}"/>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4" y="3236167"/>
            <a:ext cx="1642513" cy="1846851"/>
          </a:xfrm>
          <a:prstGeom prst="rect">
            <a:avLst/>
          </a:prstGeom>
        </p:spPr>
      </p:pic>
      <p:pic>
        <p:nvPicPr>
          <p:cNvPr id="7" name="Picture 6" descr="A person in a uniform&#10;&#10;Description automatically generated">
            <a:extLst>
              <a:ext uri="{FF2B5EF4-FFF2-40B4-BE49-F238E27FC236}">
                <a16:creationId xmlns:a16="http://schemas.microsoft.com/office/drawing/2014/main" id="{475EB80C-A92F-F3B4-12B8-2283C49E2FA0}"/>
              </a:ext>
            </a:extLst>
          </p:cNvPr>
          <p:cNvPicPr>
            <a:picLocks noChangeAspect="1"/>
          </p:cNvPicPr>
          <p:nvPr/>
        </p:nvPicPr>
        <p:blipFill>
          <a:blip r:embed="rId3"/>
          <a:stretch>
            <a:fillRect/>
          </a:stretch>
        </p:blipFill>
        <p:spPr>
          <a:xfrm>
            <a:off x="6096000" y="4626894"/>
            <a:ext cx="1462391" cy="2065735"/>
          </a:xfrm>
          <a:prstGeom prst="rect">
            <a:avLst/>
          </a:prstGeom>
        </p:spPr>
      </p:pic>
      <p:pic>
        <p:nvPicPr>
          <p:cNvPr id="8" name="Picture 7">
            <a:extLst>
              <a:ext uri="{FF2B5EF4-FFF2-40B4-BE49-F238E27FC236}">
                <a16:creationId xmlns:a16="http://schemas.microsoft.com/office/drawing/2014/main" id="{53A24B95-E992-B8A2-C876-E5178DBDC409}"/>
              </a:ext>
            </a:extLst>
          </p:cNvPr>
          <p:cNvPicPr>
            <a:picLocks noChangeAspect="1"/>
          </p:cNvPicPr>
          <p:nvPr/>
        </p:nvPicPr>
        <p:blipFill>
          <a:blip r:embed="rId4"/>
          <a:stretch>
            <a:fillRect/>
          </a:stretch>
        </p:blipFill>
        <p:spPr>
          <a:xfrm>
            <a:off x="6096000" y="1608295"/>
            <a:ext cx="1550593" cy="2065735"/>
          </a:xfrm>
          <a:prstGeom prst="rect">
            <a:avLst/>
          </a:prstGeom>
        </p:spPr>
      </p:pic>
      <p:graphicFrame>
        <p:nvGraphicFramePr>
          <p:cNvPr id="3" name="Table 2">
            <a:extLst>
              <a:ext uri="{FF2B5EF4-FFF2-40B4-BE49-F238E27FC236}">
                <a16:creationId xmlns:a16="http://schemas.microsoft.com/office/drawing/2014/main" id="{28ECA60B-3674-650A-5502-62E9FA037AB6}"/>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9" name="Picture 8" descr="A person standing on a stone wall with a bridge in the background&#10;&#10;Description automatically generated">
            <a:extLst>
              <a:ext uri="{FF2B5EF4-FFF2-40B4-BE49-F238E27FC236}">
                <a16:creationId xmlns:a16="http://schemas.microsoft.com/office/drawing/2014/main" id="{CF5CA309-35FB-8F7C-74FD-F7F0FF210E97}"/>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3" y="3236166"/>
            <a:ext cx="1642513" cy="1846851"/>
          </a:xfrm>
          <a:prstGeom prst="rect">
            <a:avLst/>
          </a:prstGeom>
        </p:spPr>
      </p:pic>
      <p:pic>
        <p:nvPicPr>
          <p:cNvPr id="10" name="Picture 9" descr="A person in a uniform&#10;&#10;Description automatically generated">
            <a:extLst>
              <a:ext uri="{FF2B5EF4-FFF2-40B4-BE49-F238E27FC236}">
                <a16:creationId xmlns:a16="http://schemas.microsoft.com/office/drawing/2014/main" id="{EA6DD5D2-0039-7666-5028-9983FEBA2A98}"/>
              </a:ext>
            </a:extLst>
          </p:cNvPr>
          <p:cNvPicPr>
            <a:picLocks noChangeAspect="1"/>
          </p:cNvPicPr>
          <p:nvPr/>
        </p:nvPicPr>
        <p:blipFill>
          <a:blip r:embed="rId3"/>
          <a:stretch>
            <a:fillRect/>
          </a:stretch>
        </p:blipFill>
        <p:spPr>
          <a:xfrm>
            <a:off x="6095999" y="4626893"/>
            <a:ext cx="1462391" cy="2065735"/>
          </a:xfrm>
          <a:prstGeom prst="rect">
            <a:avLst/>
          </a:prstGeom>
        </p:spPr>
      </p:pic>
      <p:pic>
        <p:nvPicPr>
          <p:cNvPr id="11" name="Picture 10">
            <a:extLst>
              <a:ext uri="{FF2B5EF4-FFF2-40B4-BE49-F238E27FC236}">
                <a16:creationId xmlns:a16="http://schemas.microsoft.com/office/drawing/2014/main" id="{CCFF34B2-5484-C4F2-4E38-483B3E34E6C1}"/>
              </a:ext>
            </a:extLst>
          </p:cNvPr>
          <p:cNvPicPr>
            <a:picLocks noChangeAspect="1"/>
          </p:cNvPicPr>
          <p:nvPr/>
        </p:nvPicPr>
        <p:blipFill>
          <a:blip r:embed="rId4"/>
          <a:stretch>
            <a:fillRect/>
          </a:stretch>
        </p:blipFill>
        <p:spPr>
          <a:xfrm>
            <a:off x="6095999" y="1608294"/>
            <a:ext cx="1550593" cy="2065735"/>
          </a:xfrm>
          <a:prstGeom prst="rect">
            <a:avLst/>
          </a:prstGeom>
        </p:spPr>
      </p:pic>
      <p:sp>
        <p:nvSpPr>
          <p:cNvPr id="12" name="Slide Number Placeholder 5">
            <a:extLst>
              <a:ext uri="{FF2B5EF4-FFF2-40B4-BE49-F238E27FC236}">
                <a16:creationId xmlns:a16="http://schemas.microsoft.com/office/drawing/2014/main" id="{E3F585D0-07EB-A773-A93C-5A424F8EE9BA}"/>
              </a:ext>
            </a:extLst>
          </p:cNvPr>
          <p:cNvSpPr txBox="1">
            <a:spLocks/>
          </p:cNvSpPr>
          <p:nvPr/>
        </p:nvSpPr>
        <p:spPr>
          <a:xfrm>
            <a:off x="11833698" y="0"/>
            <a:ext cx="358302"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1122904-1B5F-4679-B3DC-5E87602DE7DA}" type="slidenum">
              <a:rPr lang="he-IL" sz="1400" smtClean="0"/>
              <a:pPr/>
              <a:t>1</a:t>
            </a:fld>
            <a:endParaRPr lang="he-IL" sz="1400"/>
          </a:p>
        </p:txBody>
      </p:sp>
    </p:spTree>
    <p:extLst>
      <p:ext uri="{BB962C8B-B14F-4D97-AF65-F5344CB8AC3E}">
        <p14:creationId xmlns:p14="http://schemas.microsoft.com/office/powerpoint/2010/main" val="27956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F4EA96-6FC4-AA11-7BE8-2F2E1A3BE70C}"/>
              </a:ext>
            </a:extLst>
          </p:cNvPr>
          <p:cNvPicPr>
            <a:picLocks noChangeAspect="1"/>
          </p:cNvPicPr>
          <p:nvPr/>
        </p:nvPicPr>
        <p:blipFill rotWithShape="1">
          <a:blip r:embed="rId2"/>
          <a:srcRect b="2011"/>
          <a:stretch/>
        </p:blipFill>
        <p:spPr>
          <a:xfrm>
            <a:off x="1357068" y="97706"/>
            <a:ext cx="9477862" cy="5668123"/>
          </a:xfrm>
          <a:prstGeom prst="rect">
            <a:avLst/>
          </a:prstGeom>
        </p:spPr>
      </p:pic>
      <p:sp>
        <p:nvSpPr>
          <p:cNvPr id="6" name="Slide Number Placeholder 5">
            <a:extLst>
              <a:ext uri="{FF2B5EF4-FFF2-40B4-BE49-F238E27FC236}">
                <a16:creationId xmlns:a16="http://schemas.microsoft.com/office/drawing/2014/main" id="{E94176B5-AAD4-22BD-CD51-9CB82B99CD23}"/>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2</a:t>
            </a:fld>
            <a:endParaRPr lang="he-IL" sz="1400"/>
          </a:p>
        </p:txBody>
      </p:sp>
      <p:sp>
        <p:nvSpPr>
          <p:cNvPr id="4" name="Rectangle 3">
            <a:extLst>
              <a:ext uri="{FF2B5EF4-FFF2-40B4-BE49-F238E27FC236}">
                <a16:creationId xmlns:a16="http://schemas.microsoft.com/office/drawing/2014/main" id="{C731E78C-DC61-F5C6-600D-1C1C6DAB8F4F}"/>
              </a:ext>
            </a:extLst>
          </p:cNvPr>
          <p:cNvSpPr/>
          <p:nvPr/>
        </p:nvSpPr>
        <p:spPr>
          <a:xfrm>
            <a:off x="998706" y="5884806"/>
            <a:ext cx="10194587" cy="8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Pay attention : due to the complexity of the code and the complexity of the order of operations in the code – the functions will be explained first and only after that the connectivity to the task will be explained. Every function will be explained as an “isolated part” of the entire program.  </a:t>
            </a:r>
            <a:endParaRPr lang="he-IL" b="1" dirty="0">
              <a:solidFill>
                <a:srgbClr val="FFFF00"/>
              </a:solidFill>
            </a:endParaRPr>
          </a:p>
        </p:txBody>
      </p:sp>
    </p:spTree>
    <p:extLst>
      <p:ext uri="{BB962C8B-B14F-4D97-AF65-F5344CB8AC3E}">
        <p14:creationId xmlns:p14="http://schemas.microsoft.com/office/powerpoint/2010/main" val="3310269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3</a:t>
            </a:fld>
            <a:endParaRPr lang="he-IL" sz="1400"/>
          </a:p>
        </p:txBody>
      </p:sp>
      <p:sp>
        <p:nvSpPr>
          <p:cNvPr id="2" name="Title 1">
            <a:extLst>
              <a:ext uri="{FF2B5EF4-FFF2-40B4-BE49-F238E27FC236}">
                <a16:creationId xmlns:a16="http://schemas.microsoft.com/office/drawing/2014/main" id="{77BC767D-A646-A503-C483-FF5C02924A75}"/>
              </a:ext>
            </a:extLst>
          </p:cNvPr>
          <p:cNvSpPr txBox="1">
            <a:spLocks/>
          </p:cNvSpPr>
          <p:nvPr/>
        </p:nvSpPr>
        <p:spPr>
          <a:xfrm>
            <a:off x="3441159" y="0"/>
            <a:ext cx="5309681" cy="539595"/>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24.1 </a:t>
            </a:r>
            <a:r>
              <a:rPr lang="en-US" sz="2800" b="1" u="sng" dirty="0">
                <a:solidFill>
                  <a:srgbClr val="0070C0"/>
                </a:solidFill>
                <a:latin typeface="+mn-lt"/>
              </a:rPr>
              <a:t>– “DrawGaussian”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6" name="Picture 5">
            <a:extLst>
              <a:ext uri="{FF2B5EF4-FFF2-40B4-BE49-F238E27FC236}">
                <a16:creationId xmlns:a16="http://schemas.microsoft.com/office/drawing/2014/main" id="{FA9F002F-0534-CC94-98A6-7D7D42510E4D}"/>
              </a:ext>
            </a:extLst>
          </p:cNvPr>
          <p:cNvPicPr>
            <a:picLocks noChangeAspect="1"/>
          </p:cNvPicPr>
          <p:nvPr/>
        </p:nvPicPr>
        <p:blipFill>
          <a:blip r:embed="rId2"/>
          <a:stretch>
            <a:fillRect/>
          </a:stretch>
        </p:blipFill>
        <p:spPr>
          <a:xfrm>
            <a:off x="0" y="1285994"/>
            <a:ext cx="11487150" cy="3505200"/>
          </a:xfrm>
          <a:prstGeom prst="rect">
            <a:avLst/>
          </a:prstGeom>
        </p:spPr>
      </p:pic>
      <p:sp>
        <p:nvSpPr>
          <p:cNvPr id="7" name="TextBox 6">
            <a:extLst>
              <a:ext uri="{FF2B5EF4-FFF2-40B4-BE49-F238E27FC236}">
                <a16:creationId xmlns:a16="http://schemas.microsoft.com/office/drawing/2014/main" id="{6BE786D9-2E8F-350F-8216-CD4BBF1C8BB4}"/>
              </a:ext>
            </a:extLst>
          </p:cNvPr>
          <p:cNvSpPr txBox="1"/>
          <p:nvPr/>
        </p:nvSpPr>
        <p:spPr>
          <a:xfrm>
            <a:off x="448280" y="539595"/>
            <a:ext cx="11295437"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The DrawGaussian function is designed to add a Gaussian distribution to an image at specified coordinates.</a:t>
            </a:r>
            <a:endParaRPr lang="he-IL" b="1" dirty="0"/>
          </a:p>
        </p:txBody>
      </p:sp>
      <p:sp>
        <p:nvSpPr>
          <p:cNvPr id="9" name="TextBox 8">
            <a:extLst>
              <a:ext uri="{FF2B5EF4-FFF2-40B4-BE49-F238E27FC236}">
                <a16:creationId xmlns:a16="http://schemas.microsoft.com/office/drawing/2014/main" id="{6C1E5E3A-5F22-2A26-55E4-63283405E364}"/>
              </a:ext>
            </a:extLst>
          </p:cNvPr>
          <p:cNvSpPr txBox="1"/>
          <p:nvPr/>
        </p:nvSpPr>
        <p:spPr>
          <a:xfrm>
            <a:off x="8274185" y="1614927"/>
            <a:ext cx="3738664"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For each pixel located at (row, column), the function calculates the value of the Gaussian distribution at that point.</a:t>
            </a:r>
            <a:endParaRPr lang="he-IL" dirty="0"/>
          </a:p>
        </p:txBody>
      </p:sp>
      <p:sp>
        <p:nvSpPr>
          <p:cNvPr id="12" name="TextBox 11">
            <a:extLst>
              <a:ext uri="{FF2B5EF4-FFF2-40B4-BE49-F238E27FC236}">
                <a16:creationId xmlns:a16="http://schemas.microsoft.com/office/drawing/2014/main" id="{2D31A514-D48A-379F-5905-5F421D216EE6}"/>
              </a:ext>
            </a:extLst>
          </p:cNvPr>
          <p:cNvSpPr txBox="1"/>
          <p:nvPr/>
        </p:nvSpPr>
        <p:spPr>
          <a:xfrm>
            <a:off x="7991273" y="2810768"/>
            <a:ext cx="4200727"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a and b are the normalized distances from the center of the Gaussian in the x and y directions, respectively.</a:t>
            </a:r>
            <a:endParaRPr lang="he-IL" dirty="0"/>
          </a:p>
        </p:txBody>
      </p:sp>
      <p:cxnSp>
        <p:nvCxnSpPr>
          <p:cNvPr id="14" name="Straight Arrow Connector 13">
            <a:extLst>
              <a:ext uri="{FF2B5EF4-FFF2-40B4-BE49-F238E27FC236}">
                <a16:creationId xmlns:a16="http://schemas.microsoft.com/office/drawing/2014/main" id="{53F603CD-955C-FEEF-9DE3-AC6FB34DE037}"/>
              </a:ext>
            </a:extLst>
          </p:cNvPr>
          <p:cNvCxnSpPr>
            <a:cxnSpLocks/>
            <a:stCxn id="12" idx="1"/>
          </p:cNvCxnSpPr>
          <p:nvPr/>
        </p:nvCxnSpPr>
        <p:spPr>
          <a:xfrm flipH="1" flipV="1">
            <a:off x="5175115" y="3138421"/>
            <a:ext cx="2816158" cy="134012"/>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18" name="TextBox 17">
            <a:extLst>
              <a:ext uri="{FF2B5EF4-FFF2-40B4-BE49-F238E27FC236}">
                <a16:creationId xmlns:a16="http://schemas.microsoft.com/office/drawing/2014/main" id="{B3B4A4B0-80B6-614C-04F8-A644F9E56184}"/>
              </a:ext>
            </a:extLst>
          </p:cNvPr>
          <p:cNvSpPr txBox="1"/>
          <p:nvPr/>
        </p:nvSpPr>
        <p:spPr>
          <a:xfrm>
            <a:off x="7478532" y="4141540"/>
            <a:ext cx="4649012"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Gaussian value c is then calculated using the formula for a 2D Gaussian distribution:</a:t>
            </a:r>
            <a:endParaRPr lang="he-IL" dirty="0"/>
          </a:p>
        </p:txBody>
      </p:sp>
      <p:cxnSp>
        <p:nvCxnSpPr>
          <p:cNvPr id="19" name="Straight Arrow Connector 18">
            <a:extLst>
              <a:ext uri="{FF2B5EF4-FFF2-40B4-BE49-F238E27FC236}">
                <a16:creationId xmlns:a16="http://schemas.microsoft.com/office/drawing/2014/main" id="{71FBE9E0-92DE-8020-3B1A-3A2EA23760A0}"/>
              </a:ext>
            </a:extLst>
          </p:cNvPr>
          <p:cNvCxnSpPr>
            <a:cxnSpLocks/>
          </p:cNvCxnSpPr>
          <p:nvPr/>
        </p:nvCxnSpPr>
        <p:spPr>
          <a:xfrm flipH="1" flipV="1">
            <a:off x="5175115" y="3521256"/>
            <a:ext cx="5408579" cy="540495"/>
          </a:xfrm>
          <a:prstGeom prst="straightConnector1">
            <a:avLst/>
          </a:prstGeom>
          <a:ln w="76200">
            <a:solidFill>
              <a:srgbClr val="7030A0"/>
            </a:solidFill>
            <a:tailEnd type="triangle"/>
          </a:ln>
        </p:spPr>
        <p:style>
          <a:lnRef idx="3">
            <a:schemeClr val="accent3"/>
          </a:lnRef>
          <a:fillRef idx="0">
            <a:schemeClr val="accent3"/>
          </a:fillRef>
          <a:effectRef idx="2">
            <a:schemeClr val="accent3"/>
          </a:effectRef>
          <a:fontRef idx="minor">
            <a:schemeClr val="tx1"/>
          </a:fontRef>
        </p:style>
      </p:cxnSp>
      <p:sp>
        <p:nvSpPr>
          <p:cNvPr id="25" name="TextBox 24">
            <a:extLst>
              <a:ext uri="{FF2B5EF4-FFF2-40B4-BE49-F238E27FC236}">
                <a16:creationId xmlns:a16="http://schemas.microsoft.com/office/drawing/2014/main" id="{2F311737-6B49-E10E-8499-1DBBB2CB2488}"/>
              </a:ext>
            </a:extLst>
          </p:cNvPr>
          <p:cNvSpPr txBox="1"/>
          <p:nvPr/>
        </p:nvSpPr>
        <p:spPr>
          <a:xfrm>
            <a:off x="7492515" y="4795681"/>
            <a:ext cx="4649012"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d is the Gaussian value rounded to the nearest integer.</a:t>
            </a:r>
            <a:endParaRPr lang="he-IL" dirty="0"/>
          </a:p>
        </p:txBody>
      </p:sp>
      <p:sp>
        <p:nvSpPr>
          <p:cNvPr id="27" name="TextBox 26">
            <a:extLst>
              <a:ext uri="{FF2B5EF4-FFF2-40B4-BE49-F238E27FC236}">
                <a16:creationId xmlns:a16="http://schemas.microsoft.com/office/drawing/2014/main" id="{14058FED-0CB2-DD70-2FF9-C888E86D50DA}"/>
              </a:ext>
            </a:extLst>
          </p:cNvPr>
          <p:cNvSpPr txBox="1"/>
          <p:nvPr/>
        </p:nvSpPr>
        <p:spPr>
          <a:xfrm>
            <a:off x="4189381" y="5436667"/>
            <a:ext cx="8002619"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updates the pixel value at (row, column) in the image array img:</a:t>
            </a:r>
          </a:p>
          <a:p>
            <a:r>
              <a:rPr lang="en-US" dirty="0"/>
              <a:t>If the calculated Gaussian value d is greater than 10, the pixel value is updated to d. If d is less than or equal to 10, the pixel value remains unchanged.</a:t>
            </a:r>
          </a:p>
        </p:txBody>
      </p:sp>
      <p:cxnSp>
        <p:nvCxnSpPr>
          <p:cNvPr id="30" name="Straight Arrow Connector 29">
            <a:extLst>
              <a:ext uri="{FF2B5EF4-FFF2-40B4-BE49-F238E27FC236}">
                <a16:creationId xmlns:a16="http://schemas.microsoft.com/office/drawing/2014/main" id="{F21F182F-8F8A-6162-2061-D5CADB31DAFE}"/>
              </a:ext>
            </a:extLst>
          </p:cNvPr>
          <p:cNvCxnSpPr>
            <a:cxnSpLocks/>
          </p:cNvCxnSpPr>
          <p:nvPr/>
        </p:nvCxnSpPr>
        <p:spPr>
          <a:xfrm flipH="1" flipV="1">
            <a:off x="4829775" y="4202437"/>
            <a:ext cx="1864065" cy="1234230"/>
          </a:xfrm>
          <a:prstGeom prst="straightConnector1">
            <a:avLst/>
          </a:prstGeom>
          <a:ln w="76200">
            <a:solidFill>
              <a:srgbClr val="0070C0"/>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505964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4</a:t>
            </a:fld>
            <a:endParaRPr lang="he-IL" sz="1400"/>
          </a:p>
        </p:txBody>
      </p:sp>
      <p:sp>
        <p:nvSpPr>
          <p:cNvPr id="2" name="Title 1">
            <a:extLst>
              <a:ext uri="{FF2B5EF4-FFF2-40B4-BE49-F238E27FC236}">
                <a16:creationId xmlns:a16="http://schemas.microsoft.com/office/drawing/2014/main" id="{12D43947-06AD-6896-2FE6-3ED938BA38FF}"/>
              </a:ext>
            </a:extLst>
          </p:cNvPr>
          <p:cNvSpPr txBox="1">
            <a:spLocks/>
          </p:cNvSpPr>
          <p:nvPr/>
        </p:nvSpPr>
        <p:spPr>
          <a:xfrm>
            <a:off x="27906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24.2 </a:t>
            </a:r>
            <a:r>
              <a:rPr lang="en-US" sz="2800" b="1" u="sng" dirty="0">
                <a:solidFill>
                  <a:srgbClr val="0070C0"/>
                </a:solidFill>
                <a:latin typeface="+mn-lt"/>
              </a:rPr>
              <a:t>– “ROI (region of interest)” struct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469326FF-6065-DBDC-C98C-05C7A0ABD889}"/>
              </a:ext>
            </a:extLst>
          </p:cNvPr>
          <p:cNvSpPr txBox="1"/>
          <p:nvPr/>
        </p:nvSpPr>
        <p:spPr>
          <a:xfrm>
            <a:off x="6250832" y="1028700"/>
            <a:ext cx="5941168"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The primary purpose of the ROI struct is to define a rectangular area within an image where certain operations will be applied.</a:t>
            </a:r>
            <a:endParaRPr lang="he-IL" dirty="0"/>
          </a:p>
        </p:txBody>
      </p:sp>
      <p:sp>
        <p:nvSpPr>
          <p:cNvPr id="8" name="Arrow: Down 7">
            <a:extLst>
              <a:ext uri="{FF2B5EF4-FFF2-40B4-BE49-F238E27FC236}">
                <a16:creationId xmlns:a16="http://schemas.microsoft.com/office/drawing/2014/main" id="{69B7F779-1AC6-6036-59FA-9D6842C8C82C}"/>
              </a:ext>
            </a:extLst>
          </p:cNvPr>
          <p:cNvSpPr/>
          <p:nvPr/>
        </p:nvSpPr>
        <p:spPr>
          <a:xfrm>
            <a:off x="8998085" y="1952030"/>
            <a:ext cx="418289" cy="5479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a:extLst>
              <a:ext uri="{FF2B5EF4-FFF2-40B4-BE49-F238E27FC236}">
                <a16:creationId xmlns:a16="http://schemas.microsoft.com/office/drawing/2014/main" id="{27E04356-879D-9AAA-1087-70E4EDAE2828}"/>
              </a:ext>
            </a:extLst>
          </p:cNvPr>
          <p:cNvSpPr txBox="1"/>
          <p:nvPr/>
        </p:nvSpPr>
        <p:spPr>
          <a:xfrm>
            <a:off x="6250832" y="2500009"/>
            <a:ext cx="5941168"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This allows focusing on specific parts of the image rather than processing the entire image.</a:t>
            </a:r>
            <a:endParaRPr lang="he-IL" dirty="0"/>
          </a:p>
        </p:txBody>
      </p:sp>
      <p:sp>
        <p:nvSpPr>
          <p:cNvPr id="12" name="TextBox 11">
            <a:extLst>
              <a:ext uri="{FF2B5EF4-FFF2-40B4-BE49-F238E27FC236}">
                <a16:creationId xmlns:a16="http://schemas.microsoft.com/office/drawing/2014/main" id="{BBD7E002-271A-42FF-82C4-60BA6125833A}"/>
              </a:ext>
            </a:extLst>
          </p:cNvPr>
          <p:cNvSpPr txBox="1"/>
          <p:nvPr/>
        </p:nvSpPr>
        <p:spPr>
          <a:xfrm>
            <a:off x="6236645" y="3909722"/>
            <a:ext cx="5941168"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void </a:t>
            </a:r>
            <a:r>
              <a:rPr lang="en-US" b="1" dirty="0"/>
              <a:t>ClipToBounds</a:t>
            </a:r>
            <a:r>
              <a:rPr lang="en-US" dirty="0"/>
              <a:t> is a method to ensure the ROI is within the bounds of the image. It adjusts the top, bottom, left, and right properties to make sure they do not exceed the image dimensions.</a:t>
            </a:r>
            <a:endParaRPr lang="he-IL" dirty="0"/>
          </a:p>
        </p:txBody>
      </p:sp>
      <p:sp>
        <p:nvSpPr>
          <p:cNvPr id="13" name="Arrow: Down 12">
            <a:extLst>
              <a:ext uri="{FF2B5EF4-FFF2-40B4-BE49-F238E27FC236}">
                <a16:creationId xmlns:a16="http://schemas.microsoft.com/office/drawing/2014/main" id="{D15272F2-312D-413D-A196-B1B9C013A799}"/>
              </a:ext>
            </a:extLst>
          </p:cNvPr>
          <p:cNvSpPr/>
          <p:nvPr/>
        </p:nvSpPr>
        <p:spPr>
          <a:xfrm>
            <a:off x="8998084" y="3149349"/>
            <a:ext cx="418289" cy="7603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Rectangle 13">
            <a:extLst>
              <a:ext uri="{FF2B5EF4-FFF2-40B4-BE49-F238E27FC236}">
                <a16:creationId xmlns:a16="http://schemas.microsoft.com/office/drawing/2014/main" id="{8CA5FC28-35C9-3AB8-8D55-8FF6AEAF6429}"/>
              </a:ext>
            </a:extLst>
          </p:cNvPr>
          <p:cNvSpPr/>
          <p:nvPr/>
        </p:nvSpPr>
        <p:spPr>
          <a:xfrm>
            <a:off x="6250832" y="5680953"/>
            <a:ext cx="5926981" cy="9338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Summary : we created the ROI as a useful tool for </a:t>
            </a:r>
            <a:r>
              <a:rPr lang="en-US" u="sng" dirty="0"/>
              <a:t>later</a:t>
            </a:r>
            <a:r>
              <a:rPr lang="en-US" dirty="0"/>
              <a:t> counting operation (of objects or gaussians). In the next slides the usefulness of the ROI will be clarified! </a:t>
            </a:r>
            <a:endParaRPr lang="he-IL" dirty="0"/>
          </a:p>
        </p:txBody>
      </p:sp>
      <p:pic>
        <p:nvPicPr>
          <p:cNvPr id="6" name="Picture 5">
            <a:extLst>
              <a:ext uri="{FF2B5EF4-FFF2-40B4-BE49-F238E27FC236}">
                <a16:creationId xmlns:a16="http://schemas.microsoft.com/office/drawing/2014/main" id="{E5BBF6CD-571C-4F3D-6777-1772CDC791B4}"/>
              </a:ext>
            </a:extLst>
          </p:cNvPr>
          <p:cNvPicPr>
            <a:picLocks noChangeAspect="1"/>
          </p:cNvPicPr>
          <p:nvPr/>
        </p:nvPicPr>
        <p:blipFill>
          <a:blip r:embed="rId2"/>
          <a:stretch>
            <a:fillRect/>
          </a:stretch>
        </p:blipFill>
        <p:spPr>
          <a:xfrm>
            <a:off x="0" y="1335425"/>
            <a:ext cx="6087472" cy="4187150"/>
          </a:xfrm>
          <a:prstGeom prst="rect">
            <a:avLst/>
          </a:prstGeom>
        </p:spPr>
      </p:pic>
    </p:spTree>
    <p:extLst>
      <p:ext uri="{BB962C8B-B14F-4D97-AF65-F5344CB8AC3E}">
        <p14:creationId xmlns:p14="http://schemas.microsoft.com/office/powerpoint/2010/main" val="1199179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B17C912-7054-816A-98EC-1A7820DC708C}"/>
              </a:ext>
            </a:extLst>
          </p:cNvPr>
          <p:cNvPicPr>
            <a:picLocks noChangeAspect="1"/>
          </p:cNvPicPr>
          <p:nvPr/>
        </p:nvPicPr>
        <p:blipFill>
          <a:blip r:embed="rId2"/>
          <a:stretch>
            <a:fillRect/>
          </a:stretch>
        </p:blipFill>
        <p:spPr>
          <a:xfrm>
            <a:off x="-22191" y="1267715"/>
            <a:ext cx="8696325" cy="5381625"/>
          </a:xfrm>
          <a:prstGeom prst="rect">
            <a:avLst/>
          </a:prstGeom>
        </p:spPr>
      </p:pic>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5</a:t>
            </a:fld>
            <a:endParaRPr lang="he-IL" sz="1400"/>
          </a:p>
        </p:txBody>
      </p:sp>
      <p:sp>
        <p:nvSpPr>
          <p:cNvPr id="2" name="Title 1">
            <a:extLst>
              <a:ext uri="{FF2B5EF4-FFF2-40B4-BE49-F238E27FC236}">
                <a16:creationId xmlns:a16="http://schemas.microsoft.com/office/drawing/2014/main" id="{0E0A5D3A-BA8A-BD31-403D-5A1545FE1B59}"/>
              </a:ext>
            </a:extLst>
          </p:cNvPr>
          <p:cNvSpPr txBox="1">
            <a:spLocks/>
          </p:cNvSpPr>
          <p:nvPr/>
        </p:nvSpPr>
        <p:spPr>
          <a:xfrm>
            <a:off x="2268367" y="-8212"/>
            <a:ext cx="7655263" cy="48713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24.3 </a:t>
            </a:r>
            <a:r>
              <a:rPr lang="en-US" sz="2800" b="1" u="sng" dirty="0">
                <a:solidFill>
                  <a:srgbClr val="0070C0"/>
                </a:solidFill>
                <a:latin typeface="+mn-lt"/>
              </a:rPr>
              <a:t>– “CountElementsInROI” function – </a:t>
            </a:r>
            <a:r>
              <a:rPr lang="en-US" sz="2800" b="1" u="sng" dirty="0">
                <a:solidFill>
                  <a:srgbClr val="FF0000"/>
                </a:solidFill>
                <a:latin typeface="+mn-lt"/>
              </a:rPr>
              <a:t>part 1</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12" name="TextBox 11">
            <a:extLst>
              <a:ext uri="{FF2B5EF4-FFF2-40B4-BE49-F238E27FC236}">
                <a16:creationId xmlns:a16="http://schemas.microsoft.com/office/drawing/2014/main" id="{08B30273-3769-FD7A-9260-4709E325D33E}"/>
              </a:ext>
            </a:extLst>
          </p:cNvPr>
          <p:cNvSpPr txBox="1"/>
          <p:nvPr/>
        </p:nvSpPr>
        <p:spPr>
          <a:xfrm>
            <a:off x="629055" y="505500"/>
            <a:ext cx="10933889"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t>This function is designed to count the number of elements (or objects) within a specified region of interest (ROI) in a grayscale image. It also modifies the image </a:t>
            </a:r>
            <a:r>
              <a:rPr lang="en-US" b="1" u="sng" dirty="0">
                <a:solidFill>
                  <a:srgbClr val="92D050"/>
                </a:solidFill>
              </a:rPr>
              <a:t>to</a:t>
            </a:r>
            <a:r>
              <a:rPr lang="en-US" b="1" u="sng" dirty="0"/>
              <a:t> </a:t>
            </a:r>
            <a:r>
              <a:rPr lang="en-US" b="1" u="sng" dirty="0">
                <a:solidFill>
                  <a:srgbClr val="92D050"/>
                </a:solidFill>
              </a:rPr>
              <a:t>mark visited areas</a:t>
            </a:r>
            <a:r>
              <a:rPr lang="en-US" b="1" dirty="0"/>
              <a:t>.</a:t>
            </a:r>
            <a:endParaRPr lang="he-IL" b="1" dirty="0"/>
          </a:p>
        </p:txBody>
      </p:sp>
      <p:sp>
        <p:nvSpPr>
          <p:cNvPr id="14" name="TextBox 13">
            <a:extLst>
              <a:ext uri="{FF2B5EF4-FFF2-40B4-BE49-F238E27FC236}">
                <a16:creationId xmlns:a16="http://schemas.microsoft.com/office/drawing/2014/main" id="{5492551A-FC9E-84D6-D11D-589BA494715A}"/>
              </a:ext>
            </a:extLst>
          </p:cNvPr>
          <p:cNvSpPr txBox="1"/>
          <p:nvPr/>
        </p:nvSpPr>
        <p:spPr>
          <a:xfrm>
            <a:off x="7911830" y="1657331"/>
            <a:ext cx="4276927"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 This variable will store the count of elements (objects) found within the ROI.</a:t>
            </a:r>
            <a:endParaRPr lang="he-IL" dirty="0"/>
          </a:p>
        </p:txBody>
      </p:sp>
      <p:cxnSp>
        <p:nvCxnSpPr>
          <p:cNvPr id="19" name="Straight Arrow Connector 18">
            <a:extLst>
              <a:ext uri="{FF2B5EF4-FFF2-40B4-BE49-F238E27FC236}">
                <a16:creationId xmlns:a16="http://schemas.microsoft.com/office/drawing/2014/main" id="{AC5BF322-DFF5-7345-2439-D388BE7B9C24}"/>
              </a:ext>
            </a:extLst>
          </p:cNvPr>
          <p:cNvCxnSpPr/>
          <p:nvPr/>
        </p:nvCxnSpPr>
        <p:spPr>
          <a:xfrm flipH="1">
            <a:off x="3132306" y="1770434"/>
            <a:ext cx="4779524" cy="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21" name="TextBox 20">
            <a:extLst>
              <a:ext uri="{FF2B5EF4-FFF2-40B4-BE49-F238E27FC236}">
                <a16:creationId xmlns:a16="http://schemas.microsoft.com/office/drawing/2014/main" id="{7D5AA77C-95EA-89C2-42DA-AAAD1A6A9EA1}"/>
              </a:ext>
            </a:extLst>
          </p:cNvPr>
          <p:cNvSpPr txBox="1"/>
          <p:nvPr/>
        </p:nvSpPr>
        <p:spPr>
          <a:xfrm>
            <a:off x="9170244" y="2866898"/>
            <a:ext cx="3018513"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Inside the inner loop, each pixel within the ROI is checked and processed</a:t>
            </a:r>
            <a:endParaRPr lang="he-IL" dirty="0"/>
          </a:p>
        </p:txBody>
      </p:sp>
      <p:sp>
        <p:nvSpPr>
          <p:cNvPr id="22" name="Arrow: Down 21">
            <a:extLst>
              <a:ext uri="{FF2B5EF4-FFF2-40B4-BE49-F238E27FC236}">
                <a16:creationId xmlns:a16="http://schemas.microsoft.com/office/drawing/2014/main" id="{6806EFB2-EDC3-6495-0A9A-4EFDD57E73FC}"/>
              </a:ext>
            </a:extLst>
          </p:cNvPr>
          <p:cNvSpPr/>
          <p:nvPr/>
        </p:nvSpPr>
        <p:spPr>
          <a:xfrm>
            <a:off x="10369685" y="3790228"/>
            <a:ext cx="486383" cy="56323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4" name="TextBox 23">
            <a:extLst>
              <a:ext uri="{FF2B5EF4-FFF2-40B4-BE49-F238E27FC236}">
                <a16:creationId xmlns:a16="http://schemas.microsoft.com/office/drawing/2014/main" id="{BA682355-0F4F-117D-7469-F5B3DE2FDA4A}"/>
              </a:ext>
            </a:extLst>
          </p:cNvPr>
          <p:cNvSpPr txBox="1"/>
          <p:nvPr/>
        </p:nvSpPr>
        <p:spPr>
          <a:xfrm>
            <a:off x="7620000" y="4353464"/>
            <a:ext cx="4572000" cy="1200329"/>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function checks if the pixel value is less than 127 (a mid-gray value). This threshold is used to identify "blackish" objects or areas that are darker than the threshold.</a:t>
            </a:r>
            <a:endParaRPr lang="he-IL" dirty="0"/>
          </a:p>
        </p:txBody>
      </p:sp>
      <p:sp>
        <p:nvSpPr>
          <p:cNvPr id="25" name="Arrow: Down 24">
            <a:extLst>
              <a:ext uri="{FF2B5EF4-FFF2-40B4-BE49-F238E27FC236}">
                <a16:creationId xmlns:a16="http://schemas.microsoft.com/office/drawing/2014/main" id="{578BB39C-5BF3-1377-09DA-9DCBF1090857}"/>
              </a:ext>
            </a:extLst>
          </p:cNvPr>
          <p:cNvSpPr/>
          <p:nvPr/>
        </p:nvSpPr>
        <p:spPr>
          <a:xfrm>
            <a:off x="10256196" y="5574822"/>
            <a:ext cx="599872" cy="52674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6" name="Rectangle 25">
            <a:extLst>
              <a:ext uri="{FF2B5EF4-FFF2-40B4-BE49-F238E27FC236}">
                <a16:creationId xmlns:a16="http://schemas.microsoft.com/office/drawing/2014/main" id="{C61E7898-DDC8-1884-714D-54A4CE442278}"/>
              </a:ext>
            </a:extLst>
          </p:cNvPr>
          <p:cNvSpPr/>
          <p:nvPr/>
        </p:nvSpPr>
        <p:spPr>
          <a:xfrm>
            <a:off x="7978302" y="6119790"/>
            <a:ext cx="4213698" cy="547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 deeper explanation about the checking process will be presented next slide</a:t>
            </a:r>
            <a:endParaRPr lang="he-IL" dirty="0"/>
          </a:p>
        </p:txBody>
      </p:sp>
    </p:spTree>
    <p:extLst>
      <p:ext uri="{BB962C8B-B14F-4D97-AF65-F5344CB8AC3E}">
        <p14:creationId xmlns:p14="http://schemas.microsoft.com/office/powerpoint/2010/main" val="961649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997E31-E5D6-3EDC-36CF-D119F88D8F0F}"/>
              </a:ext>
            </a:extLst>
          </p:cNvPr>
          <p:cNvSpPr>
            <a:spLocks noGrp="1"/>
          </p:cNvSpPr>
          <p:nvPr>
            <p:ph type="sldNum" sz="quarter" idx="12"/>
          </p:nvPr>
        </p:nvSpPr>
        <p:spPr>
          <a:xfrm>
            <a:off x="11736421" y="-8212"/>
            <a:ext cx="455579" cy="365125"/>
          </a:xfrm>
        </p:spPr>
        <p:txBody>
          <a:bodyPr/>
          <a:lstStyle/>
          <a:p>
            <a:fld id="{81122904-1B5F-4679-B3DC-5E87602DE7DA}" type="slidenum">
              <a:rPr lang="he-IL" sz="1400" smtClean="0"/>
              <a:t>6</a:t>
            </a:fld>
            <a:endParaRPr lang="he-IL" sz="1400"/>
          </a:p>
        </p:txBody>
      </p:sp>
      <p:sp>
        <p:nvSpPr>
          <p:cNvPr id="7" name="TextBox 6">
            <a:extLst>
              <a:ext uri="{FF2B5EF4-FFF2-40B4-BE49-F238E27FC236}">
                <a16:creationId xmlns:a16="http://schemas.microsoft.com/office/drawing/2014/main" id="{520AB42D-F96D-1427-879A-486546210B1E}"/>
              </a:ext>
            </a:extLst>
          </p:cNvPr>
          <p:cNvSpPr txBox="1"/>
          <p:nvPr/>
        </p:nvSpPr>
        <p:spPr>
          <a:xfrm>
            <a:off x="1323568" y="749429"/>
            <a:ext cx="9544859"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function checks if the pixel value is less than 127 (a mid-gray value).</a:t>
            </a:r>
          </a:p>
          <a:p>
            <a:r>
              <a:rPr lang="en-US" dirty="0"/>
              <a:t> This threshold is used to identify "blackish" objects or areas that are darker than the threshold.</a:t>
            </a:r>
            <a:endParaRPr lang="he-IL" dirty="0"/>
          </a:p>
        </p:txBody>
      </p:sp>
      <p:sp>
        <p:nvSpPr>
          <p:cNvPr id="8" name="Title 1">
            <a:extLst>
              <a:ext uri="{FF2B5EF4-FFF2-40B4-BE49-F238E27FC236}">
                <a16:creationId xmlns:a16="http://schemas.microsoft.com/office/drawing/2014/main" id="{FFD0E458-E744-CECE-FA0F-DF5CD4DB9859}"/>
              </a:ext>
            </a:extLst>
          </p:cNvPr>
          <p:cNvSpPr txBox="1">
            <a:spLocks/>
          </p:cNvSpPr>
          <p:nvPr/>
        </p:nvSpPr>
        <p:spPr>
          <a:xfrm>
            <a:off x="2268367" y="-8212"/>
            <a:ext cx="7655263" cy="48713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24.3 </a:t>
            </a:r>
            <a:r>
              <a:rPr lang="en-US" sz="2800" b="1" u="sng" dirty="0">
                <a:solidFill>
                  <a:srgbClr val="0070C0"/>
                </a:solidFill>
                <a:latin typeface="+mn-lt"/>
              </a:rPr>
              <a:t>– “CountElementsInROI” function – </a:t>
            </a:r>
            <a:r>
              <a:rPr lang="en-US" sz="2800" b="1" u="sng" dirty="0">
                <a:solidFill>
                  <a:srgbClr val="FF0000"/>
                </a:solidFill>
                <a:latin typeface="+mn-lt"/>
              </a:rPr>
              <a:t>part 2</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9" name="Arrow: Down 8">
            <a:extLst>
              <a:ext uri="{FF2B5EF4-FFF2-40B4-BE49-F238E27FC236}">
                <a16:creationId xmlns:a16="http://schemas.microsoft.com/office/drawing/2014/main" id="{EFFBFF05-D486-4A0F-363F-2DAA8DBD363D}"/>
              </a:ext>
            </a:extLst>
          </p:cNvPr>
          <p:cNvSpPr/>
          <p:nvPr/>
        </p:nvSpPr>
        <p:spPr>
          <a:xfrm>
            <a:off x="2861550" y="1395760"/>
            <a:ext cx="710119" cy="11099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a:extLst>
              <a:ext uri="{FF2B5EF4-FFF2-40B4-BE49-F238E27FC236}">
                <a16:creationId xmlns:a16="http://schemas.microsoft.com/office/drawing/2014/main" id="{491E4C16-1943-0892-0573-8ADBF4D222B4}"/>
              </a:ext>
            </a:extLst>
          </p:cNvPr>
          <p:cNvSpPr txBox="1"/>
          <p:nvPr/>
        </p:nvSpPr>
        <p:spPr>
          <a:xfrm>
            <a:off x="89980" y="2505670"/>
            <a:ext cx="5843893"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If the pixel is below the threshold (i.e., part of an object), </a:t>
            </a:r>
            <a:r>
              <a:rPr lang="en-US" b="1" dirty="0"/>
              <a:t>CountElem</a:t>
            </a:r>
            <a:r>
              <a:rPr lang="en-US" dirty="0"/>
              <a:t> is incremented, indicating that an element has been found.</a:t>
            </a:r>
            <a:endParaRPr lang="he-IL" dirty="0"/>
          </a:p>
        </p:txBody>
      </p:sp>
      <p:sp>
        <p:nvSpPr>
          <p:cNvPr id="13" name="TextBox 12">
            <a:extLst>
              <a:ext uri="{FF2B5EF4-FFF2-40B4-BE49-F238E27FC236}">
                <a16:creationId xmlns:a16="http://schemas.microsoft.com/office/drawing/2014/main" id="{DD213990-A597-CADB-AAA5-844B935DE409}"/>
              </a:ext>
            </a:extLst>
          </p:cNvPr>
          <p:cNvSpPr txBox="1"/>
          <p:nvPr/>
        </p:nvSpPr>
        <p:spPr>
          <a:xfrm>
            <a:off x="89980" y="4568651"/>
            <a:ext cx="5843893"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pixel value is then set to 50, marking it as "visited." This prevents the function from counting the same pixel multiple times in future iterations.</a:t>
            </a:r>
            <a:endParaRPr lang="he-IL" dirty="0"/>
          </a:p>
        </p:txBody>
      </p:sp>
      <p:sp>
        <p:nvSpPr>
          <p:cNvPr id="14" name="Arrow: Down 13">
            <a:extLst>
              <a:ext uri="{FF2B5EF4-FFF2-40B4-BE49-F238E27FC236}">
                <a16:creationId xmlns:a16="http://schemas.microsoft.com/office/drawing/2014/main" id="{780B58DE-72B2-AFBC-F22D-B96D279791B1}"/>
              </a:ext>
            </a:extLst>
          </p:cNvPr>
          <p:cNvSpPr/>
          <p:nvPr/>
        </p:nvSpPr>
        <p:spPr>
          <a:xfrm>
            <a:off x="2861549" y="3429000"/>
            <a:ext cx="710119" cy="11099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TextBox 16">
            <a:extLst>
              <a:ext uri="{FF2B5EF4-FFF2-40B4-BE49-F238E27FC236}">
                <a16:creationId xmlns:a16="http://schemas.microsoft.com/office/drawing/2014/main" id="{F5205E07-A785-4A9E-DA4E-803C22178B46}"/>
              </a:ext>
            </a:extLst>
          </p:cNvPr>
          <p:cNvSpPr txBox="1"/>
          <p:nvPr/>
        </p:nvSpPr>
        <p:spPr>
          <a:xfrm>
            <a:off x="6871577" y="2505670"/>
            <a:ext cx="5320423"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If the pixel is not part of an element (i.e., its value is 127 or greater), it is marked with a value of 200. This marking can help differentiate between processed and unprocessed areas of the image.</a:t>
            </a:r>
            <a:endParaRPr lang="he-IL" dirty="0"/>
          </a:p>
        </p:txBody>
      </p:sp>
      <p:sp>
        <p:nvSpPr>
          <p:cNvPr id="18" name="Arrow: Down 17">
            <a:extLst>
              <a:ext uri="{FF2B5EF4-FFF2-40B4-BE49-F238E27FC236}">
                <a16:creationId xmlns:a16="http://schemas.microsoft.com/office/drawing/2014/main" id="{194F5264-D97C-E9EE-9CE7-FE2AADD16EB2}"/>
              </a:ext>
            </a:extLst>
          </p:cNvPr>
          <p:cNvSpPr/>
          <p:nvPr/>
        </p:nvSpPr>
        <p:spPr>
          <a:xfrm>
            <a:off x="9045099" y="1395760"/>
            <a:ext cx="710119" cy="11099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TextBox 19">
            <a:extLst>
              <a:ext uri="{FF2B5EF4-FFF2-40B4-BE49-F238E27FC236}">
                <a16:creationId xmlns:a16="http://schemas.microsoft.com/office/drawing/2014/main" id="{6B80E2A4-4E52-5F9B-E349-871B264C8D6E}"/>
              </a:ext>
            </a:extLst>
          </p:cNvPr>
          <p:cNvSpPr txBox="1"/>
          <p:nvPr/>
        </p:nvSpPr>
        <p:spPr>
          <a:xfrm>
            <a:off x="2471939" y="5985301"/>
            <a:ext cx="7059849"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function works within the specified ROI and ensures that the ROI does not exceed the image boundaries. (using </a:t>
            </a:r>
            <a:r>
              <a:rPr lang="en-US" u="sng" dirty="0"/>
              <a:t>ClipToBounds</a:t>
            </a:r>
            <a:r>
              <a:rPr lang="en-US" dirty="0"/>
              <a:t> method)</a:t>
            </a:r>
            <a:endParaRPr lang="he-IL" dirty="0"/>
          </a:p>
        </p:txBody>
      </p:sp>
    </p:spTree>
    <p:extLst>
      <p:ext uri="{BB962C8B-B14F-4D97-AF65-F5344CB8AC3E}">
        <p14:creationId xmlns:p14="http://schemas.microsoft.com/office/powerpoint/2010/main" val="3763643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7</a:t>
            </a:fld>
            <a:endParaRPr lang="he-IL" sz="1400"/>
          </a:p>
        </p:txBody>
      </p:sp>
      <p:sp>
        <p:nvSpPr>
          <p:cNvPr id="4" name="Title 1">
            <a:extLst>
              <a:ext uri="{FF2B5EF4-FFF2-40B4-BE49-F238E27FC236}">
                <a16:creationId xmlns:a16="http://schemas.microsoft.com/office/drawing/2014/main" id="{03A4DC77-8B6C-C7CB-E55E-18B4055D534C}"/>
              </a:ext>
            </a:extLst>
          </p:cNvPr>
          <p:cNvSpPr txBox="1">
            <a:spLocks/>
          </p:cNvSpPr>
          <p:nvPr/>
        </p:nvSpPr>
        <p:spPr>
          <a:xfrm>
            <a:off x="27144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24.4 </a:t>
            </a:r>
            <a:r>
              <a:rPr lang="en-US" sz="2800" b="1" u="sng" dirty="0">
                <a:solidFill>
                  <a:srgbClr val="0070C0"/>
                </a:solidFill>
                <a:latin typeface="+mn-lt"/>
              </a:rPr>
              <a:t>– “InitThresholdLUT”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E5A5ADF2-A21B-9775-A8E6-6A1D4F29DA8B}"/>
              </a:ext>
            </a:extLst>
          </p:cNvPr>
          <p:cNvSpPr txBox="1"/>
          <p:nvPr/>
        </p:nvSpPr>
        <p:spPr>
          <a:xfrm>
            <a:off x="1241134" y="1634972"/>
            <a:ext cx="9003103"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The LUT is used to map the pixel values based on a specified threshold, either making them black or white depending on whether they are above or below the threshold.</a:t>
            </a:r>
            <a:endParaRPr lang="he-IL" b="1" dirty="0"/>
          </a:p>
        </p:txBody>
      </p:sp>
      <p:sp>
        <p:nvSpPr>
          <p:cNvPr id="9" name="TextBox 8">
            <a:extLst>
              <a:ext uri="{FF2B5EF4-FFF2-40B4-BE49-F238E27FC236}">
                <a16:creationId xmlns:a16="http://schemas.microsoft.com/office/drawing/2014/main" id="{C9D6BCA0-D28A-08EB-BB4A-4E19E1D2C195}"/>
              </a:ext>
            </a:extLst>
          </p:cNvPr>
          <p:cNvSpPr txBox="1"/>
          <p:nvPr/>
        </p:nvSpPr>
        <p:spPr>
          <a:xfrm>
            <a:off x="705505" y="672127"/>
            <a:ext cx="9691993" cy="369332"/>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a:t>
            </a:r>
            <a:r>
              <a:rPr lang="en-US" b="1" dirty="0"/>
              <a:t>InitThresholdLUT</a:t>
            </a:r>
            <a:r>
              <a:rPr lang="en-US" dirty="0"/>
              <a:t> function initializes a Lookup Table for thresholding a grayscale image. </a:t>
            </a:r>
            <a:endParaRPr lang="he-IL" dirty="0"/>
          </a:p>
        </p:txBody>
      </p:sp>
      <p:sp>
        <p:nvSpPr>
          <p:cNvPr id="10" name="Arrow: Down 9">
            <a:extLst>
              <a:ext uri="{FF2B5EF4-FFF2-40B4-BE49-F238E27FC236}">
                <a16:creationId xmlns:a16="http://schemas.microsoft.com/office/drawing/2014/main" id="{18AFD00E-E4AC-6AD9-7008-E3A5CE39DF93}"/>
              </a:ext>
            </a:extLst>
          </p:cNvPr>
          <p:cNvSpPr/>
          <p:nvPr/>
        </p:nvSpPr>
        <p:spPr>
          <a:xfrm>
            <a:off x="5551501" y="1083735"/>
            <a:ext cx="382371" cy="5329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225D7BF4-E507-DE31-3A71-DF75FA720E44}"/>
              </a:ext>
            </a:extLst>
          </p:cNvPr>
          <p:cNvSpPr txBox="1"/>
          <p:nvPr/>
        </p:nvSpPr>
        <p:spPr>
          <a:xfrm>
            <a:off x="2504312" y="4230989"/>
            <a:ext cx="6094378"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Pay attention – one of the input of the function is a pointer to the LUT which was defined as global. </a:t>
            </a:r>
            <a:endParaRPr lang="he-IL" dirty="0"/>
          </a:p>
        </p:txBody>
      </p:sp>
      <p:sp>
        <p:nvSpPr>
          <p:cNvPr id="14" name="TextBox 13">
            <a:extLst>
              <a:ext uri="{FF2B5EF4-FFF2-40B4-BE49-F238E27FC236}">
                <a16:creationId xmlns:a16="http://schemas.microsoft.com/office/drawing/2014/main" id="{5720E7B3-FB6C-6683-E8A0-90360B498566}"/>
              </a:ext>
            </a:extLst>
          </p:cNvPr>
          <p:cNvSpPr txBox="1"/>
          <p:nvPr/>
        </p:nvSpPr>
        <p:spPr>
          <a:xfrm>
            <a:off x="1514802" y="5058543"/>
            <a:ext cx="8838139"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B_Or_W is a flag that determines the output value for pixels based on the threshold</a:t>
            </a:r>
            <a:endParaRPr lang="he-IL" dirty="0"/>
          </a:p>
        </p:txBody>
      </p:sp>
      <p:cxnSp>
        <p:nvCxnSpPr>
          <p:cNvPr id="16" name="Straight Arrow Connector 15">
            <a:extLst>
              <a:ext uri="{FF2B5EF4-FFF2-40B4-BE49-F238E27FC236}">
                <a16:creationId xmlns:a16="http://schemas.microsoft.com/office/drawing/2014/main" id="{A730405E-37B4-D104-FCD7-1CAFF70BE5FD}"/>
              </a:ext>
            </a:extLst>
          </p:cNvPr>
          <p:cNvCxnSpPr>
            <a:cxnSpLocks/>
          </p:cNvCxnSpPr>
          <p:nvPr/>
        </p:nvCxnSpPr>
        <p:spPr>
          <a:xfrm flipH="1">
            <a:off x="4871781" y="5427875"/>
            <a:ext cx="679720" cy="423392"/>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BC0E9FC-5BA9-DBBC-2689-75162C607E8B}"/>
                  </a:ext>
                </a:extLst>
              </p:cNvPr>
              <p:cNvSpPr txBox="1"/>
              <p:nvPr/>
            </p:nvSpPr>
            <p:spPr>
              <a:xfrm>
                <a:off x="70341" y="5851267"/>
                <a:ext cx="4734939"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If B_Or_W is 1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pixels less than or equal to the threshold are set to 255 (white), and pixels greater than the threshold are set to 0 (black).</a:t>
                </a:r>
                <a:endParaRPr lang="he-IL" dirty="0"/>
              </a:p>
            </p:txBody>
          </p:sp>
        </mc:Choice>
        <mc:Fallback xmlns="">
          <p:sp>
            <p:nvSpPr>
              <p:cNvPr id="18" name="TextBox 17">
                <a:extLst>
                  <a:ext uri="{FF2B5EF4-FFF2-40B4-BE49-F238E27FC236}">
                    <a16:creationId xmlns:a16="http://schemas.microsoft.com/office/drawing/2014/main" id="{ABC0E9FC-5BA9-DBBC-2689-75162C607E8B}"/>
                  </a:ext>
                </a:extLst>
              </p:cNvPr>
              <p:cNvSpPr txBox="1">
                <a:spLocks noRot="1" noChangeAspect="1" noMove="1" noResize="1" noEditPoints="1" noAdjustHandles="1" noChangeArrowheads="1" noChangeShapeType="1" noTextEdit="1"/>
              </p:cNvSpPr>
              <p:nvPr/>
            </p:nvSpPr>
            <p:spPr>
              <a:xfrm>
                <a:off x="70341" y="5851267"/>
                <a:ext cx="4734939" cy="923330"/>
              </a:xfrm>
              <a:prstGeom prst="rect">
                <a:avLst/>
              </a:prstGeom>
              <a:blipFill>
                <a:blip r:embed="rId3"/>
                <a:stretch>
                  <a:fillRect/>
                </a:stretch>
              </a:blipFill>
            </p:spPr>
            <p:txBody>
              <a:bodyPr/>
              <a:lstStyle/>
              <a:p>
                <a:r>
                  <a:rPr lang="he-IL">
                    <a:noFill/>
                  </a:rPr>
                  <a:t> </a:t>
                </a:r>
              </a:p>
            </p:txBody>
          </p:sp>
        </mc:Fallback>
      </mc:AlternateContent>
      <p:cxnSp>
        <p:nvCxnSpPr>
          <p:cNvPr id="21" name="Straight Arrow Connector 20">
            <a:extLst>
              <a:ext uri="{FF2B5EF4-FFF2-40B4-BE49-F238E27FC236}">
                <a16:creationId xmlns:a16="http://schemas.microsoft.com/office/drawing/2014/main" id="{C96552FE-1FA8-0745-7F8D-F79D19CFE810}"/>
              </a:ext>
            </a:extLst>
          </p:cNvPr>
          <p:cNvCxnSpPr>
            <a:cxnSpLocks/>
          </p:cNvCxnSpPr>
          <p:nvPr/>
        </p:nvCxnSpPr>
        <p:spPr>
          <a:xfrm>
            <a:off x="5551501" y="5387326"/>
            <a:ext cx="693656" cy="463941"/>
          </a:xfrm>
          <a:prstGeom prst="straightConnector1">
            <a:avLst/>
          </a:prstGeom>
          <a:ln w="571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85366937-F5E2-A127-57EC-3BE6FE6E2EFD}"/>
              </a:ext>
            </a:extLst>
          </p:cNvPr>
          <p:cNvSpPr txBox="1"/>
          <p:nvPr/>
        </p:nvSpPr>
        <p:spPr>
          <a:xfrm>
            <a:off x="6245157" y="5869542"/>
            <a:ext cx="5617195" cy="923330"/>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If B_Or_W is 0, pixels less than or equal to the threshold are set to 0 (black), and pixels greater than the threshold are set to 255 (white).</a:t>
            </a:r>
            <a:endParaRPr lang="he-IL" dirty="0"/>
          </a:p>
        </p:txBody>
      </p:sp>
      <p:pic>
        <p:nvPicPr>
          <p:cNvPr id="3" name="Picture 2">
            <a:extLst>
              <a:ext uri="{FF2B5EF4-FFF2-40B4-BE49-F238E27FC236}">
                <a16:creationId xmlns:a16="http://schemas.microsoft.com/office/drawing/2014/main" id="{9969A605-7169-FED6-EB7A-A148CE2A6647}"/>
              </a:ext>
            </a:extLst>
          </p:cNvPr>
          <p:cNvPicPr>
            <a:picLocks noChangeAspect="1"/>
          </p:cNvPicPr>
          <p:nvPr/>
        </p:nvPicPr>
        <p:blipFill>
          <a:blip r:embed="rId4"/>
          <a:stretch>
            <a:fillRect/>
          </a:stretch>
        </p:blipFill>
        <p:spPr>
          <a:xfrm>
            <a:off x="473696" y="2606861"/>
            <a:ext cx="10920352" cy="1323353"/>
          </a:xfrm>
          <a:prstGeom prst="rect">
            <a:avLst/>
          </a:prstGeom>
        </p:spPr>
      </p:pic>
    </p:spTree>
    <p:extLst>
      <p:ext uri="{BB962C8B-B14F-4D97-AF65-F5344CB8AC3E}">
        <p14:creationId xmlns:p14="http://schemas.microsoft.com/office/powerpoint/2010/main" val="92821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8</a:t>
            </a:fld>
            <a:endParaRPr lang="he-IL" sz="1400"/>
          </a:p>
        </p:txBody>
      </p:sp>
      <p:sp>
        <p:nvSpPr>
          <p:cNvPr id="2" name="Title 1">
            <a:extLst>
              <a:ext uri="{FF2B5EF4-FFF2-40B4-BE49-F238E27FC236}">
                <a16:creationId xmlns:a16="http://schemas.microsoft.com/office/drawing/2014/main" id="{FC48BFB1-1E7E-2BB7-432E-3A84A6967D15}"/>
              </a:ext>
            </a:extLst>
          </p:cNvPr>
          <p:cNvSpPr txBox="1">
            <a:spLocks/>
          </p:cNvSpPr>
          <p:nvPr/>
        </p:nvSpPr>
        <p:spPr>
          <a:xfrm>
            <a:off x="3701475" y="0"/>
            <a:ext cx="4789049"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24.5 </a:t>
            </a:r>
            <a:r>
              <a:rPr lang="en-US" sz="2800" b="1" u="sng" dirty="0">
                <a:solidFill>
                  <a:srgbClr val="0070C0"/>
                </a:solidFill>
                <a:latin typeface="+mn-lt"/>
              </a:rPr>
              <a:t>– “ImposeLUT”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03C9289B-E68F-1599-D245-CD72DA3CDFB8}"/>
              </a:ext>
            </a:extLst>
          </p:cNvPr>
          <p:cNvSpPr txBox="1"/>
          <p:nvPr/>
        </p:nvSpPr>
        <p:spPr>
          <a:xfrm>
            <a:off x="2271683" y="744146"/>
            <a:ext cx="7238569"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After defining the LUT – we need to apply the LUT on the gray image. </a:t>
            </a:r>
          </a:p>
        </p:txBody>
      </p:sp>
      <p:sp>
        <p:nvSpPr>
          <p:cNvPr id="9" name="TextBox 8">
            <a:extLst>
              <a:ext uri="{FF2B5EF4-FFF2-40B4-BE49-F238E27FC236}">
                <a16:creationId xmlns:a16="http://schemas.microsoft.com/office/drawing/2014/main" id="{A996016B-34B6-0E4A-97FF-6340E37D8348}"/>
              </a:ext>
            </a:extLst>
          </p:cNvPr>
          <p:cNvSpPr txBox="1"/>
          <p:nvPr/>
        </p:nvSpPr>
        <p:spPr>
          <a:xfrm>
            <a:off x="2737583" y="3488262"/>
            <a:ext cx="6306766" cy="923330"/>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ptrToPixels</a:t>
            </a:r>
            <a:r>
              <a:rPr lang="en-US" dirty="0"/>
              <a:t> is initialized to point to the first pixel of the image.</a:t>
            </a:r>
          </a:p>
          <a:p>
            <a:r>
              <a:rPr lang="en-US" dirty="0"/>
              <a:t> Since GrayImage is a 2D array, GrayImage[0] points to the first row, and ptrToPixels thus points to the first pixel in that row.</a:t>
            </a:r>
            <a:endParaRPr lang="he-IL" dirty="0"/>
          </a:p>
        </p:txBody>
      </p:sp>
      <p:pic>
        <p:nvPicPr>
          <p:cNvPr id="4" name="Picture 3">
            <a:extLst>
              <a:ext uri="{FF2B5EF4-FFF2-40B4-BE49-F238E27FC236}">
                <a16:creationId xmlns:a16="http://schemas.microsoft.com/office/drawing/2014/main" id="{8E140509-4A05-1F4B-937C-A6C8295CC781}"/>
              </a:ext>
            </a:extLst>
          </p:cNvPr>
          <p:cNvPicPr>
            <a:picLocks noChangeAspect="1"/>
          </p:cNvPicPr>
          <p:nvPr/>
        </p:nvPicPr>
        <p:blipFill>
          <a:blip r:embed="rId2"/>
          <a:stretch>
            <a:fillRect/>
          </a:stretch>
        </p:blipFill>
        <p:spPr>
          <a:xfrm>
            <a:off x="625135" y="1400785"/>
            <a:ext cx="10941730" cy="1765570"/>
          </a:xfrm>
          <a:prstGeom prst="rect">
            <a:avLst/>
          </a:prstGeom>
        </p:spPr>
      </p:pic>
    </p:spTree>
    <p:extLst>
      <p:ext uri="{BB962C8B-B14F-4D97-AF65-F5344CB8AC3E}">
        <p14:creationId xmlns:p14="http://schemas.microsoft.com/office/powerpoint/2010/main" val="1397233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927CE7-8EDF-6283-48EF-56E7420B3B01}"/>
              </a:ext>
            </a:extLst>
          </p:cNvPr>
          <p:cNvSpPr>
            <a:spLocks noGrp="1"/>
          </p:cNvSpPr>
          <p:nvPr>
            <p:ph type="sldNum" sz="quarter" idx="12"/>
          </p:nvPr>
        </p:nvSpPr>
        <p:spPr>
          <a:xfrm>
            <a:off x="11736421" y="0"/>
            <a:ext cx="455579" cy="365125"/>
          </a:xfrm>
        </p:spPr>
        <p:txBody>
          <a:bodyPr/>
          <a:lstStyle/>
          <a:p>
            <a:fld id="{81122904-1B5F-4679-B3DC-5E87602DE7DA}" type="slidenum">
              <a:rPr lang="he-IL" sz="1400" smtClean="0"/>
              <a:t>9</a:t>
            </a:fld>
            <a:endParaRPr lang="he-IL" sz="1400"/>
          </a:p>
        </p:txBody>
      </p:sp>
      <p:sp>
        <p:nvSpPr>
          <p:cNvPr id="5" name="Title 1">
            <a:extLst>
              <a:ext uri="{FF2B5EF4-FFF2-40B4-BE49-F238E27FC236}">
                <a16:creationId xmlns:a16="http://schemas.microsoft.com/office/drawing/2014/main" id="{FB5A6218-66AE-70B6-3848-CE9934722F27}"/>
              </a:ext>
            </a:extLst>
          </p:cNvPr>
          <p:cNvSpPr txBox="1">
            <a:spLocks/>
          </p:cNvSpPr>
          <p:nvPr/>
        </p:nvSpPr>
        <p:spPr>
          <a:xfrm>
            <a:off x="3419372" y="10065"/>
            <a:ext cx="6123461" cy="71011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“CalculateDistance”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3" name="Picture 2">
            <a:extLst>
              <a:ext uri="{FF2B5EF4-FFF2-40B4-BE49-F238E27FC236}">
                <a16:creationId xmlns:a16="http://schemas.microsoft.com/office/drawing/2014/main" id="{C8196760-F259-DC8C-3F9F-52AA5BAC053A}"/>
              </a:ext>
            </a:extLst>
          </p:cNvPr>
          <p:cNvPicPr>
            <a:picLocks noChangeAspect="1"/>
          </p:cNvPicPr>
          <p:nvPr/>
        </p:nvPicPr>
        <p:blipFill>
          <a:blip r:embed="rId2"/>
          <a:stretch>
            <a:fillRect/>
          </a:stretch>
        </p:blipFill>
        <p:spPr>
          <a:xfrm>
            <a:off x="1287899" y="933855"/>
            <a:ext cx="9616199" cy="1583075"/>
          </a:xfrm>
          <a:prstGeom prst="rect">
            <a:avLst/>
          </a:prstGeom>
        </p:spPr>
      </p:pic>
      <p:sp>
        <p:nvSpPr>
          <p:cNvPr id="8" name="TextBox 7">
            <a:extLst>
              <a:ext uri="{FF2B5EF4-FFF2-40B4-BE49-F238E27FC236}">
                <a16:creationId xmlns:a16="http://schemas.microsoft.com/office/drawing/2014/main" id="{B272288B-8F50-940C-13DF-F263494777D3}"/>
              </a:ext>
            </a:extLst>
          </p:cNvPr>
          <p:cNvSpPr txBox="1"/>
          <p:nvPr/>
        </p:nvSpPr>
        <p:spPr>
          <a:xfrm>
            <a:off x="3048809" y="2921008"/>
            <a:ext cx="6094378"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That is a straightforward utility function that calculates the Euclidean distance between two points in a 2D plane.</a:t>
            </a:r>
            <a:endParaRPr lang="he-IL"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131973C-1DDA-B252-E0F8-5FB9935202D6}"/>
                  </a:ext>
                </a:extLst>
              </p:cNvPr>
              <p:cNvSpPr txBox="1"/>
              <p:nvPr/>
            </p:nvSpPr>
            <p:spPr>
              <a:xfrm>
                <a:off x="3048809" y="3893775"/>
                <a:ext cx="6094378" cy="981744"/>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function implements the standard Euclidean distance formula, which is derived from the Pythagorean theorem:</a:t>
                </a:r>
              </a:p>
              <a:p>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𝐷𝑖𝑠𝑡𝑎𝑛𝑐𝑒</m:t>
                      </m:r>
                      <m:r>
                        <a:rPr lang="es-ES" i="1" dirty="0" smtClean="0">
                          <a:latin typeface="Cambria Math" panose="02040503050406030204" pitchFamily="18" charset="0"/>
                        </a:rPr>
                        <m:t>=</m:t>
                      </m:r>
                      <m:rad>
                        <m:radPr>
                          <m:degHide m:val="on"/>
                          <m:ctrlPr>
                            <a:rPr lang="es-ES" i="1" dirty="0" smtClean="0">
                              <a:latin typeface="Cambria Math" panose="02040503050406030204" pitchFamily="18" charset="0"/>
                            </a:rPr>
                          </m:ctrlPr>
                        </m:radPr>
                        <m:deg/>
                        <m:e>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e>
                              </m:d>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1</m:t>
                                      </m:r>
                                    </m:sub>
                                  </m:sSub>
                                </m:e>
                              </m:d>
                            </m:e>
                            <m:sup>
                              <m:r>
                                <a:rPr lang="en-US" b="0" i="1" dirty="0" smtClean="0">
                                  <a:latin typeface="Cambria Math" panose="02040503050406030204" pitchFamily="18" charset="0"/>
                                </a:rPr>
                                <m:t>2</m:t>
                              </m:r>
                            </m:sup>
                          </m:sSup>
                        </m:e>
                      </m:rad>
                      <m:r>
                        <a:rPr lang="es-ES" i="1" dirty="0" smtClean="0">
                          <a:latin typeface="Cambria Math" panose="02040503050406030204" pitchFamily="18" charset="0"/>
                        </a:rPr>
                        <m:t>​</m:t>
                      </m:r>
                    </m:oMath>
                  </m:oMathPara>
                </a14:m>
                <a:endParaRPr lang="he-IL" dirty="0"/>
              </a:p>
            </p:txBody>
          </p:sp>
        </mc:Choice>
        <mc:Fallback xmlns="">
          <p:sp>
            <p:nvSpPr>
              <p:cNvPr id="10" name="TextBox 9">
                <a:extLst>
                  <a:ext uri="{FF2B5EF4-FFF2-40B4-BE49-F238E27FC236}">
                    <a16:creationId xmlns:a16="http://schemas.microsoft.com/office/drawing/2014/main" id="{9131973C-1DDA-B252-E0F8-5FB9935202D6}"/>
                  </a:ext>
                </a:extLst>
              </p:cNvPr>
              <p:cNvSpPr txBox="1">
                <a:spLocks noRot="1" noChangeAspect="1" noMove="1" noResize="1" noEditPoints="1" noAdjustHandles="1" noChangeArrowheads="1" noChangeShapeType="1" noTextEdit="1"/>
              </p:cNvSpPr>
              <p:nvPr/>
            </p:nvSpPr>
            <p:spPr>
              <a:xfrm>
                <a:off x="3048809" y="3893775"/>
                <a:ext cx="6094378" cy="981744"/>
              </a:xfrm>
              <a:prstGeom prst="rect">
                <a:avLst/>
              </a:prstGeom>
              <a:blipFill>
                <a:blip r:embed="rId3"/>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3349635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B34833-7FF1-F8EF-E0A1-131D8E46B4C0}"/>
              </a:ext>
            </a:extLst>
          </p:cNvPr>
          <p:cNvSpPr>
            <a:spLocks noGrp="1"/>
          </p:cNvSpPr>
          <p:nvPr>
            <p:ph type="sldNum" sz="quarter" idx="12"/>
          </p:nvPr>
        </p:nvSpPr>
        <p:spPr>
          <a:xfrm>
            <a:off x="11785159" y="0"/>
            <a:ext cx="406841" cy="365125"/>
          </a:xfrm>
        </p:spPr>
        <p:txBody>
          <a:bodyPr/>
          <a:lstStyle/>
          <a:p>
            <a:fld id="{81122904-1B5F-4679-B3DC-5E87602DE7DA}" type="slidenum">
              <a:rPr lang="he-IL" sz="1400" smtClean="0"/>
              <a:t>10</a:t>
            </a:fld>
            <a:endParaRPr lang="he-IL" sz="1400"/>
          </a:p>
        </p:txBody>
      </p:sp>
      <p:grpSp>
        <p:nvGrpSpPr>
          <p:cNvPr id="10" name="Group 9">
            <a:extLst>
              <a:ext uri="{FF2B5EF4-FFF2-40B4-BE49-F238E27FC236}">
                <a16:creationId xmlns:a16="http://schemas.microsoft.com/office/drawing/2014/main" id="{9BF7E3A8-95C6-2EEF-DC71-0B33F06E6EFA}"/>
              </a:ext>
            </a:extLst>
          </p:cNvPr>
          <p:cNvGrpSpPr/>
          <p:nvPr/>
        </p:nvGrpSpPr>
        <p:grpSpPr>
          <a:xfrm>
            <a:off x="0" y="515903"/>
            <a:ext cx="10194587" cy="6342097"/>
            <a:chOff x="68094" y="151830"/>
            <a:chExt cx="10029217" cy="6706170"/>
          </a:xfrm>
        </p:grpSpPr>
        <p:pic>
          <p:nvPicPr>
            <p:cNvPr id="7" name="Picture 6">
              <a:extLst>
                <a:ext uri="{FF2B5EF4-FFF2-40B4-BE49-F238E27FC236}">
                  <a16:creationId xmlns:a16="http://schemas.microsoft.com/office/drawing/2014/main" id="{0D7FCACC-7670-584E-CA1B-6FB80A62AA03}"/>
                </a:ext>
              </a:extLst>
            </p:cNvPr>
            <p:cNvPicPr>
              <a:picLocks noChangeAspect="1"/>
            </p:cNvPicPr>
            <p:nvPr/>
          </p:nvPicPr>
          <p:blipFill rotWithShape="1">
            <a:blip r:embed="rId2"/>
            <a:srcRect l="674"/>
            <a:stretch/>
          </p:blipFill>
          <p:spPr>
            <a:xfrm>
              <a:off x="68094" y="151830"/>
              <a:ext cx="10029217" cy="6297494"/>
            </a:xfrm>
            <a:prstGeom prst="rect">
              <a:avLst/>
            </a:prstGeom>
          </p:spPr>
        </p:pic>
        <p:pic>
          <p:nvPicPr>
            <p:cNvPr id="9" name="Picture 8">
              <a:extLst>
                <a:ext uri="{FF2B5EF4-FFF2-40B4-BE49-F238E27FC236}">
                  <a16:creationId xmlns:a16="http://schemas.microsoft.com/office/drawing/2014/main" id="{8D8FD6B3-53A5-C2FD-B481-F6A63C7597E4}"/>
                </a:ext>
              </a:extLst>
            </p:cNvPr>
            <p:cNvPicPr>
              <a:picLocks noChangeAspect="1"/>
            </p:cNvPicPr>
            <p:nvPr/>
          </p:nvPicPr>
          <p:blipFill rotWithShape="1">
            <a:blip r:embed="rId3"/>
            <a:srcRect l="1513"/>
            <a:stretch/>
          </p:blipFill>
          <p:spPr>
            <a:xfrm>
              <a:off x="68094" y="6449324"/>
              <a:ext cx="9502085" cy="408676"/>
            </a:xfrm>
            <a:prstGeom prst="rect">
              <a:avLst/>
            </a:prstGeom>
          </p:spPr>
        </p:pic>
      </p:grpSp>
      <p:sp>
        <p:nvSpPr>
          <p:cNvPr id="5" name="Title 1">
            <a:extLst>
              <a:ext uri="{FF2B5EF4-FFF2-40B4-BE49-F238E27FC236}">
                <a16:creationId xmlns:a16="http://schemas.microsoft.com/office/drawing/2014/main" id="{6F0D7B11-70A8-7FDF-6E9C-269A973A35F0}"/>
              </a:ext>
            </a:extLst>
          </p:cNvPr>
          <p:cNvSpPr txBox="1">
            <a:spLocks/>
          </p:cNvSpPr>
          <p:nvPr/>
        </p:nvSpPr>
        <p:spPr>
          <a:xfrm>
            <a:off x="2790317" y="0"/>
            <a:ext cx="6123461" cy="515903"/>
          </a:xfrm>
          <a:prstGeom prst="rect">
            <a:avLst/>
          </a:prstGeom>
        </p:spPr>
        <p:txBody>
          <a:bodyPr vert="horz" lIns="91440" tIns="45720" rIns="91440" bIns="45720" rtlCol="1" anchor="ctr">
            <a:normAutofit fontScale="925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24.7 </a:t>
            </a:r>
            <a:r>
              <a:rPr lang="en-US" sz="2800" b="1" u="sng" dirty="0">
                <a:solidFill>
                  <a:srgbClr val="0070C0"/>
                </a:solidFill>
                <a:latin typeface="+mn-lt"/>
              </a:rPr>
              <a:t>– “mesure_elmetns_size”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12" name="TextBox 11">
            <a:extLst>
              <a:ext uri="{FF2B5EF4-FFF2-40B4-BE49-F238E27FC236}">
                <a16:creationId xmlns:a16="http://schemas.microsoft.com/office/drawing/2014/main" id="{2E0454A5-08A8-BA2B-E821-0BA73AF1A1D3}"/>
              </a:ext>
            </a:extLst>
          </p:cNvPr>
          <p:cNvSpPr txBox="1"/>
          <p:nvPr/>
        </p:nvSpPr>
        <p:spPr>
          <a:xfrm>
            <a:off x="5503425" y="1031806"/>
            <a:ext cx="6583192"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designed to measure the size of the largest element in a binary or thresholded grayscale image. Specifically, it calculates the width and height of the largest contiguous region of pixels that are below a specified intensity threshold.</a:t>
            </a:r>
            <a:endParaRPr lang="he-IL" b="1" dirty="0"/>
          </a:p>
        </p:txBody>
      </p:sp>
    </p:spTree>
    <p:extLst>
      <p:ext uri="{BB962C8B-B14F-4D97-AF65-F5344CB8AC3E}">
        <p14:creationId xmlns:p14="http://schemas.microsoft.com/office/powerpoint/2010/main" val="2112007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B34833-7FF1-F8EF-E0A1-131D8E46B4C0}"/>
              </a:ext>
            </a:extLst>
          </p:cNvPr>
          <p:cNvSpPr>
            <a:spLocks noGrp="1"/>
          </p:cNvSpPr>
          <p:nvPr>
            <p:ph type="sldNum" sz="quarter" idx="12"/>
          </p:nvPr>
        </p:nvSpPr>
        <p:spPr>
          <a:xfrm>
            <a:off x="11799651" y="0"/>
            <a:ext cx="392349" cy="365125"/>
          </a:xfrm>
        </p:spPr>
        <p:txBody>
          <a:bodyPr/>
          <a:lstStyle/>
          <a:p>
            <a:fld id="{81122904-1B5F-4679-B3DC-5E87602DE7DA}" type="slidenum">
              <a:rPr lang="he-IL" sz="1400" smtClean="0"/>
              <a:t>11</a:t>
            </a:fld>
            <a:endParaRPr lang="he-IL" sz="1400"/>
          </a:p>
        </p:txBody>
      </p:sp>
      <p:pic>
        <p:nvPicPr>
          <p:cNvPr id="6" name="Picture 5">
            <a:extLst>
              <a:ext uri="{FF2B5EF4-FFF2-40B4-BE49-F238E27FC236}">
                <a16:creationId xmlns:a16="http://schemas.microsoft.com/office/drawing/2014/main" id="{C5DC1114-5FFF-E6F1-3E8E-089FF648796C}"/>
              </a:ext>
            </a:extLst>
          </p:cNvPr>
          <p:cNvPicPr>
            <a:picLocks noChangeAspect="1"/>
          </p:cNvPicPr>
          <p:nvPr/>
        </p:nvPicPr>
        <p:blipFill>
          <a:blip r:embed="rId2"/>
          <a:stretch>
            <a:fillRect/>
          </a:stretch>
        </p:blipFill>
        <p:spPr>
          <a:xfrm>
            <a:off x="22066" y="1508345"/>
            <a:ext cx="9121932" cy="4521132"/>
          </a:xfrm>
          <a:prstGeom prst="rect">
            <a:avLst/>
          </a:prstGeom>
        </p:spPr>
      </p:pic>
      <p:sp>
        <p:nvSpPr>
          <p:cNvPr id="7" name="Title 1">
            <a:extLst>
              <a:ext uri="{FF2B5EF4-FFF2-40B4-BE49-F238E27FC236}">
                <a16:creationId xmlns:a16="http://schemas.microsoft.com/office/drawing/2014/main" id="{48B5ED66-21A3-B567-0607-F67D2AE583B0}"/>
              </a:ext>
            </a:extLst>
          </p:cNvPr>
          <p:cNvSpPr txBox="1">
            <a:spLocks/>
          </p:cNvSpPr>
          <p:nvPr/>
        </p:nvSpPr>
        <p:spPr>
          <a:xfrm>
            <a:off x="3782539" y="0"/>
            <a:ext cx="4398424" cy="515903"/>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24.8 </a:t>
            </a:r>
            <a:r>
              <a:rPr lang="en-US" sz="2800" b="1" u="sng" dirty="0">
                <a:solidFill>
                  <a:srgbClr val="0070C0"/>
                </a:solidFill>
                <a:latin typeface="+mn-lt"/>
              </a:rPr>
              <a:t>– “FloodFill”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9" name="TextBox 8">
            <a:extLst>
              <a:ext uri="{FF2B5EF4-FFF2-40B4-BE49-F238E27FC236}">
                <a16:creationId xmlns:a16="http://schemas.microsoft.com/office/drawing/2014/main" id="{3F8D9450-7357-3D96-7026-95552B9C6FD5}"/>
              </a:ext>
            </a:extLst>
          </p:cNvPr>
          <p:cNvSpPr txBox="1"/>
          <p:nvPr/>
        </p:nvSpPr>
        <p:spPr>
          <a:xfrm>
            <a:off x="1400781" y="515903"/>
            <a:ext cx="9698477"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a:t>The purpose of the </a:t>
            </a:r>
            <a:r>
              <a:rPr lang="en-US" b="1" dirty="0" err="1"/>
              <a:t>floodfill</a:t>
            </a:r>
            <a:r>
              <a:rPr lang="en-US" b="1" dirty="0"/>
              <a:t> function is to find and label connected components (or regions) within an image. It starts from a given pixel and "fills" all connected pixels that belong to the same component, marking them as visited and counting them as part of the region.</a:t>
            </a:r>
            <a:endParaRPr lang="he-IL" b="1" dirty="0"/>
          </a:p>
        </p:txBody>
      </p:sp>
      <p:sp>
        <p:nvSpPr>
          <p:cNvPr id="11" name="TextBox 10">
            <a:extLst>
              <a:ext uri="{FF2B5EF4-FFF2-40B4-BE49-F238E27FC236}">
                <a16:creationId xmlns:a16="http://schemas.microsoft.com/office/drawing/2014/main" id="{535A3C78-4A86-9C23-7EEC-CE31F0F0B8EA}"/>
              </a:ext>
            </a:extLst>
          </p:cNvPr>
          <p:cNvSpPr txBox="1"/>
          <p:nvPr/>
        </p:nvSpPr>
        <p:spPr>
          <a:xfrm>
            <a:off x="9301263" y="1806237"/>
            <a:ext cx="2791839" cy="2031325"/>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function uses </a:t>
            </a:r>
            <a:r>
              <a:rPr lang="en-US" b="1" dirty="0"/>
              <a:t>recursion</a:t>
            </a:r>
            <a:r>
              <a:rPr lang="en-US" dirty="0"/>
              <a:t> to explore all four directions (up, down, left, right) from each pixel, ensuring that the entire component is filled and measured.</a:t>
            </a:r>
            <a:endParaRPr lang="he-IL" dirty="0"/>
          </a:p>
        </p:txBody>
      </p:sp>
      <p:sp>
        <p:nvSpPr>
          <p:cNvPr id="13" name="TextBox 12">
            <a:extLst>
              <a:ext uri="{FF2B5EF4-FFF2-40B4-BE49-F238E27FC236}">
                <a16:creationId xmlns:a16="http://schemas.microsoft.com/office/drawing/2014/main" id="{A819B661-D6D2-C6AA-FEDC-2E51534D5055}"/>
              </a:ext>
            </a:extLst>
          </p:cNvPr>
          <p:cNvSpPr txBox="1"/>
          <p:nvPr/>
        </p:nvSpPr>
        <p:spPr>
          <a:xfrm>
            <a:off x="9172190" y="4616172"/>
            <a:ext cx="2971170" cy="203132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Pixels that are part of the filled region are marked with a value of 100 to indicate that they have been processed, preventing the function from counting them again.</a:t>
            </a:r>
            <a:endParaRPr lang="he-IL" dirty="0"/>
          </a:p>
        </p:txBody>
      </p:sp>
      <p:sp>
        <p:nvSpPr>
          <p:cNvPr id="14" name="Arrow: Down 13">
            <a:extLst>
              <a:ext uri="{FF2B5EF4-FFF2-40B4-BE49-F238E27FC236}">
                <a16:creationId xmlns:a16="http://schemas.microsoft.com/office/drawing/2014/main" id="{2D283572-1905-1E70-A8AB-E7DCE2BD750E}"/>
              </a:ext>
            </a:extLst>
          </p:cNvPr>
          <p:cNvSpPr/>
          <p:nvPr/>
        </p:nvSpPr>
        <p:spPr>
          <a:xfrm>
            <a:off x="10390760" y="3837562"/>
            <a:ext cx="505838" cy="7786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TextBox 15">
            <a:extLst>
              <a:ext uri="{FF2B5EF4-FFF2-40B4-BE49-F238E27FC236}">
                <a16:creationId xmlns:a16="http://schemas.microsoft.com/office/drawing/2014/main" id="{D7DBFC58-FA65-D1AC-5884-9A4FA6922800}"/>
              </a:ext>
            </a:extLst>
          </p:cNvPr>
          <p:cNvSpPr txBox="1"/>
          <p:nvPr/>
        </p:nvSpPr>
        <p:spPr>
          <a:xfrm>
            <a:off x="894944" y="6098589"/>
            <a:ext cx="7728624" cy="646331"/>
          </a:xfrm>
          <a:prstGeom prst="rect">
            <a:avLst/>
          </a:prstGeom>
          <a:ln/>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returns the total size of the connected component, which is the number of pixels that were part of the filled region. </a:t>
            </a:r>
            <a:endParaRPr lang="he-IL" dirty="0"/>
          </a:p>
        </p:txBody>
      </p:sp>
    </p:spTree>
    <p:extLst>
      <p:ext uri="{BB962C8B-B14F-4D97-AF65-F5344CB8AC3E}">
        <p14:creationId xmlns:p14="http://schemas.microsoft.com/office/powerpoint/2010/main" val="3517444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B34833-7FF1-F8EF-E0A1-131D8E46B4C0}"/>
              </a:ext>
            </a:extLst>
          </p:cNvPr>
          <p:cNvSpPr>
            <a:spLocks noGrp="1"/>
          </p:cNvSpPr>
          <p:nvPr>
            <p:ph type="sldNum" sz="quarter" idx="12"/>
          </p:nvPr>
        </p:nvSpPr>
        <p:spPr>
          <a:xfrm>
            <a:off x="11799651" y="0"/>
            <a:ext cx="392349" cy="365125"/>
          </a:xfrm>
        </p:spPr>
        <p:txBody>
          <a:bodyPr/>
          <a:lstStyle/>
          <a:p>
            <a:fld id="{81122904-1B5F-4679-B3DC-5E87602DE7DA}" type="slidenum">
              <a:rPr lang="he-IL" sz="1400" smtClean="0"/>
              <a:t>12</a:t>
            </a:fld>
            <a:endParaRPr lang="he-IL" sz="1400"/>
          </a:p>
        </p:txBody>
      </p:sp>
      <p:sp>
        <p:nvSpPr>
          <p:cNvPr id="7" name="Title 1">
            <a:extLst>
              <a:ext uri="{FF2B5EF4-FFF2-40B4-BE49-F238E27FC236}">
                <a16:creationId xmlns:a16="http://schemas.microsoft.com/office/drawing/2014/main" id="{48B5ED66-21A3-B567-0607-F67D2AE583B0}"/>
              </a:ext>
            </a:extLst>
          </p:cNvPr>
          <p:cNvSpPr txBox="1">
            <a:spLocks/>
          </p:cNvSpPr>
          <p:nvPr/>
        </p:nvSpPr>
        <p:spPr>
          <a:xfrm>
            <a:off x="2647545" y="0"/>
            <a:ext cx="6896910" cy="603115"/>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24.9 </a:t>
            </a:r>
            <a:r>
              <a:rPr lang="en-US" sz="2800" b="1" u="sng" dirty="0">
                <a:solidFill>
                  <a:srgbClr val="0070C0"/>
                </a:solidFill>
                <a:latin typeface="+mn-lt"/>
              </a:rPr>
              <a:t>– “IsElementInROI_bool”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3" name="Picture 2">
            <a:extLst>
              <a:ext uri="{FF2B5EF4-FFF2-40B4-BE49-F238E27FC236}">
                <a16:creationId xmlns:a16="http://schemas.microsoft.com/office/drawing/2014/main" id="{1908DAC6-9B7A-AB9E-3E0F-94DD0D6A3246}"/>
              </a:ext>
            </a:extLst>
          </p:cNvPr>
          <p:cNvPicPr>
            <a:picLocks noChangeAspect="1"/>
          </p:cNvPicPr>
          <p:nvPr/>
        </p:nvPicPr>
        <p:blipFill>
          <a:blip r:embed="rId2"/>
          <a:stretch>
            <a:fillRect/>
          </a:stretch>
        </p:blipFill>
        <p:spPr>
          <a:xfrm>
            <a:off x="0" y="1614994"/>
            <a:ext cx="10763250" cy="4133850"/>
          </a:xfrm>
          <a:prstGeom prst="rect">
            <a:avLst/>
          </a:prstGeom>
        </p:spPr>
      </p:pic>
      <p:sp>
        <p:nvSpPr>
          <p:cNvPr id="9" name="TextBox 8">
            <a:extLst>
              <a:ext uri="{FF2B5EF4-FFF2-40B4-BE49-F238E27FC236}">
                <a16:creationId xmlns:a16="http://schemas.microsoft.com/office/drawing/2014/main" id="{0A42EB7F-0337-62D8-7076-7D98D6FD692F}"/>
              </a:ext>
            </a:extLst>
          </p:cNvPr>
          <p:cNvSpPr txBox="1"/>
          <p:nvPr/>
        </p:nvSpPr>
        <p:spPr>
          <a:xfrm>
            <a:off x="321014" y="603115"/>
            <a:ext cx="11089532" cy="923330"/>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b="1" dirty="0"/>
              <a:t>That function is designed to check if there is any unvisited element (or object) within a specified region of interest (ROI) in a grayscale image. If an element is found, it uses the FloodFill function to calculate the size of that element and returns a </a:t>
            </a:r>
            <a:r>
              <a:rPr lang="en-US" b="1" dirty="0" err="1"/>
              <a:t>boolean</a:t>
            </a:r>
            <a:r>
              <a:rPr lang="en-US" b="1" dirty="0"/>
              <a:t> indicating whether an element was found.</a:t>
            </a:r>
            <a:endParaRPr lang="he-IL" b="1" dirty="0"/>
          </a:p>
        </p:txBody>
      </p:sp>
      <p:sp>
        <p:nvSpPr>
          <p:cNvPr id="11" name="TextBox 10">
            <a:extLst>
              <a:ext uri="{FF2B5EF4-FFF2-40B4-BE49-F238E27FC236}">
                <a16:creationId xmlns:a16="http://schemas.microsoft.com/office/drawing/2014/main" id="{D2B7602D-E13F-6146-4D4E-F684710F58D4}"/>
              </a:ext>
            </a:extLst>
          </p:cNvPr>
          <p:cNvSpPr txBox="1"/>
          <p:nvPr/>
        </p:nvSpPr>
        <p:spPr>
          <a:xfrm>
            <a:off x="3046379" y="5931719"/>
            <a:ext cx="6099242"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function returns a bool. It returns true if an element is found within the ROI and false if no element is found.</a:t>
            </a:r>
            <a:endParaRPr lang="he-IL" dirty="0"/>
          </a:p>
        </p:txBody>
      </p:sp>
    </p:spTree>
    <p:extLst>
      <p:ext uri="{BB962C8B-B14F-4D97-AF65-F5344CB8AC3E}">
        <p14:creationId xmlns:p14="http://schemas.microsoft.com/office/powerpoint/2010/main" val="3081136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1D493A-3221-CE36-966E-09AC7BD8689C}"/>
              </a:ext>
            </a:extLst>
          </p:cNvPr>
          <p:cNvSpPr>
            <a:spLocks noGrp="1"/>
          </p:cNvSpPr>
          <p:nvPr>
            <p:ph type="sldNum" sz="quarter" idx="12"/>
          </p:nvPr>
        </p:nvSpPr>
        <p:spPr>
          <a:xfrm>
            <a:off x="11755877" y="48300"/>
            <a:ext cx="436123" cy="365125"/>
          </a:xfrm>
        </p:spPr>
        <p:txBody>
          <a:bodyPr/>
          <a:lstStyle/>
          <a:p>
            <a:fld id="{81122904-1B5F-4679-B3DC-5E87602DE7DA}" type="slidenum">
              <a:rPr lang="he-IL" sz="1400" smtClean="0"/>
              <a:t>13</a:t>
            </a:fld>
            <a:endParaRPr lang="he-IL" sz="1400"/>
          </a:p>
        </p:txBody>
      </p:sp>
      <p:sp>
        <p:nvSpPr>
          <p:cNvPr id="5" name="Title 1">
            <a:extLst>
              <a:ext uri="{FF2B5EF4-FFF2-40B4-BE49-F238E27FC236}">
                <a16:creationId xmlns:a16="http://schemas.microsoft.com/office/drawing/2014/main" id="{2C4B054F-EC4F-2C8F-4461-88F9CED8671F}"/>
              </a:ext>
            </a:extLst>
          </p:cNvPr>
          <p:cNvSpPr txBox="1">
            <a:spLocks/>
          </p:cNvSpPr>
          <p:nvPr/>
        </p:nvSpPr>
        <p:spPr>
          <a:xfrm>
            <a:off x="1826367" y="-10067"/>
            <a:ext cx="8539265" cy="710119"/>
          </a:xfrm>
          <a:prstGeom prst="rect">
            <a:avLst/>
          </a:prstGeom>
        </p:spPr>
        <p:txBody>
          <a:bodyPr vert="horz" lIns="91440" tIns="45720" rIns="91440" bIns="45720" rtlCol="1" anchor="ctr">
            <a:normAutofit fontScale="925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Introduction to 24.10</a:t>
            </a:r>
            <a:r>
              <a:rPr lang="en-US" sz="2800" b="1" u="sng" dirty="0">
                <a:solidFill>
                  <a:srgbClr val="0070C0"/>
                </a:solidFill>
                <a:latin typeface="+mn-lt"/>
              </a:rPr>
              <a:t>– otsu method for threshold – </a:t>
            </a:r>
            <a:r>
              <a:rPr lang="en-US" sz="2800" b="1" u="sng" dirty="0">
                <a:solidFill>
                  <a:srgbClr val="FF0000"/>
                </a:solidFill>
                <a:latin typeface="+mn-lt"/>
              </a:rPr>
              <a:t>part 1</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sp>
        <p:nvSpPr>
          <p:cNvPr id="7" name="TextBox 6">
            <a:extLst>
              <a:ext uri="{FF2B5EF4-FFF2-40B4-BE49-F238E27FC236}">
                <a16:creationId xmlns:a16="http://schemas.microsoft.com/office/drawing/2014/main" id="{9AAF36F8-9EA2-2BCD-92DE-A1FB0A7139E5}"/>
              </a:ext>
            </a:extLst>
          </p:cNvPr>
          <p:cNvSpPr txBox="1"/>
          <p:nvPr/>
        </p:nvSpPr>
        <p:spPr>
          <a:xfrm>
            <a:off x="1452258" y="1361215"/>
            <a:ext cx="9287482" cy="369332"/>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Otsu's method is a technique used in image processing for automatic threshold selection. </a:t>
            </a:r>
            <a:endParaRPr lang="he-IL" dirty="0"/>
          </a:p>
        </p:txBody>
      </p:sp>
      <p:sp>
        <p:nvSpPr>
          <p:cNvPr id="8" name="Rectangle 7">
            <a:extLst>
              <a:ext uri="{FF2B5EF4-FFF2-40B4-BE49-F238E27FC236}">
                <a16:creationId xmlns:a16="http://schemas.microsoft.com/office/drawing/2014/main" id="{06020A77-1D1C-9125-2AC9-1FC1F366DD0E}"/>
              </a:ext>
            </a:extLst>
          </p:cNvPr>
          <p:cNvSpPr/>
          <p:nvPr/>
        </p:nvSpPr>
        <p:spPr>
          <a:xfrm>
            <a:off x="2739956" y="663597"/>
            <a:ext cx="6712085" cy="4954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We didn’t study in the course that method – we studied it alone for solving that lab the best possible way</a:t>
            </a:r>
            <a:endParaRPr lang="he-IL" dirty="0"/>
          </a:p>
        </p:txBody>
      </p:sp>
      <p:sp>
        <p:nvSpPr>
          <p:cNvPr id="9" name="Arrow: Down 8">
            <a:extLst>
              <a:ext uri="{FF2B5EF4-FFF2-40B4-BE49-F238E27FC236}">
                <a16:creationId xmlns:a16="http://schemas.microsoft.com/office/drawing/2014/main" id="{95906CA4-A63D-1AC4-D78D-C349DB53070F}"/>
              </a:ext>
            </a:extLst>
          </p:cNvPr>
          <p:cNvSpPr/>
          <p:nvPr/>
        </p:nvSpPr>
        <p:spPr>
          <a:xfrm>
            <a:off x="5690680" y="1876463"/>
            <a:ext cx="671209" cy="8667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a:extLst>
              <a:ext uri="{FF2B5EF4-FFF2-40B4-BE49-F238E27FC236}">
                <a16:creationId xmlns:a16="http://schemas.microsoft.com/office/drawing/2014/main" id="{317DBE11-12E5-F684-7459-096601A1A77A}"/>
              </a:ext>
            </a:extLst>
          </p:cNvPr>
          <p:cNvSpPr txBox="1"/>
          <p:nvPr/>
        </p:nvSpPr>
        <p:spPr>
          <a:xfrm>
            <a:off x="2368684" y="4643423"/>
            <a:ext cx="7315200"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This method is particularly useful for converting a grayscale image into a binary image - where pixels are categorized as either black (foreground) or white (background).</a:t>
            </a:r>
            <a:endParaRPr lang="he-IL" dirty="0"/>
          </a:p>
        </p:txBody>
      </p:sp>
      <p:sp>
        <p:nvSpPr>
          <p:cNvPr id="13" name="TextBox 12">
            <a:extLst>
              <a:ext uri="{FF2B5EF4-FFF2-40B4-BE49-F238E27FC236}">
                <a16:creationId xmlns:a16="http://schemas.microsoft.com/office/drawing/2014/main" id="{B9F8A7B4-B555-278F-AEED-1B71AA83187A}"/>
              </a:ext>
            </a:extLst>
          </p:cNvPr>
          <p:cNvSpPr txBox="1"/>
          <p:nvPr/>
        </p:nvSpPr>
        <p:spPr>
          <a:xfrm>
            <a:off x="2368684" y="2840398"/>
            <a:ext cx="7315200"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main idea is to find the threshold that best separates the pixels of an image into two classes: the foreground (e.g., objects of interest) and the background. </a:t>
            </a:r>
            <a:endParaRPr lang="he-IL" dirty="0"/>
          </a:p>
        </p:txBody>
      </p:sp>
      <p:sp>
        <p:nvSpPr>
          <p:cNvPr id="14" name="Arrow: Down 13">
            <a:extLst>
              <a:ext uri="{FF2B5EF4-FFF2-40B4-BE49-F238E27FC236}">
                <a16:creationId xmlns:a16="http://schemas.microsoft.com/office/drawing/2014/main" id="{8E00E382-717B-FBD1-C8FC-DB83170F4B85}"/>
              </a:ext>
            </a:extLst>
          </p:cNvPr>
          <p:cNvSpPr/>
          <p:nvPr/>
        </p:nvSpPr>
        <p:spPr>
          <a:xfrm>
            <a:off x="5690680" y="3631707"/>
            <a:ext cx="671209" cy="8667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78704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FDAF12-879F-1AB8-8F5F-B39C06E7F2CA}"/>
              </a:ext>
            </a:extLst>
          </p:cNvPr>
          <p:cNvSpPr>
            <a:spLocks noGrp="1"/>
          </p:cNvSpPr>
          <p:nvPr>
            <p:ph type="sldNum" sz="quarter" idx="12"/>
          </p:nvPr>
        </p:nvSpPr>
        <p:spPr>
          <a:xfrm>
            <a:off x="11697511" y="-20133"/>
            <a:ext cx="494489" cy="365125"/>
          </a:xfrm>
        </p:spPr>
        <p:txBody>
          <a:bodyPr/>
          <a:lstStyle/>
          <a:p>
            <a:fld id="{81122904-1B5F-4679-B3DC-5E87602DE7DA}" type="slidenum">
              <a:rPr lang="he-IL" sz="1400" smtClean="0"/>
              <a:t>14</a:t>
            </a:fld>
            <a:endParaRPr lang="he-IL" sz="1400"/>
          </a:p>
        </p:txBody>
      </p:sp>
      <p:sp>
        <p:nvSpPr>
          <p:cNvPr id="5" name="Title 1">
            <a:extLst>
              <a:ext uri="{FF2B5EF4-FFF2-40B4-BE49-F238E27FC236}">
                <a16:creationId xmlns:a16="http://schemas.microsoft.com/office/drawing/2014/main" id="{B986B413-D9F7-7FAB-DF8E-30210FA95BA9}"/>
              </a:ext>
            </a:extLst>
          </p:cNvPr>
          <p:cNvSpPr txBox="1">
            <a:spLocks/>
          </p:cNvSpPr>
          <p:nvPr/>
        </p:nvSpPr>
        <p:spPr>
          <a:xfrm>
            <a:off x="1826367" y="-10067"/>
            <a:ext cx="8539265" cy="500233"/>
          </a:xfrm>
          <a:prstGeom prst="rect">
            <a:avLst/>
          </a:prstGeom>
        </p:spPr>
        <p:txBody>
          <a:bodyPr vert="horz" lIns="91440" tIns="45720" rIns="91440" bIns="45720" rtlCol="1" anchor="ctr">
            <a:normAutofit fontScale="925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Introduction to 24.10</a:t>
            </a:r>
            <a:r>
              <a:rPr lang="en-US" sz="2800" b="1" u="sng" dirty="0">
                <a:solidFill>
                  <a:srgbClr val="0070C0"/>
                </a:solidFill>
                <a:latin typeface="+mn-lt"/>
              </a:rPr>
              <a:t>– otsu method for threshold – </a:t>
            </a:r>
            <a:r>
              <a:rPr lang="en-US" sz="2800" b="1" u="sng" dirty="0">
                <a:solidFill>
                  <a:srgbClr val="FF0000"/>
                </a:solidFill>
                <a:latin typeface="+mn-lt"/>
              </a:rPr>
              <a:t>part 2</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BF10E60-E3ED-C644-73B5-F4D6082BF95F}"/>
                  </a:ext>
                </a:extLst>
              </p:cNvPr>
              <p:cNvSpPr txBox="1"/>
              <p:nvPr/>
            </p:nvSpPr>
            <p:spPr>
              <a:xfrm>
                <a:off x="2355309" y="477645"/>
                <a:ext cx="7468410"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method starts by computing the histogram of the grayscale image. The histogram </a:t>
                </a:r>
                <a14:m>
                  <m:oMath xmlns:m="http://schemas.openxmlformats.org/officeDocument/2006/math">
                    <m:r>
                      <a:rPr lang="en-US" i="1" dirty="0" smtClean="0">
                        <a:solidFill>
                          <a:srgbClr val="FFFF00"/>
                        </a:solidFill>
                        <a:latin typeface="Cambria Math" panose="02040503050406030204" pitchFamily="18" charset="0"/>
                      </a:rPr>
                      <m:t>h</m:t>
                    </m:r>
                    <m:r>
                      <a:rPr lang="en-US" i="1" dirty="0" smtClean="0">
                        <a:solidFill>
                          <a:srgbClr val="FFFF00"/>
                        </a:solidFill>
                        <a:latin typeface="Cambria Math" panose="02040503050406030204" pitchFamily="18" charset="0"/>
                      </a:rPr>
                      <m:t>(</m:t>
                    </m:r>
                    <m:r>
                      <a:rPr lang="en-US" i="1" dirty="0" smtClean="0">
                        <a:solidFill>
                          <a:srgbClr val="FFFF00"/>
                        </a:solidFill>
                        <a:latin typeface="Cambria Math" panose="02040503050406030204" pitchFamily="18" charset="0"/>
                      </a:rPr>
                      <m:t>𝑡</m:t>
                    </m:r>
                    <m:r>
                      <a:rPr lang="en-US" i="1" dirty="0" smtClean="0">
                        <a:solidFill>
                          <a:srgbClr val="FFFF00"/>
                        </a:solidFill>
                        <a:latin typeface="Cambria Math" panose="02040503050406030204" pitchFamily="18" charset="0"/>
                      </a:rPr>
                      <m:t>)</m:t>
                    </m:r>
                  </m:oMath>
                </a14:m>
                <a:r>
                  <a:rPr lang="en-US" dirty="0">
                    <a:solidFill>
                      <a:srgbClr val="FFFF00"/>
                    </a:solidFill>
                  </a:rPr>
                  <a:t> </a:t>
                </a:r>
                <a:r>
                  <a:rPr lang="en-US" dirty="0"/>
                  <a:t>represents the number of pixels </a:t>
                </a:r>
                <a14:m>
                  <m:oMath xmlns:m="http://schemas.openxmlformats.org/officeDocument/2006/math">
                    <m:r>
                      <a:rPr lang="en-US" i="1" dirty="0" smtClean="0">
                        <a:latin typeface="Cambria Math" panose="02040503050406030204" pitchFamily="18" charset="0"/>
                      </a:rPr>
                      <m:t>𝑛</m:t>
                    </m:r>
                  </m:oMath>
                </a14:m>
                <a:r>
                  <a:rPr lang="en-US" dirty="0"/>
                  <a:t> that have intensity </a:t>
                </a:r>
                <a14:m>
                  <m:oMath xmlns:m="http://schemas.openxmlformats.org/officeDocument/2006/math">
                    <m:r>
                      <a:rPr lang="en-US" i="1" dirty="0" smtClean="0">
                        <a:latin typeface="Cambria Math" panose="02040503050406030204" pitchFamily="18" charset="0"/>
                      </a:rPr>
                      <m:t>𝑡</m:t>
                    </m:r>
                  </m:oMath>
                </a14:m>
                <a:r>
                  <a:rPr lang="en-US" dirty="0"/>
                  <a:t>.</a:t>
                </a:r>
                <a:endParaRPr lang="he-IL" dirty="0"/>
              </a:p>
            </p:txBody>
          </p:sp>
        </mc:Choice>
        <mc:Fallback xmlns="">
          <p:sp>
            <p:nvSpPr>
              <p:cNvPr id="7" name="TextBox 6">
                <a:extLst>
                  <a:ext uri="{FF2B5EF4-FFF2-40B4-BE49-F238E27FC236}">
                    <a16:creationId xmlns:a16="http://schemas.microsoft.com/office/drawing/2014/main" id="{2BF10E60-E3ED-C644-73B5-F4D6082BF95F}"/>
                  </a:ext>
                </a:extLst>
              </p:cNvPr>
              <p:cNvSpPr txBox="1">
                <a:spLocks noRot="1" noChangeAspect="1" noMove="1" noResize="1" noEditPoints="1" noAdjustHandles="1" noChangeArrowheads="1" noChangeShapeType="1" noTextEdit="1"/>
              </p:cNvSpPr>
              <p:nvPr/>
            </p:nvSpPr>
            <p:spPr>
              <a:xfrm>
                <a:off x="2355309" y="477645"/>
                <a:ext cx="7468410" cy="646331"/>
              </a:xfrm>
              <a:prstGeom prst="rect">
                <a:avLst/>
              </a:prstGeom>
              <a:blipFill>
                <a:blip r:embed="rId2"/>
                <a:stretch>
                  <a:fillRect/>
                </a:stretch>
              </a:blipFill>
            </p:spPr>
            <p:txBody>
              <a:bodyPr/>
              <a:lstStyle/>
              <a:p>
                <a:r>
                  <a:rPr lang="he-IL">
                    <a:noFill/>
                  </a:rPr>
                  <a:t> </a:t>
                </a:r>
              </a:p>
            </p:txBody>
          </p:sp>
        </mc:Fallback>
      </mc:AlternateContent>
      <p:sp>
        <p:nvSpPr>
          <p:cNvPr id="8" name="Arrow: Down 7">
            <a:extLst>
              <a:ext uri="{FF2B5EF4-FFF2-40B4-BE49-F238E27FC236}">
                <a16:creationId xmlns:a16="http://schemas.microsoft.com/office/drawing/2014/main" id="{BF02ED91-711C-8250-22EF-85D9BE062C02}"/>
              </a:ext>
            </a:extLst>
          </p:cNvPr>
          <p:cNvSpPr/>
          <p:nvPr/>
        </p:nvSpPr>
        <p:spPr>
          <a:xfrm>
            <a:off x="5823622" y="1202173"/>
            <a:ext cx="544749"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5AB46A-730D-55B5-0C1F-47FB37440989}"/>
                  </a:ext>
                </a:extLst>
              </p:cNvPr>
              <p:cNvSpPr txBox="1"/>
              <p:nvPr/>
            </p:nvSpPr>
            <p:spPr>
              <a:xfrm>
                <a:off x="2361793" y="1878664"/>
                <a:ext cx="7468409" cy="942502"/>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total number of pixels in the image is 𝑁 which its equation with relation to </a:t>
                </a:r>
                <a14:m>
                  <m:oMath xmlns:m="http://schemas.openxmlformats.org/officeDocument/2006/math">
                    <m:r>
                      <a:rPr lang="en-US" i="1" dirty="0" smtClean="0">
                        <a:latin typeface="Cambria Math" panose="02040503050406030204" pitchFamily="18" charset="0"/>
                      </a:rPr>
                      <m:t>h</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m:t>
                    </m:r>
                  </m:oMath>
                </a14:m>
                <a:r>
                  <a:rPr lang="en-US" dirty="0"/>
                  <a:t> is </a:t>
                </a:r>
                <a14:m>
                  <m:oMath xmlns:m="http://schemas.openxmlformats.org/officeDocument/2006/math">
                    <m:r>
                      <a:rPr lang="en-US" b="1" i="1" smtClean="0">
                        <a:solidFill>
                          <a:srgbClr val="FFFF00"/>
                        </a:solidFill>
                        <a:latin typeface="Cambria Math" panose="02040503050406030204" pitchFamily="18" charset="0"/>
                      </a:rPr>
                      <m:t>𝑵</m:t>
                    </m:r>
                    <m:r>
                      <a:rPr lang="en-US" b="1" i="1" smtClean="0">
                        <a:solidFill>
                          <a:srgbClr val="FFFF00"/>
                        </a:solidFill>
                        <a:latin typeface="Cambria Math" panose="02040503050406030204" pitchFamily="18" charset="0"/>
                      </a:rPr>
                      <m:t>=</m:t>
                    </m:r>
                    <m:nary>
                      <m:naryPr>
                        <m:chr m:val="∑"/>
                        <m:ctrlPr>
                          <a:rPr lang="en-US" b="1" i="1" smtClean="0">
                            <a:solidFill>
                              <a:srgbClr val="FFFF00"/>
                            </a:solidFill>
                            <a:latin typeface="Cambria Math" panose="02040503050406030204" pitchFamily="18" charset="0"/>
                          </a:rPr>
                        </m:ctrlPr>
                      </m:naryPr>
                      <m:sub>
                        <m:r>
                          <m:rPr>
                            <m:brk m:alnAt="23"/>
                          </m:rP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𝟎</m:t>
                        </m:r>
                      </m:sub>
                      <m:sup>
                        <m:r>
                          <a:rPr lang="en-US" b="1" i="1" smtClean="0">
                            <a:solidFill>
                              <a:srgbClr val="FFFF00"/>
                            </a:solidFill>
                            <a:latin typeface="Cambria Math" panose="02040503050406030204" pitchFamily="18" charset="0"/>
                          </a:rPr>
                          <m:t>𝑳</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m:t>
                        </m:r>
                      </m:sup>
                      <m:e>
                        <m:r>
                          <a:rPr lang="en-US" b="1" i="1" smtClean="0">
                            <a:solidFill>
                              <a:srgbClr val="FFFF00"/>
                            </a:solidFill>
                            <a:latin typeface="Cambria Math" panose="02040503050406030204" pitchFamily="18" charset="0"/>
                          </a:rPr>
                          <m:t>𝒉</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e>
                    </m:nary>
                    <m:r>
                      <a:rPr lang="en-US" b="0" i="1" smtClean="0">
                        <a:latin typeface="Cambria Math" panose="02040503050406030204" pitchFamily="18" charset="0"/>
                      </a:rPr>
                      <m:t>  →</m:t>
                    </m:r>
                    <m:r>
                      <m:rPr>
                        <m:nor/>
                      </m:rPr>
                      <a:rPr lang="en-US"/>
                      <m:t>where</m:t>
                    </m:r>
                    <m:r>
                      <m:rPr>
                        <m:nor/>
                      </m:rPr>
                      <a:rPr lang="en-US"/>
                      <m:t> </m:t>
                    </m:r>
                    <m:r>
                      <a:rPr lang="en-US" i="1" dirty="0" smtClean="0">
                        <a:latin typeface="Cambria Math" panose="02040503050406030204" pitchFamily="18" charset="0"/>
                      </a:rPr>
                      <m:t>𝐿</m:t>
                    </m:r>
                    <m:r>
                      <m:rPr>
                        <m:nor/>
                      </m:rPr>
                      <a:rPr lang="en-US"/>
                      <m:t> </m:t>
                    </m:r>
                    <m:r>
                      <m:rPr>
                        <m:nor/>
                      </m:rPr>
                      <a:rPr lang="en-US"/>
                      <m:t>is</m:t>
                    </m:r>
                    <m:r>
                      <m:rPr>
                        <m:nor/>
                      </m:rPr>
                      <a:rPr lang="en-US"/>
                      <m:t> </m:t>
                    </m:r>
                    <m:r>
                      <m:rPr>
                        <m:nor/>
                      </m:rPr>
                      <a:rPr lang="en-US"/>
                      <m:t>the</m:t>
                    </m:r>
                    <m:r>
                      <m:rPr>
                        <m:nor/>
                      </m:rPr>
                      <a:rPr lang="en-US"/>
                      <m:t> </m:t>
                    </m:r>
                    <m:r>
                      <m:rPr>
                        <m:nor/>
                      </m:rPr>
                      <a:rPr lang="en-US"/>
                      <m:t>number</m:t>
                    </m:r>
                    <m:r>
                      <m:rPr>
                        <m:nor/>
                      </m:rPr>
                      <a:rPr lang="en-US"/>
                      <m:t> </m:t>
                    </m:r>
                    <m:r>
                      <m:rPr>
                        <m:nor/>
                      </m:rPr>
                      <a:rPr lang="en-US"/>
                      <m:t>of</m:t>
                    </m:r>
                    <m:r>
                      <m:rPr>
                        <m:nor/>
                      </m:rPr>
                      <a:rPr lang="en-US"/>
                      <m:t> </m:t>
                    </m:r>
                    <m:r>
                      <m:rPr>
                        <m:nor/>
                      </m:rPr>
                      <a:rPr lang="en-US"/>
                      <m:t>possible</m:t>
                    </m:r>
                    <m:r>
                      <m:rPr>
                        <m:nor/>
                      </m:rPr>
                      <a:rPr lang="en-US"/>
                      <m:t> </m:t>
                    </m:r>
                    <m:r>
                      <m:rPr>
                        <m:nor/>
                      </m:rPr>
                      <a:rPr lang="en-US"/>
                      <m:t>intensity</m:t>
                    </m:r>
                    <m:r>
                      <m:rPr>
                        <m:nor/>
                      </m:rPr>
                      <a:rPr lang="en-US"/>
                      <m:t> </m:t>
                    </m:r>
                    <m:r>
                      <m:rPr>
                        <m:nor/>
                      </m:rPr>
                      <a:rPr lang="en-US"/>
                      <m:t>levels</m:t>
                    </m:r>
                  </m:oMath>
                </a14:m>
                <a:r>
                  <a:rPr lang="en-US" dirty="0"/>
                  <a:t> (255 in 8 bpp grayscale image)</a:t>
                </a:r>
                <a:endParaRPr lang="he-IL" dirty="0"/>
              </a:p>
            </p:txBody>
          </p:sp>
        </mc:Choice>
        <mc:Fallback xmlns="">
          <p:sp>
            <p:nvSpPr>
              <p:cNvPr id="10" name="TextBox 9">
                <a:extLst>
                  <a:ext uri="{FF2B5EF4-FFF2-40B4-BE49-F238E27FC236}">
                    <a16:creationId xmlns:a16="http://schemas.microsoft.com/office/drawing/2014/main" id="{9C5AB46A-730D-55B5-0C1F-47FB37440989}"/>
                  </a:ext>
                </a:extLst>
              </p:cNvPr>
              <p:cNvSpPr txBox="1">
                <a:spLocks noRot="1" noChangeAspect="1" noMove="1" noResize="1" noEditPoints="1" noAdjustHandles="1" noChangeArrowheads="1" noChangeShapeType="1" noTextEdit="1"/>
              </p:cNvSpPr>
              <p:nvPr/>
            </p:nvSpPr>
            <p:spPr>
              <a:xfrm>
                <a:off x="2361793" y="1878664"/>
                <a:ext cx="7468409" cy="942502"/>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299CA4E-9612-E102-2BFE-E756AC701B0B}"/>
                  </a:ext>
                </a:extLst>
              </p:cNvPr>
              <p:cNvSpPr txBox="1"/>
              <p:nvPr/>
            </p:nvSpPr>
            <p:spPr>
              <a:xfrm>
                <a:off x="2312346" y="3680248"/>
                <a:ext cx="7468408"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The image is divided into two classes: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0</m:t>
                        </m:r>
                      </m:sub>
                    </m:sSub>
                  </m:oMath>
                </a14:m>
                <a:r>
                  <a:rPr lang="en-US" dirty="0"/>
                  <a:t> (background) and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oMath>
                </a14:m>
                <a:r>
                  <a:rPr lang="en-US" dirty="0"/>
                  <a:t> (foreground), using a threshold </a:t>
                </a:r>
                <a14:m>
                  <m:oMath xmlns:m="http://schemas.openxmlformats.org/officeDocument/2006/math">
                    <m:r>
                      <a:rPr lang="en-US" i="1" dirty="0" smtClean="0">
                        <a:latin typeface="Cambria Math" panose="02040503050406030204" pitchFamily="18" charset="0"/>
                      </a:rPr>
                      <m:t>𝑇</m:t>
                    </m:r>
                  </m:oMath>
                </a14:m>
                <a:r>
                  <a:rPr lang="en-US" dirty="0"/>
                  <a:t>.</a:t>
                </a:r>
                <a:endParaRPr lang="he-IL" dirty="0"/>
              </a:p>
            </p:txBody>
          </p:sp>
        </mc:Choice>
        <mc:Fallback xmlns="">
          <p:sp>
            <p:nvSpPr>
              <p:cNvPr id="13" name="TextBox 12">
                <a:extLst>
                  <a:ext uri="{FF2B5EF4-FFF2-40B4-BE49-F238E27FC236}">
                    <a16:creationId xmlns:a16="http://schemas.microsoft.com/office/drawing/2014/main" id="{A299CA4E-9612-E102-2BFE-E756AC701B0B}"/>
                  </a:ext>
                </a:extLst>
              </p:cNvPr>
              <p:cNvSpPr txBox="1">
                <a:spLocks noRot="1" noChangeAspect="1" noMove="1" noResize="1" noEditPoints="1" noAdjustHandles="1" noChangeArrowheads="1" noChangeShapeType="1" noTextEdit="1"/>
              </p:cNvSpPr>
              <p:nvPr/>
            </p:nvSpPr>
            <p:spPr>
              <a:xfrm>
                <a:off x="2312346" y="3680248"/>
                <a:ext cx="7468408" cy="646331"/>
              </a:xfrm>
              <a:prstGeom prst="rect">
                <a:avLst/>
              </a:prstGeom>
              <a:blipFill>
                <a:blip r:embed="rId4"/>
                <a:stretch>
                  <a:fillRect/>
                </a:stretch>
              </a:blipFill>
            </p:spPr>
            <p:txBody>
              <a:bodyPr/>
              <a:lstStyle/>
              <a:p>
                <a:r>
                  <a:rPr lang="he-IL">
                    <a:noFill/>
                  </a:rPr>
                  <a:t> </a:t>
                </a:r>
              </a:p>
            </p:txBody>
          </p:sp>
        </mc:Fallback>
      </mc:AlternateContent>
      <p:sp>
        <p:nvSpPr>
          <p:cNvPr id="14" name="Arrow: Down 13">
            <a:extLst>
              <a:ext uri="{FF2B5EF4-FFF2-40B4-BE49-F238E27FC236}">
                <a16:creationId xmlns:a16="http://schemas.microsoft.com/office/drawing/2014/main" id="{CF007DC9-567E-3B81-0D9C-09A0544F3FFD}"/>
              </a:ext>
            </a:extLst>
          </p:cNvPr>
          <p:cNvSpPr/>
          <p:nvPr/>
        </p:nvSpPr>
        <p:spPr>
          <a:xfrm>
            <a:off x="5823622" y="2929523"/>
            <a:ext cx="544749"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Arrow: Down 14">
            <a:extLst>
              <a:ext uri="{FF2B5EF4-FFF2-40B4-BE49-F238E27FC236}">
                <a16:creationId xmlns:a16="http://schemas.microsoft.com/office/drawing/2014/main" id="{2335AD86-9563-D4F3-4F47-763F563998FF}"/>
              </a:ext>
            </a:extLst>
          </p:cNvPr>
          <p:cNvSpPr/>
          <p:nvPr/>
        </p:nvSpPr>
        <p:spPr>
          <a:xfrm>
            <a:off x="3025302" y="4404776"/>
            <a:ext cx="700392"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Arrow: Down 15">
            <a:extLst>
              <a:ext uri="{FF2B5EF4-FFF2-40B4-BE49-F238E27FC236}">
                <a16:creationId xmlns:a16="http://schemas.microsoft.com/office/drawing/2014/main" id="{B246922C-096F-EF3E-2C31-256C701B84D4}"/>
              </a:ext>
            </a:extLst>
          </p:cNvPr>
          <p:cNvSpPr/>
          <p:nvPr/>
        </p:nvSpPr>
        <p:spPr>
          <a:xfrm>
            <a:off x="8310666" y="4404776"/>
            <a:ext cx="700392"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501EA57-8D47-1631-BBB8-47A0B74C994C}"/>
                  </a:ext>
                </a:extLst>
              </p:cNvPr>
              <p:cNvSpPr txBox="1"/>
              <p:nvPr/>
            </p:nvSpPr>
            <p:spPr>
              <a:xfrm>
                <a:off x="98896" y="5178386"/>
                <a:ext cx="5124858" cy="665503"/>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probability of a pixel intensity being in class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0</m:t>
                        </m:r>
                      </m:sub>
                    </m:sSub>
                  </m:oMath>
                </a14:m>
                <a:r>
                  <a:rPr lang="en-US" dirty="0"/>
                  <a:t> (below the threshold) is: </a:t>
                </a:r>
                <a14:m>
                  <m:oMath xmlns:m="http://schemas.openxmlformats.org/officeDocument/2006/math">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𝝎</m:t>
                        </m:r>
                      </m:e>
                      <m:sub>
                        <m:r>
                          <a:rPr lang="en-US" b="1" i="1">
                            <a:solidFill>
                              <a:srgbClr val="FFFF00"/>
                            </a:solidFill>
                            <a:latin typeface="Cambria Math" panose="02040503050406030204" pitchFamily="18" charset="0"/>
                          </a:rPr>
                          <m:t>𝟎</m:t>
                        </m:r>
                      </m:sub>
                    </m:sSub>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r>
                      <a:rPr lang="en-US" b="1" i="1">
                        <a:solidFill>
                          <a:srgbClr val="FFFF00"/>
                        </a:solidFill>
                        <a:latin typeface="Cambria Math" panose="02040503050406030204" pitchFamily="18" charset="0"/>
                      </a:rPr>
                      <m:t>=</m:t>
                    </m:r>
                    <m:nary>
                      <m:naryPr>
                        <m:chr m:val="∑"/>
                        <m:ctrlPr>
                          <a:rPr lang="en-US" b="1" i="1">
                            <a:solidFill>
                              <a:srgbClr val="FFFF00"/>
                            </a:solidFill>
                            <a:latin typeface="Cambria Math" panose="02040503050406030204" pitchFamily="18" charset="0"/>
                          </a:rPr>
                        </m:ctrlPr>
                      </m:naryPr>
                      <m:sub>
                        <m:r>
                          <m:rPr>
                            <m:brk m:alnAt="23"/>
                          </m:rPr>
                          <a:rPr lang="en-US" b="1" i="1">
                            <a:solidFill>
                              <a:srgbClr val="FFFF00"/>
                            </a:solidFill>
                            <a:latin typeface="Cambria Math" panose="02040503050406030204" pitchFamily="18" charset="0"/>
                          </a:rPr>
                          <m:t>𝒕</m:t>
                        </m:r>
                        <m:r>
                          <a:rPr lang="en-US" b="1" i="1">
                            <a:solidFill>
                              <a:srgbClr val="FFFF00"/>
                            </a:solidFill>
                            <a:latin typeface="Cambria Math" panose="02040503050406030204" pitchFamily="18" charset="0"/>
                          </a:rPr>
                          <m:t>=</m:t>
                        </m:r>
                        <m:r>
                          <a:rPr lang="en-US" b="1" i="1">
                            <a:solidFill>
                              <a:srgbClr val="FFFF00"/>
                            </a:solidFill>
                            <a:latin typeface="Cambria Math" panose="02040503050406030204" pitchFamily="18" charset="0"/>
                          </a:rPr>
                          <m:t>𝟎</m:t>
                        </m:r>
                      </m:sub>
                      <m:sup>
                        <m:r>
                          <a:rPr lang="en-US" b="1" i="1">
                            <a:solidFill>
                              <a:srgbClr val="FFFF00"/>
                            </a:solidFill>
                            <a:latin typeface="Cambria Math" panose="02040503050406030204" pitchFamily="18" charset="0"/>
                          </a:rPr>
                          <m:t>𝑻</m:t>
                        </m:r>
                        <m:r>
                          <a:rPr lang="en-US" b="1" i="1">
                            <a:solidFill>
                              <a:srgbClr val="FFFF00"/>
                            </a:solidFill>
                            <a:latin typeface="Cambria Math" panose="02040503050406030204" pitchFamily="18" charset="0"/>
                          </a:rPr>
                          <m:t>−</m:t>
                        </m:r>
                        <m:r>
                          <a:rPr lang="en-US" b="1" i="1">
                            <a:solidFill>
                              <a:srgbClr val="FFFF00"/>
                            </a:solidFill>
                            <a:latin typeface="Cambria Math" panose="02040503050406030204" pitchFamily="18" charset="0"/>
                          </a:rPr>
                          <m:t>𝟏</m:t>
                        </m:r>
                      </m:sup>
                      <m:e>
                        <m:r>
                          <a:rPr lang="en-US" b="1" i="1">
                            <a:solidFill>
                              <a:srgbClr val="FFFF00"/>
                            </a:solidFill>
                            <a:latin typeface="Cambria Math" panose="02040503050406030204" pitchFamily="18" charset="0"/>
                          </a:rPr>
                          <m:t>𝑷</m:t>
                        </m:r>
                        <m:r>
                          <a:rPr lang="en-US" b="1" i="1">
                            <a:solidFill>
                              <a:srgbClr val="FFFF00"/>
                            </a:solidFill>
                            <a:latin typeface="Cambria Math" panose="02040503050406030204" pitchFamily="18" charset="0"/>
                          </a:rPr>
                          <m:t>(</m:t>
                        </m:r>
                        <m:r>
                          <a:rPr lang="en-US" b="1" i="1">
                            <a:solidFill>
                              <a:srgbClr val="FFFF00"/>
                            </a:solidFill>
                            <a:latin typeface="Cambria Math" panose="02040503050406030204" pitchFamily="18" charset="0"/>
                          </a:rPr>
                          <m:t>𝒕</m:t>
                        </m:r>
                        <m:r>
                          <a:rPr lang="en-US" b="1" i="1">
                            <a:solidFill>
                              <a:srgbClr val="FFFF00"/>
                            </a:solidFill>
                            <a:latin typeface="Cambria Math" panose="02040503050406030204" pitchFamily="18" charset="0"/>
                          </a:rPr>
                          <m:t>)</m:t>
                        </m:r>
                      </m:e>
                    </m:nary>
                  </m:oMath>
                </a14:m>
                <a:endParaRPr lang="he-IL" b="1" i="1" dirty="0">
                  <a:solidFill>
                    <a:srgbClr val="FFFF00"/>
                  </a:solidFill>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7501EA57-8D47-1631-BBB8-47A0B74C994C}"/>
                  </a:ext>
                </a:extLst>
              </p:cNvPr>
              <p:cNvSpPr txBox="1">
                <a:spLocks noRot="1" noChangeAspect="1" noMove="1" noResize="1" noEditPoints="1" noAdjustHandles="1" noChangeArrowheads="1" noChangeShapeType="1" noTextEdit="1"/>
              </p:cNvSpPr>
              <p:nvPr/>
            </p:nvSpPr>
            <p:spPr>
              <a:xfrm>
                <a:off x="98896" y="5178386"/>
                <a:ext cx="5124858" cy="665503"/>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D97129A-12C0-0033-ABB5-A4A0433B5DD1}"/>
                  </a:ext>
                </a:extLst>
              </p:cNvPr>
              <p:cNvSpPr txBox="1"/>
              <p:nvPr/>
            </p:nvSpPr>
            <p:spPr>
              <a:xfrm>
                <a:off x="6448629" y="5178386"/>
                <a:ext cx="5124858" cy="65902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probability of a pixel intensity being in class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b="0" i="1" dirty="0" smtClean="0">
                            <a:latin typeface="Cambria Math" panose="02040503050406030204" pitchFamily="18" charset="0"/>
                          </a:rPr>
                          <m:t>1</m:t>
                        </m:r>
                      </m:sub>
                    </m:sSub>
                  </m:oMath>
                </a14:m>
                <a:r>
                  <a:rPr lang="en-US" dirty="0"/>
                  <a:t> (above the threshold) is: </a:t>
                </a:r>
                <a14:m>
                  <m:oMath xmlns:m="http://schemas.openxmlformats.org/officeDocument/2006/math">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𝝎</m:t>
                        </m:r>
                      </m:e>
                      <m:sub>
                        <m:r>
                          <a:rPr lang="en-US" b="1" i="1" smtClean="0">
                            <a:solidFill>
                              <a:srgbClr val="FFFF00"/>
                            </a:solidFill>
                            <a:latin typeface="Cambria Math" panose="02040503050406030204" pitchFamily="18" charset="0"/>
                          </a:rPr>
                          <m:t>𝟏</m:t>
                        </m:r>
                      </m:sub>
                    </m:s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𝑻</m:t>
                        </m:r>
                      </m:e>
                    </m:d>
                    <m:r>
                      <a:rPr lang="en-US" b="1" i="1" smtClean="0">
                        <a:solidFill>
                          <a:srgbClr val="FFFF00"/>
                        </a:solidFill>
                        <a:latin typeface="Cambria Math" panose="02040503050406030204" pitchFamily="18" charset="0"/>
                      </a:rPr>
                      <m:t>=</m:t>
                    </m:r>
                    <m:nary>
                      <m:naryPr>
                        <m:chr m:val="∑"/>
                        <m:ctrlPr>
                          <a:rPr lang="en-US" b="1" i="1" smtClean="0">
                            <a:solidFill>
                              <a:srgbClr val="FFFF00"/>
                            </a:solidFill>
                            <a:latin typeface="Cambria Math" panose="02040503050406030204" pitchFamily="18" charset="0"/>
                          </a:rPr>
                        </m:ctrlPr>
                      </m:naryPr>
                      <m:sub>
                        <m:r>
                          <m:rPr>
                            <m:brk m:alnAt="23"/>
                          </m:rP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𝑻</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m:t>
                        </m:r>
                      </m:sub>
                      <m:sup>
                        <m:r>
                          <a:rPr lang="en-US" b="1" i="1" smtClean="0">
                            <a:solidFill>
                              <a:srgbClr val="FFFF00"/>
                            </a:solidFill>
                            <a:latin typeface="Cambria Math" panose="02040503050406030204" pitchFamily="18" charset="0"/>
                          </a:rPr>
                          <m:t>𝑳</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m:t>
                        </m:r>
                      </m:sup>
                      <m:e>
                        <m:r>
                          <a:rPr lang="en-US" b="1" i="1" smtClean="0">
                            <a:solidFill>
                              <a:srgbClr val="FFFF00"/>
                            </a:solidFill>
                            <a:latin typeface="Cambria Math" panose="02040503050406030204" pitchFamily="18" charset="0"/>
                          </a:rPr>
                          <m:t>𝑷</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e>
                    </m:nary>
                  </m:oMath>
                </a14:m>
                <a:endParaRPr lang="he-IL" b="1" dirty="0"/>
              </a:p>
            </p:txBody>
          </p:sp>
        </mc:Choice>
        <mc:Fallback xmlns="">
          <p:sp>
            <p:nvSpPr>
              <p:cNvPr id="19" name="TextBox 18">
                <a:extLst>
                  <a:ext uri="{FF2B5EF4-FFF2-40B4-BE49-F238E27FC236}">
                    <a16:creationId xmlns:a16="http://schemas.microsoft.com/office/drawing/2014/main" id="{AD97129A-12C0-0033-ABB5-A4A0433B5DD1}"/>
                  </a:ext>
                </a:extLst>
              </p:cNvPr>
              <p:cNvSpPr txBox="1">
                <a:spLocks noRot="1" noChangeAspect="1" noMove="1" noResize="1" noEditPoints="1" noAdjustHandles="1" noChangeArrowheads="1" noChangeShapeType="1" noTextEdit="1"/>
              </p:cNvSpPr>
              <p:nvPr/>
            </p:nvSpPr>
            <p:spPr>
              <a:xfrm>
                <a:off x="6448629" y="5178386"/>
                <a:ext cx="5124858" cy="659027"/>
              </a:xfrm>
              <a:prstGeom prst="rect">
                <a:avLst/>
              </a:prstGeom>
              <a:blipFill>
                <a:blip r:embed="rId6"/>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C92004E-EEE9-F2EC-96D9-C03D5B2CB8EE}"/>
                  </a:ext>
                </a:extLst>
              </p:cNvPr>
              <p:cNvSpPr txBox="1"/>
              <p:nvPr/>
            </p:nvSpPr>
            <p:spPr>
              <a:xfrm>
                <a:off x="2089418" y="6262465"/>
                <a:ext cx="7468407" cy="503471"/>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r>
                  <a:rPr lang="en-US" dirty="0"/>
                  <a:t>Where </a:t>
                </a:r>
                <a14:m>
                  <m:oMath xmlns:m="http://schemas.openxmlformats.org/officeDocument/2006/math">
                    <m:r>
                      <a:rPr lang="en-US" i="1" dirty="0" smtClean="0">
                        <a:latin typeface="Cambria Math" panose="02040503050406030204" pitchFamily="18" charset="0"/>
                      </a:rPr>
                      <m:t>𝑃</m:t>
                    </m:r>
                    <m:r>
                      <a:rPr lang="en-US" i="1" dirty="0">
                        <a:latin typeface="Cambria Math" panose="02040503050406030204" pitchFamily="18" charset="0"/>
                      </a:rPr>
                      <m:t>(</m:t>
                    </m:r>
                    <m:r>
                      <a:rPr lang="en-US" i="1" dirty="0">
                        <a:latin typeface="Cambria Math" panose="02040503050406030204" pitchFamily="18" charset="0"/>
                      </a:rPr>
                      <m:t>𝑡</m:t>
                    </m:r>
                    <m:r>
                      <a:rPr lang="en-US" i="1" dirty="0">
                        <a:latin typeface="Cambria Math" panose="02040503050406030204" pitchFamily="18" charset="0"/>
                      </a:rPr>
                      <m:t>) </m:t>
                    </m:r>
                  </m:oMath>
                </a14:m>
                <a:r>
                  <a:rPr lang="en-US" dirty="0"/>
                  <a:t>is the probability of intensity level </a:t>
                </a:r>
                <a14:m>
                  <m:oMath xmlns:m="http://schemas.openxmlformats.org/officeDocument/2006/math">
                    <m:r>
                      <a:rPr lang="en-US" i="1" dirty="0" smtClean="0">
                        <a:latin typeface="Cambria Math" panose="02040503050406030204" pitchFamily="18" charset="0"/>
                      </a:rPr>
                      <m:t>𝑡</m:t>
                    </m:r>
                  </m:oMath>
                </a14:m>
                <a:r>
                  <a:rPr lang="en-US" dirty="0"/>
                  <a:t>, calculated as </a:t>
                </a:r>
                <a14:m>
                  <m:oMath xmlns:m="http://schemas.openxmlformats.org/officeDocument/2006/math">
                    <m:r>
                      <a:rPr lang="en-US" b="1" i="1" smtClean="0">
                        <a:solidFill>
                          <a:srgbClr val="FFFF00"/>
                        </a:solidFill>
                        <a:latin typeface="Cambria Math" panose="02040503050406030204" pitchFamily="18" charset="0"/>
                      </a:rPr>
                      <m:t>𝑷</m:t>
                    </m:r>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𝒕</m:t>
                        </m:r>
                      </m:e>
                    </m:d>
                    <m:r>
                      <a:rPr lang="en-US" b="1" i="1" smtClean="0">
                        <a:solidFill>
                          <a:srgbClr val="FFFF00"/>
                        </a:solidFill>
                        <a:latin typeface="Cambria Math" panose="02040503050406030204" pitchFamily="18" charset="0"/>
                      </a:rPr>
                      <m:t>=</m:t>
                    </m:r>
                    <m:f>
                      <m:fPr>
                        <m:ctrlPr>
                          <a:rPr lang="en-US" b="1" i="1" smtClean="0">
                            <a:solidFill>
                              <a:srgbClr val="FFFF00"/>
                            </a:solidFill>
                            <a:latin typeface="Cambria Math" panose="02040503050406030204" pitchFamily="18" charset="0"/>
                          </a:rPr>
                        </m:ctrlPr>
                      </m:fPr>
                      <m:num>
                        <m:r>
                          <a:rPr lang="en-US" b="1" i="1" smtClean="0">
                            <a:solidFill>
                              <a:srgbClr val="FFFF00"/>
                            </a:solidFill>
                            <a:latin typeface="Cambria Math" panose="02040503050406030204" pitchFamily="18" charset="0"/>
                          </a:rPr>
                          <m:t>𝒉</m:t>
                        </m:r>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𝒕</m:t>
                            </m:r>
                          </m:e>
                        </m:d>
                      </m:num>
                      <m:den>
                        <m:r>
                          <a:rPr lang="en-US" b="1" i="1" smtClean="0">
                            <a:solidFill>
                              <a:srgbClr val="FFFF00"/>
                            </a:solidFill>
                            <a:latin typeface="Cambria Math" panose="02040503050406030204" pitchFamily="18" charset="0"/>
                          </a:rPr>
                          <m:t>𝑵</m:t>
                        </m:r>
                      </m:den>
                    </m:f>
                  </m:oMath>
                </a14:m>
                <a:endParaRPr lang="he-IL" b="1" dirty="0"/>
              </a:p>
            </p:txBody>
          </p:sp>
        </mc:Choice>
        <mc:Fallback xmlns="">
          <p:sp>
            <p:nvSpPr>
              <p:cNvPr id="21" name="TextBox 20">
                <a:extLst>
                  <a:ext uri="{FF2B5EF4-FFF2-40B4-BE49-F238E27FC236}">
                    <a16:creationId xmlns:a16="http://schemas.microsoft.com/office/drawing/2014/main" id="{0C92004E-EEE9-F2EC-96D9-C03D5B2CB8EE}"/>
                  </a:ext>
                </a:extLst>
              </p:cNvPr>
              <p:cNvSpPr txBox="1">
                <a:spLocks noRot="1" noChangeAspect="1" noMove="1" noResize="1" noEditPoints="1" noAdjustHandles="1" noChangeArrowheads="1" noChangeShapeType="1" noTextEdit="1"/>
              </p:cNvSpPr>
              <p:nvPr/>
            </p:nvSpPr>
            <p:spPr>
              <a:xfrm>
                <a:off x="2089418" y="6262465"/>
                <a:ext cx="7468407" cy="503471"/>
              </a:xfrm>
              <a:prstGeom prst="rect">
                <a:avLst/>
              </a:prstGeom>
              <a:blipFill>
                <a:blip r:embed="rId7"/>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875865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6E2D21-1E59-E996-2B4C-8054E0301596}"/>
              </a:ext>
            </a:extLst>
          </p:cNvPr>
          <p:cNvSpPr>
            <a:spLocks noGrp="1"/>
          </p:cNvSpPr>
          <p:nvPr>
            <p:ph type="sldNum" sz="quarter" idx="12"/>
          </p:nvPr>
        </p:nvSpPr>
        <p:spPr>
          <a:xfrm>
            <a:off x="11736421" y="0"/>
            <a:ext cx="455579" cy="365125"/>
          </a:xfrm>
        </p:spPr>
        <p:txBody>
          <a:bodyPr/>
          <a:lstStyle/>
          <a:p>
            <a:fld id="{81122904-1B5F-4679-B3DC-5E87602DE7DA}" type="slidenum">
              <a:rPr lang="he-IL" sz="1400" smtClean="0"/>
              <a:t>15</a:t>
            </a:fld>
            <a:endParaRPr lang="he-IL" sz="1400"/>
          </a:p>
        </p:txBody>
      </p:sp>
      <p:sp>
        <p:nvSpPr>
          <p:cNvPr id="5" name="Title 1">
            <a:extLst>
              <a:ext uri="{FF2B5EF4-FFF2-40B4-BE49-F238E27FC236}">
                <a16:creationId xmlns:a16="http://schemas.microsoft.com/office/drawing/2014/main" id="{462D6D5C-FA88-1634-5476-9B0ADB8AABFA}"/>
              </a:ext>
            </a:extLst>
          </p:cNvPr>
          <p:cNvSpPr txBox="1">
            <a:spLocks/>
          </p:cNvSpPr>
          <p:nvPr/>
        </p:nvSpPr>
        <p:spPr>
          <a:xfrm>
            <a:off x="1826367" y="-10067"/>
            <a:ext cx="8539265" cy="500233"/>
          </a:xfrm>
          <a:prstGeom prst="rect">
            <a:avLst/>
          </a:prstGeom>
        </p:spPr>
        <p:txBody>
          <a:bodyPr vert="horz" lIns="91440" tIns="45720" rIns="91440" bIns="45720" rtlCol="1" anchor="ctr">
            <a:normAutofit fontScale="925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Introduction to 24.10</a:t>
            </a:r>
            <a:r>
              <a:rPr lang="en-US" sz="2800" b="1" u="sng" dirty="0">
                <a:solidFill>
                  <a:srgbClr val="0070C0"/>
                </a:solidFill>
                <a:latin typeface="+mn-lt"/>
              </a:rPr>
              <a:t>– otsu method for threshold – </a:t>
            </a:r>
            <a:r>
              <a:rPr lang="en-US" sz="2800" b="1" u="sng" dirty="0">
                <a:solidFill>
                  <a:srgbClr val="FF0000"/>
                </a:solidFill>
                <a:latin typeface="+mn-lt"/>
              </a:rPr>
              <a:t>part 3</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3A9B68-745B-F052-F0C0-A770E81ECF20}"/>
                  </a:ext>
                </a:extLst>
              </p:cNvPr>
              <p:cNvSpPr txBox="1"/>
              <p:nvPr/>
            </p:nvSpPr>
            <p:spPr>
              <a:xfrm>
                <a:off x="223733" y="533976"/>
                <a:ext cx="3501961" cy="989245"/>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mean intensity for class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0</m:t>
                        </m:r>
                      </m:sub>
                    </m:sSub>
                  </m:oMath>
                </a14:m>
                <a:r>
                  <a:rPr lang="en-US" dirty="0"/>
                  <a:t> is:</a:t>
                </a:r>
              </a:p>
              <a:p>
                <a:pPr/>
                <a14:m>
                  <m:oMathPara xmlns:m="http://schemas.openxmlformats.org/officeDocument/2006/math">
                    <m:oMathParaPr>
                      <m:jc m:val="centerGroup"/>
                    </m:oMathParaPr>
                    <m:oMath xmlns:m="http://schemas.openxmlformats.org/officeDocument/2006/math">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𝝁</m:t>
                          </m:r>
                        </m:e>
                        <m:sub>
                          <m:r>
                            <a:rPr lang="en-US" b="1" i="1" smtClean="0">
                              <a:solidFill>
                                <a:srgbClr val="FFFF00"/>
                              </a:solidFill>
                              <a:latin typeface="Cambria Math" panose="02040503050406030204" pitchFamily="18" charset="0"/>
                            </a:rPr>
                            <m:t>𝟎</m:t>
                          </m:r>
                        </m:sub>
                      </m:s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𝑻</m:t>
                          </m:r>
                        </m:e>
                      </m:d>
                      <m:r>
                        <a:rPr lang="en-US" b="1" i="1" smtClean="0">
                          <a:solidFill>
                            <a:srgbClr val="FFFF00"/>
                          </a:solidFill>
                          <a:latin typeface="Cambria Math" panose="02040503050406030204" pitchFamily="18" charset="0"/>
                        </a:rPr>
                        <m:t>=</m:t>
                      </m:r>
                      <m:f>
                        <m:fPr>
                          <m:ctrlPr>
                            <a:rPr lang="en-US" b="1" i="1" smtClean="0">
                              <a:solidFill>
                                <a:srgbClr val="FFFF00"/>
                              </a:solidFill>
                              <a:latin typeface="Cambria Math" panose="02040503050406030204" pitchFamily="18" charset="0"/>
                            </a:rPr>
                          </m:ctrlPr>
                        </m:fPr>
                        <m:num>
                          <m:nary>
                            <m:naryPr>
                              <m:chr m:val="∑"/>
                              <m:ctrlPr>
                                <a:rPr lang="en-US" b="1" i="1" smtClean="0">
                                  <a:solidFill>
                                    <a:srgbClr val="FFFF00"/>
                                  </a:solidFill>
                                  <a:latin typeface="Cambria Math" panose="02040503050406030204" pitchFamily="18" charset="0"/>
                                </a:rPr>
                              </m:ctrlPr>
                            </m:naryPr>
                            <m:sub>
                              <m:r>
                                <m:rPr>
                                  <m:brk m:alnAt="23"/>
                                </m:rP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𝟎</m:t>
                              </m:r>
                            </m:sub>
                            <m:sup>
                              <m:r>
                                <a:rPr lang="en-US" b="1" i="1" smtClean="0">
                                  <a:solidFill>
                                    <a:srgbClr val="FFFF00"/>
                                  </a:solidFill>
                                  <a:latin typeface="Cambria Math" panose="02040503050406030204" pitchFamily="18" charset="0"/>
                                </a:rPr>
                                <m:t>𝑻</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m:t>
                              </m:r>
                            </m:sup>
                            <m:e>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𝑷</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e>
                          </m:nary>
                        </m:num>
                        <m:den>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𝝎</m:t>
                              </m:r>
                            </m:e>
                            <m:sub>
                              <m:r>
                                <a:rPr lang="en-US" b="1" i="1" smtClean="0">
                                  <a:solidFill>
                                    <a:srgbClr val="FFFF00"/>
                                  </a:solidFill>
                                  <a:latin typeface="Cambria Math" panose="02040503050406030204" pitchFamily="18" charset="0"/>
                                </a:rPr>
                                <m:t>𝟎</m:t>
                              </m:r>
                            </m:sub>
                          </m:sSub>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den>
                      </m:f>
                    </m:oMath>
                  </m:oMathPara>
                </a14:m>
                <a:endParaRPr lang="he-IL" b="1" dirty="0">
                  <a:solidFill>
                    <a:srgbClr val="FFFF00"/>
                  </a:solidFill>
                </a:endParaRPr>
              </a:p>
            </p:txBody>
          </p:sp>
        </mc:Choice>
        <mc:Fallback xmlns="">
          <p:sp>
            <p:nvSpPr>
              <p:cNvPr id="9" name="TextBox 8">
                <a:extLst>
                  <a:ext uri="{FF2B5EF4-FFF2-40B4-BE49-F238E27FC236}">
                    <a16:creationId xmlns:a16="http://schemas.microsoft.com/office/drawing/2014/main" id="{DE3A9B68-745B-F052-F0C0-A770E81ECF20}"/>
                  </a:ext>
                </a:extLst>
              </p:cNvPr>
              <p:cNvSpPr txBox="1">
                <a:spLocks noRot="1" noChangeAspect="1" noMove="1" noResize="1" noEditPoints="1" noAdjustHandles="1" noChangeArrowheads="1" noChangeShapeType="1" noTextEdit="1"/>
              </p:cNvSpPr>
              <p:nvPr/>
            </p:nvSpPr>
            <p:spPr>
              <a:xfrm>
                <a:off x="223733" y="533976"/>
                <a:ext cx="3501961" cy="989245"/>
              </a:xfrm>
              <a:prstGeom prst="rect">
                <a:avLst/>
              </a:prstGeom>
              <a:blipFill>
                <a:blip r:embed="rId2"/>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415A322-3BCE-869F-C551-1569C4D8486C}"/>
                  </a:ext>
                </a:extLst>
              </p:cNvPr>
              <p:cNvSpPr txBox="1"/>
              <p:nvPr/>
            </p:nvSpPr>
            <p:spPr>
              <a:xfrm>
                <a:off x="8614650" y="533335"/>
                <a:ext cx="3501961" cy="989245"/>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mean intensity for class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b="0" i="1" dirty="0" smtClean="0">
                            <a:latin typeface="Cambria Math" panose="02040503050406030204" pitchFamily="18" charset="0"/>
                          </a:rPr>
                          <m:t>1</m:t>
                        </m:r>
                      </m:sub>
                    </m:sSub>
                  </m:oMath>
                </a14:m>
                <a:r>
                  <a:rPr lang="en-US" dirty="0"/>
                  <a:t> is:</a:t>
                </a:r>
              </a:p>
              <a:p>
                <a:pPr/>
                <a14:m>
                  <m:oMathPara xmlns:m="http://schemas.openxmlformats.org/officeDocument/2006/math">
                    <m:oMathParaPr>
                      <m:jc m:val="centerGroup"/>
                    </m:oMathParaPr>
                    <m:oMath xmlns:m="http://schemas.openxmlformats.org/officeDocument/2006/math">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𝝁</m:t>
                          </m:r>
                        </m:e>
                        <m:sub>
                          <m:r>
                            <a:rPr lang="en-US" b="1" i="1" smtClean="0">
                              <a:solidFill>
                                <a:srgbClr val="FFFF00"/>
                              </a:solidFill>
                              <a:latin typeface="Cambria Math" panose="02040503050406030204" pitchFamily="18" charset="0"/>
                            </a:rPr>
                            <m:t>𝟏</m:t>
                          </m:r>
                        </m:sub>
                      </m:s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𝑻</m:t>
                          </m:r>
                        </m:e>
                      </m:d>
                      <m:r>
                        <a:rPr lang="en-US" b="1" i="1" smtClean="0">
                          <a:solidFill>
                            <a:srgbClr val="FFFF00"/>
                          </a:solidFill>
                          <a:latin typeface="Cambria Math" panose="02040503050406030204" pitchFamily="18" charset="0"/>
                        </a:rPr>
                        <m:t>=</m:t>
                      </m:r>
                      <m:f>
                        <m:fPr>
                          <m:ctrlPr>
                            <a:rPr lang="en-US" b="1" i="1" smtClean="0">
                              <a:solidFill>
                                <a:srgbClr val="FFFF00"/>
                              </a:solidFill>
                              <a:latin typeface="Cambria Math" panose="02040503050406030204" pitchFamily="18" charset="0"/>
                            </a:rPr>
                          </m:ctrlPr>
                        </m:fPr>
                        <m:num>
                          <m:nary>
                            <m:naryPr>
                              <m:chr m:val="∑"/>
                              <m:ctrlPr>
                                <a:rPr lang="en-US" b="1" i="1" smtClean="0">
                                  <a:solidFill>
                                    <a:srgbClr val="FFFF00"/>
                                  </a:solidFill>
                                  <a:latin typeface="Cambria Math" panose="02040503050406030204" pitchFamily="18" charset="0"/>
                                </a:rPr>
                              </m:ctrlPr>
                            </m:naryPr>
                            <m:sub>
                              <m:r>
                                <m:rPr>
                                  <m:brk m:alnAt="23"/>
                                </m:rP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𝑻</m:t>
                              </m:r>
                            </m:sub>
                            <m:sup>
                              <m:r>
                                <a:rPr lang="en-US" b="1" i="1" smtClean="0">
                                  <a:solidFill>
                                    <a:srgbClr val="FFFF00"/>
                                  </a:solidFill>
                                  <a:latin typeface="Cambria Math" panose="02040503050406030204" pitchFamily="18" charset="0"/>
                                </a:rPr>
                                <m:t>𝑳</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m:t>
                              </m:r>
                            </m:sup>
                            <m:e>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𝑷</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e>
                          </m:nary>
                        </m:num>
                        <m:den>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𝝎</m:t>
                              </m:r>
                            </m:e>
                            <m:sub>
                              <m:r>
                                <a:rPr lang="en-US" b="1" i="1" smtClean="0">
                                  <a:solidFill>
                                    <a:srgbClr val="FFFF00"/>
                                  </a:solidFill>
                                  <a:latin typeface="Cambria Math" panose="02040503050406030204" pitchFamily="18" charset="0"/>
                                </a:rPr>
                                <m:t>𝟏</m:t>
                              </m:r>
                            </m:sub>
                          </m:sSub>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den>
                      </m:f>
                    </m:oMath>
                  </m:oMathPara>
                </a14:m>
                <a:endParaRPr lang="he-IL" b="1" dirty="0">
                  <a:solidFill>
                    <a:srgbClr val="FFFF00"/>
                  </a:solidFill>
                </a:endParaRPr>
              </a:p>
            </p:txBody>
          </p:sp>
        </mc:Choice>
        <mc:Fallback xmlns="">
          <p:sp>
            <p:nvSpPr>
              <p:cNvPr id="10" name="TextBox 9">
                <a:extLst>
                  <a:ext uri="{FF2B5EF4-FFF2-40B4-BE49-F238E27FC236}">
                    <a16:creationId xmlns:a16="http://schemas.microsoft.com/office/drawing/2014/main" id="{0415A322-3BCE-869F-C551-1569C4D8486C}"/>
                  </a:ext>
                </a:extLst>
              </p:cNvPr>
              <p:cNvSpPr txBox="1">
                <a:spLocks noRot="1" noChangeAspect="1" noMove="1" noResize="1" noEditPoints="1" noAdjustHandles="1" noChangeArrowheads="1" noChangeShapeType="1" noTextEdit="1"/>
              </p:cNvSpPr>
              <p:nvPr/>
            </p:nvSpPr>
            <p:spPr>
              <a:xfrm>
                <a:off x="8614650" y="533335"/>
                <a:ext cx="3501961" cy="989245"/>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F305C5D-79E6-A8EE-ADCE-3D2E6F60C117}"/>
                  </a:ext>
                </a:extLst>
              </p:cNvPr>
              <p:cNvSpPr txBox="1"/>
              <p:nvPr/>
            </p:nvSpPr>
            <p:spPr>
              <a:xfrm>
                <a:off x="4018333" y="533335"/>
                <a:ext cx="4303679" cy="11549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global mean intensity of the image is:</a:t>
                </a:r>
              </a:p>
              <a:p>
                <a:pPr/>
                <a14:m>
                  <m:oMathPara xmlns:m="http://schemas.openxmlformats.org/officeDocument/2006/math">
                    <m:oMathParaPr>
                      <m:jc m:val="centerGroup"/>
                    </m:oMathParaPr>
                    <m:oMath xmlns:m="http://schemas.openxmlformats.org/officeDocument/2006/math">
                      <m:r>
                        <a:rPr lang="en-US" b="1" i="1" smtClean="0">
                          <a:solidFill>
                            <a:srgbClr val="FFFF00"/>
                          </a:solidFill>
                          <a:latin typeface="Cambria Math" panose="02040503050406030204" pitchFamily="18" charset="0"/>
                        </a:rPr>
                        <m:t>𝝁</m:t>
                      </m:r>
                      <m:r>
                        <a:rPr lang="en-US" b="1" i="1" smtClean="0">
                          <a:solidFill>
                            <a:srgbClr val="FFFF00"/>
                          </a:solidFill>
                          <a:latin typeface="Cambria Math" panose="02040503050406030204" pitchFamily="18" charset="0"/>
                        </a:rPr>
                        <m:t>=</m:t>
                      </m:r>
                      <m:nary>
                        <m:naryPr>
                          <m:chr m:val="∑"/>
                          <m:ctrlPr>
                            <a:rPr lang="en-US" b="1" i="1">
                              <a:solidFill>
                                <a:srgbClr val="FFFF00"/>
                              </a:solidFill>
                              <a:latin typeface="Cambria Math" panose="02040503050406030204" pitchFamily="18" charset="0"/>
                            </a:rPr>
                          </m:ctrlPr>
                        </m:naryPr>
                        <m:sub>
                          <m:r>
                            <m:rPr>
                              <m:brk m:alnAt="23"/>
                            </m:rPr>
                            <a:rPr lang="en-US" b="1" i="1">
                              <a:solidFill>
                                <a:srgbClr val="FFFF00"/>
                              </a:solidFill>
                              <a:latin typeface="Cambria Math" panose="02040503050406030204" pitchFamily="18" charset="0"/>
                            </a:rPr>
                            <m:t>𝒕</m:t>
                          </m:r>
                          <m:r>
                            <a:rPr lang="en-US" b="1" i="1">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𝟎</m:t>
                          </m:r>
                        </m:sub>
                        <m:sup>
                          <m:r>
                            <a:rPr lang="en-US" b="1" i="1">
                              <a:solidFill>
                                <a:srgbClr val="FFFF00"/>
                              </a:solidFill>
                              <a:latin typeface="Cambria Math" panose="02040503050406030204" pitchFamily="18" charset="0"/>
                            </a:rPr>
                            <m:t>𝑳</m:t>
                          </m:r>
                          <m:r>
                            <a:rPr lang="en-US" b="1" i="1">
                              <a:solidFill>
                                <a:srgbClr val="FFFF00"/>
                              </a:solidFill>
                              <a:latin typeface="Cambria Math" panose="02040503050406030204" pitchFamily="18" charset="0"/>
                            </a:rPr>
                            <m:t>−</m:t>
                          </m:r>
                          <m:r>
                            <a:rPr lang="en-US" b="1" i="1">
                              <a:solidFill>
                                <a:srgbClr val="FFFF00"/>
                              </a:solidFill>
                              <a:latin typeface="Cambria Math" panose="02040503050406030204" pitchFamily="18" charset="0"/>
                            </a:rPr>
                            <m:t>𝟏</m:t>
                          </m:r>
                        </m:sup>
                        <m:e>
                          <m:r>
                            <a:rPr lang="en-US" b="1" i="1">
                              <a:solidFill>
                                <a:srgbClr val="FFFF00"/>
                              </a:solidFill>
                              <a:latin typeface="Cambria Math" panose="02040503050406030204" pitchFamily="18" charset="0"/>
                            </a:rPr>
                            <m:t>𝒕</m:t>
                          </m:r>
                          <m:r>
                            <a:rPr lang="en-US" b="1" i="1">
                              <a:solidFill>
                                <a:srgbClr val="FFFF00"/>
                              </a:solidFill>
                              <a:latin typeface="Cambria Math" panose="02040503050406030204" pitchFamily="18" charset="0"/>
                            </a:rPr>
                            <m:t>∗</m:t>
                          </m:r>
                          <m:r>
                            <a:rPr lang="en-US" b="1" i="1">
                              <a:solidFill>
                                <a:srgbClr val="FFFF00"/>
                              </a:solidFill>
                              <a:latin typeface="Cambria Math" panose="02040503050406030204" pitchFamily="18" charset="0"/>
                            </a:rPr>
                            <m:t>𝑷</m:t>
                          </m:r>
                          <m:r>
                            <a:rPr lang="en-US" b="1" i="1">
                              <a:solidFill>
                                <a:srgbClr val="FFFF00"/>
                              </a:solidFill>
                              <a:latin typeface="Cambria Math" panose="02040503050406030204" pitchFamily="18" charset="0"/>
                            </a:rPr>
                            <m:t>(</m:t>
                          </m:r>
                          <m:r>
                            <a:rPr lang="en-US" b="1" i="1">
                              <a:solidFill>
                                <a:srgbClr val="FFFF00"/>
                              </a:solidFill>
                              <a:latin typeface="Cambria Math" panose="02040503050406030204" pitchFamily="18" charset="0"/>
                            </a:rPr>
                            <m:t>𝒕</m:t>
                          </m:r>
                          <m:r>
                            <a:rPr lang="en-US" b="1" i="1">
                              <a:solidFill>
                                <a:srgbClr val="FFFF00"/>
                              </a:solidFill>
                              <a:latin typeface="Cambria Math" panose="02040503050406030204" pitchFamily="18" charset="0"/>
                            </a:rPr>
                            <m:t>)</m:t>
                          </m:r>
                        </m:e>
                      </m:nary>
                    </m:oMath>
                  </m:oMathPara>
                </a14:m>
                <a:endParaRPr lang="he-IL" b="1" dirty="0">
                  <a:solidFill>
                    <a:srgbClr val="FFFF00"/>
                  </a:solidFill>
                </a:endParaRPr>
              </a:p>
            </p:txBody>
          </p:sp>
        </mc:Choice>
        <mc:Fallback xmlns="">
          <p:sp>
            <p:nvSpPr>
              <p:cNvPr id="11" name="TextBox 10">
                <a:extLst>
                  <a:ext uri="{FF2B5EF4-FFF2-40B4-BE49-F238E27FC236}">
                    <a16:creationId xmlns:a16="http://schemas.microsoft.com/office/drawing/2014/main" id="{7F305C5D-79E6-A8EE-ADCE-3D2E6F60C117}"/>
                  </a:ext>
                </a:extLst>
              </p:cNvPr>
              <p:cNvSpPr txBox="1">
                <a:spLocks noRot="1" noChangeAspect="1" noMove="1" noResize="1" noEditPoints="1" noAdjustHandles="1" noChangeArrowheads="1" noChangeShapeType="1" noTextEdit="1"/>
              </p:cNvSpPr>
              <p:nvPr/>
            </p:nvSpPr>
            <p:spPr>
              <a:xfrm>
                <a:off x="4018333" y="533335"/>
                <a:ext cx="4303679" cy="1154932"/>
              </a:xfrm>
              <a:prstGeom prst="rect">
                <a:avLst/>
              </a:prstGeom>
              <a:blipFill>
                <a:blip r:embed="rId4"/>
                <a:stretch>
                  <a:fillRect/>
                </a:stretch>
              </a:blipFill>
            </p:spPr>
            <p:txBody>
              <a:bodyPr/>
              <a:lstStyle/>
              <a:p>
                <a:r>
                  <a:rPr lang="he-IL">
                    <a:noFill/>
                  </a:rPr>
                  <a:t> </a:t>
                </a:r>
              </a:p>
            </p:txBody>
          </p:sp>
        </mc:Fallback>
      </mc:AlternateContent>
      <p:sp>
        <p:nvSpPr>
          <p:cNvPr id="12" name="Arrow: Down 11">
            <a:extLst>
              <a:ext uri="{FF2B5EF4-FFF2-40B4-BE49-F238E27FC236}">
                <a16:creationId xmlns:a16="http://schemas.microsoft.com/office/drawing/2014/main" id="{DD99D7B1-F7DE-3834-94CB-D01EB383CFDB}"/>
              </a:ext>
            </a:extLst>
          </p:cNvPr>
          <p:cNvSpPr/>
          <p:nvPr/>
        </p:nvSpPr>
        <p:spPr>
          <a:xfrm>
            <a:off x="5817140" y="1961350"/>
            <a:ext cx="768486" cy="9727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D9A4AAA-BAD4-293A-07FB-F5212F0C513B}"/>
                  </a:ext>
                </a:extLst>
              </p:cNvPr>
              <p:cNvSpPr txBox="1"/>
              <p:nvPr/>
            </p:nvSpPr>
            <p:spPr>
              <a:xfrm>
                <a:off x="3122983" y="3064320"/>
                <a:ext cx="6094378" cy="66287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dirty="0"/>
                  <a:t>The between-class variance is defined as:</a:t>
                </a:r>
              </a:p>
              <a:p>
                <a:pPr/>
                <a14:m>
                  <m:oMathPara xmlns:m="http://schemas.openxmlformats.org/officeDocument/2006/math">
                    <m:oMathParaPr>
                      <m:jc m:val="centerGroup"/>
                    </m:oMathParaPr>
                    <m:oMath xmlns:m="http://schemas.openxmlformats.org/officeDocument/2006/math">
                      <m:sSubSup>
                        <m:sSubSupPr>
                          <m:ctrlPr>
                            <a:rPr lang="en-US" b="1" i="1" smtClean="0">
                              <a:solidFill>
                                <a:srgbClr val="FFFF00"/>
                              </a:solidFill>
                              <a:latin typeface="Cambria Math" panose="02040503050406030204" pitchFamily="18" charset="0"/>
                            </a:rPr>
                          </m:ctrlPr>
                        </m:sSubSupPr>
                        <m:e>
                          <m:r>
                            <a:rPr lang="en-US" b="1" i="1" smtClean="0">
                              <a:solidFill>
                                <a:srgbClr val="FFFF00"/>
                              </a:solidFill>
                              <a:latin typeface="Cambria Math" panose="02040503050406030204" pitchFamily="18" charset="0"/>
                            </a:rPr>
                            <m:t>𝝈</m:t>
                          </m:r>
                        </m:e>
                        <m:sub>
                          <m:r>
                            <a:rPr lang="en-US" b="1" i="1" smtClean="0">
                              <a:solidFill>
                                <a:srgbClr val="FFFF00"/>
                              </a:solidFill>
                              <a:latin typeface="Cambria Math" panose="02040503050406030204" pitchFamily="18" charset="0"/>
                            </a:rPr>
                            <m:t>𝑩</m:t>
                          </m:r>
                        </m:sub>
                        <m:sup>
                          <m:r>
                            <a:rPr lang="en-US" b="1" i="1" smtClean="0">
                              <a:solidFill>
                                <a:srgbClr val="FFFF00"/>
                              </a:solidFill>
                              <a:latin typeface="Cambria Math" panose="02040503050406030204" pitchFamily="18" charset="0"/>
                            </a:rPr>
                            <m:t>𝟐</m:t>
                          </m:r>
                        </m:sup>
                      </m:sSubSup>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𝑻</m:t>
                          </m:r>
                        </m:e>
                      </m:d>
                      <m:r>
                        <a:rPr lang="en-US" b="1" i="1" smtClean="0">
                          <a:solidFill>
                            <a:srgbClr val="FFFF00"/>
                          </a:solidFill>
                          <a:latin typeface="Cambria Math" panose="02040503050406030204" pitchFamily="18" charset="0"/>
                        </a:rPr>
                        <m:t>=</m:t>
                      </m:r>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𝝎</m:t>
                          </m:r>
                        </m:e>
                        <m:sub>
                          <m:r>
                            <a:rPr lang="en-US" b="1" i="1">
                              <a:solidFill>
                                <a:srgbClr val="FFFF00"/>
                              </a:solidFill>
                              <a:latin typeface="Cambria Math" panose="02040503050406030204" pitchFamily="18" charset="0"/>
                            </a:rPr>
                            <m:t>𝟎</m:t>
                          </m:r>
                        </m:sub>
                      </m:s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𝑻</m:t>
                          </m:r>
                        </m:e>
                      </m:d>
                      <m:r>
                        <a:rPr lang="en-US" b="1" i="1" smtClean="0">
                          <a:solidFill>
                            <a:srgbClr val="FFFF00"/>
                          </a:solidFill>
                          <a:latin typeface="Cambria Math" panose="02040503050406030204" pitchFamily="18" charset="0"/>
                        </a:rPr>
                        <m:t>∗</m:t>
                      </m:r>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𝝎</m:t>
                          </m:r>
                        </m:e>
                        <m:sub>
                          <m:r>
                            <a:rPr lang="en-US" b="1" i="1" smtClean="0">
                              <a:solidFill>
                                <a:srgbClr val="FFFF00"/>
                              </a:solidFill>
                              <a:latin typeface="Cambria Math" panose="02040503050406030204" pitchFamily="18" charset="0"/>
                            </a:rPr>
                            <m:t>𝟏</m:t>
                          </m:r>
                        </m:sub>
                      </m:s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𝑻</m:t>
                          </m:r>
                        </m:e>
                      </m:d>
                      <m:r>
                        <a:rPr lang="en-US" b="1" i="1" smtClean="0">
                          <a:solidFill>
                            <a:srgbClr val="FFFF00"/>
                          </a:solidFill>
                          <a:latin typeface="Cambria Math" panose="02040503050406030204" pitchFamily="18" charset="0"/>
                        </a:rPr>
                        <m:t>∗[</m:t>
                      </m:r>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𝝁</m:t>
                          </m:r>
                        </m:e>
                        <m:sub>
                          <m:r>
                            <a:rPr lang="en-US" b="1" i="1">
                              <a:solidFill>
                                <a:srgbClr val="FFFF00"/>
                              </a:solidFill>
                              <a:latin typeface="Cambria Math" panose="02040503050406030204" pitchFamily="18" charset="0"/>
                            </a:rPr>
                            <m:t>𝟎</m:t>
                          </m:r>
                        </m:sub>
                      </m:sSub>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r>
                        <a:rPr lang="en-US" b="1" i="1" smtClean="0">
                          <a:solidFill>
                            <a:srgbClr val="FFFF00"/>
                          </a:solidFill>
                          <a:latin typeface="Cambria Math" panose="02040503050406030204" pitchFamily="18" charset="0"/>
                        </a:rPr>
                        <m:t>−</m:t>
                      </m:r>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𝝁</m:t>
                          </m:r>
                        </m:e>
                        <m:sub>
                          <m:r>
                            <a:rPr lang="en-US" b="1" i="1">
                              <a:solidFill>
                                <a:srgbClr val="FFFF00"/>
                              </a:solidFill>
                              <a:latin typeface="Cambria Math" panose="02040503050406030204" pitchFamily="18" charset="0"/>
                            </a:rPr>
                            <m:t>𝟏</m:t>
                          </m:r>
                        </m:sub>
                      </m:sSub>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r>
                        <a:rPr lang="en-US" b="1" i="1" smtClean="0">
                          <a:solidFill>
                            <a:srgbClr val="FFFF00"/>
                          </a:solidFill>
                          <a:latin typeface="Cambria Math" panose="02040503050406030204" pitchFamily="18" charset="0"/>
                        </a:rPr>
                        <m:t>]</m:t>
                      </m:r>
                    </m:oMath>
                  </m:oMathPara>
                </a14:m>
                <a:endParaRPr lang="he-IL" b="1" dirty="0">
                  <a:solidFill>
                    <a:srgbClr val="FFFF00"/>
                  </a:solidFill>
                </a:endParaRPr>
              </a:p>
            </p:txBody>
          </p:sp>
        </mc:Choice>
        <mc:Fallback xmlns="">
          <p:sp>
            <p:nvSpPr>
              <p:cNvPr id="14" name="TextBox 13">
                <a:extLst>
                  <a:ext uri="{FF2B5EF4-FFF2-40B4-BE49-F238E27FC236}">
                    <a16:creationId xmlns:a16="http://schemas.microsoft.com/office/drawing/2014/main" id="{0D9A4AAA-BAD4-293A-07FB-F5212F0C513B}"/>
                  </a:ext>
                </a:extLst>
              </p:cNvPr>
              <p:cNvSpPr txBox="1">
                <a:spLocks noRot="1" noChangeAspect="1" noMove="1" noResize="1" noEditPoints="1" noAdjustHandles="1" noChangeArrowheads="1" noChangeShapeType="1" noTextEdit="1"/>
              </p:cNvSpPr>
              <p:nvPr/>
            </p:nvSpPr>
            <p:spPr>
              <a:xfrm>
                <a:off x="3122983" y="3064320"/>
                <a:ext cx="6094378" cy="662874"/>
              </a:xfrm>
              <a:prstGeom prst="rect">
                <a:avLst/>
              </a:prstGeom>
              <a:blipFill>
                <a:blip r:embed="rId5"/>
                <a:stretch>
                  <a:fillRect/>
                </a:stretch>
              </a:blipFill>
            </p:spPr>
            <p:txBody>
              <a:bodyPr/>
              <a:lstStyle/>
              <a:p>
                <a:r>
                  <a:rPr lang="he-IL">
                    <a:noFill/>
                  </a:rPr>
                  <a:t> </a:t>
                </a:r>
              </a:p>
            </p:txBody>
          </p:sp>
        </mc:Fallback>
      </mc:AlternateContent>
      <p:sp>
        <p:nvSpPr>
          <p:cNvPr id="15" name="Arrow: Down 14">
            <a:extLst>
              <a:ext uri="{FF2B5EF4-FFF2-40B4-BE49-F238E27FC236}">
                <a16:creationId xmlns:a16="http://schemas.microsoft.com/office/drawing/2014/main" id="{34129430-3CA2-7F37-DA15-79E1AA8DFB56}"/>
              </a:ext>
            </a:extLst>
          </p:cNvPr>
          <p:cNvSpPr/>
          <p:nvPr/>
        </p:nvSpPr>
        <p:spPr>
          <a:xfrm>
            <a:off x="5817140" y="3857398"/>
            <a:ext cx="768486" cy="9727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086CF83-BCCC-425B-5B90-5766162EF41A}"/>
                  </a:ext>
                </a:extLst>
              </p:cNvPr>
              <p:cNvSpPr txBox="1"/>
              <p:nvPr/>
            </p:nvSpPr>
            <p:spPr>
              <a:xfrm>
                <a:off x="658540" y="4960368"/>
                <a:ext cx="11085686" cy="662874"/>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Otsu’s method selects the threshold </a:t>
                </a:r>
                <a14:m>
                  <m:oMath xmlns:m="http://schemas.openxmlformats.org/officeDocument/2006/math">
                    <m:r>
                      <a:rPr lang="en-US" i="1" dirty="0" smtClean="0">
                        <a:latin typeface="Cambria Math" panose="02040503050406030204" pitchFamily="18" charset="0"/>
                      </a:rPr>
                      <m:t>𝑇</m:t>
                    </m:r>
                  </m:oMath>
                </a14:m>
                <a:r>
                  <a:rPr lang="en-US" dirty="0"/>
                  <a:t> that maximizes this between-class variance </a:t>
                </a:r>
                <a14:m>
                  <m:oMath xmlns:m="http://schemas.openxmlformats.org/officeDocument/2006/math">
                    <m:sSubSup>
                      <m:sSubSupPr>
                        <m:ctrlPr>
                          <a:rPr lang="en-US" b="1" i="1">
                            <a:solidFill>
                              <a:srgbClr val="FFFF00"/>
                            </a:solidFill>
                            <a:latin typeface="Cambria Math" panose="02040503050406030204" pitchFamily="18" charset="0"/>
                          </a:rPr>
                        </m:ctrlPr>
                      </m:sSubSupPr>
                      <m:e>
                        <m:r>
                          <a:rPr lang="en-US" b="1" i="1">
                            <a:solidFill>
                              <a:srgbClr val="FFFF00"/>
                            </a:solidFill>
                            <a:latin typeface="Cambria Math" panose="02040503050406030204" pitchFamily="18" charset="0"/>
                          </a:rPr>
                          <m:t>𝝈</m:t>
                        </m:r>
                      </m:e>
                      <m:sub>
                        <m:r>
                          <a:rPr lang="en-US" b="1" i="1">
                            <a:solidFill>
                              <a:srgbClr val="FFFF00"/>
                            </a:solidFill>
                            <a:latin typeface="Cambria Math" panose="02040503050406030204" pitchFamily="18" charset="0"/>
                          </a:rPr>
                          <m:t>𝑩</m:t>
                        </m:r>
                      </m:sub>
                      <m:sup>
                        <m:r>
                          <a:rPr lang="en-US" b="1" i="1">
                            <a:solidFill>
                              <a:srgbClr val="FFFF00"/>
                            </a:solidFill>
                            <a:latin typeface="Cambria Math" panose="02040503050406030204" pitchFamily="18" charset="0"/>
                          </a:rPr>
                          <m:t>𝟐</m:t>
                        </m:r>
                      </m:sup>
                    </m:sSubSup>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oMath>
                </a14:m>
                <a:r>
                  <a:rPr lang="en-US" dirty="0"/>
                  <a:t>.</a:t>
                </a:r>
              </a:p>
              <a:p>
                <a:r>
                  <a:rPr lang="en-US" b="1" dirty="0">
                    <a:solidFill>
                      <a:schemeClr val="tx1"/>
                    </a:solidFill>
                  </a:rPr>
                  <a:t>The rationale is that a larger between-class variance indicates better separation between the two classes.</a:t>
                </a:r>
                <a:endParaRPr lang="he-IL" b="1" dirty="0">
                  <a:solidFill>
                    <a:schemeClr val="tx1"/>
                  </a:solidFill>
                </a:endParaRPr>
              </a:p>
            </p:txBody>
          </p:sp>
        </mc:Choice>
        <mc:Fallback xmlns="">
          <p:sp>
            <p:nvSpPr>
              <p:cNvPr id="17" name="TextBox 16">
                <a:extLst>
                  <a:ext uri="{FF2B5EF4-FFF2-40B4-BE49-F238E27FC236}">
                    <a16:creationId xmlns:a16="http://schemas.microsoft.com/office/drawing/2014/main" id="{7086CF83-BCCC-425B-5B90-5766162EF41A}"/>
                  </a:ext>
                </a:extLst>
              </p:cNvPr>
              <p:cNvSpPr txBox="1">
                <a:spLocks noRot="1" noChangeAspect="1" noMove="1" noResize="1" noEditPoints="1" noAdjustHandles="1" noChangeArrowheads="1" noChangeShapeType="1" noTextEdit="1"/>
              </p:cNvSpPr>
              <p:nvPr/>
            </p:nvSpPr>
            <p:spPr>
              <a:xfrm>
                <a:off x="658540" y="4960368"/>
                <a:ext cx="11085686" cy="662874"/>
              </a:xfrm>
              <a:prstGeom prst="rect">
                <a:avLst/>
              </a:prstGeom>
              <a:blipFill>
                <a:blip r:embed="rId6"/>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F93D30AF-17F4-5EF2-982D-759444CE7B50}"/>
                  </a:ext>
                </a:extLst>
              </p:cNvPr>
              <p:cNvSpPr/>
              <p:nvPr/>
            </p:nvSpPr>
            <p:spPr>
              <a:xfrm>
                <a:off x="4956243" y="5926833"/>
                <a:ext cx="2490280" cy="7490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14:m>
                  <m:oMathPara xmlns:m="http://schemas.openxmlformats.org/officeDocument/2006/math">
                    <m:oMathParaPr>
                      <m:jc m:val="centerGroup"/>
                    </m:oMathParaPr>
                    <m:oMath xmlns:m="http://schemas.openxmlformats.org/officeDocument/2006/math">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𝑻</m:t>
                          </m:r>
                        </m:e>
                        <m:sub>
                          <m:r>
                            <a:rPr lang="en-US" b="1" i="1" smtClean="0">
                              <a:solidFill>
                                <a:srgbClr val="FFFF00"/>
                              </a:solidFill>
                              <a:latin typeface="Cambria Math" panose="02040503050406030204" pitchFamily="18" charset="0"/>
                            </a:rPr>
                            <m:t>𝒐𝒑𝒕</m:t>
                          </m:r>
                        </m:sub>
                      </m:sSub>
                      <m:r>
                        <a:rPr lang="en-US" b="1" i="1" smtClean="0">
                          <a:solidFill>
                            <a:srgbClr val="FFFF00"/>
                          </a:solidFill>
                          <a:latin typeface="Cambria Math" panose="02040503050406030204" pitchFamily="18" charset="0"/>
                        </a:rPr>
                        <m:t>=</m:t>
                      </m:r>
                      <m:func>
                        <m:funcPr>
                          <m:ctrlPr>
                            <a:rPr lang="en-US" b="1" i="1" smtClean="0">
                              <a:solidFill>
                                <a:srgbClr val="FFFF00"/>
                              </a:solidFill>
                              <a:latin typeface="Cambria Math" panose="02040503050406030204" pitchFamily="18" charset="0"/>
                            </a:rPr>
                          </m:ctrlPr>
                        </m:funcPr>
                        <m:fName>
                          <m:r>
                            <a:rPr lang="en-US" b="1" i="0" smtClean="0">
                              <a:solidFill>
                                <a:srgbClr val="FFFF00"/>
                              </a:solidFill>
                              <a:latin typeface="Cambria Math" panose="02040503050406030204" pitchFamily="18" charset="0"/>
                            </a:rPr>
                            <m:t>𝐚𝐫𝐠</m:t>
                          </m:r>
                        </m:fName>
                        <m:e>
                          <m:func>
                            <m:funcPr>
                              <m:ctrlPr>
                                <a:rPr lang="en-US" b="1" i="1" smtClean="0">
                                  <a:solidFill>
                                    <a:srgbClr val="FFFF00"/>
                                  </a:solidFill>
                                  <a:latin typeface="Cambria Math" panose="02040503050406030204" pitchFamily="18" charset="0"/>
                                </a:rPr>
                              </m:ctrlPr>
                            </m:funcPr>
                            <m:fName>
                              <m:limLow>
                                <m:limLowPr>
                                  <m:ctrlPr>
                                    <a:rPr lang="en-US" b="1" i="1" smtClean="0">
                                      <a:solidFill>
                                        <a:srgbClr val="FFFF00"/>
                                      </a:solidFill>
                                      <a:latin typeface="Cambria Math" panose="02040503050406030204" pitchFamily="18" charset="0"/>
                                    </a:rPr>
                                  </m:ctrlPr>
                                </m:limLowPr>
                                <m:e>
                                  <m:r>
                                    <a:rPr lang="en-US" b="1" i="0" smtClean="0">
                                      <a:solidFill>
                                        <a:srgbClr val="FFFF00"/>
                                      </a:solidFill>
                                      <a:latin typeface="Cambria Math" panose="02040503050406030204" pitchFamily="18" charset="0"/>
                                    </a:rPr>
                                    <m:t>𝐦𝐚𝐱</m:t>
                                  </m:r>
                                </m:e>
                                <m:lim>
                                  <m:r>
                                    <a:rPr lang="en-US" b="1" i="1" smtClean="0">
                                      <a:solidFill>
                                        <a:srgbClr val="FFFF00"/>
                                      </a:solidFill>
                                      <a:latin typeface="Cambria Math" panose="02040503050406030204" pitchFamily="18" charset="0"/>
                                    </a:rPr>
                                    <m:t>𝑻</m:t>
                                  </m:r>
                                </m:lim>
                              </m:limLow>
                            </m:fName>
                            <m:e>
                              <m:sSubSup>
                                <m:sSubSupPr>
                                  <m:ctrlPr>
                                    <a:rPr lang="en-US" b="1" i="1">
                                      <a:solidFill>
                                        <a:srgbClr val="FFFF00"/>
                                      </a:solidFill>
                                      <a:latin typeface="Cambria Math" panose="02040503050406030204" pitchFamily="18" charset="0"/>
                                    </a:rPr>
                                  </m:ctrlPr>
                                </m:sSubSupPr>
                                <m:e>
                                  <m:r>
                                    <a:rPr lang="en-US" b="1" i="1">
                                      <a:solidFill>
                                        <a:srgbClr val="FFFF00"/>
                                      </a:solidFill>
                                      <a:latin typeface="Cambria Math" panose="02040503050406030204" pitchFamily="18" charset="0"/>
                                    </a:rPr>
                                    <m:t>𝝈</m:t>
                                  </m:r>
                                </m:e>
                                <m:sub>
                                  <m:r>
                                    <a:rPr lang="en-US" b="1" i="1">
                                      <a:solidFill>
                                        <a:srgbClr val="FFFF00"/>
                                      </a:solidFill>
                                      <a:latin typeface="Cambria Math" panose="02040503050406030204" pitchFamily="18" charset="0"/>
                                    </a:rPr>
                                    <m:t>𝑩</m:t>
                                  </m:r>
                                </m:sub>
                                <m:sup>
                                  <m:r>
                                    <a:rPr lang="en-US" b="1" i="1">
                                      <a:solidFill>
                                        <a:srgbClr val="FFFF00"/>
                                      </a:solidFill>
                                      <a:latin typeface="Cambria Math" panose="02040503050406030204" pitchFamily="18" charset="0"/>
                                    </a:rPr>
                                    <m:t>𝟐</m:t>
                                  </m:r>
                                </m:sup>
                              </m:sSubSup>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e>
                          </m:func>
                        </m:e>
                      </m:func>
                    </m:oMath>
                  </m:oMathPara>
                </a14:m>
                <a:endParaRPr lang="he-IL" b="1" dirty="0">
                  <a:solidFill>
                    <a:srgbClr val="FFFF00"/>
                  </a:solidFill>
                </a:endParaRPr>
              </a:p>
            </p:txBody>
          </p:sp>
        </mc:Choice>
        <mc:Fallback xmlns="">
          <p:sp>
            <p:nvSpPr>
              <p:cNvPr id="18" name="Rectangle 17">
                <a:extLst>
                  <a:ext uri="{FF2B5EF4-FFF2-40B4-BE49-F238E27FC236}">
                    <a16:creationId xmlns:a16="http://schemas.microsoft.com/office/drawing/2014/main" id="{F93D30AF-17F4-5EF2-982D-759444CE7B50}"/>
                  </a:ext>
                </a:extLst>
              </p:cNvPr>
              <p:cNvSpPr>
                <a:spLocks noRot="1" noChangeAspect="1" noMove="1" noResize="1" noEditPoints="1" noAdjustHandles="1" noChangeArrowheads="1" noChangeShapeType="1" noTextEdit="1"/>
              </p:cNvSpPr>
              <p:nvPr/>
            </p:nvSpPr>
            <p:spPr>
              <a:xfrm>
                <a:off x="4956243" y="5926833"/>
                <a:ext cx="2490280" cy="749030"/>
              </a:xfrm>
              <a:prstGeom prst="rect">
                <a:avLst/>
              </a:prstGeom>
              <a:blipFill>
                <a:blip r:embed="rId7"/>
                <a:stretch>
                  <a:fillRect/>
                </a:stretch>
              </a:blipFill>
            </p:spPr>
            <p:txBody>
              <a:bodyPr/>
              <a:lstStyle/>
              <a:p>
                <a:r>
                  <a:rPr lang="he-IL">
                    <a:noFill/>
                  </a:rPr>
                  <a:t> </a:t>
                </a:r>
              </a:p>
            </p:txBody>
          </p:sp>
        </mc:Fallback>
      </mc:AlternateContent>
      <p:sp>
        <p:nvSpPr>
          <p:cNvPr id="19" name="Arrow: Striped Right 18">
            <a:extLst>
              <a:ext uri="{FF2B5EF4-FFF2-40B4-BE49-F238E27FC236}">
                <a16:creationId xmlns:a16="http://schemas.microsoft.com/office/drawing/2014/main" id="{ACD03B8F-FDC2-CF53-3E85-CF96801FEA38}"/>
              </a:ext>
            </a:extLst>
          </p:cNvPr>
          <p:cNvSpPr/>
          <p:nvPr/>
        </p:nvSpPr>
        <p:spPr>
          <a:xfrm>
            <a:off x="3725694" y="6060332"/>
            <a:ext cx="1060315" cy="505838"/>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516902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FEEB23-FBAD-E6F8-F765-28EB85496CCA}"/>
              </a:ext>
            </a:extLst>
          </p:cNvPr>
          <p:cNvSpPr>
            <a:spLocks noGrp="1"/>
          </p:cNvSpPr>
          <p:nvPr>
            <p:ph type="sldNum" sz="quarter" idx="12"/>
          </p:nvPr>
        </p:nvSpPr>
        <p:spPr>
          <a:xfrm>
            <a:off x="11629417" y="0"/>
            <a:ext cx="562583" cy="365125"/>
          </a:xfrm>
        </p:spPr>
        <p:txBody>
          <a:bodyPr/>
          <a:lstStyle/>
          <a:p>
            <a:fld id="{81122904-1B5F-4679-B3DC-5E87602DE7DA}" type="slidenum">
              <a:rPr lang="he-IL" sz="1400" smtClean="0"/>
              <a:t>16</a:t>
            </a:fld>
            <a:endParaRPr lang="he-IL" sz="1400"/>
          </a:p>
        </p:txBody>
      </p:sp>
      <p:sp>
        <p:nvSpPr>
          <p:cNvPr id="5" name="Title 1">
            <a:extLst>
              <a:ext uri="{FF2B5EF4-FFF2-40B4-BE49-F238E27FC236}">
                <a16:creationId xmlns:a16="http://schemas.microsoft.com/office/drawing/2014/main" id="{E1B99CEC-9603-2920-00D3-EDDD095CFA66}"/>
              </a:ext>
            </a:extLst>
          </p:cNvPr>
          <p:cNvSpPr txBox="1">
            <a:spLocks/>
          </p:cNvSpPr>
          <p:nvPr/>
        </p:nvSpPr>
        <p:spPr>
          <a:xfrm>
            <a:off x="2394624" y="80013"/>
            <a:ext cx="7975060" cy="450256"/>
          </a:xfrm>
          <a:prstGeom prst="rect">
            <a:avLst/>
          </a:prstGeom>
        </p:spPr>
        <p:txBody>
          <a:bodyPr vert="horz" lIns="91440" tIns="45720" rIns="91440" bIns="45720" rtlCol="1" anchor="ctr">
            <a:normAutofit fontScale="92500"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24.10 </a:t>
            </a:r>
            <a:r>
              <a:rPr lang="en-US" sz="2800" b="1" u="sng" dirty="0">
                <a:solidFill>
                  <a:srgbClr val="0070C0"/>
                </a:solidFill>
                <a:latin typeface="+mn-lt"/>
              </a:rPr>
              <a:t>– “CalculateOtsuThreshold” function </a:t>
            </a:r>
            <a:r>
              <a:rPr lang="en-US" sz="2800" b="1" u="sng" dirty="0">
                <a:solidFill>
                  <a:srgbClr val="FF0000"/>
                </a:solidFill>
                <a:latin typeface="+mn-lt"/>
              </a:rPr>
              <a:t>– part 1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13" name="Picture 12">
            <a:extLst>
              <a:ext uri="{FF2B5EF4-FFF2-40B4-BE49-F238E27FC236}">
                <a16:creationId xmlns:a16="http://schemas.microsoft.com/office/drawing/2014/main" id="{09749C0D-872A-9A8A-59D7-62BBCD172094}"/>
              </a:ext>
            </a:extLst>
          </p:cNvPr>
          <p:cNvPicPr>
            <a:picLocks noChangeAspect="1"/>
          </p:cNvPicPr>
          <p:nvPr/>
        </p:nvPicPr>
        <p:blipFill>
          <a:blip r:embed="rId2"/>
          <a:stretch>
            <a:fillRect/>
          </a:stretch>
        </p:blipFill>
        <p:spPr>
          <a:xfrm>
            <a:off x="0" y="747712"/>
            <a:ext cx="9210675" cy="5362575"/>
          </a:xfrm>
          <a:prstGeom prst="rect">
            <a:avLst/>
          </a:prstGeom>
        </p:spPr>
      </p:pic>
      <p:sp>
        <p:nvSpPr>
          <p:cNvPr id="14" name="Right Brace 13">
            <a:extLst>
              <a:ext uri="{FF2B5EF4-FFF2-40B4-BE49-F238E27FC236}">
                <a16:creationId xmlns:a16="http://schemas.microsoft.com/office/drawing/2014/main" id="{24D31F7A-694A-FD02-CD02-D42EAB73D100}"/>
              </a:ext>
            </a:extLst>
          </p:cNvPr>
          <p:cNvSpPr/>
          <p:nvPr/>
        </p:nvSpPr>
        <p:spPr>
          <a:xfrm>
            <a:off x="8735439" y="3706238"/>
            <a:ext cx="340468" cy="858465"/>
          </a:xfrm>
          <a:prstGeom prst="rightBrace">
            <a:avLst/>
          </a:prstGeom>
          <a:ln w="57150">
            <a:solidFill>
              <a:srgbClr val="FFFF00"/>
            </a:solidFill>
          </a:ln>
        </p:spPr>
        <p:style>
          <a:lnRef idx="1">
            <a:schemeClr val="accent6"/>
          </a:lnRef>
          <a:fillRef idx="0">
            <a:schemeClr val="accent6"/>
          </a:fillRef>
          <a:effectRef idx="0">
            <a:schemeClr val="accent6"/>
          </a:effectRef>
          <a:fontRef idx="minor">
            <a:schemeClr val="tx1"/>
          </a:fontRef>
        </p:style>
        <p:txBody>
          <a:bodyPr rtlCol="1" anchor="ctr"/>
          <a:lstStyle/>
          <a:p>
            <a:pPr algn="ctr"/>
            <a:endParaRPr lang="he-IL"/>
          </a:p>
        </p:txBody>
      </p:sp>
      <p:sp>
        <p:nvSpPr>
          <p:cNvPr id="16" name="TextBox 15">
            <a:extLst>
              <a:ext uri="{FF2B5EF4-FFF2-40B4-BE49-F238E27FC236}">
                <a16:creationId xmlns:a16="http://schemas.microsoft.com/office/drawing/2014/main" id="{7376B6AF-B563-A730-6BDB-7911BC199E10}"/>
              </a:ext>
            </a:extLst>
          </p:cNvPr>
          <p:cNvSpPr txBox="1"/>
          <p:nvPr/>
        </p:nvSpPr>
        <p:spPr>
          <a:xfrm>
            <a:off x="7329792" y="1944213"/>
            <a:ext cx="3492230" cy="9587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Compute the Histogram of pixels intensities and compute the total number of pixels in the image</a:t>
            </a:r>
          </a:p>
        </p:txBody>
      </p:sp>
      <p:sp>
        <p:nvSpPr>
          <p:cNvPr id="17" name="Right Brace 16">
            <a:extLst>
              <a:ext uri="{FF2B5EF4-FFF2-40B4-BE49-F238E27FC236}">
                <a16:creationId xmlns:a16="http://schemas.microsoft.com/office/drawing/2014/main" id="{B348EEEE-54B8-8A09-03C2-C543C1CB9B71}"/>
              </a:ext>
            </a:extLst>
          </p:cNvPr>
          <p:cNvSpPr/>
          <p:nvPr/>
        </p:nvSpPr>
        <p:spPr>
          <a:xfrm>
            <a:off x="6553200" y="1309991"/>
            <a:ext cx="593387" cy="2271409"/>
          </a:xfrm>
          <a:prstGeom prst="rightBrace">
            <a:avLst/>
          </a:prstGeom>
          <a:ln w="57150">
            <a:solidFill>
              <a:srgbClr val="FFFF00"/>
            </a:solidFill>
          </a:ln>
        </p:spPr>
        <p:style>
          <a:lnRef idx="1">
            <a:schemeClr val="accent6"/>
          </a:lnRef>
          <a:fillRef idx="0">
            <a:schemeClr val="accent6"/>
          </a:fillRef>
          <a:effectRef idx="0">
            <a:schemeClr val="accent6"/>
          </a:effectRef>
          <a:fontRef idx="minor">
            <a:schemeClr val="tx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8ECBB53-1ECF-B571-CB39-272C85248150}"/>
                  </a:ext>
                </a:extLst>
              </p:cNvPr>
              <p:cNvSpPr txBox="1"/>
              <p:nvPr/>
            </p:nvSpPr>
            <p:spPr>
              <a:xfrm>
                <a:off x="9210675" y="3547885"/>
                <a:ext cx="2550065"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Compute the global mean intensity of the image </a:t>
                </a:r>
                <a14:m>
                  <m:oMath xmlns:m="http://schemas.openxmlformats.org/officeDocument/2006/math">
                    <m:r>
                      <a:rPr lang="en-US" b="1" i="1" smtClean="0">
                        <a:solidFill>
                          <a:srgbClr val="FFFF00"/>
                        </a:solidFill>
                        <a:latin typeface="Cambria Math" panose="02040503050406030204" pitchFamily="18" charset="0"/>
                      </a:rPr>
                      <m:t>𝝁</m:t>
                    </m:r>
                  </m:oMath>
                </a14:m>
                <a:endParaRPr lang="en-US" dirty="0"/>
              </a:p>
            </p:txBody>
          </p:sp>
        </mc:Choice>
        <mc:Fallback xmlns="">
          <p:sp>
            <p:nvSpPr>
              <p:cNvPr id="19" name="TextBox 18">
                <a:extLst>
                  <a:ext uri="{FF2B5EF4-FFF2-40B4-BE49-F238E27FC236}">
                    <a16:creationId xmlns:a16="http://schemas.microsoft.com/office/drawing/2014/main" id="{08ECBB53-1ECF-B571-CB39-272C85248150}"/>
                  </a:ext>
                </a:extLst>
              </p:cNvPr>
              <p:cNvSpPr txBox="1">
                <a:spLocks noRot="1" noChangeAspect="1" noMove="1" noResize="1" noEditPoints="1" noAdjustHandles="1" noChangeArrowheads="1" noChangeShapeType="1" noTextEdit="1"/>
              </p:cNvSpPr>
              <p:nvPr/>
            </p:nvSpPr>
            <p:spPr>
              <a:xfrm>
                <a:off x="9210675" y="3547885"/>
                <a:ext cx="2550065" cy="923330"/>
              </a:xfrm>
              <a:prstGeom prst="rect">
                <a:avLst/>
              </a:prstGeom>
              <a:blipFill>
                <a:blip r:embed="rId3"/>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3828623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AA19EB-B757-1826-5962-BE258E8C3741}"/>
              </a:ext>
            </a:extLst>
          </p:cNvPr>
          <p:cNvSpPr>
            <a:spLocks noGrp="1"/>
          </p:cNvSpPr>
          <p:nvPr>
            <p:ph type="sldNum" sz="quarter" idx="12"/>
          </p:nvPr>
        </p:nvSpPr>
        <p:spPr>
          <a:xfrm>
            <a:off x="11697511" y="0"/>
            <a:ext cx="494489" cy="365125"/>
          </a:xfrm>
        </p:spPr>
        <p:txBody>
          <a:bodyPr/>
          <a:lstStyle/>
          <a:p>
            <a:fld id="{81122904-1B5F-4679-B3DC-5E87602DE7DA}" type="slidenum">
              <a:rPr lang="he-IL" sz="1400" smtClean="0"/>
              <a:t>17</a:t>
            </a:fld>
            <a:endParaRPr lang="he-IL" sz="1400" dirty="0"/>
          </a:p>
        </p:txBody>
      </p:sp>
      <p:sp>
        <p:nvSpPr>
          <p:cNvPr id="5" name="Title 1">
            <a:extLst>
              <a:ext uri="{FF2B5EF4-FFF2-40B4-BE49-F238E27FC236}">
                <a16:creationId xmlns:a16="http://schemas.microsoft.com/office/drawing/2014/main" id="{03AE3B0D-F92E-C51A-068D-ECE313D75BFB}"/>
              </a:ext>
            </a:extLst>
          </p:cNvPr>
          <p:cNvSpPr txBox="1">
            <a:spLocks/>
          </p:cNvSpPr>
          <p:nvPr/>
        </p:nvSpPr>
        <p:spPr>
          <a:xfrm>
            <a:off x="2336259" y="-22878"/>
            <a:ext cx="7692957" cy="461726"/>
          </a:xfrm>
          <a:prstGeom prst="rect">
            <a:avLst/>
          </a:prstGeom>
        </p:spPr>
        <p:txBody>
          <a:bodyPr vert="horz" lIns="91440" tIns="45720" rIns="91440" bIns="45720" rtlCol="1" anchor="ctr">
            <a:normAutofit fontScale="925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24.10</a:t>
            </a:r>
            <a:r>
              <a:rPr lang="en-US" sz="2800" b="1" u="sng" dirty="0">
                <a:solidFill>
                  <a:srgbClr val="0070C0"/>
                </a:solidFill>
                <a:latin typeface="+mn-lt"/>
              </a:rPr>
              <a:t>– “CalculateOtsuThreshold” function </a:t>
            </a:r>
            <a:r>
              <a:rPr lang="en-US" sz="2800" b="1" u="sng" dirty="0">
                <a:solidFill>
                  <a:srgbClr val="FF0000"/>
                </a:solidFill>
                <a:latin typeface="+mn-lt"/>
              </a:rPr>
              <a:t>– part 2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cxnSp>
        <p:nvCxnSpPr>
          <p:cNvPr id="28" name="Straight Arrow Connector 27">
            <a:extLst>
              <a:ext uri="{FF2B5EF4-FFF2-40B4-BE49-F238E27FC236}">
                <a16:creationId xmlns:a16="http://schemas.microsoft.com/office/drawing/2014/main" id="{2CE17A05-6541-5171-40F5-A85E8ABAF142}"/>
              </a:ext>
            </a:extLst>
          </p:cNvPr>
          <p:cNvCxnSpPr>
            <a:cxnSpLocks/>
          </p:cNvCxnSpPr>
          <p:nvPr/>
        </p:nvCxnSpPr>
        <p:spPr>
          <a:xfrm>
            <a:off x="7957226" y="1245140"/>
            <a:ext cx="700391" cy="0"/>
          </a:xfrm>
          <a:prstGeom prst="straightConnector1">
            <a:avLst/>
          </a:prstGeom>
          <a:ln w="57150">
            <a:solidFill>
              <a:srgbClr val="FFFF00"/>
            </a:solidFill>
            <a:tailEnd type="triangle"/>
          </a:ln>
        </p:spPr>
        <p:style>
          <a:lnRef idx="2">
            <a:schemeClr val="accent1"/>
          </a:lnRef>
          <a:fillRef idx="0">
            <a:schemeClr val="accent1"/>
          </a:fillRef>
          <a:effectRef idx="1">
            <a:schemeClr val="accent1"/>
          </a:effectRef>
          <a:fontRef idx="minor">
            <a:schemeClr val="tx1"/>
          </a:fontRef>
        </p:style>
      </p:cxnSp>
      <p:pic>
        <p:nvPicPr>
          <p:cNvPr id="33" name="Picture 32">
            <a:extLst>
              <a:ext uri="{FF2B5EF4-FFF2-40B4-BE49-F238E27FC236}">
                <a16:creationId xmlns:a16="http://schemas.microsoft.com/office/drawing/2014/main" id="{FE6D0C74-C14B-D81B-982D-442DD25DC0E1}"/>
              </a:ext>
            </a:extLst>
          </p:cNvPr>
          <p:cNvPicPr>
            <a:picLocks noChangeAspect="1"/>
          </p:cNvPicPr>
          <p:nvPr/>
        </p:nvPicPr>
        <p:blipFill>
          <a:blip r:embed="rId3"/>
          <a:stretch>
            <a:fillRect/>
          </a:stretch>
        </p:blipFill>
        <p:spPr>
          <a:xfrm>
            <a:off x="0" y="438848"/>
            <a:ext cx="9544050" cy="6257925"/>
          </a:xfrm>
          <a:prstGeom prst="rect">
            <a:avLst/>
          </a:prstGeom>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3AA34B9-B89B-AA86-16F1-43F352C9484C}"/>
                  </a:ext>
                </a:extLst>
              </p:cNvPr>
              <p:cNvSpPr txBox="1"/>
              <p:nvPr/>
            </p:nvSpPr>
            <p:spPr>
              <a:xfrm>
                <a:off x="8019442" y="729574"/>
                <a:ext cx="3534383"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probability of a pixel intensity being in class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𝐶</m:t>
                        </m:r>
                      </m:e>
                      <m:sub>
                        <m:r>
                          <a:rPr lang="en-US" i="1" dirty="0">
                            <a:latin typeface="Cambria Math" panose="02040503050406030204" pitchFamily="18" charset="0"/>
                          </a:rPr>
                          <m:t>0</m:t>
                        </m:r>
                      </m:sub>
                    </m:sSub>
                  </m:oMath>
                </a14:m>
                <a:r>
                  <a:rPr lang="en-US" dirty="0"/>
                  <a:t> : </a:t>
                </a:r>
                <a14:m>
                  <m:oMath xmlns:m="http://schemas.openxmlformats.org/officeDocument/2006/math">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𝝎</m:t>
                        </m:r>
                      </m:e>
                      <m:sub>
                        <m:r>
                          <a:rPr lang="en-US" b="1" i="1">
                            <a:solidFill>
                              <a:srgbClr val="FFFF00"/>
                            </a:solidFill>
                            <a:latin typeface="Cambria Math" panose="02040503050406030204" pitchFamily="18" charset="0"/>
                          </a:rPr>
                          <m:t>𝟎</m:t>
                        </m:r>
                      </m:sub>
                    </m:sSub>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oMath>
                </a14:m>
                <a:r>
                  <a:rPr lang="en-US" dirty="0"/>
                  <a:t> </a:t>
                </a:r>
              </a:p>
            </p:txBody>
          </p:sp>
        </mc:Choice>
        <mc:Fallback xmlns="">
          <p:sp>
            <p:nvSpPr>
              <p:cNvPr id="29" name="TextBox 28">
                <a:extLst>
                  <a:ext uri="{FF2B5EF4-FFF2-40B4-BE49-F238E27FC236}">
                    <a16:creationId xmlns:a16="http://schemas.microsoft.com/office/drawing/2014/main" id="{43AA34B9-B89B-AA86-16F1-43F352C9484C}"/>
                  </a:ext>
                </a:extLst>
              </p:cNvPr>
              <p:cNvSpPr txBox="1">
                <a:spLocks noRot="1" noChangeAspect="1" noMove="1" noResize="1" noEditPoints="1" noAdjustHandles="1" noChangeArrowheads="1" noChangeShapeType="1" noTextEdit="1"/>
              </p:cNvSpPr>
              <p:nvPr/>
            </p:nvSpPr>
            <p:spPr>
              <a:xfrm>
                <a:off x="8019442" y="729574"/>
                <a:ext cx="3534383" cy="646331"/>
              </a:xfrm>
              <a:prstGeom prst="rect">
                <a:avLst/>
              </a:prstGeom>
              <a:blipFill>
                <a:blip r:embed="rId4"/>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D6DF0A5-CED7-77BB-47CF-784C94D992E7}"/>
                  </a:ext>
                </a:extLst>
              </p:cNvPr>
              <p:cNvSpPr txBox="1"/>
              <p:nvPr/>
            </p:nvSpPr>
            <p:spPr>
              <a:xfrm>
                <a:off x="8657618" y="1518405"/>
                <a:ext cx="3463046"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probability of a pixel intensity being in class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𝐶</m:t>
                        </m:r>
                      </m:e>
                      <m:sub>
                        <m:r>
                          <a:rPr lang="en-US" b="0" i="1" dirty="0" smtClean="0">
                            <a:latin typeface="Cambria Math" panose="02040503050406030204" pitchFamily="18" charset="0"/>
                          </a:rPr>
                          <m:t>1</m:t>
                        </m:r>
                      </m:sub>
                    </m:sSub>
                  </m:oMath>
                </a14:m>
                <a:r>
                  <a:rPr lang="en-US" dirty="0"/>
                  <a:t> : </a:t>
                </a:r>
                <a14:m>
                  <m:oMath xmlns:m="http://schemas.openxmlformats.org/officeDocument/2006/math">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𝝎</m:t>
                        </m:r>
                      </m:e>
                      <m:sub>
                        <m:r>
                          <a:rPr lang="en-US" b="1" i="1" smtClean="0">
                            <a:solidFill>
                              <a:srgbClr val="FFFF00"/>
                            </a:solidFill>
                            <a:latin typeface="Cambria Math" panose="02040503050406030204" pitchFamily="18" charset="0"/>
                          </a:rPr>
                          <m:t>𝟏</m:t>
                        </m:r>
                      </m:sub>
                    </m:sSub>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oMath>
                </a14:m>
                <a:r>
                  <a:rPr lang="en-US" dirty="0"/>
                  <a:t> </a:t>
                </a:r>
              </a:p>
            </p:txBody>
          </p:sp>
        </mc:Choice>
        <mc:Fallback xmlns="">
          <p:sp>
            <p:nvSpPr>
              <p:cNvPr id="31" name="TextBox 30">
                <a:extLst>
                  <a:ext uri="{FF2B5EF4-FFF2-40B4-BE49-F238E27FC236}">
                    <a16:creationId xmlns:a16="http://schemas.microsoft.com/office/drawing/2014/main" id="{7D6DF0A5-CED7-77BB-47CF-784C94D992E7}"/>
                  </a:ext>
                </a:extLst>
              </p:cNvPr>
              <p:cNvSpPr txBox="1">
                <a:spLocks noRot="1" noChangeAspect="1" noMove="1" noResize="1" noEditPoints="1" noAdjustHandles="1" noChangeArrowheads="1" noChangeShapeType="1" noTextEdit="1"/>
              </p:cNvSpPr>
              <p:nvPr/>
            </p:nvSpPr>
            <p:spPr>
              <a:xfrm>
                <a:off x="8657618" y="1518405"/>
                <a:ext cx="3463046" cy="646331"/>
              </a:xfrm>
              <a:prstGeom prst="rect">
                <a:avLst/>
              </a:prstGeom>
              <a:blipFill>
                <a:blip r:embed="rId5"/>
                <a:stretch>
                  <a:fillRect/>
                </a:stretch>
              </a:blipFill>
            </p:spPr>
            <p:txBody>
              <a:bodyPr/>
              <a:lstStyle/>
              <a:p>
                <a:r>
                  <a:rPr lang="he-IL">
                    <a:noFill/>
                  </a:rPr>
                  <a:t> </a:t>
                </a:r>
              </a:p>
            </p:txBody>
          </p:sp>
        </mc:Fallback>
      </mc:AlternateContent>
      <p:cxnSp>
        <p:nvCxnSpPr>
          <p:cNvPr id="35" name="Straight Arrow Connector 34">
            <a:extLst>
              <a:ext uri="{FF2B5EF4-FFF2-40B4-BE49-F238E27FC236}">
                <a16:creationId xmlns:a16="http://schemas.microsoft.com/office/drawing/2014/main" id="{ADDDE256-DF33-F9CD-5FDE-BC10E4D5011B}"/>
              </a:ext>
            </a:extLst>
          </p:cNvPr>
          <p:cNvCxnSpPr/>
          <p:nvPr/>
        </p:nvCxnSpPr>
        <p:spPr>
          <a:xfrm>
            <a:off x="4990289" y="963038"/>
            <a:ext cx="2879388" cy="0"/>
          </a:xfrm>
          <a:prstGeom prst="straightConnector1">
            <a:avLst/>
          </a:prstGeom>
          <a:ln w="57150">
            <a:solidFill>
              <a:srgbClr val="FFFF0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3FB25288-0997-0986-0D5A-E10EB5FAC585}"/>
              </a:ext>
            </a:extLst>
          </p:cNvPr>
          <p:cNvCxnSpPr>
            <a:cxnSpLocks/>
          </p:cNvCxnSpPr>
          <p:nvPr/>
        </p:nvCxnSpPr>
        <p:spPr>
          <a:xfrm>
            <a:off x="6868335" y="1835285"/>
            <a:ext cx="1653095" cy="0"/>
          </a:xfrm>
          <a:prstGeom prst="straightConnector1">
            <a:avLst/>
          </a:prstGeom>
          <a:ln w="57150">
            <a:solidFill>
              <a:srgbClr val="FFFF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51968A36-2DBE-3E27-4042-8D4427E8EAB2}"/>
              </a:ext>
            </a:extLst>
          </p:cNvPr>
          <p:cNvCxnSpPr>
            <a:cxnSpLocks/>
          </p:cNvCxnSpPr>
          <p:nvPr/>
        </p:nvCxnSpPr>
        <p:spPr>
          <a:xfrm>
            <a:off x="5911782" y="2688076"/>
            <a:ext cx="1783100" cy="0"/>
          </a:xfrm>
          <a:prstGeom prst="straightConnector1">
            <a:avLst/>
          </a:prstGeom>
          <a:ln w="57150">
            <a:solidFill>
              <a:srgbClr val="FFFF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B3BCA24-C662-10AF-8375-A5AF425A31C0}"/>
                  </a:ext>
                </a:extLst>
              </p:cNvPr>
              <p:cNvSpPr txBox="1"/>
              <p:nvPr/>
            </p:nvSpPr>
            <p:spPr>
              <a:xfrm>
                <a:off x="7840494" y="2429864"/>
                <a:ext cx="4280170" cy="388504"/>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Compute the term </a:t>
                </a:r>
                <a14:m>
                  <m:oMath xmlns:m="http://schemas.openxmlformats.org/officeDocument/2006/math">
                    <m:nary>
                      <m:naryPr>
                        <m:chr m:val="∑"/>
                        <m:ctrlPr>
                          <a:rPr lang="en-US" b="1" i="1" smtClean="0">
                            <a:solidFill>
                              <a:srgbClr val="FFFF00"/>
                            </a:solidFill>
                            <a:latin typeface="Cambria Math" panose="02040503050406030204" pitchFamily="18" charset="0"/>
                          </a:rPr>
                        </m:ctrlPr>
                      </m:naryPr>
                      <m:sub>
                        <m:r>
                          <m:rPr>
                            <m:brk m:alnAt="23"/>
                          </m:rP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𝟎</m:t>
                        </m:r>
                      </m:sub>
                      <m:sup>
                        <m:r>
                          <a:rPr lang="en-US" b="1" i="1" smtClean="0">
                            <a:solidFill>
                              <a:srgbClr val="FFFF00"/>
                            </a:solidFill>
                            <a:latin typeface="Cambria Math" panose="02040503050406030204" pitchFamily="18" charset="0"/>
                          </a:rPr>
                          <m:t>𝑻</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m:t>
                        </m:r>
                      </m:sup>
                      <m:e>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𝑷</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𝒕</m:t>
                        </m:r>
                        <m:r>
                          <a:rPr lang="en-US" b="1" i="1" smtClean="0">
                            <a:solidFill>
                              <a:srgbClr val="FFFF00"/>
                            </a:solidFill>
                            <a:latin typeface="Cambria Math" panose="02040503050406030204" pitchFamily="18" charset="0"/>
                          </a:rPr>
                          <m:t>)</m:t>
                        </m:r>
                      </m:e>
                    </m:nary>
                  </m:oMath>
                </a14:m>
                <a:r>
                  <a:rPr lang="en-US" dirty="0"/>
                  <a:t> for </a:t>
                </a:r>
                <a14:m>
                  <m:oMath xmlns:m="http://schemas.openxmlformats.org/officeDocument/2006/math">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𝝁</m:t>
                        </m:r>
                      </m:e>
                      <m:sub>
                        <m:r>
                          <a:rPr lang="en-US" b="1" i="1">
                            <a:solidFill>
                              <a:srgbClr val="FFFF00"/>
                            </a:solidFill>
                            <a:latin typeface="Cambria Math" panose="02040503050406030204" pitchFamily="18" charset="0"/>
                          </a:rPr>
                          <m:t>𝟎</m:t>
                        </m:r>
                      </m:sub>
                    </m:sSub>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oMath>
                </a14:m>
                <a:r>
                  <a:rPr lang="en-US" dirty="0"/>
                  <a:t> </a:t>
                </a:r>
              </a:p>
            </p:txBody>
          </p:sp>
        </mc:Choice>
        <mc:Fallback xmlns="">
          <p:sp>
            <p:nvSpPr>
              <p:cNvPr id="41" name="TextBox 40">
                <a:extLst>
                  <a:ext uri="{FF2B5EF4-FFF2-40B4-BE49-F238E27FC236}">
                    <a16:creationId xmlns:a16="http://schemas.microsoft.com/office/drawing/2014/main" id="{FB3BCA24-C662-10AF-8375-A5AF425A31C0}"/>
                  </a:ext>
                </a:extLst>
              </p:cNvPr>
              <p:cNvSpPr txBox="1">
                <a:spLocks noRot="1" noChangeAspect="1" noMove="1" noResize="1" noEditPoints="1" noAdjustHandles="1" noChangeArrowheads="1" noChangeShapeType="1" noTextEdit="1"/>
              </p:cNvSpPr>
              <p:nvPr/>
            </p:nvSpPr>
            <p:spPr>
              <a:xfrm>
                <a:off x="7840494" y="2429864"/>
                <a:ext cx="4280170" cy="388504"/>
              </a:xfrm>
              <a:prstGeom prst="rect">
                <a:avLst/>
              </a:prstGeom>
              <a:blipFill>
                <a:blip r:embed="rId6"/>
                <a:stretch>
                  <a:fillRect/>
                </a:stretch>
              </a:blipFill>
            </p:spPr>
            <p:txBody>
              <a:bodyPr/>
              <a:lstStyle/>
              <a:p>
                <a:r>
                  <a:rPr lang="he-IL">
                    <a:noFill/>
                  </a:rPr>
                  <a:t> </a:t>
                </a:r>
              </a:p>
            </p:txBody>
          </p:sp>
        </mc:Fallback>
      </mc:AlternateContent>
      <p:cxnSp>
        <p:nvCxnSpPr>
          <p:cNvPr id="43" name="Straight Arrow Connector 42">
            <a:extLst>
              <a:ext uri="{FF2B5EF4-FFF2-40B4-BE49-F238E27FC236}">
                <a16:creationId xmlns:a16="http://schemas.microsoft.com/office/drawing/2014/main" id="{F5D70073-66DA-693F-AF29-0BCBE7E62978}"/>
              </a:ext>
            </a:extLst>
          </p:cNvPr>
          <p:cNvCxnSpPr>
            <a:cxnSpLocks/>
          </p:cNvCxnSpPr>
          <p:nvPr/>
        </p:nvCxnSpPr>
        <p:spPr>
          <a:xfrm flipV="1">
            <a:off x="7260684" y="3044101"/>
            <a:ext cx="1840149" cy="59022"/>
          </a:xfrm>
          <a:prstGeom prst="straightConnector1">
            <a:avLst/>
          </a:prstGeom>
          <a:ln w="57150">
            <a:solidFill>
              <a:srgbClr val="FFFF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E66BDF3-E5F5-5391-54FF-F8362F5D2A8C}"/>
                  </a:ext>
                </a:extLst>
              </p:cNvPr>
              <p:cNvSpPr txBox="1"/>
              <p:nvPr/>
            </p:nvSpPr>
            <p:spPr>
              <a:xfrm>
                <a:off x="9160213" y="2859435"/>
                <a:ext cx="1783100"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Compute </a:t>
                </a:r>
                <a14:m>
                  <m:oMath xmlns:m="http://schemas.openxmlformats.org/officeDocument/2006/math">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𝝁</m:t>
                        </m:r>
                      </m:e>
                      <m:sub>
                        <m:r>
                          <a:rPr lang="en-US" b="1" i="1">
                            <a:solidFill>
                              <a:srgbClr val="FFFF00"/>
                            </a:solidFill>
                            <a:latin typeface="Cambria Math" panose="02040503050406030204" pitchFamily="18" charset="0"/>
                          </a:rPr>
                          <m:t>𝟎</m:t>
                        </m:r>
                      </m:sub>
                    </m:sSub>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oMath>
                </a14:m>
                <a:r>
                  <a:rPr lang="en-US" dirty="0"/>
                  <a:t> </a:t>
                </a:r>
              </a:p>
            </p:txBody>
          </p:sp>
        </mc:Choice>
        <mc:Fallback xmlns="">
          <p:sp>
            <p:nvSpPr>
              <p:cNvPr id="44" name="TextBox 43">
                <a:extLst>
                  <a:ext uri="{FF2B5EF4-FFF2-40B4-BE49-F238E27FC236}">
                    <a16:creationId xmlns:a16="http://schemas.microsoft.com/office/drawing/2014/main" id="{7E66BDF3-E5F5-5391-54FF-F8362F5D2A8C}"/>
                  </a:ext>
                </a:extLst>
              </p:cNvPr>
              <p:cNvSpPr txBox="1">
                <a:spLocks noRot="1" noChangeAspect="1" noMove="1" noResize="1" noEditPoints="1" noAdjustHandles="1" noChangeArrowheads="1" noChangeShapeType="1" noTextEdit="1"/>
              </p:cNvSpPr>
              <p:nvPr/>
            </p:nvSpPr>
            <p:spPr>
              <a:xfrm>
                <a:off x="9160213" y="2859435"/>
                <a:ext cx="1783100" cy="369332"/>
              </a:xfrm>
              <a:prstGeom prst="rect">
                <a:avLst/>
              </a:prstGeom>
              <a:blipFill>
                <a:blip r:embed="rId7"/>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D17BFD2-75F0-99B5-6FF4-05FCB12CBF87}"/>
                  </a:ext>
                </a:extLst>
              </p:cNvPr>
              <p:cNvSpPr txBox="1"/>
              <p:nvPr/>
            </p:nvSpPr>
            <p:spPr>
              <a:xfrm>
                <a:off x="9589294" y="3260923"/>
                <a:ext cx="1783100"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Compute </a:t>
                </a:r>
                <a14:m>
                  <m:oMath xmlns:m="http://schemas.openxmlformats.org/officeDocument/2006/math">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𝝁</m:t>
                        </m:r>
                      </m:e>
                      <m:sub>
                        <m:r>
                          <a:rPr lang="en-US" b="1" i="1" smtClean="0">
                            <a:solidFill>
                              <a:srgbClr val="FFFF00"/>
                            </a:solidFill>
                            <a:latin typeface="Cambria Math" panose="02040503050406030204" pitchFamily="18" charset="0"/>
                          </a:rPr>
                          <m:t>𝟏</m:t>
                        </m:r>
                      </m:sub>
                    </m:sSub>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oMath>
                </a14:m>
                <a:r>
                  <a:rPr lang="en-US" dirty="0"/>
                  <a:t> </a:t>
                </a:r>
              </a:p>
            </p:txBody>
          </p:sp>
        </mc:Choice>
        <mc:Fallback xmlns="">
          <p:sp>
            <p:nvSpPr>
              <p:cNvPr id="49" name="TextBox 48">
                <a:extLst>
                  <a:ext uri="{FF2B5EF4-FFF2-40B4-BE49-F238E27FC236}">
                    <a16:creationId xmlns:a16="http://schemas.microsoft.com/office/drawing/2014/main" id="{2D17BFD2-75F0-99B5-6FF4-05FCB12CBF87}"/>
                  </a:ext>
                </a:extLst>
              </p:cNvPr>
              <p:cNvSpPr txBox="1">
                <a:spLocks noRot="1" noChangeAspect="1" noMove="1" noResize="1" noEditPoints="1" noAdjustHandles="1" noChangeArrowheads="1" noChangeShapeType="1" noTextEdit="1"/>
              </p:cNvSpPr>
              <p:nvPr/>
            </p:nvSpPr>
            <p:spPr>
              <a:xfrm>
                <a:off x="9589294" y="3260923"/>
                <a:ext cx="1783100" cy="369332"/>
              </a:xfrm>
              <a:prstGeom prst="rect">
                <a:avLst/>
              </a:prstGeom>
              <a:blipFill>
                <a:blip r:embed="rId8"/>
                <a:stretch>
                  <a:fillRect/>
                </a:stretch>
              </a:blipFill>
            </p:spPr>
            <p:txBody>
              <a:bodyPr/>
              <a:lstStyle/>
              <a:p>
                <a:r>
                  <a:rPr lang="he-IL">
                    <a:noFill/>
                  </a:rPr>
                  <a:t> </a:t>
                </a:r>
              </a:p>
            </p:txBody>
          </p:sp>
        </mc:Fallback>
      </mc:AlternateContent>
      <p:cxnSp>
        <p:nvCxnSpPr>
          <p:cNvPr id="52" name="Straight Arrow Connector 51">
            <a:extLst>
              <a:ext uri="{FF2B5EF4-FFF2-40B4-BE49-F238E27FC236}">
                <a16:creationId xmlns:a16="http://schemas.microsoft.com/office/drawing/2014/main" id="{83EC4F0D-5B74-1F5C-9DB9-F19D326B6591}"/>
              </a:ext>
            </a:extLst>
          </p:cNvPr>
          <p:cNvCxnSpPr>
            <a:cxnSpLocks/>
          </p:cNvCxnSpPr>
          <p:nvPr/>
        </p:nvCxnSpPr>
        <p:spPr>
          <a:xfrm>
            <a:off x="8697744" y="3338699"/>
            <a:ext cx="891550" cy="0"/>
          </a:xfrm>
          <a:prstGeom prst="straightConnector1">
            <a:avLst/>
          </a:prstGeom>
          <a:ln w="57150">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55" name="Right Brace 54">
            <a:extLst>
              <a:ext uri="{FF2B5EF4-FFF2-40B4-BE49-F238E27FC236}">
                <a16:creationId xmlns:a16="http://schemas.microsoft.com/office/drawing/2014/main" id="{EF24C706-1A24-FBF7-F279-FFDB12DF8393}"/>
              </a:ext>
            </a:extLst>
          </p:cNvPr>
          <p:cNvSpPr/>
          <p:nvPr/>
        </p:nvSpPr>
        <p:spPr>
          <a:xfrm>
            <a:off x="9203582" y="3690494"/>
            <a:ext cx="340468" cy="680576"/>
          </a:xfrm>
          <a:prstGeom prst="rightBrace">
            <a:avLst/>
          </a:prstGeom>
          <a:ln w="57150">
            <a:solidFill>
              <a:srgbClr val="FFFF00"/>
            </a:solidFill>
          </a:ln>
        </p:spPr>
        <p:style>
          <a:lnRef idx="1">
            <a:schemeClr val="accent6"/>
          </a:lnRef>
          <a:fillRef idx="0">
            <a:schemeClr val="accent6"/>
          </a:fillRef>
          <a:effectRef idx="0">
            <a:schemeClr val="accent6"/>
          </a:effectRef>
          <a:fontRef idx="minor">
            <a:schemeClr val="tx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D42F10E9-B281-D049-E542-7B1643CF482B}"/>
                  </a:ext>
                </a:extLst>
              </p:cNvPr>
              <p:cNvSpPr txBox="1"/>
              <p:nvPr/>
            </p:nvSpPr>
            <p:spPr>
              <a:xfrm>
                <a:off x="9589294" y="3708196"/>
                <a:ext cx="2531370" cy="662874"/>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Compute the Between-Class Variance </a:t>
                </a:r>
                <a14:m>
                  <m:oMath xmlns:m="http://schemas.openxmlformats.org/officeDocument/2006/math">
                    <m:sSubSup>
                      <m:sSubSupPr>
                        <m:ctrlPr>
                          <a:rPr lang="en-US" b="1" i="1" smtClean="0">
                            <a:solidFill>
                              <a:srgbClr val="FFFF00"/>
                            </a:solidFill>
                            <a:latin typeface="Cambria Math" panose="02040503050406030204" pitchFamily="18" charset="0"/>
                          </a:rPr>
                        </m:ctrlPr>
                      </m:sSubSupPr>
                      <m:e>
                        <m:r>
                          <a:rPr lang="en-US" b="1" i="1" smtClean="0">
                            <a:solidFill>
                              <a:srgbClr val="FFFF00"/>
                            </a:solidFill>
                            <a:latin typeface="Cambria Math" panose="02040503050406030204" pitchFamily="18" charset="0"/>
                          </a:rPr>
                          <m:t>𝝈</m:t>
                        </m:r>
                      </m:e>
                      <m:sub>
                        <m:r>
                          <a:rPr lang="en-US" b="1" i="1" smtClean="0">
                            <a:solidFill>
                              <a:srgbClr val="FFFF00"/>
                            </a:solidFill>
                            <a:latin typeface="Cambria Math" panose="02040503050406030204" pitchFamily="18" charset="0"/>
                          </a:rPr>
                          <m:t>𝑩</m:t>
                        </m:r>
                      </m:sub>
                      <m:sup>
                        <m:r>
                          <a:rPr lang="en-US" b="1" i="1" smtClean="0">
                            <a:solidFill>
                              <a:srgbClr val="FFFF00"/>
                            </a:solidFill>
                            <a:latin typeface="Cambria Math" panose="02040503050406030204" pitchFamily="18" charset="0"/>
                          </a:rPr>
                          <m:t>𝟐</m:t>
                        </m:r>
                      </m:sup>
                    </m:sSubSup>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𝑻</m:t>
                        </m:r>
                      </m:e>
                    </m:d>
                  </m:oMath>
                </a14:m>
                <a:endParaRPr lang="he-IL" dirty="0"/>
              </a:p>
            </p:txBody>
          </p:sp>
        </mc:Choice>
        <mc:Fallback xmlns="">
          <p:sp>
            <p:nvSpPr>
              <p:cNvPr id="57" name="TextBox 56">
                <a:extLst>
                  <a:ext uri="{FF2B5EF4-FFF2-40B4-BE49-F238E27FC236}">
                    <a16:creationId xmlns:a16="http://schemas.microsoft.com/office/drawing/2014/main" id="{D42F10E9-B281-D049-E542-7B1643CF482B}"/>
                  </a:ext>
                </a:extLst>
              </p:cNvPr>
              <p:cNvSpPr txBox="1">
                <a:spLocks noRot="1" noChangeAspect="1" noMove="1" noResize="1" noEditPoints="1" noAdjustHandles="1" noChangeArrowheads="1" noChangeShapeType="1" noTextEdit="1"/>
              </p:cNvSpPr>
              <p:nvPr/>
            </p:nvSpPr>
            <p:spPr>
              <a:xfrm>
                <a:off x="9589294" y="3708196"/>
                <a:ext cx="2531370" cy="662874"/>
              </a:xfrm>
              <a:prstGeom prst="rect">
                <a:avLst/>
              </a:prstGeom>
              <a:blipFill>
                <a:blip r:embed="rId9"/>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49ED533-8052-5C57-94BC-7AE4A3ADDCFF}"/>
                  </a:ext>
                </a:extLst>
              </p:cNvPr>
              <p:cNvSpPr txBox="1"/>
              <p:nvPr/>
            </p:nvSpPr>
            <p:spPr>
              <a:xfrm>
                <a:off x="7440039" y="4520083"/>
                <a:ext cx="4208021" cy="1027076"/>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tracks the maximum variance and updates the threshold accordingly – this is the </a:t>
                </a:r>
                <a14:m>
                  <m:oMath xmlns:m="http://schemas.openxmlformats.org/officeDocument/2006/math">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𝑻</m:t>
                        </m:r>
                      </m:e>
                      <m:sub>
                        <m:r>
                          <a:rPr lang="en-US" b="1" i="1" smtClean="0">
                            <a:solidFill>
                              <a:srgbClr val="FFFF00"/>
                            </a:solidFill>
                            <a:latin typeface="Cambria Math" panose="02040503050406030204" pitchFamily="18" charset="0"/>
                          </a:rPr>
                          <m:t>𝒐𝒑𝒕</m:t>
                        </m:r>
                      </m:sub>
                    </m:sSub>
                    <m:r>
                      <a:rPr lang="en-US" b="1" i="1" smtClean="0">
                        <a:solidFill>
                          <a:srgbClr val="FFFF00"/>
                        </a:solidFill>
                        <a:latin typeface="Cambria Math" panose="02040503050406030204" pitchFamily="18" charset="0"/>
                      </a:rPr>
                      <m:t>=</m:t>
                    </m:r>
                    <m:func>
                      <m:funcPr>
                        <m:ctrlPr>
                          <a:rPr lang="en-US" b="1" i="1" smtClean="0">
                            <a:solidFill>
                              <a:srgbClr val="FFFF00"/>
                            </a:solidFill>
                            <a:latin typeface="Cambria Math" panose="02040503050406030204" pitchFamily="18" charset="0"/>
                          </a:rPr>
                        </m:ctrlPr>
                      </m:funcPr>
                      <m:fName>
                        <m:r>
                          <a:rPr lang="en-US" b="1" i="0" smtClean="0">
                            <a:solidFill>
                              <a:srgbClr val="FFFF00"/>
                            </a:solidFill>
                            <a:latin typeface="Cambria Math" panose="02040503050406030204" pitchFamily="18" charset="0"/>
                          </a:rPr>
                          <m:t>𝐚𝐫𝐠</m:t>
                        </m:r>
                      </m:fName>
                      <m:e>
                        <m:func>
                          <m:funcPr>
                            <m:ctrlPr>
                              <a:rPr lang="en-US" b="1" i="1" smtClean="0">
                                <a:solidFill>
                                  <a:srgbClr val="FFFF00"/>
                                </a:solidFill>
                                <a:latin typeface="Cambria Math" panose="02040503050406030204" pitchFamily="18" charset="0"/>
                              </a:rPr>
                            </m:ctrlPr>
                          </m:funcPr>
                          <m:fName>
                            <m:limLow>
                              <m:limLowPr>
                                <m:ctrlPr>
                                  <a:rPr lang="en-US" b="1" i="1" smtClean="0">
                                    <a:solidFill>
                                      <a:srgbClr val="FFFF00"/>
                                    </a:solidFill>
                                    <a:latin typeface="Cambria Math" panose="02040503050406030204" pitchFamily="18" charset="0"/>
                                  </a:rPr>
                                </m:ctrlPr>
                              </m:limLowPr>
                              <m:e>
                                <m:r>
                                  <a:rPr lang="en-US" b="1" i="0" smtClean="0">
                                    <a:solidFill>
                                      <a:srgbClr val="FFFF00"/>
                                    </a:solidFill>
                                    <a:latin typeface="Cambria Math" panose="02040503050406030204" pitchFamily="18" charset="0"/>
                                  </a:rPr>
                                  <m:t>𝐦𝐚𝐱</m:t>
                                </m:r>
                              </m:e>
                              <m:lim>
                                <m:r>
                                  <a:rPr lang="en-US" b="1" i="1" smtClean="0">
                                    <a:solidFill>
                                      <a:srgbClr val="FFFF00"/>
                                    </a:solidFill>
                                    <a:latin typeface="Cambria Math" panose="02040503050406030204" pitchFamily="18" charset="0"/>
                                  </a:rPr>
                                  <m:t>𝑻</m:t>
                                </m:r>
                              </m:lim>
                            </m:limLow>
                          </m:fName>
                          <m:e>
                            <m:sSubSup>
                              <m:sSubSupPr>
                                <m:ctrlPr>
                                  <a:rPr lang="en-US" b="1" i="1">
                                    <a:solidFill>
                                      <a:srgbClr val="FFFF00"/>
                                    </a:solidFill>
                                    <a:latin typeface="Cambria Math" panose="02040503050406030204" pitchFamily="18" charset="0"/>
                                  </a:rPr>
                                </m:ctrlPr>
                              </m:sSubSupPr>
                              <m:e>
                                <m:r>
                                  <a:rPr lang="en-US" b="1" i="1">
                                    <a:solidFill>
                                      <a:srgbClr val="FFFF00"/>
                                    </a:solidFill>
                                    <a:latin typeface="Cambria Math" panose="02040503050406030204" pitchFamily="18" charset="0"/>
                                  </a:rPr>
                                  <m:t>𝝈</m:t>
                                </m:r>
                              </m:e>
                              <m:sub>
                                <m:r>
                                  <a:rPr lang="en-US" b="1" i="1">
                                    <a:solidFill>
                                      <a:srgbClr val="FFFF00"/>
                                    </a:solidFill>
                                    <a:latin typeface="Cambria Math" panose="02040503050406030204" pitchFamily="18" charset="0"/>
                                  </a:rPr>
                                  <m:t>𝑩</m:t>
                                </m:r>
                              </m:sub>
                              <m:sup>
                                <m:r>
                                  <a:rPr lang="en-US" b="1" i="1">
                                    <a:solidFill>
                                      <a:srgbClr val="FFFF00"/>
                                    </a:solidFill>
                                    <a:latin typeface="Cambria Math" panose="02040503050406030204" pitchFamily="18" charset="0"/>
                                  </a:rPr>
                                  <m:t>𝟐</m:t>
                                </m:r>
                              </m:sup>
                            </m:sSubSup>
                            <m:d>
                              <m:dPr>
                                <m:ctrlPr>
                                  <a:rPr lang="en-US" b="1" i="1">
                                    <a:solidFill>
                                      <a:srgbClr val="FFFF00"/>
                                    </a:solidFill>
                                    <a:latin typeface="Cambria Math" panose="02040503050406030204" pitchFamily="18" charset="0"/>
                                  </a:rPr>
                                </m:ctrlPr>
                              </m:dPr>
                              <m:e>
                                <m:r>
                                  <a:rPr lang="en-US" b="1" i="1">
                                    <a:solidFill>
                                      <a:srgbClr val="FFFF00"/>
                                    </a:solidFill>
                                    <a:latin typeface="Cambria Math" panose="02040503050406030204" pitchFamily="18" charset="0"/>
                                  </a:rPr>
                                  <m:t>𝑻</m:t>
                                </m:r>
                              </m:e>
                            </m:d>
                          </m:e>
                        </m:func>
                      </m:e>
                    </m:func>
                  </m:oMath>
                </a14:m>
                <a:r>
                  <a:rPr lang="en-US" b="1" dirty="0">
                    <a:solidFill>
                      <a:srgbClr val="FFFF00"/>
                    </a:solidFill>
                  </a:rPr>
                  <a:t> </a:t>
                </a:r>
                <a:endParaRPr lang="he-IL" b="1" dirty="0">
                  <a:solidFill>
                    <a:srgbClr val="FFFF00"/>
                  </a:solidFill>
                </a:endParaRPr>
              </a:p>
            </p:txBody>
          </p:sp>
        </mc:Choice>
        <mc:Fallback xmlns="">
          <p:sp>
            <p:nvSpPr>
              <p:cNvPr id="59" name="TextBox 58">
                <a:extLst>
                  <a:ext uri="{FF2B5EF4-FFF2-40B4-BE49-F238E27FC236}">
                    <a16:creationId xmlns:a16="http://schemas.microsoft.com/office/drawing/2014/main" id="{D49ED533-8052-5C57-94BC-7AE4A3ADDCFF}"/>
                  </a:ext>
                </a:extLst>
              </p:cNvPr>
              <p:cNvSpPr txBox="1">
                <a:spLocks noRot="1" noChangeAspect="1" noMove="1" noResize="1" noEditPoints="1" noAdjustHandles="1" noChangeArrowheads="1" noChangeShapeType="1" noTextEdit="1"/>
              </p:cNvSpPr>
              <p:nvPr/>
            </p:nvSpPr>
            <p:spPr>
              <a:xfrm>
                <a:off x="7440039" y="4520083"/>
                <a:ext cx="4208021" cy="1027076"/>
              </a:xfrm>
              <a:prstGeom prst="rect">
                <a:avLst/>
              </a:prstGeom>
              <a:blipFill>
                <a:blip r:embed="rId10"/>
                <a:stretch>
                  <a:fillRect/>
                </a:stretch>
              </a:blipFill>
            </p:spPr>
            <p:txBody>
              <a:bodyPr/>
              <a:lstStyle/>
              <a:p>
                <a:r>
                  <a:rPr lang="he-IL">
                    <a:noFill/>
                  </a:rPr>
                  <a:t> </a:t>
                </a:r>
              </a:p>
            </p:txBody>
          </p:sp>
        </mc:Fallback>
      </mc:AlternateContent>
      <p:sp>
        <p:nvSpPr>
          <p:cNvPr id="60" name="Right Brace 59">
            <a:extLst>
              <a:ext uri="{FF2B5EF4-FFF2-40B4-BE49-F238E27FC236}">
                <a16:creationId xmlns:a16="http://schemas.microsoft.com/office/drawing/2014/main" id="{F35EDF10-EF08-29E9-35C8-B5D0C92427AE}"/>
              </a:ext>
            </a:extLst>
          </p:cNvPr>
          <p:cNvSpPr/>
          <p:nvPr/>
        </p:nvSpPr>
        <p:spPr>
          <a:xfrm>
            <a:off x="6940887" y="4413113"/>
            <a:ext cx="319797" cy="1170563"/>
          </a:xfrm>
          <a:prstGeom prst="rightBrace">
            <a:avLst/>
          </a:prstGeom>
          <a:ln w="57150">
            <a:solidFill>
              <a:srgbClr val="FFFF00"/>
            </a:solidFill>
          </a:ln>
        </p:spPr>
        <p:style>
          <a:lnRef idx="1">
            <a:schemeClr val="accent6"/>
          </a:lnRef>
          <a:fillRef idx="0">
            <a:schemeClr val="accent6"/>
          </a:fillRef>
          <a:effectRef idx="0">
            <a:schemeClr val="accent6"/>
          </a:effectRef>
          <a:fontRef idx="minor">
            <a:schemeClr val="tx1"/>
          </a:fontRef>
        </p:style>
        <p:txBody>
          <a:bodyPr rtlCol="1" anchor="ctr"/>
          <a:lstStyle/>
          <a:p>
            <a:pPr algn="ctr"/>
            <a:endParaRPr lang="he-IL"/>
          </a:p>
        </p:txBody>
      </p:sp>
      <p:cxnSp>
        <p:nvCxnSpPr>
          <p:cNvPr id="61" name="Straight Arrow Connector 60">
            <a:extLst>
              <a:ext uri="{FF2B5EF4-FFF2-40B4-BE49-F238E27FC236}">
                <a16:creationId xmlns:a16="http://schemas.microsoft.com/office/drawing/2014/main" id="{32E16A22-85D2-18AD-DAA5-2C76A73C4F9C}"/>
              </a:ext>
            </a:extLst>
          </p:cNvPr>
          <p:cNvCxnSpPr>
            <a:cxnSpLocks/>
          </p:cNvCxnSpPr>
          <p:nvPr/>
        </p:nvCxnSpPr>
        <p:spPr>
          <a:xfrm>
            <a:off x="3719816" y="6303522"/>
            <a:ext cx="1783100" cy="0"/>
          </a:xfrm>
          <a:prstGeom prst="straightConnector1">
            <a:avLst/>
          </a:prstGeom>
          <a:ln w="57150">
            <a:solidFill>
              <a:srgbClr val="FFFF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954E407B-8302-9EFA-489F-09E27924D4B6}"/>
                  </a:ext>
                </a:extLst>
              </p:cNvPr>
              <p:cNvSpPr txBox="1"/>
              <p:nvPr/>
            </p:nvSpPr>
            <p:spPr>
              <a:xfrm>
                <a:off x="5645539" y="6106417"/>
                <a:ext cx="1455246" cy="39421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solidFill>
                      <a:schemeClr val="bg1"/>
                    </a:solidFill>
                  </a:rPr>
                  <a:t>Return</a:t>
                </a:r>
                <a:r>
                  <a:rPr lang="en-US" b="1" dirty="0">
                    <a:solidFill>
                      <a:srgbClr val="FFFF00"/>
                    </a:solidFill>
                  </a:rPr>
                  <a:t> </a:t>
                </a:r>
                <a14:m>
                  <m:oMath xmlns:m="http://schemas.openxmlformats.org/officeDocument/2006/math">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𝑻</m:t>
                        </m:r>
                      </m:e>
                      <m:sub>
                        <m:r>
                          <a:rPr lang="en-US" b="1" i="1" smtClean="0">
                            <a:solidFill>
                              <a:srgbClr val="FFFF00"/>
                            </a:solidFill>
                            <a:latin typeface="Cambria Math" panose="02040503050406030204" pitchFamily="18" charset="0"/>
                          </a:rPr>
                          <m:t>𝒐𝒑𝒕</m:t>
                        </m:r>
                      </m:sub>
                    </m:sSub>
                  </m:oMath>
                </a14:m>
                <a:endParaRPr lang="he-IL" dirty="0"/>
              </a:p>
            </p:txBody>
          </p:sp>
        </mc:Choice>
        <mc:Fallback xmlns="">
          <p:sp>
            <p:nvSpPr>
              <p:cNvPr id="63" name="TextBox 62">
                <a:extLst>
                  <a:ext uri="{FF2B5EF4-FFF2-40B4-BE49-F238E27FC236}">
                    <a16:creationId xmlns:a16="http://schemas.microsoft.com/office/drawing/2014/main" id="{954E407B-8302-9EFA-489F-09E27924D4B6}"/>
                  </a:ext>
                </a:extLst>
              </p:cNvPr>
              <p:cNvSpPr txBox="1">
                <a:spLocks noRot="1" noChangeAspect="1" noMove="1" noResize="1" noEditPoints="1" noAdjustHandles="1" noChangeArrowheads="1" noChangeShapeType="1" noTextEdit="1"/>
              </p:cNvSpPr>
              <p:nvPr/>
            </p:nvSpPr>
            <p:spPr>
              <a:xfrm>
                <a:off x="5645539" y="6106417"/>
                <a:ext cx="1455246" cy="394210"/>
              </a:xfrm>
              <a:prstGeom prst="rect">
                <a:avLst/>
              </a:prstGeom>
              <a:blipFill>
                <a:blip r:embed="rId11"/>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491926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18</a:t>
            </a:fld>
            <a:endParaRPr lang="he-IL" sz="1400"/>
          </a:p>
        </p:txBody>
      </p:sp>
      <p:sp>
        <p:nvSpPr>
          <p:cNvPr id="2" name="Title 1">
            <a:extLst>
              <a:ext uri="{FF2B5EF4-FFF2-40B4-BE49-F238E27FC236}">
                <a16:creationId xmlns:a16="http://schemas.microsoft.com/office/drawing/2014/main" id="{8AE5DF3B-14D6-0E88-3914-89A36E78593A}"/>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1</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6" name="Picture 5">
            <a:extLst>
              <a:ext uri="{FF2B5EF4-FFF2-40B4-BE49-F238E27FC236}">
                <a16:creationId xmlns:a16="http://schemas.microsoft.com/office/drawing/2014/main" id="{11F34A67-9102-539D-4B72-67BAF8018B7D}"/>
              </a:ext>
            </a:extLst>
          </p:cNvPr>
          <p:cNvPicPr>
            <a:picLocks noChangeAspect="1"/>
          </p:cNvPicPr>
          <p:nvPr/>
        </p:nvPicPr>
        <p:blipFill>
          <a:blip r:embed="rId2"/>
          <a:stretch>
            <a:fillRect/>
          </a:stretch>
        </p:blipFill>
        <p:spPr>
          <a:xfrm>
            <a:off x="0" y="785052"/>
            <a:ext cx="9414287" cy="5287895"/>
          </a:xfrm>
          <a:prstGeom prst="rect">
            <a:avLst/>
          </a:prstGeom>
        </p:spPr>
      </p:pic>
      <p:sp>
        <p:nvSpPr>
          <p:cNvPr id="8" name="TextBox 7">
            <a:extLst>
              <a:ext uri="{FF2B5EF4-FFF2-40B4-BE49-F238E27FC236}">
                <a16:creationId xmlns:a16="http://schemas.microsoft.com/office/drawing/2014/main" id="{85BA0251-79FB-C82E-A3CA-8CE58C247EDF}"/>
              </a:ext>
            </a:extLst>
          </p:cNvPr>
          <p:cNvSpPr txBox="1"/>
          <p:nvPr/>
        </p:nvSpPr>
        <p:spPr>
          <a:xfrm>
            <a:off x="9621810" y="785052"/>
            <a:ext cx="2570190"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A 2D array used to store the processed image.</a:t>
            </a:r>
            <a:endParaRPr lang="he-IL" dirty="0"/>
          </a:p>
        </p:txBody>
      </p:sp>
      <p:cxnSp>
        <p:nvCxnSpPr>
          <p:cNvPr id="10" name="Straight Arrow Connector 9">
            <a:extLst>
              <a:ext uri="{FF2B5EF4-FFF2-40B4-BE49-F238E27FC236}">
                <a16:creationId xmlns:a16="http://schemas.microsoft.com/office/drawing/2014/main" id="{7643E037-2B67-2103-EBCA-4891211AF49C}"/>
              </a:ext>
            </a:extLst>
          </p:cNvPr>
          <p:cNvCxnSpPr>
            <a:stCxn id="8" idx="1"/>
          </p:cNvCxnSpPr>
          <p:nvPr/>
        </p:nvCxnSpPr>
        <p:spPr>
          <a:xfrm flipH="1">
            <a:off x="7256834" y="1108218"/>
            <a:ext cx="2364976" cy="88284"/>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25F8725-510E-B862-5A29-5608CBCA42DF}"/>
              </a:ext>
            </a:extLst>
          </p:cNvPr>
          <p:cNvSpPr txBox="1"/>
          <p:nvPr/>
        </p:nvSpPr>
        <p:spPr>
          <a:xfrm>
            <a:off x="8132324" y="1460407"/>
            <a:ext cx="4059676"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Another 2D array similar to ProccesIMG, used to store a Gaussian distributions – for the counting process</a:t>
            </a:r>
            <a:endParaRPr lang="he-IL" dirty="0"/>
          </a:p>
        </p:txBody>
      </p:sp>
      <p:cxnSp>
        <p:nvCxnSpPr>
          <p:cNvPr id="13" name="Straight Arrow Connector 12">
            <a:extLst>
              <a:ext uri="{FF2B5EF4-FFF2-40B4-BE49-F238E27FC236}">
                <a16:creationId xmlns:a16="http://schemas.microsoft.com/office/drawing/2014/main" id="{61B42330-27AE-A14E-4354-B0AE8D104AA2}"/>
              </a:ext>
            </a:extLst>
          </p:cNvPr>
          <p:cNvCxnSpPr>
            <a:cxnSpLocks/>
          </p:cNvCxnSpPr>
          <p:nvPr/>
        </p:nvCxnSpPr>
        <p:spPr>
          <a:xfrm flipH="1" flipV="1">
            <a:off x="7003915" y="1401753"/>
            <a:ext cx="1128409" cy="399609"/>
          </a:xfrm>
          <a:prstGeom prst="straightConnector1">
            <a:avLst/>
          </a:prstGeom>
          <a:ln w="5715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0255A4C-5E1D-CADD-C95E-3AD0FBAE30B1}"/>
              </a:ext>
            </a:extLst>
          </p:cNvPr>
          <p:cNvSpPr txBox="1"/>
          <p:nvPr/>
        </p:nvSpPr>
        <p:spPr>
          <a:xfrm>
            <a:off x="8132324" y="2427781"/>
            <a:ext cx="3854585" cy="369332"/>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A lookup table (LUT) with 256 entries</a:t>
            </a:r>
            <a:endParaRPr lang="he-IL" dirty="0"/>
          </a:p>
        </p:txBody>
      </p:sp>
      <p:cxnSp>
        <p:nvCxnSpPr>
          <p:cNvPr id="17" name="Straight Arrow Connector 16">
            <a:extLst>
              <a:ext uri="{FF2B5EF4-FFF2-40B4-BE49-F238E27FC236}">
                <a16:creationId xmlns:a16="http://schemas.microsoft.com/office/drawing/2014/main" id="{CBE077CE-0501-14C6-DFA9-6F5D7FB0FD8E}"/>
              </a:ext>
            </a:extLst>
          </p:cNvPr>
          <p:cNvCxnSpPr>
            <a:cxnSpLocks/>
          </p:cNvCxnSpPr>
          <p:nvPr/>
        </p:nvCxnSpPr>
        <p:spPr>
          <a:xfrm flipH="1" flipV="1">
            <a:off x="3501958" y="1623580"/>
            <a:ext cx="4630365" cy="959961"/>
          </a:xfrm>
          <a:prstGeom prst="straightConnector1">
            <a:avLst/>
          </a:prstGeom>
          <a:ln w="57150">
            <a:solidFill>
              <a:schemeClr val="accent6">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E2D922E-4445-A4DA-1F9C-C81188CECEFD}"/>
              </a:ext>
            </a:extLst>
          </p:cNvPr>
          <p:cNvSpPr txBox="1"/>
          <p:nvPr/>
        </p:nvSpPr>
        <p:spPr>
          <a:xfrm>
            <a:off x="8337416" y="4212341"/>
            <a:ext cx="3854584" cy="1754326"/>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seeds the random number generator using the current time. This is crucial for ensuring that any subsequent calls to rand() produce different sequences of random numbers each time the program runs.</a:t>
            </a:r>
            <a:endParaRPr lang="he-IL" dirty="0"/>
          </a:p>
        </p:txBody>
      </p:sp>
      <p:cxnSp>
        <p:nvCxnSpPr>
          <p:cNvPr id="21" name="Straight Arrow Connector 20">
            <a:extLst>
              <a:ext uri="{FF2B5EF4-FFF2-40B4-BE49-F238E27FC236}">
                <a16:creationId xmlns:a16="http://schemas.microsoft.com/office/drawing/2014/main" id="{A0097836-1C89-97C7-ACB6-FF3DDC484FE1}"/>
              </a:ext>
            </a:extLst>
          </p:cNvPr>
          <p:cNvCxnSpPr>
            <a:cxnSpLocks/>
          </p:cNvCxnSpPr>
          <p:nvPr/>
        </p:nvCxnSpPr>
        <p:spPr>
          <a:xfrm flipH="1" flipV="1">
            <a:off x="4124528" y="4625717"/>
            <a:ext cx="4212888" cy="546585"/>
          </a:xfrm>
          <a:prstGeom prst="straightConnector1">
            <a:avLst/>
          </a:prstGeom>
          <a:ln w="57150">
            <a:solidFill>
              <a:schemeClr val="accent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6909C52B-2DEB-153C-0354-EAD95A598099}"/>
              </a:ext>
            </a:extLst>
          </p:cNvPr>
          <p:cNvSpPr txBox="1"/>
          <p:nvPr/>
        </p:nvSpPr>
        <p:spPr>
          <a:xfrm>
            <a:off x="6877454" y="6131601"/>
            <a:ext cx="5314546" cy="369332"/>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Each pixel in the ProccesIMG array is initialized to 0</a:t>
            </a:r>
            <a:endParaRPr lang="he-IL" dirty="0"/>
          </a:p>
        </p:txBody>
      </p:sp>
      <p:cxnSp>
        <p:nvCxnSpPr>
          <p:cNvPr id="25" name="Straight Arrow Connector 24">
            <a:extLst>
              <a:ext uri="{FF2B5EF4-FFF2-40B4-BE49-F238E27FC236}">
                <a16:creationId xmlns:a16="http://schemas.microsoft.com/office/drawing/2014/main" id="{CCDABFA6-DE8D-1690-0025-45B48E1789A0}"/>
              </a:ext>
            </a:extLst>
          </p:cNvPr>
          <p:cNvCxnSpPr>
            <a:cxnSpLocks/>
          </p:cNvCxnSpPr>
          <p:nvPr/>
        </p:nvCxnSpPr>
        <p:spPr>
          <a:xfrm flipH="1" flipV="1">
            <a:off x="4844374" y="5775842"/>
            <a:ext cx="2033080" cy="540425"/>
          </a:xfrm>
          <a:prstGeom prst="straightConnector1">
            <a:avLst/>
          </a:prstGeom>
          <a:ln w="57150">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2497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41285" y="0"/>
            <a:ext cx="450715" cy="365125"/>
          </a:xfrm>
        </p:spPr>
        <p:txBody>
          <a:bodyPr/>
          <a:lstStyle/>
          <a:p>
            <a:fld id="{81122904-1B5F-4679-B3DC-5E87602DE7DA}" type="slidenum">
              <a:rPr lang="he-IL" sz="1400" smtClean="0"/>
              <a:t>19</a:t>
            </a:fld>
            <a:endParaRPr lang="he-IL" sz="1400"/>
          </a:p>
        </p:txBody>
      </p:sp>
      <p:sp>
        <p:nvSpPr>
          <p:cNvPr id="2" name="Title 1">
            <a:extLst>
              <a:ext uri="{FF2B5EF4-FFF2-40B4-BE49-F238E27FC236}">
                <a16:creationId xmlns:a16="http://schemas.microsoft.com/office/drawing/2014/main" id="{220D93DF-382F-C3AE-2211-5B16683B5334}"/>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2</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4" name="Picture 3">
            <a:extLst>
              <a:ext uri="{FF2B5EF4-FFF2-40B4-BE49-F238E27FC236}">
                <a16:creationId xmlns:a16="http://schemas.microsoft.com/office/drawing/2014/main" id="{2DB3D76B-5B23-9685-0083-D1469AA17ACC}"/>
              </a:ext>
            </a:extLst>
          </p:cNvPr>
          <p:cNvPicPr>
            <a:picLocks noChangeAspect="1"/>
          </p:cNvPicPr>
          <p:nvPr/>
        </p:nvPicPr>
        <p:blipFill>
          <a:blip r:embed="rId2"/>
          <a:stretch>
            <a:fillRect/>
          </a:stretch>
        </p:blipFill>
        <p:spPr>
          <a:xfrm>
            <a:off x="0" y="476655"/>
            <a:ext cx="9544050" cy="5981700"/>
          </a:xfrm>
          <a:prstGeom prst="rect">
            <a:avLst/>
          </a:prstGeom>
        </p:spPr>
      </p:pic>
      <p:sp>
        <p:nvSpPr>
          <p:cNvPr id="8" name="TextBox 7">
            <a:extLst>
              <a:ext uri="{FF2B5EF4-FFF2-40B4-BE49-F238E27FC236}">
                <a16:creationId xmlns:a16="http://schemas.microsoft.com/office/drawing/2014/main" id="{222F2136-D184-9382-D726-877C3413443F}"/>
              </a:ext>
            </a:extLst>
          </p:cNvPr>
          <p:cNvSpPr txBox="1"/>
          <p:nvPr/>
        </p:nvSpPr>
        <p:spPr>
          <a:xfrm>
            <a:off x="6926094" y="518614"/>
            <a:ext cx="5445056"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loop iterates 6 times, aiming to place 6 Gaussian distributions on the image.</a:t>
            </a:r>
            <a:endParaRPr lang="he-IL" dirty="0"/>
          </a:p>
        </p:txBody>
      </p:sp>
      <p:cxnSp>
        <p:nvCxnSpPr>
          <p:cNvPr id="9" name="Straight Arrow Connector 8">
            <a:extLst>
              <a:ext uri="{FF2B5EF4-FFF2-40B4-BE49-F238E27FC236}">
                <a16:creationId xmlns:a16="http://schemas.microsoft.com/office/drawing/2014/main" id="{0DEEFC97-6F0A-48FD-9D2D-0795E03F09B6}"/>
              </a:ext>
            </a:extLst>
          </p:cNvPr>
          <p:cNvCxnSpPr>
            <a:cxnSpLocks/>
          </p:cNvCxnSpPr>
          <p:nvPr/>
        </p:nvCxnSpPr>
        <p:spPr>
          <a:xfrm flipH="1" flipV="1">
            <a:off x="3988340" y="630144"/>
            <a:ext cx="2937754" cy="246120"/>
          </a:xfrm>
          <a:prstGeom prst="straightConnector1">
            <a:avLst/>
          </a:prstGeom>
          <a:ln w="5715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8CA565D-166D-85D0-3A2D-3A4C21EC0C9C}"/>
              </a:ext>
            </a:extLst>
          </p:cNvPr>
          <p:cNvSpPr txBox="1"/>
          <p:nvPr/>
        </p:nvSpPr>
        <p:spPr>
          <a:xfrm>
            <a:off x="8278238" y="1253911"/>
            <a:ext cx="3913762" cy="923330"/>
          </a:xfrm>
          <a:prstGeom prst="rect">
            <a:avLst/>
          </a:prstGeom>
          <a:ln/>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This loop keeps trying to find a valid position for the Gaussian center until it finds one or reaches 100 retries</a:t>
            </a:r>
            <a:endParaRPr lang="he-IL" dirty="0"/>
          </a:p>
        </p:txBody>
      </p:sp>
      <p:cxnSp>
        <p:nvCxnSpPr>
          <p:cNvPr id="13" name="Straight Arrow Connector 12">
            <a:extLst>
              <a:ext uri="{FF2B5EF4-FFF2-40B4-BE49-F238E27FC236}">
                <a16:creationId xmlns:a16="http://schemas.microsoft.com/office/drawing/2014/main" id="{98E7FE9F-95B2-A7D7-3516-519D71BFF434}"/>
              </a:ext>
            </a:extLst>
          </p:cNvPr>
          <p:cNvCxnSpPr>
            <a:cxnSpLocks/>
          </p:cNvCxnSpPr>
          <p:nvPr/>
        </p:nvCxnSpPr>
        <p:spPr>
          <a:xfrm flipH="1">
            <a:off x="5457217" y="1796029"/>
            <a:ext cx="2821022" cy="77884"/>
          </a:xfrm>
          <a:prstGeom prst="straightConnector1">
            <a:avLst/>
          </a:prstGeom>
          <a:ln w="5715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84E1E867-4BA2-8144-6F07-FC8CD44B28A4}"/>
              </a:ext>
            </a:extLst>
          </p:cNvPr>
          <p:cNvSpPr txBox="1"/>
          <p:nvPr/>
        </p:nvSpPr>
        <p:spPr>
          <a:xfrm>
            <a:off x="9406646" y="2177241"/>
            <a:ext cx="2785353" cy="2308324"/>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x and y coordinates of the Gaussian center are randomly generated within the boundaries defined by the margin. This ensures the center is not too close to the edges of the image.</a:t>
            </a:r>
            <a:endParaRPr lang="he-IL" dirty="0"/>
          </a:p>
        </p:txBody>
      </p:sp>
      <p:cxnSp>
        <p:nvCxnSpPr>
          <p:cNvPr id="18" name="Straight Arrow Connector 17">
            <a:extLst>
              <a:ext uri="{FF2B5EF4-FFF2-40B4-BE49-F238E27FC236}">
                <a16:creationId xmlns:a16="http://schemas.microsoft.com/office/drawing/2014/main" id="{9A09797F-DEA0-17DF-1CEC-356B91C08AFD}"/>
              </a:ext>
            </a:extLst>
          </p:cNvPr>
          <p:cNvCxnSpPr>
            <a:cxnSpLocks/>
          </p:cNvCxnSpPr>
          <p:nvPr/>
        </p:nvCxnSpPr>
        <p:spPr>
          <a:xfrm flipH="1" flipV="1">
            <a:off x="7266562" y="2504997"/>
            <a:ext cx="2140083" cy="43394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873E8025-542C-D839-65E2-2C95AF3ABE97}"/>
              </a:ext>
            </a:extLst>
          </p:cNvPr>
          <p:cNvSpPr txBox="1"/>
          <p:nvPr/>
        </p:nvSpPr>
        <p:spPr>
          <a:xfrm>
            <a:off x="6812817" y="4500555"/>
            <a:ext cx="5379182"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This function call calculates the Euclidean distance between the newly proposed Gaussian center (X, Y) and each previously placed Gaussian center.</a:t>
            </a:r>
            <a:endParaRPr lang="he-IL" dirty="0"/>
          </a:p>
        </p:txBody>
      </p:sp>
      <p:cxnSp>
        <p:nvCxnSpPr>
          <p:cNvPr id="23" name="Straight Arrow Connector 22">
            <a:extLst>
              <a:ext uri="{FF2B5EF4-FFF2-40B4-BE49-F238E27FC236}">
                <a16:creationId xmlns:a16="http://schemas.microsoft.com/office/drawing/2014/main" id="{2CA1EBA2-063E-FE81-8120-14B54D2ABDC5}"/>
              </a:ext>
            </a:extLst>
          </p:cNvPr>
          <p:cNvCxnSpPr>
            <a:cxnSpLocks/>
          </p:cNvCxnSpPr>
          <p:nvPr/>
        </p:nvCxnSpPr>
        <p:spPr>
          <a:xfrm flipH="1" flipV="1">
            <a:off x="5058383" y="3784060"/>
            <a:ext cx="1754434" cy="716495"/>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25D727FC-E47D-2D3E-6C6C-B429ECC9F1EA}"/>
              </a:ext>
            </a:extLst>
          </p:cNvPr>
          <p:cNvSpPr txBox="1"/>
          <p:nvPr/>
        </p:nvSpPr>
        <p:spPr>
          <a:xfrm>
            <a:off x="7266562" y="5494049"/>
            <a:ext cx="4902741"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This function call draws a Gaussian distribution centered at (X, Y) on the ProccesIMG image.</a:t>
            </a:r>
            <a:endParaRPr lang="he-IL" dirty="0"/>
          </a:p>
        </p:txBody>
      </p:sp>
      <p:cxnSp>
        <p:nvCxnSpPr>
          <p:cNvPr id="27" name="Straight Arrow Connector 26">
            <a:extLst>
              <a:ext uri="{FF2B5EF4-FFF2-40B4-BE49-F238E27FC236}">
                <a16:creationId xmlns:a16="http://schemas.microsoft.com/office/drawing/2014/main" id="{D1C9E61F-8995-8AEA-1EE0-8D92A1A667F1}"/>
              </a:ext>
            </a:extLst>
          </p:cNvPr>
          <p:cNvCxnSpPr>
            <a:cxnSpLocks/>
          </p:cNvCxnSpPr>
          <p:nvPr/>
        </p:nvCxnSpPr>
        <p:spPr>
          <a:xfrm flipH="1" flipV="1">
            <a:off x="5573949" y="5661498"/>
            <a:ext cx="1692613" cy="155716"/>
          </a:xfrm>
          <a:prstGeom prst="straightConnector1">
            <a:avLst/>
          </a:prstGeom>
          <a:ln w="57150">
            <a:solidFill>
              <a:schemeClr val="tx2">
                <a:lumMod val="90000"/>
                <a:lumOff val="1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0719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12102" y="0"/>
            <a:ext cx="479898" cy="365125"/>
          </a:xfrm>
        </p:spPr>
        <p:txBody>
          <a:bodyPr/>
          <a:lstStyle/>
          <a:p>
            <a:fld id="{81122904-1B5F-4679-B3DC-5E87602DE7DA}" type="slidenum">
              <a:rPr lang="he-IL" sz="1400" smtClean="0"/>
              <a:t>20</a:t>
            </a:fld>
            <a:endParaRPr lang="he-IL" sz="1400"/>
          </a:p>
        </p:txBody>
      </p:sp>
      <p:sp>
        <p:nvSpPr>
          <p:cNvPr id="2" name="Title 1">
            <a:extLst>
              <a:ext uri="{FF2B5EF4-FFF2-40B4-BE49-F238E27FC236}">
                <a16:creationId xmlns:a16="http://schemas.microsoft.com/office/drawing/2014/main" id="{DC114CE1-A49C-EEA1-DB18-BE50C189E751}"/>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3</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6" name="Picture 5">
            <a:extLst>
              <a:ext uri="{FF2B5EF4-FFF2-40B4-BE49-F238E27FC236}">
                <a16:creationId xmlns:a16="http://schemas.microsoft.com/office/drawing/2014/main" id="{8127961F-3968-8096-0016-73D8B6397C68}"/>
              </a:ext>
            </a:extLst>
          </p:cNvPr>
          <p:cNvPicPr>
            <a:picLocks noChangeAspect="1"/>
          </p:cNvPicPr>
          <p:nvPr/>
        </p:nvPicPr>
        <p:blipFill>
          <a:blip r:embed="rId2"/>
          <a:stretch>
            <a:fillRect/>
          </a:stretch>
        </p:blipFill>
        <p:spPr>
          <a:xfrm>
            <a:off x="0" y="1209168"/>
            <a:ext cx="9572625" cy="3933825"/>
          </a:xfrm>
          <a:prstGeom prst="rect">
            <a:avLst/>
          </a:prstGeom>
        </p:spPr>
      </p:pic>
      <p:sp>
        <p:nvSpPr>
          <p:cNvPr id="9" name="TextBox 8">
            <a:extLst>
              <a:ext uri="{FF2B5EF4-FFF2-40B4-BE49-F238E27FC236}">
                <a16:creationId xmlns:a16="http://schemas.microsoft.com/office/drawing/2014/main" id="{530D2467-F8BC-909C-1BCB-14A47192F8BE}"/>
              </a:ext>
            </a:extLst>
          </p:cNvPr>
          <p:cNvSpPr txBox="1"/>
          <p:nvPr/>
        </p:nvSpPr>
        <p:spPr>
          <a:xfrm>
            <a:off x="1536971" y="466927"/>
            <a:ext cx="8151778"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This part of the main function deals with creating and processing a Gaussian image, applying a threshold, and counting elements within the image.</a:t>
            </a:r>
            <a:endParaRPr lang="he-IL" b="1" dirty="0"/>
          </a:p>
        </p:txBody>
      </p:sp>
      <p:sp>
        <p:nvSpPr>
          <p:cNvPr id="11" name="TextBox 10">
            <a:extLst>
              <a:ext uri="{FF2B5EF4-FFF2-40B4-BE49-F238E27FC236}">
                <a16:creationId xmlns:a16="http://schemas.microsoft.com/office/drawing/2014/main" id="{09F5811D-B937-2B20-69CE-A8364FB6238E}"/>
              </a:ext>
            </a:extLst>
          </p:cNvPr>
          <p:cNvSpPr txBox="1"/>
          <p:nvPr/>
        </p:nvSpPr>
        <p:spPr>
          <a:xfrm>
            <a:off x="8245813" y="3335850"/>
            <a:ext cx="3946187"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This function counts the number of elements (objects) within the specified ROI of the gaussian image.</a:t>
            </a:r>
          </a:p>
          <a:p>
            <a:r>
              <a:rPr lang="en-US" dirty="0"/>
              <a:t>And the same for </a:t>
            </a:r>
            <a:r>
              <a:rPr lang="en-US" dirty="0" err="1"/>
              <a:t>th</a:t>
            </a:r>
            <a:r>
              <a:rPr lang="en-US" dirty="0"/>
              <a:t> </a:t>
            </a:r>
            <a:r>
              <a:rPr lang="en-US" dirty="0" err="1"/>
              <a:t>processIMG</a:t>
            </a:r>
            <a:endParaRPr lang="he-IL" dirty="0"/>
          </a:p>
        </p:txBody>
      </p:sp>
      <p:cxnSp>
        <p:nvCxnSpPr>
          <p:cNvPr id="13" name="Straight Arrow Connector 12">
            <a:extLst>
              <a:ext uri="{FF2B5EF4-FFF2-40B4-BE49-F238E27FC236}">
                <a16:creationId xmlns:a16="http://schemas.microsoft.com/office/drawing/2014/main" id="{CA406A53-3AF8-DBE1-6A6E-1944A91E0F48}"/>
              </a:ext>
            </a:extLst>
          </p:cNvPr>
          <p:cNvCxnSpPr>
            <a:cxnSpLocks/>
          </p:cNvCxnSpPr>
          <p:nvPr/>
        </p:nvCxnSpPr>
        <p:spPr>
          <a:xfrm flipH="1">
            <a:off x="6498077" y="4085617"/>
            <a:ext cx="1747736" cy="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CB95926-ADA5-99BC-1777-EE2AA390FA8F}"/>
              </a:ext>
            </a:extLst>
          </p:cNvPr>
          <p:cNvSpPr txBox="1"/>
          <p:nvPr/>
        </p:nvSpPr>
        <p:spPr>
          <a:xfrm>
            <a:off x="4533090" y="5784044"/>
            <a:ext cx="7612272"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This division gives an estimate of how many Gaussian-like elements are present in the processed image by comparing the total element count in the processed image to the count in the Gaussian image (a single gaussian)</a:t>
            </a:r>
            <a:endParaRPr lang="he-IL" dirty="0"/>
          </a:p>
        </p:txBody>
      </p:sp>
      <p:cxnSp>
        <p:nvCxnSpPr>
          <p:cNvPr id="18" name="Straight Arrow Connector 17">
            <a:extLst>
              <a:ext uri="{FF2B5EF4-FFF2-40B4-BE49-F238E27FC236}">
                <a16:creationId xmlns:a16="http://schemas.microsoft.com/office/drawing/2014/main" id="{01A79C75-1ACF-988B-B864-7A3C93DCE2F0}"/>
              </a:ext>
            </a:extLst>
          </p:cNvPr>
          <p:cNvCxnSpPr>
            <a:cxnSpLocks/>
            <a:endCxn id="6" idx="2"/>
          </p:cNvCxnSpPr>
          <p:nvPr/>
        </p:nvCxnSpPr>
        <p:spPr>
          <a:xfrm flipH="1" flipV="1">
            <a:off x="4786313" y="5142993"/>
            <a:ext cx="353515" cy="673358"/>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90A3238-3019-7890-3F41-6F8175C5101B}"/>
              </a:ext>
            </a:extLst>
          </p:cNvPr>
          <p:cNvCxnSpPr>
            <a:cxnSpLocks/>
          </p:cNvCxnSpPr>
          <p:nvPr/>
        </p:nvCxnSpPr>
        <p:spPr>
          <a:xfrm flipH="1">
            <a:off x="6303523" y="4484298"/>
            <a:ext cx="1942290" cy="223889"/>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431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76CA353-B1E8-B918-0FF4-43AF19664D55}"/>
              </a:ext>
            </a:extLst>
          </p:cNvPr>
          <p:cNvPicPr>
            <a:picLocks noChangeAspect="1"/>
          </p:cNvPicPr>
          <p:nvPr/>
        </p:nvPicPr>
        <p:blipFill>
          <a:blip r:embed="rId2"/>
          <a:stretch>
            <a:fillRect/>
          </a:stretch>
        </p:blipFill>
        <p:spPr>
          <a:xfrm>
            <a:off x="-96560" y="1952535"/>
            <a:ext cx="8798052" cy="3196985"/>
          </a:xfrm>
          <a:prstGeom prst="rect">
            <a:avLst/>
          </a:prstGeom>
        </p:spPr>
      </p:pic>
      <p:sp>
        <p:nvSpPr>
          <p:cNvPr id="4" name="Slide Number Placeholder 3">
            <a:extLst>
              <a:ext uri="{FF2B5EF4-FFF2-40B4-BE49-F238E27FC236}">
                <a16:creationId xmlns:a16="http://schemas.microsoft.com/office/drawing/2014/main" id="{FB6BD66D-4B38-DA51-8DEE-1F578C110029}"/>
              </a:ext>
            </a:extLst>
          </p:cNvPr>
          <p:cNvSpPr>
            <a:spLocks noGrp="1"/>
          </p:cNvSpPr>
          <p:nvPr>
            <p:ph type="sldNum" sz="quarter" idx="12"/>
          </p:nvPr>
        </p:nvSpPr>
        <p:spPr>
          <a:xfrm>
            <a:off x="11658600" y="6492875"/>
            <a:ext cx="533400" cy="365125"/>
          </a:xfrm>
        </p:spPr>
        <p:txBody>
          <a:bodyPr/>
          <a:lstStyle/>
          <a:p>
            <a:fld id="{81122904-1B5F-4679-B3DC-5E87602DE7DA}" type="slidenum">
              <a:rPr lang="he-IL" sz="1400" smtClean="0"/>
              <a:t>21</a:t>
            </a:fld>
            <a:endParaRPr lang="he-IL" sz="1400"/>
          </a:p>
        </p:txBody>
      </p:sp>
      <p:sp>
        <p:nvSpPr>
          <p:cNvPr id="5" name="Title 1">
            <a:extLst>
              <a:ext uri="{FF2B5EF4-FFF2-40B4-BE49-F238E27FC236}">
                <a16:creationId xmlns:a16="http://schemas.microsoft.com/office/drawing/2014/main" id="{DA8503FF-6374-C95C-B95F-84B9DC653EA5}"/>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4</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197D32BA-F3D8-349C-23D7-73E564F9DC97}"/>
              </a:ext>
            </a:extLst>
          </p:cNvPr>
          <p:cNvSpPr txBox="1"/>
          <p:nvPr/>
        </p:nvSpPr>
        <p:spPr>
          <a:xfrm>
            <a:off x="1378084" y="724631"/>
            <a:ext cx="9435829"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This part of the “main” is focused on loading an image, determining the threshold and applying it. Finally the image after threshold has been applied is saved as Image242.bmp </a:t>
            </a:r>
            <a:endParaRPr lang="he-IL" b="1" dirty="0"/>
          </a:p>
        </p:txBody>
      </p:sp>
      <p:sp>
        <p:nvSpPr>
          <p:cNvPr id="10" name="TextBox 9">
            <a:extLst>
              <a:ext uri="{FF2B5EF4-FFF2-40B4-BE49-F238E27FC236}">
                <a16:creationId xmlns:a16="http://schemas.microsoft.com/office/drawing/2014/main" id="{6E6C50DD-BE62-4674-974B-2952023C4EC6}"/>
              </a:ext>
            </a:extLst>
          </p:cNvPr>
          <p:cNvSpPr txBox="1"/>
          <p:nvPr/>
        </p:nvSpPr>
        <p:spPr>
          <a:xfrm>
            <a:off x="8180961" y="1708480"/>
            <a:ext cx="4011039" cy="1477328"/>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a:t>
            </a:r>
            <a:r>
              <a:rPr lang="en-US" b="1" dirty="0"/>
              <a:t>CalculateOtsuThreshold</a:t>
            </a:r>
            <a:r>
              <a:rPr lang="en-US" dirty="0"/>
              <a:t> function automatically determines an optimal threshold value for converting the grayscale image into a binary image (black and white) using Otsu's method.</a:t>
            </a:r>
            <a:endParaRPr lang="he-IL" dirty="0"/>
          </a:p>
        </p:txBody>
      </p:sp>
      <p:cxnSp>
        <p:nvCxnSpPr>
          <p:cNvPr id="11" name="Straight Arrow Connector 10">
            <a:extLst>
              <a:ext uri="{FF2B5EF4-FFF2-40B4-BE49-F238E27FC236}">
                <a16:creationId xmlns:a16="http://schemas.microsoft.com/office/drawing/2014/main" id="{0145F9D2-F9F8-E436-F0E2-C8B0F5A39C3D}"/>
              </a:ext>
            </a:extLst>
          </p:cNvPr>
          <p:cNvCxnSpPr>
            <a:cxnSpLocks/>
          </p:cNvCxnSpPr>
          <p:nvPr/>
        </p:nvCxnSpPr>
        <p:spPr>
          <a:xfrm flipH="1">
            <a:off x="4905955" y="2447144"/>
            <a:ext cx="3275006" cy="327861"/>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4D313CA-D8D1-D9C4-3FB5-06C04F484FF1}"/>
              </a:ext>
            </a:extLst>
          </p:cNvPr>
          <p:cNvSpPr txBox="1"/>
          <p:nvPr/>
        </p:nvSpPr>
        <p:spPr>
          <a:xfrm>
            <a:off x="8249054" y="3210528"/>
            <a:ext cx="3942945" cy="1200329"/>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Initializes the lookup table (LUT) using the threshold value calculated by Otsu's method. pixels below the threshold should be set to black (0)</a:t>
            </a:r>
            <a:endParaRPr lang="he-IL" dirty="0"/>
          </a:p>
        </p:txBody>
      </p:sp>
      <p:cxnSp>
        <p:nvCxnSpPr>
          <p:cNvPr id="17" name="Straight Arrow Connector 16">
            <a:extLst>
              <a:ext uri="{FF2B5EF4-FFF2-40B4-BE49-F238E27FC236}">
                <a16:creationId xmlns:a16="http://schemas.microsoft.com/office/drawing/2014/main" id="{A57A23DB-50F6-B490-DA9A-E22498AAABD9}"/>
              </a:ext>
            </a:extLst>
          </p:cNvPr>
          <p:cNvCxnSpPr>
            <a:cxnSpLocks/>
          </p:cNvCxnSpPr>
          <p:nvPr/>
        </p:nvCxnSpPr>
        <p:spPr>
          <a:xfrm flipH="1" flipV="1">
            <a:off x="4815191" y="3415046"/>
            <a:ext cx="3433863" cy="218514"/>
          </a:xfrm>
          <a:prstGeom prst="straightConnector1">
            <a:avLst/>
          </a:prstGeom>
          <a:ln w="5715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2E9CEF36-D097-25DD-2026-C2AA426C25B9}"/>
              </a:ext>
            </a:extLst>
          </p:cNvPr>
          <p:cNvPicPr>
            <a:picLocks noChangeAspect="1"/>
          </p:cNvPicPr>
          <p:nvPr/>
        </p:nvPicPr>
        <p:blipFill>
          <a:blip r:embed="rId3"/>
          <a:stretch>
            <a:fillRect/>
          </a:stretch>
        </p:blipFill>
        <p:spPr>
          <a:xfrm>
            <a:off x="8971033" y="4529731"/>
            <a:ext cx="2212352" cy="2212352"/>
          </a:xfrm>
          <a:prstGeom prst="rect">
            <a:avLst/>
          </a:prstGeom>
        </p:spPr>
      </p:pic>
      <p:sp>
        <p:nvSpPr>
          <p:cNvPr id="16" name="TextBox 15">
            <a:extLst>
              <a:ext uri="{FF2B5EF4-FFF2-40B4-BE49-F238E27FC236}">
                <a16:creationId xmlns:a16="http://schemas.microsoft.com/office/drawing/2014/main" id="{2016AE7E-74E7-3A27-7D86-2CC76987554D}"/>
              </a:ext>
            </a:extLst>
          </p:cNvPr>
          <p:cNvSpPr txBox="1"/>
          <p:nvPr/>
        </p:nvSpPr>
        <p:spPr>
          <a:xfrm>
            <a:off x="166002" y="5590364"/>
            <a:ext cx="8272928"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size of threshold was determined by examine the size of our elements.</a:t>
            </a:r>
          </a:p>
          <a:p>
            <a:r>
              <a:rPr lang="en-US" dirty="0"/>
              <a:t>We can see from image of the program’s buffer that the max size is 1772 while the min size is 1 pixel. Base of the knowledge of academic student and without using machine learning algorithms this threshold need to be inserted manually.</a:t>
            </a:r>
            <a:endParaRPr lang="he-IL" dirty="0"/>
          </a:p>
        </p:txBody>
      </p:sp>
      <p:sp>
        <p:nvSpPr>
          <p:cNvPr id="2" name="Arrow: Bent 1">
            <a:extLst>
              <a:ext uri="{FF2B5EF4-FFF2-40B4-BE49-F238E27FC236}">
                <a16:creationId xmlns:a16="http://schemas.microsoft.com/office/drawing/2014/main" id="{E1E1D299-BE80-7AF4-C6BA-2D8941D1C549}"/>
              </a:ext>
            </a:extLst>
          </p:cNvPr>
          <p:cNvSpPr/>
          <p:nvPr/>
        </p:nvSpPr>
        <p:spPr>
          <a:xfrm>
            <a:off x="513462" y="4567629"/>
            <a:ext cx="369454" cy="1022735"/>
          </a:xfrm>
          <a:prstGeom prst="bentArrow">
            <a:avLst/>
          </a:prstGeom>
        </p:spPr>
        <p:style>
          <a:lnRef idx="0">
            <a:schemeClr val="accent5"/>
          </a:lnRef>
          <a:fillRef idx="3">
            <a:schemeClr val="accent5"/>
          </a:fillRef>
          <a:effectRef idx="3">
            <a:schemeClr val="accent5"/>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3341753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FADF172-A63F-8CC7-B4EA-BA50FB6B1D13}"/>
              </a:ext>
            </a:extLst>
          </p:cNvPr>
          <p:cNvPicPr>
            <a:picLocks noChangeAspect="1"/>
          </p:cNvPicPr>
          <p:nvPr/>
        </p:nvPicPr>
        <p:blipFill>
          <a:blip r:embed="rId2"/>
          <a:stretch>
            <a:fillRect/>
          </a:stretch>
        </p:blipFill>
        <p:spPr>
          <a:xfrm>
            <a:off x="0" y="595077"/>
            <a:ext cx="7800055" cy="6181916"/>
          </a:xfrm>
          <a:prstGeom prst="rect">
            <a:avLst/>
          </a:prstGeom>
        </p:spPr>
      </p:pic>
      <p:sp>
        <p:nvSpPr>
          <p:cNvPr id="4" name="Slide Number Placeholder 3">
            <a:extLst>
              <a:ext uri="{FF2B5EF4-FFF2-40B4-BE49-F238E27FC236}">
                <a16:creationId xmlns:a16="http://schemas.microsoft.com/office/drawing/2014/main" id="{FB6BD66D-4B38-DA51-8DEE-1F578C110029}"/>
              </a:ext>
            </a:extLst>
          </p:cNvPr>
          <p:cNvSpPr>
            <a:spLocks noGrp="1"/>
          </p:cNvSpPr>
          <p:nvPr>
            <p:ph type="sldNum" sz="quarter" idx="12"/>
          </p:nvPr>
        </p:nvSpPr>
        <p:spPr>
          <a:xfrm>
            <a:off x="11658600" y="6492875"/>
            <a:ext cx="533400" cy="365125"/>
          </a:xfrm>
        </p:spPr>
        <p:txBody>
          <a:bodyPr/>
          <a:lstStyle/>
          <a:p>
            <a:fld id="{81122904-1B5F-4679-B3DC-5E87602DE7DA}" type="slidenum">
              <a:rPr lang="he-IL" sz="1400" smtClean="0"/>
              <a:t>22</a:t>
            </a:fld>
            <a:endParaRPr lang="he-IL" sz="1400"/>
          </a:p>
        </p:txBody>
      </p:sp>
      <p:sp>
        <p:nvSpPr>
          <p:cNvPr id="5" name="Title 1">
            <a:extLst>
              <a:ext uri="{FF2B5EF4-FFF2-40B4-BE49-F238E27FC236}">
                <a16:creationId xmlns:a16="http://schemas.microsoft.com/office/drawing/2014/main" id="{DA8503FF-6374-C95C-B95F-84B9DC653EA5}"/>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5</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8" name="TextBox 7">
            <a:extLst>
              <a:ext uri="{FF2B5EF4-FFF2-40B4-BE49-F238E27FC236}">
                <a16:creationId xmlns:a16="http://schemas.microsoft.com/office/drawing/2014/main" id="{6082A04C-32B9-A2EF-AA8B-192612161185}"/>
              </a:ext>
            </a:extLst>
          </p:cNvPr>
          <p:cNvSpPr txBox="1"/>
          <p:nvPr/>
        </p:nvSpPr>
        <p:spPr>
          <a:xfrm>
            <a:off x="7116595" y="1551959"/>
            <a:ext cx="5075405"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region of interest (MyROI) is set to the current pixel being processed. This essentially defines a 1x1 pixel area around the current pixel.</a:t>
            </a:r>
            <a:endParaRPr lang="he-IL" dirty="0"/>
          </a:p>
        </p:txBody>
      </p:sp>
      <p:cxnSp>
        <p:nvCxnSpPr>
          <p:cNvPr id="9" name="Straight Arrow Connector 8">
            <a:extLst>
              <a:ext uri="{FF2B5EF4-FFF2-40B4-BE49-F238E27FC236}">
                <a16:creationId xmlns:a16="http://schemas.microsoft.com/office/drawing/2014/main" id="{C40F76F2-5F7A-A82E-A730-EAFC305339CC}"/>
              </a:ext>
            </a:extLst>
          </p:cNvPr>
          <p:cNvCxnSpPr>
            <a:cxnSpLocks/>
          </p:cNvCxnSpPr>
          <p:nvPr/>
        </p:nvCxnSpPr>
        <p:spPr>
          <a:xfrm flipH="1" flipV="1">
            <a:off x="3954162" y="1672281"/>
            <a:ext cx="3162433" cy="341343"/>
          </a:xfrm>
          <a:prstGeom prst="straightConnector1">
            <a:avLst/>
          </a:prstGeom>
          <a:ln w="5715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Right Brace 10">
            <a:extLst>
              <a:ext uri="{FF2B5EF4-FFF2-40B4-BE49-F238E27FC236}">
                <a16:creationId xmlns:a16="http://schemas.microsoft.com/office/drawing/2014/main" id="{66C8D71B-6F3C-79D2-CA67-7D7DFC702C40}"/>
              </a:ext>
            </a:extLst>
          </p:cNvPr>
          <p:cNvSpPr/>
          <p:nvPr/>
        </p:nvSpPr>
        <p:spPr>
          <a:xfrm>
            <a:off x="3428869" y="1492956"/>
            <a:ext cx="525293" cy="699991"/>
          </a:xfrm>
          <a:prstGeom prst="rightBrace">
            <a:avLst/>
          </a:prstGeom>
          <a:ln w="5715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txBody>
          <a:bodyPr rtlCol="1" anchor="ctr"/>
          <a:lstStyle/>
          <a:p>
            <a:pPr algn="ctr"/>
            <a:endParaRPr lang="he-IL"/>
          </a:p>
        </p:txBody>
      </p:sp>
      <p:sp>
        <p:nvSpPr>
          <p:cNvPr id="14" name="TextBox 13">
            <a:extLst>
              <a:ext uri="{FF2B5EF4-FFF2-40B4-BE49-F238E27FC236}">
                <a16:creationId xmlns:a16="http://schemas.microsoft.com/office/drawing/2014/main" id="{0639090E-1737-1BAD-B4C6-578885C4E54C}"/>
              </a:ext>
            </a:extLst>
          </p:cNvPr>
          <p:cNvSpPr txBox="1"/>
          <p:nvPr/>
        </p:nvSpPr>
        <p:spPr>
          <a:xfrm>
            <a:off x="7116595" y="5130248"/>
            <a:ext cx="5075405" cy="64633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This prevents counting very small elements that might be noise or irrelevant details.</a:t>
            </a:r>
            <a:endParaRPr lang="he-IL" dirty="0"/>
          </a:p>
        </p:txBody>
      </p:sp>
      <p:cxnSp>
        <p:nvCxnSpPr>
          <p:cNvPr id="16" name="Straight Arrow Connector 15">
            <a:extLst>
              <a:ext uri="{FF2B5EF4-FFF2-40B4-BE49-F238E27FC236}">
                <a16:creationId xmlns:a16="http://schemas.microsoft.com/office/drawing/2014/main" id="{02F33D79-087C-7C66-D576-46CA7742F1FB}"/>
              </a:ext>
            </a:extLst>
          </p:cNvPr>
          <p:cNvCxnSpPr>
            <a:cxnSpLocks/>
          </p:cNvCxnSpPr>
          <p:nvPr/>
        </p:nvCxnSpPr>
        <p:spPr>
          <a:xfrm flipH="1" flipV="1">
            <a:off x="5075406" y="4654378"/>
            <a:ext cx="2113334" cy="475870"/>
          </a:xfrm>
          <a:prstGeom prst="straightConnector1">
            <a:avLst/>
          </a:prstGeom>
          <a:ln w="571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935EC881-1163-FBB9-7E96-C8E8CF81015A}"/>
              </a:ext>
            </a:extLst>
          </p:cNvPr>
          <p:cNvSpPr txBox="1"/>
          <p:nvPr/>
        </p:nvSpPr>
        <p:spPr>
          <a:xfrm>
            <a:off x="9286875" y="2525470"/>
            <a:ext cx="2905125" cy="2585323"/>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This function checks if there is an element (connected component) in the region of interest (MyROI). If an element is found, the function returns true and updates </a:t>
            </a:r>
            <a:r>
              <a:rPr lang="en-US" b="1" dirty="0" err="1"/>
              <a:t>element_size</a:t>
            </a:r>
            <a:r>
              <a:rPr lang="en-US" dirty="0"/>
              <a:t> with the size of the element.</a:t>
            </a:r>
            <a:endParaRPr lang="he-IL" dirty="0"/>
          </a:p>
        </p:txBody>
      </p:sp>
      <p:cxnSp>
        <p:nvCxnSpPr>
          <p:cNvPr id="21" name="Straight Arrow Connector 20">
            <a:extLst>
              <a:ext uri="{FF2B5EF4-FFF2-40B4-BE49-F238E27FC236}">
                <a16:creationId xmlns:a16="http://schemas.microsoft.com/office/drawing/2014/main" id="{70CCF923-ACE6-D430-C97E-0E0C740ADD02}"/>
              </a:ext>
            </a:extLst>
          </p:cNvPr>
          <p:cNvCxnSpPr>
            <a:cxnSpLocks/>
          </p:cNvCxnSpPr>
          <p:nvPr/>
        </p:nvCxnSpPr>
        <p:spPr>
          <a:xfrm flipH="1">
            <a:off x="6705600" y="2904052"/>
            <a:ext cx="2581275" cy="10275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13E3FF28-E41F-0B41-BCE1-009DB9AEC166}"/>
              </a:ext>
            </a:extLst>
          </p:cNvPr>
          <p:cNvPicPr>
            <a:picLocks noChangeAspect="1"/>
          </p:cNvPicPr>
          <p:nvPr/>
        </p:nvPicPr>
        <p:blipFill>
          <a:blip r:embed="rId3"/>
          <a:stretch>
            <a:fillRect/>
          </a:stretch>
        </p:blipFill>
        <p:spPr>
          <a:xfrm>
            <a:off x="7957226" y="444013"/>
            <a:ext cx="4124897" cy="528711"/>
          </a:xfrm>
          <a:prstGeom prst="rect">
            <a:avLst/>
          </a:prstGeom>
        </p:spPr>
      </p:pic>
      <p:sp>
        <p:nvSpPr>
          <p:cNvPr id="7" name="TextBox 6">
            <a:extLst>
              <a:ext uri="{FF2B5EF4-FFF2-40B4-BE49-F238E27FC236}">
                <a16:creationId xmlns:a16="http://schemas.microsoft.com/office/drawing/2014/main" id="{EE64FF8F-9C0E-216A-023D-BA75CBE5DB00}"/>
              </a:ext>
            </a:extLst>
          </p:cNvPr>
          <p:cNvSpPr txBox="1"/>
          <p:nvPr/>
        </p:nvSpPr>
        <p:spPr>
          <a:xfrm>
            <a:off x="7957226" y="990927"/>
            <a:ext cx="4247194" cy="58477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t>For search the minimum and maximum size of an </a:t>
            </a:r>
            <a:r>
              <a:rPr lang="en-US" sz="1600" dirty="0" err="1"/>
              <a:t>elment</a:t>
            </a:r>
            <a:r>
              <a:rPr lang="en-US" sz="1600" dirty="0"/>
              <a:t>.</a:t>
            </a:r>
            <a:endParaRPr lang="he-IL" sz="1600" dirty="0"/>
          </a:p>
        </p:txBody>
      </p:sp>
    </p:spTree>
    <p:extLst>
      <p:ext uri="{BB962C8B-B14F-4D97-AF65-F5344CB8AC3E}">
        <p14:creationId xmlns:p14="http://schemas.microsoft.com/office/powerpoint/2010/main" val="472935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DDF340-88FE-4892-EE17-3D1B31C4071B}"/>
              </a:ext>
            </a:extLst>
          </p:cNvPr>
          <p:cNvSpPr>
            <a:spLocks noGrp="1"/>
          </p:cNvSpPr>
          <p:nvPr>
            <p:ph type="sldNum" sz="quarter" idx="12"/>
          </p:nvPr>
        </p:nvSpPr>
        <p:spPr>
          <a:xfrm>
            <a:off x="11639145" y="0"/>
            <a:ext cx="552855" cy="365125"/>
          </a:xfrm>
        </p:spPr>
        <p:txBody>
          <a:bodyPr/>
          <a:lstStyle/>
          <a:p>
            <a:fld id="{81122904-1B5F-4679-B3DC-5E87602DE7DA}" type="slidenum">
              <a:rPr lang="he-IL" sz="1400" smtClean="0"/>
              <a:t>23</a:t>
            </a:fld>
            <a:endParaRPr lang="he-IL" sz="1400"/>
          </a:p>
        </p:txBody>
      </p:sp>
      <p:sp>
        <p:nvSpPr>
          <p:cNvPr id="5" name="Title 1">
            <a:extLst>
              <a:ext uri="{FF2B5EF4-FFF2-40B4-BE49-F238E27FC236}">
                <a16:creationId xmlns:a16="http://schemas.microsoft.com/office/drawing/2014/main" id="{35A7E77F-9A32-5847-434B-11277D0975A8}"/>
              </a:ext>
            </a:extLst>
          </p:cNvPr>
          <p:cNvSpPr txBox="1">
            <a:spLocks/>
          </p:cNvSpPr>
          <p:nvPr/>
        </p:nvSpPr>
        <p:spPr>
          <a:xfrm>
            <a:off x="3123604" y="0"/>
            <a:ext cx="5944792" cy="496111"/>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24.7 </a:t>
            </a:r>
            <a:r>
              <a:rPr lang="en-US" sz="2800" b="1" u="sng" dirty="0">
                <a:solidFill>
                  <a:srgbClr val="0070C0"/>
                </a:solidFill>
                <a:latin typeface="+mn-lt"/>
              </a:rPr>
              <a:t>– flow chart of th</a:t>
            </a:r>
            <a:r>
              <a:rPr lang="en-US" sz="2800" b="1" u="sng" dirty="0">
                <a:solidFill>
                  <a:srgbClr val="0070C0"/>
                </a:solidFill>
              </a:rPr>
              <a:t>e code</a:t>
            </a:r>
            <a:r>
              <a:rPr lang="en-US" sz="2800" b="1" u="sng" dirty="0">
                <a:solidFill>
                  <a:srgbClr val="0070C0"/>
                </a:solidFill>
                <a:latin typeface="+mn-lt"/>
              </a:rPr>
              <a:t>– </a:t>
            </a:r>
            <a:r>
              <a:rPr lang="en-US" sz="2800" b="1" u="sng" dirty="0">
                <a:solidFill>
                  <a:srgbClr val="FF0000"/>
                </a:solidFill>
                <a:latin typeface="+mn-lt"/>
              </a:rPr>
              <a:t>part 1</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6" name="Rectangle 5">
            <a:extLst>
              <a:ext uri="{FF2B5EF4-FFF2-40B4-BE49-F238E27FC236}">
                <a16:creationId xmlns:a16="http://schemas.microsoft.com/office/drawing/2014/main" id="{D623C617-E2C7-038F-C72E-1FA8473EAEC9}"/>
              </a:ext>
            </a:extLst>
          </p:cNvPr>
          <p:cNvSpPr/>
          <p:nvPr/>
        </p:nvSpPr>
        <p:spPr>
          <a:xfrm>
            <a:off x="-13425" y="685206"/>
            <a:ext cx="4080609" cy="3304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LoadGrayImageFromTrueColorBmpFile</a:t>
            </a:r>
            <a:endParaRPr lang="he-IL" dirty="0"/>
          </a:p>
        </p:txBody>
      </p:sp>
      <p:cxnSp>
        <p:nvCxnSpPr>
          <p:cNvPr id="8" name="Straight Arrow Connector 7">
            <a:extLst>
              <a:ext uri="{FF2B5EF4-FFF2-40B4-BE49-F238E27FC236}">
                <a16:creationId xmlns:a16="http://schemas.microsoft.com/office/drawing/2014/main" id="{BB64D1C5-EF84-EF57-7DD1-10F86E6CC362}"/>
              </a:ext>
            </a:extLst>
          </p:cNvPr>
          <p:cNvCxnSpPr>
            <a:cxnSpLocks/>
          </p:cNvCxnSpPr>
          <p:nvPr/>
        </p:nvCxnSpPr>
        <p:spPr>
          <a:xfrm>
            <a:off x="4067186" y="865757"/>
            <a:ext cx="1178668" cy="1"/>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7592AD74-7DB9-A238-0E1E-252369B5EBEA}"/>
              </a:ext>
            </a:extLst>
          </p:cNvPr>
          <p:cNvSpPr/>
          <p:nvPr/>
        </p:nvSpPr>
        <p:spPr>
          <a:xfrm>
            <a:off x="426750" y="11734"/>
            <a:ext cx="2393005" cy="3693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t>Image242_color.bmp</a:t>
            </a:r>
            <a:endParaRPr lang="he-IL"/>
          </a:p>
        </p:txBody>
      </p:sp>
      <p:sp>
        <p:nvSpPr>
          <p:cNvPr id="13" name="TextBox 12">
            <a:extLst>
              <a:ext uri="{FF2B5EF4-FFF2-40B4-BE49-F238E27FC236}">
                <a16:creationId xmlns:a16="http://schemas.microsoft.com/office/drawing/2014/main" id="{D3D1E93E-7E6F-E622-B366-00B02F371F57}"/>
              </a:ext>
            </a:extLst>
          </p:cNvPr>
          <p:cNvSpPr txBox="1"/>
          <p:nvPr/>
        </p:nvSpPr>
        <p:spPr>
          <a:xfrm>
            <a:off x="5219103" y="681091"/>
            <a:ext cx="3314700"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Loaded image into ProccesIMG</a:t>
            </a:r>
            <a:endParaRPr lang="he-IL" dirty="0"/>
          </a:p>
        </p:txBody>
      </p:sp>
      <p:cxnSp>
        <p:nvCxnSpPr>
          <p:cNvPr id="14" name="Straight Arrow Connector 13">
            <a:extLst>
              <a:ext uri="{FF2B5EF4-FFF2-40B4-BE49-F238E27FC236}">
                <a16:creationId xmlns:a16="http://schemas.microsoft.com/office/drawing/2014/main" id="{B08737BD-505D-F516-63C4-8AC5BC69927D}"/>
              </a:ext>
            </a:extLst>
          </p:cNvPr>
          <p:cNvCxnSpPr>
            <a:cxnSpLocks/>
          </p:cNvCxnSpPr>
          <p:nvPr/>
        </p:nvCxnSpPr>
        <p:spPr>
          <a:xfrm>
            <a:off x="1736217" y="357582"/>
            <a:ext cx="3" cy="394524"/>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E18A0A68-FF04-76BB-A449-F1CEBDEF602B}"/>
              </a:ext>
            </a:extLst>
          </p:cNvPr>
          <p:cNvCxnSpPr>
            <a:cxnSpLocks/>
          </p:cNvCxnSpPr>
          <p:nvPr/>
        </p:nvCxnSpPr>
        <p:spPr>
          <a:xfrm flipH="1">
            <a:off x="6876452" y="1050423"/>
            <a:ext cx="1" cy="1167483"/>
          </a:xfrm>
          <a:prstGeom prst="straightConnector1">
            <a:avLst/>
          </a:prstGeom>
          <a:ln w="7620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6BB72AF-C65D-2737-3BD1-7714A94E8159}"/>
              </a:ext>
            </a:extLst>
          </p:cNvPr>
          <p:cNvSpPr txBox="1"/>
          <p:nvPr/>
        </p:nvSpPr>
        <p:spPr>
          <a:xfrm>
            <a:off x="5599623" y="2208258"/>
            <a:ext cx="2632621" cy="369332"/>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CalculateOtsuThreshold</a:t>
            </a:r>
            <a:endParaRPr lang="he-IL" dirty="0"/>
          </a:p>
        </p:txBody>
      </p:sp>
      <p:cxnSp>
        <p:nvCxnSpPr>
          <p:cNvPr id="20" name="Straight Arrow Connector 19">
            <a:extLst>
              <a:ext uri="{FF2B5EF4-FFF2-40B4-BE49-F238E27FC236}">
                <a16:creationId xmlns:a16="http://schemas.microsoft.com/office/drawing/2014/main" id="{F282E3A2-AED0-63F9-84FD-E86D7B5CDDA3}"/>
              </a:ext>
            </a:extLst>
          </p:cNvPr>
          <p:cNvCxnSpPr>
            <a:cxnSpLocks/>
          </p:cNvCxnSpPr>
          <p:nvPr/>
        </p:nvCxnSpPr>
        <p:spPr>
          <a:xfrm>
            <a:off x="8232244" y="2392924"/>
            <a:ext cx="1178668" cy="1"/>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21" name="TextBox 20">
            <a:extLst>
              <a:ext uri="{FF2B5EF4-FFF2-40B4-BE49-F238E27FC236}">
                <a16:creationId xmlns:a16="http://schemas.microsoft.com/office/drawing/2014/main" id="{509A6F2C-3478-5084-BFC1-7F7B9ACA4735}"/>
              </a:ext>
            </a:extLst>
          </p:cNvPr>
          <p:cNvSpPr txBox="1"/>
          <p:nvPr/>
        </p:nvSpPr>
        <p:spPr>
          <a:xfrm>
            <a:off x="9418283" y="2067090"/>
            <a:ext cx="2773717" cy="651667"/>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Output: </a:t>
            </a:r>
            <a:r>
              <a:rPr lang="en-US" b="1" dirty="0"/>
              <a:t>threshold</a:t>
            </a:r>
            <a:r>
              <a:rPr lang="en-US" dirty="0"/>
              <a:t> (optimal threshold value)</a:t>
            </a:r>
            <a:endParaRPr lang="he-IL" dirty="0"/>
          </a:p>
        </p:txBody>
      </p:sp>
      <p:cxnSp>
        <p:nvCxnSpPr>
          <p:cNvPr id="23" name="Straight Arrow Connector 22">
            <a:extLst>
              <a:ext uri="{FF2B5EF4-FFF2-40B4-BE49-F238E27FC236}">
                <a16:creationId xmlns:a16="http://schemas.microsoft.com/office/drawing/2014/main" id="{02832434-9492-445B-9E05-D58EF6887846}"/>
              </a:ext>
            </a:extLst>
          </p:cNvPr>
          <p:cNvCxnSpPr>
            <a:cxnSpLocks/>
          </p:cNvCxnSpPr>
          <p:nvPr/>
        </p:nvCxnSpPr>
        <p:spPr>
          <a:xfrm>
            <a:off x="10805141" y="2718757"/>
            <a:ext cx="0" cy="1201490"/>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28" name="TextBox 27">
            <a:extLst>
              <a:ext uri="{FF2B5EF4-FFF2-40B4-BE49-F238E27FC236}">
                <a16:creationId xmlns:a16="http://schemas.microsoft.com/office/drawing/2014/main" id="{1C6848BE-91D2-1AF8-0F25-3060527F7161}"/>
              </a:ext>
            </a:extLst>
          </p:cNvPr>
          <p:cNvSpPr txBox="1"/>
          <p:nvPr/>
        </p:nvSpPr>
        <p:spPr>
          <a:xfrm>
            <a:off x="9877937" y="3954578"/>
            <a:ext cx="1868714" cy="369332"/>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InitThresholdLUT</a:t>
            </a:r>
            <a:endParaRPr lang="he-IL" dirty="0"/>
          </a:p>
        </p:txBody>
      </p:sp>
      <p:sp>
        <p:nvSpPr>
          <p:cNvPr id="29" name="TextBox 28">
            <a:extLst>
              <a:ext uri="{FF2B5EF4-FFF2-40B4-BE49-F238E27FC236}">
                <a16:creationId xmlns:a16="http://schemas.microsoft.com/office/drawing/2014/main" id="{393A7EB6-24BF-BD04-7C6E-867D0B5702A9}"/>
              </a:ext>
            </a:extLst>
          </p:cNvPr>
          <p:cNvSpPr txBox="1"/>
          <p:nvPr/>
        </p:nvSpPr>
        <p:spPr>
          <a:xfrm>
            <a:off x="6907091" y="1439609"/>
            <a:ext cx="826851" cy="369332"/>
          </a:xfrm>
          <a:prstGeom prst="rect">
            <a:avLst/>
          </a:prstGeom>
          <a:noFill/>
        </p:spPr>
        <p:txBody>
          <a:bodyPr wrap="square" rtlCol="1">
            <a:spAutoFit/>
          </a:bodyPr>
          <a:lstStyle/>
          <a:p>
            <a:r>
              <a:rPr lang="en-US" dirty="0"/>
              <a:t>input</a:t>
            </a:r>
            <a:endParaRPr lang="he-IL" dirty="0"/>
          </a:p>
        </p:txBody>
      </p:sp>
      <p:sp>
        <p:nvSpPr>
          <p:cNvPr id="30" name="TextBox 29">
            <a:extLst>
              <a:ext uri="{FF2B5EF4-FFF2-40B4-BE49-F238E27FC236}">
                <a16:creationId xmlns:a16="http://schemas.microsoft.com/office/drawing/2014/main" id="{47BDC091-63C9-967E-0D6D-DCAA5E2536A1}"/>
              </a:ext>
            </a:extLst>
          </p:cNvPr>
          <p:cNvSpPr txBox="1"/>
          <p:nvPr/>
        </p:nvSpPr>
        <p:spPr>
          <a:xfrm>
            <a:off x="961169" y="329903"/>
            <a:ext cx="826851" cy="369332"/>
          </a:xfrm>
          <a:prstGeom prst="rect">
            <a:avLst/>
          </a:prstGeom>
          <a:noFill/>
        </p:spPr>
        <p:txBody>
          <a:bodyPr wrap="square" rtlCol="1">
            <a:spAutoFit/>
          </a:bodyPr>
          <a:lstStyle/>
          <a:p>
            <a:r>
              <a:rPr lang="en-US" dirty="0"/>
              <a:t>input</a:t>
            </a:r>
            <a:endParaRPr lang="he-IL" dirty="0"/>
          </a:p>
        </p:txBody>
      </p:sp>
      <p:sp>
        <p:nvSpPr>
          <p:cNvPr id="31" name="TextBox 30">
            <a:extLst>
              <a:ext uri="{FF2B5EF4-FFF2-40B4-BE49-F238E27FC236}">
                <a16:creationId xmlns:a16="http://schemas.microsoft.com/office/drawing/2014/main" id="{7AC7E41B-DE9D-69C5-4843-BF5F7A745158}"/>
              </a:ext>
            </a:extLst>
          </p:cNvPr>
          <p:cNvSpPr txBox="1"/>
          <p:nvPr/>
        </p:nvSpPr>
        <p:spPr>
          <a:xfrm>
            <a:off x="10812294" y="3059668"/>
            <a:ext cx="826851" cy="369332"/>
          </a:xfrm>
          <a:prstGeom prst="rect">
            <a:avLst/>
          </a:prstGeom>
          <a:noFill/>
        </p:spPr>
        <p:txBody>
          <a:bodyPr wrap="square" rtlCol="1">
            <a:spAutoFit/>
          </a:bodyPr>
          <a:lstStyle/>
          <a:p>
            <a:r>
              <a:rPr lang="en-US" dirty="0"/>
              <a:t>input</a:t>
            </a:r>
            <a:endParaRPr lang="he-IL" dirty="0"/>
          </a:p>
        </p:txBody>
      </p:sp>
      <p:cxnSp>
        <p:nvCxnSpPr>
          <p:cNvPr id="32" name="Straight Arrow Connector 31">
            <a:extLst>
              <a:ext uri="{FF2B5EF4-FFF2-40B4-BE49-F238E27FC236}">
                <a16:creationId xmlns:a16="http://schemas.microsoft.com/office/drawing/2014/main" id="{BFEB87F2-6EFD-400D-B185-0B37E7F5413A}"/>
              </a:ext>
            </a:extLst>
          </p:cNvPr>
          <p:cNvCxnSpPr>
            <a:cxnSpLocks/>
          </p:cNvCxnSpPr>
          <p:nvPr/>
        </p:nvCxnSpPr>
        <p:spPr>
          <a:xfrm>
            <a:off x="8426799" y="4139244"/>
            <a:ext cx="1404979" cy="0"/>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sp>
        <p:nvSpPr>
          <p:cNvPr id="34" name="TextBox 33">
            <a:extLst>
              <a:ext uri="{FF2B5EF4-FFF2-40B4-BE49-F238E27FC236}">
                <a16:creationId xmlns:a16="http://schemas.microsoft.com/office/drawing/2014/main" id="{CAF0E591-BC53-7ADE-D69C-1030FEA1D02A}"/>
              </a:ext>
            </a:extLst>
          </p:cNvPr>
          <p:cNvSpPr txBox="1"/>
          <p:nvPr/>
        </p:nvSpPr>
        <p:spPr>
          <a:xfrm>
            <a:off x="8771083" y="3769912"/>
            <a:ext cx="826851" cy="369332"/>
          </a:xfrm>
          <a:prstGeom prst="rect">
            <a:avLst/>
          </a:prstGeom>
          <a:noFill/>
        </p:spPr>
        <p:txBody>
          <a:bodyPr wrap="square" rtlCol="1">
            <a:spAutoFit/>
          </a:bodyPr>
          <a:lstStyle/>
          <a:p>
            <a:r>
              <a:rPr lang="en-US" dirty="0"/>
              <a:t>input</a:t>
            </a:r>
            <a:endParaRPr lang="he-IL" dirty="0"/>
          </a:p>
        </p:txBody>
      </p:sp>
      <p:sp>
        <p:nvSpPr>
          <p:cNvPr id="35" name="TextBox 34">
            <a:extLst>
              <a:ext uri="{FF2B5EF4-FFF2-40B4-BE49-F238E27FC236}">
                <a16:creationId xmlns:a16="http://schemas.microsoft.com/office/drawing/2014/main" id="{C768D338-1FA3-9C4F-841B-57F6877134A7}"/>
              </a:ext>
            </a:extLst>
          </p:cNvPr>
          <p:cNvSpPr txBox="1"/>
          <p:nvPr/>
        </p:nvSpPr>
        <p:spPr>
          <a:xfrm>
            <a:off x="6511926" y="3959631"/>
            <a:ext cx="1868714" cy="369332"/>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Empty LUT [256]</a:t>
            </a:r>
            <a:endParaRPr lang="he-IL" dirty="0"/>
          </a:p>
        </p:txBody>
      </p:sp>
      <p:cxnSp>
        <p:nvCxnSpPr>
          <p:cNvPr id="36" name="Straight Arrow Connector 35">
            <a:extLst>
              <a:ext uri="{FF2B5EF4-FFF2-40B4-BE49-F238E27FC236}">
                <a16:creationId xmlns:a16="http://schemas.microsoft.com/office/drawing/2014/main" id="{86920E30-A693-BC28-4A49-F7484C468CB1}"/>
              </a:ext>
            </a:extLst>
          </p:cNvPr>
          <p:cNvCxnSpPr>
            <a:cxnSpLocks/>
          </p:cNvCxnSpPr>
          <p:nvPr/>
        </p:nvCxnSpPr>
        <p:spPr>
          <a:xfrm>
            <a:off x="10840786" y="4323910"/>
            <a:ext cx="0" cy="753928"/>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sp>
        <p:nvSpPr>
          <p:cNvPr id="41" name="TextBox 40">
            <a:extLst>
              <a:ext uri="{FF2B5EF4-FFF2-40B4-BE49-F238E27FC236}">
                <a16:creationId xmlns:a16="http://schemas.microsoft.com/office/drawing/2014/main" id="{F39C3AD7-5A0E-C1FA-87AB-C31E621C4F2D}"/>
              </a:ext>
            </a:extLst>
          </p:cNvPr>
          <p:cNvSpPr txBox="1"/>
          <p:nvPr/>
        </p:nvSpPr>
        <p:spPr>
          <a:xfrm>
            <a:off x="9679021" y="5049231"/>
            <a:ext cx="2505608"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Output: </a:t>
            </a:r>
            <a:r>
              <a:rPr lang="en-US" b="1" dirty="0"/>
              <a:t>LUT</a:t>
            </a:r>
            <a:r>
              <a:rPr lang="en-US" dirty="0"/>
              <a:t> (initialized for thresholding)</a:t>
            </a:r>
            <a:endParaRPr lang="he-IL" dirty="0"/>
          </a:p>
        </p:txBody>
      </p:sp>
      <p:cxnSp>
        <p:nvCxnSpPr>
          <p:cNvPr id="43" name="Straight Arrow Connector 42">
            <a:extLst>
              <a:ext uri="{FF2B5EF4-FFF2-40B4-BE49-F238E27FC236}">
                <a16:creationId xmlns:a16="http://schemas.microsoft.com/office/drawing/2014/main" id="{EC314D5D-1609-8DB9-7660-1E7316192B81}"/>
              </a:ext>
            </a:extLst>
          </p:cNvPr>
          <p:cNvCxnSpPr>
            <a:cxnSpLocks/>
          </p:cNvCxnSpPr>
          <p:nvPr/>
        </p:nvCxnSpPr>
        <p:spPr>
          <a:xfrm>
            <a:off x="5264636" y="1037851"/>
            <a:ext cx="0" cy="4039987"/>
          </a:xfrm>
          <a:prstGeom prst="straightConnector1">
            <a:avLst/>
          </a:prstGeom>
          <a:ln w="7620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A7F50021-E465-AA56-EF79-C46B05269537}"/>
              </a:ext>
            </a:extLst>
          </p:cNvPr>
          <p:cNvCxnSpPr>
            <a:cxnSpLocks/>
          </p:cNvCxnSpPr>
          <p:nvPr/>
        </p:nvCxnSpPr>
        <p:spPr>
          <a:xfrm flipH="1" flipV="1">
            <a:off x="6001966" y="5372396"/>
            <a:ext cx="3677055" cy="8900"/>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sp>
        <p:nvSpPr>
          <p:cNvPr id="47" name="TextBox 46">
            <a:extLst>
              <a:ext uri="{FF2B5EF4-FFF2-40B4-BE49-F238E27FC236}">
                <a16:creationId xmlns:a16="http://schemas.microsoft.com/office/drawing/2014/main" id="{B39F7A23-6739-E3EA-8D03-E940DD19EC4C}"/>
              </a:ext>
            </a:extLst>
          </p:cNvPr>
          <p:cNvSpPr txBox="1"/>
          <p:nvPr/>
        </p:nvSpPr>
        <p:spPr>
          <a:xfrm>
            <a:off x="7857862" y="4982463"/>
            <a:ext cx="826851" cy="369332"/>
          </a:xfrm>
          <a:prstGeom prst="rect">
            <a:avLst/>
          </a:prstGeom>
          <a:noFill/>
        </p:spPr>
        <p:txBody>
          <a:bodyPr wrap="square" rtlCol="1">
            <a:spAutoFit/>
          </a:bodyPr>
          <a:lstStyle/>
          <a:p>
            <a:r>
              <a:rPr lang="en-US" dirty="0"/>
              <a:t>input</a:t>
            </a:r>
            <a:endParaRPr lang="he-IL" dirty="0"/>
          </a:p>
        </p:txBody>
      </p:sp>
      <p:sp>
        <p:nvSpPr>
          <p:cNvPr id="48" name="TextBox 47">
            <a:extLst>
              <a:ext uri="{FF2B5EF4-FFF2-40B4-BE49-F238E27FC236}">
                <a16:creationId xmlns:a16="http://schemas.microsoft.com/office/drawing/2014/main" id="{29318A6E-C9D5-B0A9-6471-517EB0104B4C}"/>
              </a:ext>
            </a:extLst>
          </p:cNvPr>
          <p:cNvSpPr txBox="1"/>
          <p:nvPr/>
        </p:nvSpPr>
        <p:spPr>
          <a:xfrm>
            <a:off x="4503792" y="2909295"/>
            <a:ext cx="826851" cy="369332"/>
          </a:xfrm>
          <a:prstGeom prst="rect">
            <a:avLst/>
          </a:prstGeom>
          <a:noFill/>
        </p:spPr>
        <p:txBody>
          <a:bodyPr wrap="square" rtlCol="1">
            <a:spAutoFit/>
          </a:bodyPr>
          <a:lstStyle/>
          <a:p>
            <a:r>
              <a:rPr lang="en-US" dirty="0"/>
              <a:t>input</a:t>
            </a:r>
            <a:endParaRPr lang="he-IL" dirty="0"/>
          </a:p>
        </p:txBody>
      </p:sp>
      <p:sp>
        <p:nvSpPr>
          <p:cNvPr id="49" name="TextBox 48">
            <a:extLst>
              <a:ext uri="{FF2B5EF4-FFF2-40B4-BE49-F238E27FC236}">
                <a16:creationId xmlns:a16="http://schemas.microsoft.com/office/drawing/2014/main" id="{5AA13FAB-B6C8-48DE-EE31-E2314DAC368C}"/>
              </a:ext>
            </a:extLst>
          </p:cNvPr>
          <p:cNvSpPr txBox="1"/>
          <p:nvPr/>
        </p:nvSpPr>
        <p:spPr>
          <a:xfrm>
            <a:off x="4620638" y="5167129"/>
            <a:ext cx="1352192"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ImposeLUT</a:t>
            </a:r>
            <a:endParaRPr lang="he-IL" dirty="0"/>
          </a:p>
        </p:txBody>
      </p:sp>
      <p:sp>
        <p:nvSpPr>
          <p:cNvPr id="50" name="TextBox 49">
            <a:extLst>
              <a:ext uri="{FF2B5EF4-FFF2-40B4-BE49-F238E27FC236}">
                <a16:creationId xmlns:a16="http://schemas.microsoft.com/office/drawing/2014/main" id="{4651AF64-BD05-97CB-0288-89FCA595E509}"/>
              </a:ext>
            </a:extLst>
          </p:cNvPr>
          <p:cNvSpPr txBox="1"/>
          <p:nvPr/>
        </p:nvSpPr>
        <p:spPr>
          <a:xfrm>
            <a:off x="4110914" y="6121271"/>
            <a:ext cx="2393003" cy="64346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Output : </a:t>
            </a:r>
            <a:r>
              <a:rPr lang="en-US" b="1" dirty="0"/>
              <a:t>ProccesIMG</a:t>
            </a:r>
            <a:r>
              <a:rPr lang="en-US" dirty="0"/>
              <a:t> after applying the LUT</a:t>
            </a:r>
            <a:endParaRPr lang="he-IL" dirty="0"/>
          </a:p>
        </p:txBody>
      </p:sp>
      <p:cxnSp>
        <p:nvCxnSpPr>
          <p:cNvPr id="52" name="Straight Arrow Connector 51">
            <a:extLst>
              <a:ext uri="{FF2B5EF4-FFF2-40B4-BE49-F238E27FC236}">
                <a16:creationId xmlns:a16="http://schemas.microsoft.com/office/drawing/2014/main" id="{7B223FB4-62DB-6484-2ACA-985D7E60BB7D}"/>
              </a:ext>
            </a:extLst>
          </p:cNvPr>
          <p:cNvCxnSpPr>
            <a:cxnSpLocks/>
          </p:cNvCxnSpPr>
          <p:nvPr/>
        </p:nvCxnSpPr>
        <p:spPr>
          <a:xfrm>
            <a:off x="5285552" y="5581271"/>
            <a:ext cx="0" cy="540000"/>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sp>
        <p:nvSpPr>
          <p:cNvPr id="54" name="Rectangle 53">
            <a:extLst>
              <a:ext uri="{FF2B5EF4-FFF2-40B4-BE49-F238E27FC236}">
                <a16:creationId xmlns:a16="http://schemas.microsoft.com/office/drawing/2014/main" id="{8C4269DB-A91D-69F5-938F-B3C2CC4E939C}"/>
              </a:ext>
            </a:extLst>
          </p:cNvPr>
          <p:cNvSpPr/>
          <p:nvPr/>
        </p:nvSpPr>
        <p:spPr>
          <a:xfrm>
            <a:off x="7807926" y="6232671"/>
            <a:ext cx="3516789" cy="4961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StoreGrayImageAsGrayBmpFile</a:t>
            </a:r>
            <a:endParaRPr lang="he-IL" dirty="0"/>
          </a:p>
        </p:txBody>
      </p:sp>
      <p:cxnSp>
        <p:nvCxnSpPr>
          <p:cNvPr id="55" name="Straight Arrow Connector 54">
            <a:extLst>
              <a:ext uri="{FF2B5EF4-FFF2-40B4-BE49-F238E27FC236}">
                <a16:creationId xmlns:a16="http://schemas.microsoft.com/office/drawing/2014/main" id="{9FAFA28D-6A38-994A-68FF-3C175BBF45D0}"/>
              </a:ext>
            </a:extLst>
          </p:cNvPr>
          <p:cNvCxnSpPr>
            <a:cxnSpLocks/>
          </p:cNvCxnSpPr>
          <p:nvPr/>
        </p:nvCxnSpPr>
        <p:spPr>
          <a:xfrm rot="16200000">
            <a:off x="7159926" y="5852864"/>
            <a:ext cx="0" cy="1296000"/>
          </a:xfrm>
          <a:prstGeom prst="straightConnector1">
            <a:avLst/>
          </a:prstGeom>
          <a:ln w="76200">
            <a:tailEnd type="triangle"/>
          </a:ln>
        </p:spPr>
        <p:style>
          <a:lnRef idx="3">
            <a:schemeClr val="accent1"/>
          </a:lnRef>
          <a:fillRef idx="0">
            <a:schemeClr val="accent1"/>
          </a:fillRef>
          <a:effectRef idx="2">
            <a:schemeClr val="accent1"/>
          </a:effectRef>
          <a:fontRef idx="minor">
            <a:schemeClr val="tx1"/>
          </a:fontRef>
        </p:style>
      </p:cxnSp>
      <p:cxnSp>
        <p:nvCxnSpPr>
          <p:cNvPr id="57" name="Straight Arrow Connector 56">
            <a:extLst>
              <a:ext uri="{FF2B5EF4-FFF2-40B4-BE49-F238E27FC236}">
                <a16:creationId xmlns:a16="http://schemas.microsoft.com/office/drawing/2014/main" id="{42A96D93-A71D-CD24-1D34-B75D9558864F}"/>
              </a:ext>
            </a:extLst>
          </p:cNvPr>
          <p:cNvCxnSpPr>
            <a:cxnSpLocks/>
          </p:cNvCxnSpPr>
          <p:nvPr/>
        </p:nvCxnSpPr>
        <p:spPr>
          <a:xfrm flipH="1">
            <a:off x="2325526" y="6424964"/>
            <a:ext cx="1800000" cy="0"/>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sp>
        <p:nvSpPr>
          <p:cNvPr id="61" name="TextBox 60">
            <a:extLst>
              <a:ext uri="{FF2B5EF4-FFF2-40B4-BE49-F238E27FC236}">
                <a16:creationId xmlns:a16="http://schemas.microsoft.com/office/drawing/2014/main" id="{95FEF7EE-47C2-2BC9-B206-F02AC619F53F}"/>
              </a:ext>
            </a:extLst>
          </p:cNvPr>
          <p:cNvSpPr txBox="1"/>
          <p:nvPr/>
        </p:nvSpPr>
        <p:spPr>
          <a:xfrm>
            <a:off x="2642524" y="5431301"/>
            <a:ext cx="1536782" cy="923330"/>
          </a:xfrm>
          <a:prstGeom prst="rect">
            <a:avLst/>
          </a:prstGeom>
          <a:noFill/>
        </p:spPr>
        <p:txBody>
          <a:bodyPr wrap="square">
            <a:spAutoFit/>
          </a:bodyPr>
          <a:lstStyle/>
          <a:p>
            <a:r>
              <a:rPr lang="en-US" dirty="0"/>
              <a:t>Loop through each pixel in ProccesIMG</a:t>
            </a:r>
            <a:endParaRPr lang="he-IL" dirty="0"/>
          </a:p>
        </p:txBody>
      </p:sp>
      <p:sp>
        <p:nvSpPr>
          <p:cNvPr id="68" name="Rectangle 67">
            <a:extLst>
              <a:ext uri="{FF2B5EF4-FFF2-40B4-BE49-F238E27FC236}">
                <a16:creationId xmlns:a16="http://schemas.microsoft.com/office/drawing/2014/main" id="{46E890E6-902B-9359-7A48-5E88E853882B}"/>
              </a:ext>
            </a:extLst>
          </p:cNvPr>
          <p:cNvSpPr/>
          <p:nvPr/>
        </p:nvSpPr>
        <p:spPr>
          <a:xfrm>
            <a:off x="0" y="6176910"/>
            <a:ext cx="2325526" cy="49610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1" anchor="ctr"/>
          <a:lstStyle/>
          <a:p>
            <a:pPr algn="ctr"/>
            <a:r>
              <a:rPr lang="en-US" dirty="0" err="1"/>
              <a:t>FloodFill</a:t>
            </a:r>
            <a:endParaRPr lang="he-IL" dirty="0"/>
          </a:p>
        </p:txBody>
      </p:sp>
      <p:sp>
        <p:nvSpPr>
          <p:cNvPr id="76" name="TextBox 75">
            <a:extLst>
              <a:ext uri="{FF2B5EF4-FFF2-40B4-BE49-F238E27FC236}">
                <a16:creationId xmlns:a16="http://schemas.microsoft.com/office/drawing/2014/main" id="{7B1B1BDD-9BD4-FFBE-6B1E-42A130D9A7A5}"/>
              </a:ext>
            </a:extLst>
          </p:cNvPr>
          <p:cNvSpPr txBox="1"/>
          <p:nvPr/>
        </p:nvSpPr>
        <p:spPr>
          <a:xfrm>
            <a:off x="91337" y="3086769"/>
            <a:ext cx="2713153" cy="1200329"/>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r>
              <a:rPr lang="en-US" dirty="0"/>
              <a:t>Nested for loop with dynamic region of interest to find the element</a:t>
            </a:r>
            <a:endParaRPr lang="he-IL" dirty="0"/>
          </a:p>
        </p:txBody>
      </p:sp>
      <p:sp>
        <p:nvSpPr>
          <p:cNvPr id="3" name="Rectangle 2">
            <a:extLst>
              <a:ext uri="{FF2B5EF4-FFF2-40B4-BE49-F238E27FC236}">
                <a16:creationId xmlns:a16="http://schemas.microsoft.com/office/drawing/2014/main" id="{A50A7F2A-0098-281E-606F-9DEA13F25938}"/>
              </a:ext>
            </a:extLst>
          </p:cNvPr>
          <p:cNvSpPr/>
          <p:nvPr/>
        </p:nvSpPr>
        <p:spPr>
          <a:xfrm>
            <a:off x="54313" y="4855688"/>
            <a:ext cx="2325526" cy="49610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1" anchor="ctr"/>
          <a:lstStyle/>
          <a:p>
            <a:pPr algn="ctr"/>
            <a:r>
              <a:rPr lang="en-US" dirty="0" err="1"/>
              <a:t>Output:size</a:t>
            </a:r>
            <a:r>
              <a:rPr lang="en-US" dirty="0"/>
              <a:t> of the </a:t>
            </a:r>
            <a:r>
              <a:rPr lang="en-US" dirty="0" err="1"/>
              <a:t>elment</a:t>
            </a:r>
            <a:endParaRPr lang="he-IL" dirty="0"/>
          </a:p>
        </p:txBody>
      </p:sp>
      <p:sp>
        <p:nvSpPr>
          <p:cNvPr id="10" name="TextBox 9">
            <a:extLst>
              <a:ext uri="{FF2B5EF4-FFF2-40B4-BE49-F238E27FC236}">
                <a16:creationId xmlns:a16="http://schemas.microsoft.com/office/drawing/2014/main" id="{29329451-9F84-E94D-8CA0-2B7F87BAB78E}"/>
              </a:ext>
            </a:extLst>
          </p:cNvPr>
          <p:cNvSpPr txBox="1"/>
          <p:nvPr/>
        </p:nvSpPr>
        <p:spPr>
          <a:xfrm>
            <a:off x="106602" y="2056514"/>
            <a:ext cx="2713153" cy="36933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r>
              <a:rPr lang="en-US" dirty="0"/>
              <a:t>IsElementInROI_bool</a:t>
            </a:r>
            <a:endParaRPr lang="he-IL" dirty="0"/>
          </a:p>
        </p:txBody>
      </p:sp>
      <p:cxnSp>
        <p:nvCxnSpPr>
          <p:cNvPr id="11" name="Straight Arrow Connector 10">
            <a:extLst>
              <a:ext uri="{FF2B5EF4-FFF2-40B4-BE49-F238E27FC236}">
                <a16:creationId xmlns:a16="http://schemas.microsoft.com/office/drawing/2014/main" id="{CA9F5083-ADA5-8118-7734-38D96598E5DB}"/>
              </a:ext>
            </a:extLst>
          </p:cNvPr>
          <p:cNvCxnSpPr>
            <a:cxnSpLocks/>
          </p:cNvCxnSpPr>
          <p:nvPr/>
        </p:nvCxnSpPr>
        <p:spPr>
          <a:xfrm flipV="1">
            <a:off x="1397904" y="5372396"/>
            <a:ext cx="26256" cy="782385"/>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E77A5EEF-F798-D505-74FF-55465B396CC3}"/>
              </a:ext>
            </a:extLst>
          </p:cNvPr>
          <p:cNvCxnSpPr>
            <a:cxnSpLocks/>
            <a:endCxn id="76" idx="2"/>
          </p:cNvCxnSpPr>
          <p:nvPr/>
        </p:nvCxnSpPr>
        <p:spPr>
          <a:xfrm flipH="1" flipV="1">
            <a:off x="1447914" y="4287098"/>
            <a:ext cx="23195" cy="568590"/>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CE7630D2-9F5D-3D5D-52CB-1C7C39431AF8}"/>
              </a:ext>
            </a:extLst>
          </p:cNvPr>
          <p:cNvCxnSpPr>
            <a:cxnSpLocks/>
          </p:cNvCxnSpPr>
          <p:nvPr/>
        </p:nvCxnSpPr>
        <p:spPr>
          <a:xfrm flipV="1">
            <a:off x="1234626" y="2388757"/>
            <a:ext cx="26256" cy="782385"/>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cxnSp>
        <p:nvCxnSpPr>
          <p:cNvPr id="22" name="Straight Arrow Connector 21">
            <a:extLst>
              <a:ext uri="{FF2B5EF4-FFF2-40B4-BE49-F238E27FC236}">
                <a16:creationId xmlns:a16="http://schemas.microsoft.com/office/drawing/2014/main" id="{D7264671-5BB2-90DB-A3A3-5A6E6C2EE710}"/>
              </a:ext>
            </a:extLst>
          </p:cNvPr>
          <p:cNvCxnSpPr>
            <a:cxnSpLocks/>
          </p:cNvCxnSpPr>
          <p:nvPr/>
        </p:nvCxnSpPr>
        <p:spPr>
          <a:xfrm flipV="1">
            <a:off x="671548" y="1472094"/>
            <a:ext cx="1064669" cy="528295"/>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25" name="Rectangle 24">
            <a:extLst>
              <a:ext uri="{FF2B5EF4-FFF2-40B4-BE49-F238E27FC236}">
                <a16:creationId xmlns:a16="http://schemas.microsoft.com/office/drawing/2014/main" id="{E5867BF1-1504-5FA3-4BC1-30EEC30E9364}"/>
              </a:ext>
            </a:extLst>
          </p:cNvPr>
          <p:cNvSpPr/>
          <p:nvPr/>
        </p:nvSpPr>
        <p:spPr>
          <a:xfrm>
            <a:off x="1922584" y="1217557"/>
            <a:ext cx="3296517" cy="794147"/>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Only if the element is above threshold that pre-</a:t>
            </a:r>
            <a:r>
              <a:rPr lang="en-US" dirty="0" err="1"/>
              <a:t>checkd</a:t>
            </a:r>
            <a:r>
              <a:rPr lang="en-US" dirty="0"/>
              <a:t> the </a:t>
            </a:r>
            <a:r>
              <a:rPr lang="en-US" dirty="0" err="1"/>
              <a:t>elemtn</a:t>
            </a:r>
            <a:r>
              <a:rPr lang="en-US" dirty="0"/>
              <a:t> will be counted</a:t>
            </a:r>
            <a:endParaRPr lang="he-IL" dirty="0"/>
          </a:p>
        </p:txBody>
      </p:sp>
      <p:cxnSp>
        <p:nvCxnSpPr>
          <p:cNvPr id="26" name="Straight Arrow Connector 25">
            <a:extLst>
              <a:ext uri="{FF2B5EF4-FFF2-40B4-BE49-F238E27FC236}">
                <a16:creationId xmlns:a16="http://schemas.microsoft.com/office/drawing/2014/main" id="{0406FB85-A32B-8E6D-7E3D-25660E809345}"/>
              </a:ext>
            </a:extLst>
          </p:cNvPr>
          <p:cNvCxnSpPr>
            <a:cxnSpLocks/>
          </p:cNvCxnSpPr>
          <p:nvPr/>
        </p:nvCxnSpPr>
        <p:spPr>
          <a:xfrm flipH="1">
            <a:off x="3482385" y="2027014"/>
            <a:ext cx="7054" cy="1352534"/>
          </a:xfrm>
          <a:prstGeom prst="straightConnector1">
            <a:avLst/>
          </a:prstGeom>
          <a:ln w="7620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9F19E9CC-C4FC-9350-0027-54A83BDCD275}"/>
              </a:ext>
            </a:extLst>
          </p:cNvPr>
          <p:cNvSpPr/>
          <p:nvPr/>
        </p:nvSpPr>
        <p:spPr>
          <a:xfrm>
            <a:off x="2868056" y="3379548"/>
            <a:ext cx="2393004" cy="63881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solidFill>
                  <a:srgbClr val="FF0000"/>
                </a:solidFill>
              </a:rPr>
              <a:t>Number of elements found</a:t>
            </a:r>
            <a:endParaRPr lang="he-IL" dirty="0">
              <a:solidFill>
                <a:srgbClr val="FF0000"/>
              </a:solidFill>
            </a:endParaRPr>
          </a:p>
        </p:txBody>
      </p:sp>
      <p:sp>
        <p:nvSpPr>
          <p:cNvPr id="37" name="TextBox 36">
            <a:extLst>
              <a:ext uri="{FF2B5EF4-FFF2-40B4-BE49-F238E27FC236}">
                <a16:creationId xmlns:a16="http://schemas.microsoft.com/office/drawing/2014/main" id="{7BA03015-6108-044F-F363-D673EFBEB1A5}"/>
              </a:ext>
            </a:extLst>
          </p:cNvPr>
          <p:cNvSpPr txBox="1"/>
          <p:nvPr/>
        </p:nvSpPr>
        <p:spPr>
          <a:xfrm>
            <a:off x="3547783" y="2357311"/>
            <a:ext cx="1328514" cy="523220"/>
          </a:xfrm>
          <a:prstGeom prst="rect">
            <a:avLst/>
          </a:prstGeom>
          <a:noFill/>
        </p:spPr>
        <p:txBody>
          <a:bodyPr wrap="square" rtlCol="1">
            <a:spAutoFit/>
          </a:bodyPr>
          <a:lstStyle/>
          <a:p>
            <a:r>
              <a:rPr lang="en-US" sz="2800" dirty="0">
                <a:solidFill>
                  <a:srgbClr val="FF0000"/>
                </a:solidFill>
              </a:rPr>
              <a:t>output</a:t>
            </a:r>
            <a:endParaRPr lang="he-IL" sz="2800" dirty="0">
              <a:solidFill>
                <a:srgbClr val="FF0000"/>
              </a:solidFill>
            </a:endParaRPr>
          </a:p>
        </p:txBody>
      </p:sp>
    </p:spTree>
    <p:extLst>
      <p:ext uri="{BB962C8B-B14F-4D97-AF65-F5344CB8AC3E}">
        <p14:creationId xmlns:p14="http://schemas.microsoft.com/office/powerpoint/2010/main" val="1442537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80196" y="0"/>
            <a:ext cx="411804" cy="365125"/>
          </a:xfrm>
        </p:spPr>
        <p:txBody>
          <a:bodyPr/>
          <a:lstStyle/>
          <a:p>
            <a:fld id="{81122904-1B5F-4679-B3DC-5E87602DE7DA}" type="slidenum">
              <a:rPr lang="he-IL" sz="1400" smtClean="0"/>
              <a:t>24</a:t>
            </a:fld>
            <a:endParaRPr lang="he-IL" sz="1400"/>
          </a:p>
        </p:txBody>
      </p:sp>
      <p:sp>
        <p:nvSpPr>
          <p:cNvPr id="4" name="Title 1">
            <a:extLst>
              <a:ext uri="{FF2B5EF4-FFF2-40B4-BE49-F238E27FC236}">
                <a16:creationId xmlns:a16="http://schemas.microsoft.com/office/drawing/2014/main" id="{5D6799E5-5CE4-13C1-7E7F-1BC091C22AF0}"/>
              </a:ext>
            </a:extLst>
          </p:cNvPr>
          <p:cNvSpPr txBox="1">
            <a:spLocks/>
          </p:cNvSpPr>
          <p:nvPr/>
        </p:nvSpPr>
        <p:spPr>
          <a:xfrm>
            <a:off x="1606685" y="0"/>
            <a:ext cx="8978630"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24.8 </a:t>
            </a:r>
            <a:r>
              <a:rPr lang="en-US" sz="2800" b="1" u="sng" dirty="0">
                <a:solidFill>
                  <a:srgbClr val="0070C0"/>
                </a:solidFill>
                <a:latin typeface="+mn-lt"/>
              </a:rPr>
              <a:t>– created images and the counting results – </a:t>
            </a:r>
            <a:r>
              <a:rPr lang="en-US" sz="2800" b="1" u="sng" dirty="0">
                <a:solidFill>
                  <a:srgbClr val="FF0000"/>
                </a:solidFill>
                <a:latin typeface="+mn-lt"/>
              </a:rPr>
              <a:t>part 1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sp>
        <p:nvSpPr>
          <p:cNvPr id="10" name="Rectangle 9">
            <a:extLst>
              <a:ext uri="{FF2B5EF4-FFF2-40B4-BE49-F238E27FC236}">
                <a16:creationId xmlns:a16="http://schemas.microsoft.com/office/drawing/2014/main" id="{AF672ED2-085B-38EF-419E-DE4BAEB34E17}"/>
              </a:ext>
            </a:extLst>
          </p:cNvPr>
          <p:cNvSpPr/>
          <p:nvPr/>
        </p:nvSpPr>
        <p:spPr>
          <a:xfrm>
            <a:off x="1352145" y="652800"/>
            <a:ext cx="1906621"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Image241.bmp</a:t>
            </a:r>
            <a:endParaRPr lang="he-IL" dirty="0"/>
          </a:p>
        </p:txBody>
      </p:sp>
      <p:sp>
        <p:nvSpPr>
          <p:cNvPr id="11" name="Arrow: Right 10">
            <a:extLst>
              <a:ext uri="{FF2B5EF4-FFF2-40B4-BE49-F238E27FC236}">
                <a16:creationId xmlns:a16="http://schemas.microsoft.com/office/drawing/2014/main" id="{CAF4D9FE-7750-E40E-1A56-9785B11C61AF}"/>
              </a:ext>
            </a:extLst>
          </p:cNvPr>
          <p:cNvSpPr/>
          <p:nvPr/>
        </p:nvSpPr>
        <p:spPr>
          <a:xfrm>
            <a:off x="4396902" y="1923644"/>
            <a:ext cx="2178995" cy="5200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Rectangle 1">
            <a:extLst>
              <a:ext uri="{FF2B5EF4-FFF2-40B4-BE49-F238E27FC236}">
                <a16:creationId xmlns:a16="http://schemas.microsoft.com/office/drawing/2014/main" id="{5FAB252F-5E69-672D-A4F3-11690D84C111}"/>
              </a:ext>
            </a:extLst>
          </p:cNvPr>
          <p:cNvSpPr/>
          <p:nvPr/>
        </p:nvSpPr>
        <p:spPr>
          <a:xfrm>
            <a:off x="6858000" y="2624036"/>
            <a:ext cx="4075889" cy="754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printing of the program indicate that 6 gaussian elements were found!</a:t>
            </a:r>
            <a:endParaRPr lang="he-IL" dirty="0"/>
          </a:p>
        </p:txBody>
      </p:sp>
      <p:sp>
        <p:nvSpPr>
          <p:cNvPr id="7" name="Rectangle 6">
            <a:extLst>
              <a:ext uri="{FF2B5EF4-FFF2-40B4-BE49-F238E27FC236}">
                <a16:creationId xmlns:a16="http://schemas.microsoft.com/office/drawing/2014/main" id="{F8A73BE2-40EC-D3E5-C422-98E82B750650}"/>
              </a:ext>
            </a:extLst>
          </p:cNvPr>
          <p:cNvSpPr/>
          <p:nvPr/>
        </p:nvSpPr>
        <p:spPr>
          <a:xfrm>
            <a:off x="618094" y="3667497"/>
            <a:ext cx="3613437" cy="21498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 addition – the profilers confirm that true gaussians were created.</a:t>
            </a:r>
          </a:p>
          <a:p>
            <a:pPr algn="ctr"/>
            <a:r>
              <a:rPr lang="en-US" dirty="0"/>
              <a:t>Pay attention that I made sure that the created gaussians will be independent – AKA no overlapping or clipping – for preventing any chance of wrong counting!</a:t>
            </a:r>
          </a:p>
        </p:txBody>
      </p:sp>
      <p:pic>
        <p:nvPicPr>
          <p:cNvPr id="12" name="Picture 11" descr="A group of white dots&#10;&#10;Description automatically generated">
            <a:extLst>
              <a:ext uri="{FF2B5EF4-FFF2-40B4-BE49-F238E27FC236}">
                <a16:creationId xmlns:a16="http://schemas.microsoft.com/office/drawing/2014/main" id="{CF8A4935-241B-A49A-F75E-8B3033015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812" y="1144739"/>
            <a:ext cx="3048000" cy="2286000"/>
          </a:xfrm>
          <a:prstGeom prst="rect">
            <a:avLst/>
          </a:prstGeom>
        </p:spPr>
      </p:pic>
      <p:pic>
        <p:nvPicPr>
          <p:cNvPr id="15" name="Picture 14">
            <a:extLst>
              <a:ext uri="{FF2B5EF4-FFF2-40B4-BE49-F238E27FC236}">
                <a16:creationId xmlns:a16="http://schemas.microsoft.com/office/drawing/2014/main" id="{5122089A-5ED7-AB4C-7A56-FA9DDE2A300D}"/>
              </a:ext>
            </a:extLst>
          </p:cNvPr>
          <p:cNvPicPr>
            <a:picLocks noChangeAspect="1"/>
          </p:cNvPicPr>
          <p:nvPr/>
        </p:nvPicPr>
        <p:blipFill>
          <a:blip r:embed="rId3"/>
          <a:stretch>
            <a:fillRect/>
          </a:stretch>
        </p:blipFill>
        <p:spPr>
          <a:xfrm>
            <a:off x="5763495" y="3544988"/>
            <a:ext cx="6428505" cy="824419"/>
          </a:xfrm>
          <a:prstGeom prst="rect">
            <a:avLst/>
          </a:prstGeom>
        </p:spPr>
      </p:pic>
      <p:cxnSp>
        <p:nvCxnSpPr>
          <p:cNvPr id="17" name="Straight Arrow Connector 16">
            <a:extLst>
              <a:ext uri="{FF2B5EF4-FFF2-40B4-BE49-F238E27FC236}">
                <a16:creationId xmlns:a16="http://schemas.microsoft.com/office/drawing/2014/main" id="{6717F84E-1225-B368-B613-BD0DAA743C29}"/>
              </a:ext>
            </a:extLst>
          </p:cNvPr>
          <p:cNvCxnSpPr/>
          <p:nvPr/>
        </p:nvCxnSpPr>
        <p:spPr>
          <a:xfrm flipV="1">
            <a:off x="7762672" y="4095345"/>
            <a:ext cx="136188" cy="797668"/>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7D6923FA-AE2C-B6D6-4E55-A765424FE8A1}"/>
              </a:ext>
            </a:extLst>
          </p:cNvPr>
          <p:cNvSpPr/>
          <p:nvPr/>
        </p:nvSpPr>
        <p:spPr>
          <a:xfrm>
            <a:off x="6833681" y="4893013"/>
            <a:ext cx="1994170" cy="57561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This is the number I demanded!</a:t>
            </a:r>
            <a:endParaRPr lang="he-IL" dirty="0"/>
          </a:p>
        </p:txBody>
      </p:sp>
      <p:pic>
        <p:nvPicPr>
          <p:cNvPr id="6" name="Picture 5">
            <a:extLst>
              <a:ext uri="{FF2B5EF4-FFF2-40B4-BE49-F238E27FC236}">
                <a16:creationId xmlns:a16="http://schemas.microsoft.com/office/drawing/2014/main" id="{394BA322-AA63-BD49-781D-4116855BEF4A}"/>
              </a:ext>
            </a:extLst>
          </p:cNvPr>
          <p:cNvPicPr>
            <a:picLocks noChangeAspect="1"/>
          </p:cNvPicPr>
          <p:nvPr/>
        </p:nvPicPr>
        <p:blipFill>
          <a:blip r:embed="rId4"/>
          <a:stretch>
            <a:fillRect/>
          </a:stretch>
        </p:blipFill>
        <p:spPr>
          <a:xfrm>
            <a:off x="7023987" y="1923644"/>
            <a:ext cx="3084684" cy="520092"/>
          </a:xfrm>
          <a:prstGeom prst="rect">
            <a:avLst/>
          </a:prstGeom>
        </p:spPr>
      </p:pic>
    </p:spTree>
    <p:extLst>
      <p:ext uri="{BB962C8B-B14F-4D97-AF65-F5344CB8AC3E}">
        <p14:creationId xmlns:p14="http://schemas.microsoft.com/office/powerpoint/2010/main" val="3227565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B7FED9-20EF-BF61-B4D8-7D6C0717E52C}"/>
              </a:ext>
            </a:extLst>
          </p:cNvPr>
          <p:cNvSpPr>
            <a:spLocks noGrp="1"/>
          </p:cNvSpPr>
          <p:nvPr>
            <p:ph type="sldNum" sz="quarter" idx="12"/>
          </p:nvPr>
        </p:nvSpPr>
        <p:spPr>
          <a:xfrm>
            <a:off x="11668328" y="0"/>
            <a:ext cx="523672" cy="320675"/>
          </a:xfrm>
        </p:spPr>
        <p:txBody>
          <a:bodyPr/>
          <a:lstStyle/>
          <a:p>
            <a:fld id="{81122904-1B5F-4679-B3DC-5E87602DE7DA}" type="slidenum">
              <a:rPr lang="he-IL" smtClean="0"/>
              <a:t>25</a:t>
            </a:fld>
            <a:endParaRPr lang="he-IL"/>
          </a:p>
        </p:txBody>
      </p:sp>
      <p:sp>
        <p:nvSpPr>
          <p:cNvPr id="7" name="Title 1">
            <a:extLst>
              <a:ext uri="{FF2B5EF4-FFF2-40B4-BE49-F238E27FC236}">
                <a16:creationId xmlns:a16="http://schemas.microsoft.com/office/drawing/2014/main" id="{C0AF825C-47C3-69A5-42DC-8C2EA9960728}"/>
              </a:ext>
            </a:extLst>
          </p:cNvPr>
          <p:cNvSpPr txBox="1">
            <a:spLocks/>
          </p:cNvSpPr>
          <p:nvPr/>
        </p:nvSpPr>
        <p:spPr>
          <a:xfrm>
            <a:off x="1606685" y="0"/>
            <a:ext cx="8978630"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24.8 </a:t>
            </a:r>
            <a:r>
              <a:rPr lang="en-US" sz="2800" b="1" u="sng" dirty="0">
                <a:solidFill>
                  <a:srgbClr val="0070C0"/>
                </a:solidFill>
                <a:latin typeface="+mn-lt"/>
              </a:rPr>
              <a:t>– created images and the counting results – </a:t>
            </a:r>
            <a:r>
              <a:rPr lang="en-US" sz="2800" b="1" u="sng" dirty="0">
                <a:solidFill>
                  <a:srgbClr val="FF0000"/>
                </a:solidFill>
                <a:latin typeface="+mn-lt"/>
              </a:rPr>
              <a:t>part 2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9" name="Picture 8" descr="A group of cherry tomatoes&#10;&#10;Description automatically generated">
            <a:extLst>
              <a:ext uri="{FF2B5EF4-FFF2-40B4-BE49-F238E27FC236}">
                <a16:creationId xmlns:a16="http://schemas.microsoft.com/office/drawing/2014/main" id="{2E19636E-9CD2-5E1D-A825-2E8DB664E1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990668"/>
            <a:ext cx="3047619" cy="2285714"/>
          </a:xfrm>
          <a:prstGeom prst="rect">
            <a:avLst/>
          </a:prstGeom>
        </p:spPr>
      </p:pic>
      <p:sp>
        <p:nvSpPr>
          <p:cNvPr id="10" name="Rectangle 9">
            <a:extLst>
              <a:ext uri="{FF2B5EF4-FFF2-40B4-BE49-F238E27FC236}">
                <a16:creationId xmlns:a16="http://schemas.microsoft.com/office/drawing/2014/main" id="{BFFC8DBA-BE63-7DF7-7FD0-AF9CB4DED49A}"/>
              </a:ext>
            </a:extLst>
          </p:cNvPr>
          <p:cNvSpPr/>
          <p:nvPr/>
        </p:nvSpPr>
        <p:spPr>
          <a:xfrm>
            <a:off x="1275754" y="568393"/>
            <a:ext cx="2324910"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Image242_color.bmp</a:t>
            </a:r>
            <a:endParaRPr lang="he-IL" dirty="0"/>
          </a:p>
        </p:txBody>
      </p:sp>
      <p:pic>
        <p:nvPicPr>
          <p:cNvPr id="12" name="Picture 11">
            <a:extLst>
              <a:ext uri="{FF2B5EF4-FFF2-40B4-BE49-F238E27FC236}">
                <a16:creationId xmlns:a16="http://schemas.microsoft.com/office/drawing/2014/main" id="{88B6228A-51E4-CDF0-6AD6-4BDC72BA53F6}"/>
              </a:ext>
            </a:extLst>
          </p:cNvPr>
          <p:cNvPicPr>
            <a:picLocks noChangeAspect="1"/>
          </p:cNvPicPr>
          <p:nvPr/>
        </p:nvPicPr>
        <p:blipFill>
          <a:blip r:embed="rId3"/>
          <a:stretch>
            <a:fillRect/>
          </a:stretch>
        </p:blipFill>
        <p:spPr>
          <a:xfrm>
            <a:off x="1008240" y="3310767"/>
            <a:ext cx="2686265" cy="2020249"/>
          </a:xfrm>
          <a:prstGeom prst="rect">
            <a:avLst/>
          </a:prstGeom>
        </p:spPr>
      </p:pic>
      <p:sp>
        <p:nvSpPr>
          <p:cNvPr id="13" name="Arrow: Right 12">
            <a:extLst>
              <a:ext uri="{FF2B5EF4-FFF2-40B4-BE49-F238E27FC236}">
                <a16:creationId xmlns:a16="http://schemas.microsoft.com/office/drawing/2014/main" id="{7785E605-552C-D1D6-4187-952A3A379352}"/>
              </a:ext>
            </a:extLst>
          </p:cNvPr>
          <p:cNvSpPr/>
          <p:nvPr/>
        </p:nvSpPr>
        <p:spPr>
          <a:xfrm>
            <a:off x="0" y="1789889"/>
            <a:ext cx="914400" cy="5447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input</a:t>
            </a:r>
            <a:endParaRPr lang="he-IL" dirty="0"/>
          </a:p>
        </p:txBody>
      </p:sp>
      <p:sp>
        <p:nvSpPr>
          <p:cNvPr id="14" name="Arrow: Right 13">
            <a:extLst>
              <a:ext uri="{FF2B5EF4-FFF2-40B4-BE49-F238E27FC236}">
                <a16:creationId xmlns:a16="http://schemas.microsoft.com/office/drawing/2014/main" id="{1B720FA0-88B8-5F48-D8C2-266E30CF05EC}"/>
              </a:ext>
            </a:extLst>
          </p:cNvPr>
          <p:cNvSpPr/>
          <p:nvPr/>
        </p:nvSpPr>
        <p:spPr>
          <a:xfrm>
            <a:off x="4066162" y="1692613"/>
            <a:ext cx="1459150" cy="642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5" descr="A group of tomatoes on a white surface&#10;&#10;Description automatically generated">
            <a:extLst>
              <a:ext uri="{FF2B5EF4-FFF2-40B4-BE49-F238E27FC236}">
                <a16:creationId xmlns:a16="http://schemas.microsoft.com/office/drawing/2014/main" id="{8760B53F-B913-4926-28C6-8ABD471057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28747" y="1081273"/>
            <a:ext cx="3048000" cy="2286000"/>
          </a:xfrm>
          <a:prstGeom prst="rect">
            <a:avLst/>
          </a:prstGeom>
        </p:spPr>
      </p:pic>
      <p:sp>
        <p:nvSpPr>
          <p:cNvPr id="17" name="Rectangle 16">
            <a:extLst>
              <a:ext uri="{FF2B5EF4-FFF2-40B4-BE49-F238E27FC236}">
                <a16:creationId xmlns:a16="http://schemas.microsoft.com/office/drawing/2014/main" id="{6E0213EC-3172-8056-B33D-A9C63724BD6A}"/>
              </a:ext>
            </a:extLst>
          </p:cNvPr>
          <p:cNvSpPr/>
          <p:nvPr/>
        </p:nvSpPr>
        <p:spPr>
          <a:xfrm>
            <a:off x="9247484" y="2680782"/>
            <a:ext cx="2324910"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Image242_gray.bmp</a:t>
            </a:r>
            <a:endParaRPr lang="he-IL" dirty="0"/>
          </a:p>
        </p:txBody>
      </p:sp>
      <p:sp>
        <p:nvSpPr>
          <p:cNvPr id="2" name="Rectangle 1">
            <a:extLst>
              <a:ext uri="{FF2B5EF4-FFF2-40B4-BE49-F238E27FC236}">
                <a16:creationId xmlns:a16="http://schemas.microsoft.com/office/drawing/2014/main" id="{B7F38D1C-C9AA-198D-E761-FFC3A730A424}"/>
              </a:ext>
            </a:extLst>
          </p:cNvPr>
          <p:cNvSpPr/>
          <p:nvPr/>
        </p:nvSpPr>
        <p:spPr>
          <a:xfrm>
            <a:off x="3805009" y="4742588"/>
            <a:ext cx="4802993" cy="1128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This is the result after applying the threshold algorithm– we did it for easier understanding of how to count the objects and how to distinguish the element from the background.</a:t>
            </a:r>
            <a:endParaRPr lang="he-IL" dirty="0"/>
          </a:p>
        </p:txBody>
      </p:sp>
      <p:pic>
        <p:nvPicPr>
          <p:cNvPr id="6" name="Picture 5">
            <a:extLst>
              <a:ext uri="{FF2B5EF4-FFF2-40B4-BE49-F238E27FC236}">
                <a16:creationId xmlns:a16="http://schemas.microsoft.com/office/drawing/2014/main" id="{30779F3A-001C-4AF7-7B23-1D8A2E1C9A1F}"/>
              </a:ext>
            </a:extLst>
          </p:cNvPr>
          <p:cNvPicPr>
            <a:picLocks noChangeAspect="1"/>
          </p:cNvPicPr>
          <p:nvPr/>
        </p:nvPicPr>
        <p:blipFill>
          <a:blip r:embed="rId5"/>
          <a:stretch>
            <a:fillRect/>
          </a:stretch>
        </p:blipFill>
        <p:spPr>
          <a:xfrm>
            <a:off x="8764317" y="5512138"/>
            <a:ext cx="3291244" cy="1345862"/>
          </a:xfrm>
          <a:prstGeom prst="rect">
            <a:avLst/>
          </a:prstGeom>
        </p:spPr>
      </p:pic>
      <p:pic>
        <p:nvPicPr>
          <p:cNvPr id="11" name="Picture 10" descr="A group of black objects&#10;&#10;Description automatically generated">
            <a:extLst>
              <a:ext uri="{FF2B5EF4-FFF2-40B4-BE49-F238E27FC236}">
                <a16:creationId xmlns:a16="http://schemas.microsoft.com/office/drawing/2014/main" id="{4DB0913F-6A39-843D-2587-18CE359843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85939" y="3151358"/>
            <a:ext cx="3048000" cy="2286000"/>
          </a:xfrm>
          <a:prstGeom prst="rect">
            <a:avLst/>
          </a:prstGeom>
          <a:ln>
            <a:solidFill>
              <a:srgbClr val="00B0F0"/>
            </a:solidFill>
          </a:ln>
        </p:spPr>
      </p:pic>
      <p:sp>
        <p:nvSpPr>
          <p:cNvPr id="15" name="Rectangle 14">
            <a:extLst>
              <a:ext uri="{FF2B5EF4-FFF2-40B4-BE49-F238E27FC236}">
                <a16:creationId xmlns:a16="http://schemas.microsoft.com/office/drawing/2014/main" id="{A3B57CAA-EFAE-79F0-C342-07E05125FD2E}"/>
              </a:ext>
            </a:extLst>
          </p:cNvPr>
          <p:cNvSpPr/>
          <p:nvPr/>
        </p:nvSpPr>
        <p:spPr>
          <a:xfrm>
            <a:off x="5056571" y="602778"/>
            <a:ext cx="4408443"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Image242_gray.bmp  </a:t>
            </a:r>
            <a:r>
              <a:rPr lang="en-US" dirty="0">
                <a:sym typeface="Wingdings" panose="05000000000000000000" pitchFamily="2" charset="2"/>
              </a:rPr>
              <a:t> for debugging only </a:t>
            </a:r>
            <a:endParaRPr lang="he-IL" dirty="0"/>
          </a:p>
        </p:txBody>
      </p:sp>
      <p:sp>
        <p:nvSpPr>
          <p:cNvPr id="18" name="Arrow: Bent 17">
            <a:extLst>
              <a:ext uri="{FF2B5EF4-FFF2-40B4-BE49-F238E27FC236}">
                <a16:creationId xmlns:a16="http://schemas.microsoft.com/office/drawing/2014/main" id="{9A7C4EE5-31E6-40C7-7914-8D17F1ED4B32}"/>
              </a:ext>
            </a:extLst>
          </p:cNvPr>
          <p:cNvSpPr/>
          <p:nvPr/>
        </p:nvSpPr>
        <p:spPr>
          <a:xfrm flipV="1">
            <a:off x="6790099" y="3490727"/>
            <a:ext cx="1783211" cy="112840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Tree>
    <p:extLst>
      <p:ext uri="{BB962C8B-B14F-4D97-AF65-F5344CB8AC3E}">
        <p14:creationId xmlns:p14="http://schemas.microsoft.com/office/powerpoint/2010/main" val="2775979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64A9E7-1774-D09A-D15F-662AA275F0E5}"/>
              </a:ext>
            </a:extLst>
          </p:cNvPr>
          <p:cNvSpPr>
            <a:spLocks noGrp="1"/>
          </p:cNvSpPr>
          <p:nvPr>
            <p:ph type="sldNum" sz="quarter" idx="12"/>
          </p:nvPr>
        </p:nvSpPr>
        <p:spPr>
          <a:xfrm>
            <a:off x="11804515" y="0"/>
            <a:ext cx="387485" cy="379041"/>
          </a:xfrm>
        </p:spPr>
        <p:txBody>
          <a:bodyPr/>
          <a:lstStyle/>
          <a:p>
            <a:fld id="{81122904-1B5F-4679-B3DC-5E87602DE7DA}" type="slidenum">
              <a:rPr lang="he-IL" smtClean="0"/>
              <a:t>26</a:t>
            </a:fld>
            <a:endParaRPr lang="he-IL"/>
          </a:p>
        </p:txBody>
      </p:sp>
      <p:sp>
        <p:nvSpPr>
          <p:cNvPr id="7" name="Title 1">
            <a:extLst>
              <a:ext uri="{FF2B5EF4-FFF2-40B4-BE49-F238E27FC236}">
                <a16:creationId xmlns:a16="http://schemas.microsoft.com/office/drawing/2014/main" id="{AED5F5AC-16B6-F5CB-80F3-FB4E4A015A26}"/>
              </a:ext>
            </a:extLst>
          </p:cNvPr>
          <p:cNvSpPr txBox="1">
            <a:spLocks/>
          </p:cNvSpPr>
          <p:nvPr/>
        </p:nvSpPr>
        <p:spPr>
          <a:xfrm>
            <a:off x="2847772" y="-70526"/>
            <a:ext cx="6496455"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24.9 </a:t>
            </a:r>
            <a:r>
              <a:rPr lang="en-US" sz="2800" b="1" u="sng" dirty="0">
                <a:solidFill>
                  <a:srgbClr val="0070C0"/>
                </a:solidFill>
                <a:latin typeface="+mn-lt"/>
              </a:rPr>
              <a:t>– created images' profiles– </a:t>
            </a:r>
            <a:r>
              <a:rPr lang="en-US" sz="2800" b="1" u="sng" dirty="0">
                <a:solidFill>
                  <a:srgbClr val="FF0000"/>
                </a:solidFill>
                <a:latin typeface="+mn-lt"/>
              </a:rPr>
              <a:t>part 1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5" name="Picture 4">
            <a:extLst>
              <a:ext uri="{FF2B5EF4-FFF2-40B4-BE49-F238E27FC236}">
                <a16:creationId xmlns:a16="http://schemas.microsoft.com/office/drawing/2014/main" id="{707E52BC-9A3A-16D7-3197-A585D1B9EDC5}"/>
              </a:ext>
            </a:extLst>
          </p:cNvPr>
          <p:cNvPicPr>
            <a:picLocks noChangeAspect="1"/>
          </p:cNvPicPr>
          <p:nvPr/>
        </p:nvPicPr>
        <p:blipFill>
          <a:blip r:embed="rId2"/>
          <a:stretch>
            <a:fillRect/>
          </a:stretch>
        </p:blipFill>
        <p:spPr>
          <a:xfrm>
            <a:off x="154629" y="552652"/>
            <a:ext cx="6370578" cy="2876348"/>
          </a:xfrm>
          <a:prstGeom prst="rect">
            <a:avLst/>
          </a:prstGeom>
        </p:spPr>
      </p:pic>
      <p:pic>
        <p:nvPicPr>
          <p:cNvPr id="9" name="Picture 8">
            <a:extLst>
              <a:ext uri="{FF2B5EF4-FFF2-40B4-BE49-F238E27FC236}">
                <a16:creationId xmlns:a16="http://schemas.microsoft.com/office/drawing/2014/main" id="{F267407E-69D0-5BC6-8DAB-69DE135D984B}"/>
              </a:ext>
            </a:extLst>
          </p:cNvPr>
          <p:cNvPicPr>
            <a:picLocks noChangeAspect="1"/>
          </p:cNvPicPr>
          <p:nvPr/>
        </p:nvPicPr>
        <p:blipFill>
          <a:blip r:embed="rId3"/>
          <a:stretch>
            <a:fillRect/>
          </a:stretch>
        </p:blipFill>
        <p:spPr>
          <a:xfrm>
            <a:off x="6839356" y="701000"/>
            <a:ext cx="3124200" cy="2343150"/>
          </a:xfrm>
          <a:prstGeom prst="rect">
            <a:avLst/>
          </a:prstGeom>
        </p:spPr>
      </p:pic>
      <p:pic>
        <p:nvPicPr>
          <p:cNvPr id="13" name="Picture 12">
            <a:extLst>
              <a:ext uri="{FF2B5EF4-FFF2-40B4-BE49-F238E27FC236}">
                <a16:creationId xmlns:a16="http://schemas.microsoft.com/office/drawing/2014/main" id="{C1385A0E-1B67-6CF1-E49C-3675AF84DE75}"/>
              </a:ext>
            </a:extLst>
          </p:cNvPr>
          <p:cNvPicPr>
            <a:picLocks noChangeAspect="1"/>
          </p:cNvPicPr>
          <p:nvPr/>
        </p:nvPicPr>
        <p:blipFill>
          <a:blip r:embed="rId4"/>
          <a:stretch>
            <a:fillRect/>
          </a:stretch>
        </p:blipFill>
        <p:spPr>
          <a:xfrm>
            <a:off x="6839356" y="4032825"/>
            <a:ext cx="3095625" cy="2352675"/>
          </a:xfrm>
          <a:prstGeom prst="rect">
            <a:avLst/>
          </a:prstGeom>
        </p:spPr>
      </p:pic>
      <p:pic>
        <p:nvPicPr>
          <p:cNvPr id="15" name="Picture 14">
            <a:extLst>
              <a:ext uri="{FF2B5EF4-FFF2-40B4-BE49-F238E27FC236}">
                <a16:creationId xmlns:a16="http://schemas.microsoft.com/office/drawing/2014/main" id="{1C4C75C7-6933-C629-8CC5-7B63C53E6B12}"/>
              </a:ext>
            </a:extLst>
          </p:cNvPr>
          <p:cNvPicPr>
            <a:picLocks noChangeAspect="1"/>
          </p:cNvPicPr>
          <p:nvPr/>
        </p:nvPicPr>
        <p:blipFill>
          <a:blip r:embed="rId5"/>
          <a:stretch>
            <a:fillRect/>
          </a:stretch>
        </p:blipFill>
        <p:spPr>
          <a:xfrm>
            <a:off x="157669" y="3921378"/>
            <a:ext cx="6367538" cy="2785134"/>
          </a:xfrm>
          <a:prstGeom prst="rect">
            <a:avLst/>
          </a:prstGeom>
        </p:spPr>
      </p:pic>
      <p:cxnSp>
        <p:nvCxnSpPr>
          <p:cNvPr id="18" name="Straight Arrow Connector 17">
            <a:extLst>
              <a:ext uri="{FF2B5EF4-FFF2-40B4-BE49-F238E27FC236}">
                <a16:creationId xmlns:a16="http://schemas.microsoft.com/office/drawing/2014/main" id="{A1777C56-2780-1278-1E96-9855EC85E4CC}"/>
              </a:ext>
            </a:extLst>
          </p:cNvPr>
          <p:cNvCxnSpPr>
            <a:cxnSpLocks/>
          </p:cNvCxnSpPr>
          <p:nvPr/>
        </p:nvCxnSpPr>
        <p:spPr>
          <a:xfrm flipV="1">
            <a:off x="7244755" y="2733472"/>
            <a:ext cx="605466" cy="752121"/>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3E0F6E7-97DB-621D-7FD9-63F74EA29366}"/>
              </a:ext>
            </a:extLst>
          </p:cNvPr>
          <p:cNvCxnSpPr>
            <a:cxnSpLocks/>
          </p:cNvCxnSpPr>
          <p:nvPr/>
        </p:nvCxnSpPr>
        <p:spPr>
          <a:xfrm>
            <a:off x="7159557" y="3813851"/>
            <a:ext cx="85198" cy="783787"/>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7FC624AB-BED8-0C67-DF4C-3F5EB1C96F24}"/>
              </a:ext>
            </a:extLst>
          </p:cNvPr>
          <p:cNvSpPr/>
          <p:nvPr/>
        </p:nvSpPr>
        <p:spPr>
          <a:xfrm>
            <a:off x="6692630" y="3429000"/>
            <a:ext cx="1935804" cy="38485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Inspection points</a:t>
            </a:r>
            <a:endParaRPr lang="he-IL" dirty="0"/>
          </a:p>
        </p:txBody>
      </p:sp>
    </p:spTree>
    <p:extLst>
      <p:ext uri="{BB962C8B-B14F-4D97-AF65-F5344CB8AC3E}">
        <p14:creationId xmlns:p14="http://schemas.microsoft.com/office/powerpoint/2010/main" val="2868358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5C01DF-E57C-DC15-BFA4-3D73DD41FDE9}"/>
              </a:ext>
            </a:extLst>
          </p:cNvPr>
          <p:cNvSpPr>
            <a:spLocks noGrp="1"/>
          </p:cNvSpPr>
          <p:nvPr>
            <p:ph type="sldNum" sz="quarter" idx="12"/>
          </p:nvPr>
        </p:nvSpPr>
        <p:spPr>
          <a:xfrm>
            <a:off x="11697511" y="0"/>
            <a:ext cx="494489" cy="365125"/>
          </a:xfrm>
        </p:spPr>
        <p:txBody>
          <a:bodyPr/>
          <a:lstStyle/>
          <a:p>
            <a:fld id="{81122904-1B5F-4679-B3DC-5E87602DE7DA}" type="slidenum">
              <a:rPr lang="he-IL" sz="1400" smtClean="0"/>
              <a:t>27</a:t>
            </a:fld>
            <a:endParaRPr lang="he-IL" sz="1400"/>
          </a:p>
        </p:txBody>
      </p:sp>
      <p:sp>
        <p:nvSpPr>
          <p:cNvPr id="5" name="Content Placeholder 2">
            <a:extLst>
              <a:ext uri="{FF2B5EF4-FFF2-40B4-BE49-F238E27FC236}">
                <a16:creationId xmlns:a16="http://schemas.microsoft.com/office/drawing/2014/main" id="{238DA895-B942-3435-647E-3F0F2C7AD902}"/>
              </a:ext>
            </a:extLst>
          </p:cNvPr>
          <p:cNvSpPr>
            <a:spLocks noGrp="1"/>
          </p:cNvSpPr>
          <p:nvPr>
            <p:ph idx="1"/>
          </p:nvPr>
        </p:nvSpPr>
        <p:spPr>
          <a:xfrm>
            <a:off x="1770299" y="854497"/>
            <a:ext cx="8651401" cy="1966524"/>
          </a:xfrm>
        </p:spPr>
        <p:style>
          <a:lnRef idx="0">
            <a:schemeClr val="accent2"/>
          </a:lnRef>
          <a:fillRef idx="3">
            <a:schemeClr val="accent2"/>
          </a:fillRef>
          <a:effectRef idx="3">
            <a:schemeClr val="accent2"/>
          </a:effectRef>
          <a:fontRef idx="minor">
            <a:schemeClr val="lt1"/>
          </a:fontRef>
        </p:style>
        <p:txBody>
          <a:bodyPr>
            <a:normAutofit fontScale="70000" lnSpcReduction="20000"/>
          </a:bodyPr>
          <a:lstStyle/>
          <a:p>
            <a:pPr marL="342900" indent="-342900" algn="l" rtl="0">
              <a:buAutoNum type="arabicPeriod"/>
            </a:pPr>
            <a:r>
              <a:rPr lang="en-US" dirty="0"/>
              <a:t>We learned how to count similar objects with similar shape and color in a photo using binary threshold method (under known background)</a:t>
            </a:r>
            <a:endParaRPr lang="he-IL" dirty="0"/>
          </a:p>
          <a:p>
            <a:pPr algn="l" rtl="0">
              <a:buNone/>
            </a:pPr>
            <a:r>
              <a:rPr lang="en-US" dirty="0"/>
              <a:t>2. We learned how to use uniform distribution for getting random values</a:t>
            </a:r>
          </a:p>
          <a:p>
            <a:pPr algn="l" rtl="0">
              <a:buNone/>
            </a:pPr>
            <a:r>
              <a:rPr lang="en-US" dirty="0"/>
              <a:t>3. We learned how to create random gaussians</a:t>
            </a:r>
          </a:p>
          <a:p>
            <a:pPr algn="l" rtl="0">
              <a:buNone/>
            </a:pPr>
            <a:r>
              <a:rPr lang="en-US" dirty="0"/>
              <a:t>4.We learned how to use struct of ROI to achieve better recognition of an element based on previous knowledge (approximate size of the element.)</a:t>
            </a:r>
          </a:p>
          <a:p>
            <a:pPr algn="l" rtl="0">
              <a:buNone/>
            </a:pPr>
            <a:endParaRPr lang="he-IL" dirty="0">
              <a:solidFill>
                <a:srgbClr val="FF0000"/>
              </a:solidFill>
            </a:endParaRPr>
          </a:p>
        </p:txBody>
      </p:sp>
      <p:sp>
        <p:nvSpPr>
          <p:cNvPr id="6" name="Title 1">
            <a:extLst>
              <a:ext uri="{FF2B5EF4-FFF2-40B4-BE49-F238E27FC236}">
                <a16:creationId xmlns:a16="http://schemas.microsoft.com/office/drawing/2014/main" id="{8A284EDE-BCB6-518E-BA0F-3634CA3B832C}"/>
              </a:ext>
            </a:extLst>
          </p:cNvPr>
          <p:cNvSpPr txBox="1">
            <a:spLocks/>
          </p:cNvSpPr>
          <p:nvPr/>
        </p:nvSpPr>
        <p:spPr>
          <a:xfrm>
            <a:off x="3839993" y="105079"/>
            <a:ext cx="4331241" cy="520092"/>
          </a:xfrm>
          <a:prstGeom prst="rect">
            <a:avLst/>
          </a:prstGeom>
        </p:spPr>
        <p:txBody>
          <a:bodyPr vert="horz" lIns="91440" tIns="45720" rIns="91440" bIns="45720" rtlCol="1" anchor="ctr">
            <a:normAutofit fontScale="925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24.10 </a:t>
            </a:r>
            <a:r>
              <a:rPr lang="en-US" sz="2800" b="1" u="sng" dirty="0">
                <a:solidFill>
                  <a:srgbClr val="0070C0"/>
                </a:solidFill>
                <a:latin typeface="+mn-lt"/>
              </a:rPr>
              <a:t>– what did we learn?</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574923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3626</TotalTime>
  <Words>2688</Words>
  <Application>Microsoft Office PowerPoint</Application>
  <PresentationFormat>Widescreen</PresentationFormat>
  <Paragraphs>217</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Cambria Math</vt:lpstr>
      <vt:lpstr>Wingdings</vt:lpstr>
      <vt:lpstr>Office Theme</vt:lpstr>
      <vt:lpstr>Course: Image Processing 31651 Assignment #24 Pixel to Pixel Operations (Part 4) – version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51</cp:revision>
  <dcterms:created xsi:type="dcterms:W3CDTF">2024-07-25T10:37:35Z</dcterms:created>
  <dcterms:modified xsi:type="dcterms:W3CDTF">2024-08-25T06:01:05Z</dcterms:modified>
</cp:coreProperties>
</file>