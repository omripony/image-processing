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6" r:id="rId3"/>
    <p:sldId id="258" r:id="rId4"/>
    <p:sldId id="259" r:id="rId5"/>
    <p:sldId id="260" r:id="rId6"/>
    <p:sldId id="261" r:id="rId7"/>
    <p:sldId id="263" r:id="rId8"/>
    <p:sldId id="272" r:id="rId9"/>
    <p:sldId id="264" r:id="rId10"/>
    <p:sldId id="265" r:id="rId11"/>
    <p:sldId id="266" r:id="rId12"/>
    <p:sldId id="273" r:id="rId13"/>
    <p:sldId id="267" r:id="rId14"/>
    <p:sldId id="268" r:id="rId15"/>
    <p:sldId id="269" r:id="rId16"/>
    <p:sldId id="271" r:id="rId17"/>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ברק שינפלד" userId="e397c85a-ac8c-4bc6-b1de-00c5bc583039" providerId="ADAL" clId="{1CD1C4B1-E2C2-422E-A826-7341D5493A99}"/>
    <pc:docChg chg="custSel modSld">
      <pc:chgData name="ברק שינפלד" userId="e397c85a-ac8c-4bc6-b1de-00c5bc583039" providerId="ADAL" clId="{1CD1C4B1-E2C2-422E-A826-7341D5493A99}" dt="2024-08-11T11:26:10.575" v="30" actId="20577"/>
      <pc:docMkLst>
        <pc:docMk/>
      </pc:docMkLst>
      <pc:sldChg chg="modSp mod">
        <pc:chgData name="ברק שינפלד" userId="e397c85a-ac8c-4bc6-b1de-00c5bc583039" providerId="ADAL" clId="{1CD1C4B1-E2C2-422E-A826-7341D5493A99}" dt="2024-08-11T11:26:10.575" v="30" actId="20577"/>
        <pc:sldMkLst>
          <pc:docMk/>
          <pc:sldMk cId="1574923312" sldId="271"/>
        </pc:sldMkLst>
        <pc:spChg chg="mod">
          <ac:chgData name="ברק שינפלד" userId="e397c85a-ac8c-4bc6-b1de-00c5bc583039" providerId="ADAL" clId="{1CD1C4B1-E2C2-422E-A826-7341D5493A99}" dt="2024-08-11T11:26:10.575" v="30" actId="20577"/>
          <ac:spMkLst>
            <pc:docMk/>
            <pc:sldMk cId="1574923312" sldId="271"/>
            <ac:spMk id="5" creationId="{238DA895-B942-3435-647E-3F0F2C7AD9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FB334DA-C793-44E4-B394-9B1C2BDBCEFD}" type="datetimeFigureOut">
              <a:rPr lang="he-IL" smtClean="0"/>
              <a:t>י"ד/אב/תשפ"ד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D0111F3-2A8E-44C9-8FA3-873288262D2C}" type="slidenum">
              <a:rPr lang="he-IL" smtClean="0"/>
              <a:t>‹#›</a:t>
            </a:fld>
            <a:endParaRPr lang="he-IL"/>
          </a:p>
        </p:txBody>
      </p:sp>
    </p:spTree>
    <p:extLst>
      <p:ext uri="{BB962C8B-B14F-4D97-AF65-F5344CB8AC3E}">
        <p14:creationId xmlns:p14="http://schemas.microsoft.com/office/powerpoint/2010/main" val="964340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827C3-D6FA-66C7-369D-8DE41A8DC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59DF6AD8-E6D5-7B73-1DAD-C5C736706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2C629893-8E50-5C9B-B314-8E39D39E9299}"/>
              </a:ext>
            </a:extLst>
          </p:cNvPr>
          <p:cNvSpPr>
            <a:spLocks noGrp="1"/>
          </p:cNvSpPr>
          <p:nvPr>
            <p:ph type="dt" sz="half" idx="10"/>
          </p:nvPr>
        </p:nvSpPr>
        <p:spPr/>
        <p:txBody>
          <a:bodyPr/>
          <a:lstStyle/>
          <a:p>
            <a:fld id="{DCD9A065-77D1-4BB5-913F-6F21EA3E767D}" type="datetime8">
              <a:rPr lang="he-IL" smtClean="0"/>
              <a:t>18 אוגוסט 24</a:t>
            </a:fld>
            <a:endParaRPr lang="he-IL"/>
          </a:p>
        </p:txBody>
      </p:sp>
      <p:sp>
        <p:nvSpPr>
          <p:cNvPr id="5" name="Footer Placeholder 4">
            <a:extLst>
              <a:ext uri="{FF2B5EF4-FFF2-40B4-BE49-F238E27FC236}">
                <a16:creationId xmlns:a16="http://schemas.microsoft.com/office/drawing/2014/main" id="{6F97481A-EF47-D3D4-181F-68588765E94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7627652-E9C2-CCEA-1159-3E2A468EB227}"/>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61060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44BA-89BE-0791-E8F3-9333620EAF0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908764F6-EE5C-2D86-37F7-A1B110E31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122C2F0-207F-89AC-0FDF-D257046A5759}"/>
              </a:ext>
            </a:extLst>
          </p:cNvPr>
          <p:cNvSpPr>
            <a:spLocks noGrp="1"/>
          </p:cNvSpPr>
          <p:nvPr>
            <p:ph type="dt" sz="half" idx="10"/>
          </p:nvPr>
        </p:nvSpPr>
        <p:spPr/>
        <p:txBody>
          <a:bodyPr/>
          <a:lstStyle/>
          <a:p>
            <a:fld id="{6332F5D1-07B7-4DED-ADAA-07379330798F}" type="datetime8">
              <a:rPr lang="he-IL" smtClean="0"/>
              <a:t>18 אוגוסט 24</a:t>
            </a:fld>
            <a:endParaRPr lang="he-IL"/>
          </a:p>
        </p:txBody>
      </p:sp>
      <p:sp>
        <p:nvSpPr>
          <p:cNvPr id="5" name="Footer Placeholder 4">
            <a:extLst>
              <a:ext uri="{FF2B5EF4-FFF2-40B4-BE49-F238E27FC236}">
                <a16:creationId xmlns:a16="http://schemas.microsoft.com/office/drawing/2014/main" id="{A4999A65-55F4-0A7B-14D3-6626E36C510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4B461D4-BC6A-C1AB-E50F-C95AA6E8532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62357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37767-8025-D151-1032-3811604FC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5C34F012-40A0-E999-4054-875307A2DA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4895AA-F6EA-9A32-5637-0234A01B50BC}"/>
              </a:ext>
            </a:extLst>
          </p:cNvPr>
          <p:cNvSpPr>
            <a:spLocks noGrp="1"/>
          </p:cNvSpPr>
          <p:nvPr>
            <p:ph type="dt" sz="half" idx="10"/>
          </p:nvPr>
        </p:nvSpPr>
        <p:spPr/>
        <p:txBody>
          <a:bodyPr/>
          <a:lstStyle/>
          <a:p>
            <a:fld id="{90E21049-26CE-4894-ABA1-F507D930348C}" type="datetime8">
              <a:rPr lang="he-IL" smtClean="0"/>
              <a:t>18 אוגוסט 24</a:t>
            </a:fld>
            <a:endParaRPr lang="he-IL"/>
          </a:p>
        </p:txBody>
      </p:sp>
      <p:sp>
        <p:nvSpPr>
          <p:cNvPr id="5" name="Footer Placeholder 4">
            <a:extLst>
              <a:ext uri="{FF2B5EF4-FFF2-40B4-BE49-F238E27FC236}">
                <a16:creationId xmlns:a16="http://schemas.microsoft.com/office/drawing/2014/main" id="{5025F018-2478-EB6F-85D0-B61B488DC788}"/>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8067CB2-DB44-02AA-BDB6-24F3721F914F}"/>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9442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A5148-028E-E997-FEDA-0E608EE2D29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ECECC1D5-0C56-601F-4F62-2F5A748710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0F9EF57E-9C2F-5C56-4A32-1EDB4E44A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C75A50C5-964D-610E-73B7-DEF919671D83}"/>
              </a:ext>
            </a:extLst>
          </p:cNvPr>
          <p:cNvSpPr>
            <a:spLocks noGrp="1"/>
          </p:cNvSpPr>
          <p:nvPr>
            <p:ph type="dt" sz="half" idx="10"/>
          </p:nvPr>
        </p:nvSpPr>
        <p:spPr/>
        <p:txBody>
          <a:bodyPr/>
          <a:lstStyle/>
          <a:p>
            <a:fld id="{D4AC38E6-4CD8-405F-8818-5109329025F5}" type="datetime8">
              <a:rPr lang="he-IL" smtClean="0"/>
              <a:t>18 אוגוסט 24</a:t>
            </a:fld>
            <a:endParaRPr lang="he-IL"/>
          </a:p>
        </p:txBody>
      </p:sp>
      <p:sp>
        <p:nvSpPr>
          <p:cNvPr id="6" name="Footer Placeholder 5">
            <a:extLst>
              <a:ext uri="{FF2B5EF4-FFF2-40B4-BE49-F238E27FC236}">
                <a16:creationId xmlns:a16="http://schemas.microsoft.com/office/drawing/2014/main" id="{AADFC7B4-2012-EBB1-F27E-0D4E490BAEC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85CF4791-59BA-7A4C-61E1-3BB948E5994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958844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E904-44E7-64AF-6EA2-09106FCE899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F245126-195C-D8F0-D632-24FF3C6DC3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F84FA-8A83-D586-5A0A-5FA6171099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245A2644-AE96-0B6C-1558-3F2659F81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3A2F93-088D-304D-D359-A3165B784F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225F0DD4-215D-423B-D191-053E9501A170}"/>
              </a:ext>
            </a:extLst>
          </p:cNvPr>
          <p:cNvSpPr>
            <a:spLocks noGrp="1"/>
          </p:cNvSpPr>
          <p:nvPr>
            <p:ph type="dt" sz="half" idx="10"/>
          </p:nvPr>
        </p:nvSpPr>
        <p:spPr/>
        <p:txBody>
          <a:bodyPr/>
          <a:lstStyle/>
          <a:p>
            <a:fld id="{729B336C-2388-467E-B959-6B70B437B2B0}" type="datetime8">
              <a:rPr lang="he-IL" smtClean="0"/>
              <a:t>18 אוגוסט 24</a:t>
            </a:fld>
            <a:endParaRPr lang="he-IL"/>
          </a:p>
        </p:txBody>
      </p:sp>
      <p:sp>
        <p:nvSpPr>
          <p:cNvPr id="8" name="Footer Placeholder 7">
            <a:extLst>
              <a:ext uri="{FF2B5EF4-FFF2-40B4-BE49-F238E27FC236}">
                <a16:creationId xmlns:a16="http://schemas.microsoft.com/office/drawing/2014/main" id="{3FAA5396-5503-5092-7139-69646B1BBCC3}"/>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6321D9E1-3DAC-6570-5099-E2806668B4A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45211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4607B-3A97-292A-27C3-CD4EF0C6C8A4}"/>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F6AC28B4-490A-F37C-D686-A24EAE78806E}"/>
              </a:ext>
            </a:extLst>
          </p:cNvPr>
          <p:cNvSpPr>
            <a:spLocks noGrp="1"/>
          </p:cNvSpPr>
          <p:nvPr>
            <p:ph type="dt" sz="half" idx="10"/>
          </p:nvPr>
        </p:nvSpPr>
        <p:spPr/>
        <p:txBody>
          <a:bodyPr/>
          <a:lstStyle/>
          <a:p>
            <a:fld id="{D5124FE0-FCC2-48EF-9D98-9F69E9926681}" type="datetime8">
              <a:rPr lang="he-IL" smtClean="0"/>
              <a:t>18 אוגוסט 24</a:t>
            </a:fld>
            <a:endParaRPr lang="he-IL"/>
          </a:p>
        </p:txBody>
      </p:sp>
      <p:sp>
        <p:nvSpPr>
          <p:cNvPr id="4" name="Footer Placeholder 3">
            <a:extLst>
              <a:ext uri="{FF2B5EF4-FFF2-40B4-BE49-F238E27FC236}">
                <a16:creationId xmlns:a16="http://schemas.microsoft.com/office/drawing/2014/main" id="{C71CB608-00C1-6042-80C7-2CED09E78A5D}"/>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4E8451B-2DCD-CBFF-5DB8-BB93D8B3313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280060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7823E-3C82-2A94-13C4-D2A39E1F32D5}"/>
              </a:ext>
            </a:extLst>
          </p:cNvPr>
          <p:cNvSpPr>
            <a:spLocks noGrp="1"/>
          </p:cNvSpPr>
          <p:nvPr>
            <p:ph type="dt" sz="half" idx="10"/>
          </p:nvPr>
        </p:nvSpPr>
        <p:spPr/>
        <p:txBody>
          <a:bodyPr/>
          <a:lstStyle/>
          <a:p>
            <a:fld id="{9C30FD23-55FE-4CC8-8277-39BB0EAEE0FA}" type="datetime8">
              <a:rPr lang="he-IL" smtClean="0"/>
              <a:t>18 אוגוסט 24</a:t>
            </a:fld>
            <a:endParaRPr lang="he-IL"/>
          </a:p>
        </p:txBody>
      </p:sp>
      <p:sp>
        <p:nvSpPr>
          <p:cNvPr id="3" name="Footer Placeholder 2">
            <a:extLst>
              <a:ext uri="{FF2B5EF4-FFF2-40B4-BE49-F238E27FC236}">
                <a16:creationId xmlns:a16="http://schemas.microsoft.com/office/drawing/2014/main" id="{74A7B998-B3AF-19BF-4AB1-8DABBFCE5A07}"/>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239C4964-9B67-F490-122C-8FF47A82E3E2}"/>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84696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752B-6686-B1D1-F428-80262051D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48EDFBEA-BE44-F870-7F62-FF8E0DD40B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E06AFEFB-C927-EAEC-47F7-15CD4DC97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696BF-A572-A4F6-710D-15B5A81DD09E}"/>
              </a:ext>
            </a:extLst>
          </p:cNvPr>
          <p:cNvSpPr>
            <a:spLocks noGrp="1"/>
          </p:cNvSpPr>
          <p:nvPr>
            <p:ph type="dt" sz="half" idx="10"/>
          </p:nvPr>
        </p:nvSpPr>
        <p:spPr/>
        <p:txBody>
          <a:bodyPr/>
          <a:lstStyle/>
          <a:p>
            <a:fld id="{37567DF8-D905-4650-92BF-EF6FBCF65DB5}" type="datetime8">
              <a:rPr lang="he-IL" smtClean="0"/>
              <a:t>18 אוגוסט 24</a:t>
            </a:fld>
            <a:endParaRPr lang="he-IL"/>
          </a:p>
        </p:txBody>
      </p:sp>
      <p:sp>
        <p:nvSpPr>
          <p:cNvPr id="6" name="Footer Placeholder 5">
            <a:extLst>
              <a:ext uri="{FF2B5EF4-FFF2-40B4-BE49-F238E27FC236}">
                <a16:creationId xmlns:a16="http://schemas.microsoft.com/office/drawing/2014/main" id="{F4C62ACE-62FA-A1E7-7983-520BC307A9D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D5ACDC73-DDD9-E0FA-1F49-203514CEF9B4}"/>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24713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6C5C-3CBA-958A-FAC3-8546891A6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A01FA004-BC52-B5FD-8A00-32359E30F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5062E2EA-DA9E-6C9B-5C98-8062598268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DF2F45-5560-84D7-5B68-522C8B7CD616}"/>
              </a:ext>
            </a:extLst>
          </p:cNvPr>
          <p:cNvSpPr>
            <a:spLocks noGrp="1"/>
          </p:cNvSpPr>
          <p:nvPr>
            <p:ph type="dt" sz="half" idx="10"/>
          </p:nvPr>
        </p:nvSpPr>
        <p:spPr/>
        <p:txBody>
          <a:bodyPr/>
          <a:lstStyle/>
          <a:p>
            <a:fld id="{14EDC78A-9B06-4685-BDED-5E58DA920AAA}" type="datetime8">
              <a:rPr lang="he-IL" smtClean="0"/>
              <a:t>18 אוגוסט 24</a:t>
            </a:fld>
            <a:endParaRPr lang="he-IL"/>
          </a:p>
        </p:txBody>
      </p:sp>
      <p:sp>
        <p:nvSpPr>
          <p:cNvPr id="6" name="Footer Placeholder 5">
            <a:extLst>
              <a:ext uri="{FF2B5EF4-FFF2-40B4-BE49-F238E27FC236}">
                <a16:creationId xmlns:a16="http://schemas.microsoft.com/office/drawing/2014/main" id="{266CD0C0-BC7C-78FC-6819-C848C482EB0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350AFA1C-0E8A-980E-D6A1-5AA47C47D023}"/>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69770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010D0-4FBF-8C1F-36DD-7027CBFDA432}"/>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6938040C-8F1D-93B3-9211-A09CF883A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E436E1D-93A5-BCC3-DDEF-B35110E19360}"/>
              </a:ext>
            </a:extLst>
          </p:cNvPr>
          <p:cNvSpPr>
            <a:spLocks noGrp="1"/>
          </p:cNvSpPr>
          <p:nvPr>
            <p:ph type="dt" sz="half" idx="10"/>
          </p:nvPr>
        </p:nvSpPr>
        <p:spPr/>
        <p:txBody>
          <a:bodyPr/>
          <a:lstStyle/>
          <a:p>
            <a:fld id="{051AF78F-7F0D-4982-817D-86660B6E51D5}" type="datetime8">
              <a:rPr lang="he-IL" smtClean="0"/>
              <a:t>18 אוגוסט 24</a:t>
            </a:fld>
            <a:endParaRPr lang="he-IL"/>
          </a:p>
        </p:txBody>
      </p:sp>
      <p:sp>
        <p:nvSpPr>
          <p:cNvPr id="5" name="Footer Placeholder 4">
            <a:extLst>
              <a:ext uri="{FF2B5EF4-FFF2-40B4-BE49-F238E27FC236}">
                <a16:creationId xmlns:a16="http://schemas.microsoft.com/office/drawing/2014/main" id="{81662B09-2F96-2601-000E-A57B4C3ECB5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FFDC0FA-FFB1-E7A3-14A0-EFCD6F2209E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271196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580661-F659-1514-139C-0584218641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9472CC3-99AD-268D-1E56-A171FCCF98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2729E30-DC6E-4C01-F4AB-FB5148D77696}"/>
              </a:ext>
            </a:extLst>
          </p:cNvPr>
          <p:cNvSpPr>
            <a:spLocks noGrp="1"/>
          </p:cNvSpPr>
          <p:nvPr>
            <p:ph type="dt" sz="half" idx="10"/>
          </p:nvPr>
        </p:nvSpPr>
        <p:spPr/>
        <p:txBody>
          <a:bodyPr/>
          <a:lstStyle/>
          <a:p>
            <a:fld id="{E5DA3DA1-5CDE-4F50-9CE1-030A5B61402A}" type="datetime8">
              <a:rPr lang="he-IL" smtClean="0"/>
              <a:t>18 אוגוסט 24</a:t>
            </a:fld>
            <a:endParaRPr lang="he-IL"/>
          </a:p>
        </p:txBody>
      </p:sp>
      <p:sp>
        <p:nvSpPr>
          <p:cNvPr id="5" name="Footer Placeholder 4">
            <a:extLst>
              <a:ext uri="{FF2B5EF4-FFF2-40B4-BE49-F238E27FC236}">
                <a16:creationId xmlns:a16="http://schemas.microsoft.com/office/drawing/2014/main" id="{B7074491-34F5-9D0F-67EC-AD9E11A6987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DC6A970-C368-6D00-E749-A8CF5AE8ABA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8758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225BC-2BFE-9BE2-56A2-1D472AD4E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80CE685-CD0D-C053-4392-2CC0FEF7F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F600C61-3AFE-29B4-BC49-B91EE3B40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080159-467D-459C-83C1-C34DD7114053}" type="datetime8">
              <a:rPr lang="he-IL" smtClean="0"/>
              <a:t>18 אוגוסט 24</a:t>
            </a:fld>
            <a:endParaRPr lang="he-IL"/>
          </a:p>
        </p:txBody>
      </p:sp>
      <p:sp>
        <p:nvSpPr>
          <p:cNvPr id="5" name="Footer Placeholder 4">
            <a:extLst>
              <a:ext uri="{FF2B5EF4-FFF2-40B4-BE49-F238E27FC236}">
                <a16:creationId xmlns:a16="http://schemas.microsoft.com/office/drawing/2014/main" id="{D7F75550-E82A-9F65-7370-EA8244E4A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C464429F-9EA2-4D93-87E9-D7EF32ECE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122904-1B5F-4679-B3DC-5E87602DE7DA}" type="slidenum">
              <a:rPr lang="he-IL" smtClean="0"/>
              <a:t>‹#›</a:t>
            </a:fld>
            <a:endParaRPr lang="he-IL"/>
          </a:p>
        </p:txBody>
      </p:sp>
    </p:spTree>
    <p:extLst>
      <p:ext uri="{BB962C8B-B14F-4D97-AF65-F5344CB8AC3E}">
        <p14:creationId xmlns:p14="http://schemas.microsoft.com/office/powerpoint/2010/main" val="230751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250861" y="-6486"/>
            <a:ext cx="7651895" cy="1436438"/>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#24</a:t>
            </a:r>
            <a:br>
              <a:rPr lang="en-US" sz="3200" b="1" dirty="0">
                <a:solidFill>
                  <a:srgbClr val="0070C0"/>
                </a:solidFill>
              </a:rPr>
            </a:br>
            <a:r>
              <a:rPr lang="en-US" sz="3200" b="1" dirty="0">
                <a:solidFill>
                  <a:srgbClr val="0070C0"/>
                </a:solidFill>
              </a:rPr>
              <a:t>Pixel to Pixel Operations (Part 4) – </a:t>
            </a:r>
            <a:r>
              <a:rPr lang="en-US" sz="3200" b="1" dirty="0">
                <a:solidFill>
                  <a:srgbClr val="FF0000"/>
                </a:solidFill>
              </a:rPr>
              <a:t>version 2</a:t>
            </a:r>
            <a:endParaRPr lang="he-IL" sz="3200" b="1" dirty="0">
              <a:solidFill>
                <a:srgbClr val="FF000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
        <p:nvSpPr>
          <p:cNvPr id="12" name="Slide Number Placeholder 5">
            <a:extLst>
              <a:ext uri="{FF2B5EF4-FFF2-40B4-BE49-F238E27FC236}">
                <a16:creationId xmlns:a16="http://schemas.microsoft.com/office/drawing/2014/main" id="{E3F585D0-07EB-A773-A93C-5A424F8EE9BA}"/>
              </a:ext>
            </a:extLst>
          </p:cNvPr>
          <p:cNvSpPr txBox="1">
            <a:spLocks/>
          </p:cNvSpPr>
          <p:nvPr/>
        </p:nvSpPr>
        <p:spPr>
          <a:xfrm>
            <a:off x="11833698" y="0"/>
            <a:ext cx="35830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1122904-1B5F-4679-B3DC-5E87602DE7DA}" type="slidenum">
              <a:rPr lang="he-IL" sz="1400" smtClean="0"/>
              <a:pPr/>
              <a:t>1</a:t>
            </a:fld>
            <a:endParaRPr lang="he-IL" sz="1400"/>
          </a:p>
        </p:txBody>
      </p:sp>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F4EA96-6FC4-AA11-7BE8-2F2E1A3BE70C}"/>
              </a:ext>
            </a:extLst>
          </p:cNvPr>
          <p:cNvPicPr>
            <a:picLocks noChangeAspect="1"/>
          </p:cNvPicPr>
          <p:nvPr/>
        </p:nvPicPr>
        <p:blipFill rotWithShape="1">
          <a:blip r:embed="rId2"/>
          <a:srcRect b="2011"/>
          <a:stretch/>
        </p:blipFill>
        <p:spPr>
          <a:xfrm>
            <a:off x="1357068" y="97706"/>
            <a:ext cx="9477862" cy="5668123"/>
          </a:xfrm>
          <a:prstGeom prst="rect">
            <a:avLst/>
          </a:prstGeom>
        </p:spPr>
      </p:pic>
      <p:sp>
        <p:nvSpPr>
          <p:cNvPr id="6" name="Slide Number Placeholder 5">
            <a:extLst>
              <a:ext uri="{FF2B5EF4-FFF2-40B4-BE49-F238E27FC236}">
                <a16:creationId xmlns:a16="http://schemas.microsoft.com/office/drawing/2014/main" id="{E94176B5-AAD4-22BD-CD51-9CB82B99CD23}"/>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2</a:t>
            </a:fld>
            <a:endParaRPr lang="he-IL" sz="1400"/>
          </a:p>
        </p:txBody>
      </p:sp>
      <p:sp>
        <p:nvSpPr>
          <p:cNvPr id="4" name="Rectangle 3">
            <a:extLst>
              <a:ext uri="{FF2B5EF4-FFF2-40B4-BE49-F238E27FC236}">
                <a16:creationId xmlns:a16="http://schemas.microsoft.com/office/drawing/2014/main" id="{C731E78C-DC61-F5C6-600D-1C1C6DAB8F4F}"/>
              </a:ext>
            </a:extLst>
          </p:cNvPr>
          <p:cNvSpPr/>
          <p:nvPr/>
        </p:nvSpPr>
        <p:spPr>
          <a:xfrm>
            <a:off x="998706" y="5884806"/>
            <a:ext cx="10194587" cy="8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Pay attention : due to the complexity of the code and the complexity of the order of operations in the code – the functions will be explained first and only after that the connectivity to the task will be explained. Every function will be explained as an “isolated part” of the entire program.  </a:t>
            </a:r>
            <a:endParaRPr lang="he-IL" b="1" dirty="0">
              <a:solidFill>
                <a:srgbClr val="FFFF00"/>
              </a:solidFill>
            </a:endParaRPr>
          </a:p>
        </p:txBody>
      </p:sp>
    </p:spTree>
    <p:extLst>
      <p:ext uri="{BB962C8B-B14F-4D97-AF65-F5344CB8AC3E}">
        <p14:creationId xmlns:p14="http://schemas.microsoft.com/office/powerpoint/2010/main" val="3310269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3</a:t>
            </a:fld>
            <a:endParaRPr lang="he-IL" sz="1400"/>
          </a:p>
        </p:txBody>
      </p:sp>
      <p:pic>
        <p:nvPicPr>
          <p:cNvPr id="4" name="Picture 3">
            <a:extLst>
              <a:ext uri="{FF2B5EF4-FFF2-40B4-BE49-F238E27FC236}">
                <a16:creationId xmlns:a16="http://schemas.microsoft.com/office/drawing/2014/main" id="{8480E82D-1680-76F5-DFDC-CB33AF2E05EC}"/>
              </a:ext>
            </a:extLst>
          </p:cNvPr>
          <p:cNvPicPr>
            <a:picLocks noChangeAspect="1"/>
          </p:cNvPicPr>
          <p:nvPr/>
        </p:nvPicPr>
        <p:blipFill>
          <a:blip r:embed="rId2"/>
          <a:stretch>
            <a:fillRect/>
          </a:stretch>
        </p:blipFill>
        <p:spPr>
          <a:xfrm>
            <a:off x="-5067" y="1342417"/>
            <a:ext cx="11306646" cy="3388250"/>
          </a:xfrm>
          <a:prstGeom prst="rect">
            <a:avLst/>
          </a:prstGeom>
        </p:spPr>
      </p:pic>
      <p:sp>
        <p:nvSpPr>
          <p:cNvPr id="2" name="Title 1">
            <a:extLst>
              <a:ext uri="{FF2B5EF4-FFF2-40B4-BE49-F238E27FC236}">
                <a16:creationId xmlns:a16="http://schemas.microsoft.com/office/drawing/2014/main" id="{77BC767D-A646-A503-C483-FF5C02924A75}"/>
              </a:ext>
            </a:extLst>
          </p:cNvPr>
          <p:cNvSpPr txBox="1">
            <a:spLocks/>
          </p:cNvSpPr>
          <p:nvPr/>
        </p:nvSpPr>
        <p:spPr>
          <a:xfrm>
            <a:off x="3441159" y="0"/>
            <a:ext cx="5309681" cy="539595"/>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 </a:t>
            </a:r>
            <a:r>
              <a:rPr lang="en-US" sz="2800" b="1" u="sng" dirty="0">
                <a:solidFill>
                  <a:srgbClr val="0070C0"/>
                </a:solidFill>
                <a:latin typeface="+mn-lt"/>
              </a:rPr>
              <a:t>– “DrawGaussian”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6BE786D9-2E8F-350F-8216-CD4BBF1C8BB4}"/>
              </a:ext>
            </a:extLst>
          </p:cNvPr>
          <p:cNvSpPr txBox="1"/>
          <p:nvPr/>
        </p:nvSpPr>
        <p:spPr>
          <a:xfrm>
            <a:off x="448280" y="539595"/>
            <a:ext cx="11295437"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DrawGaussian function is designed to add a Gaussian distribution to an image at specified coordinates.</a:t>
            </a:r>
            <a:endParaRPr lang="he-IL" b="1" dirty="0"/>
          </a:p>
        </p:txBody>
      </p:sp>
      <p:sp>
        <p:nvSpPr>
          <p:cNvPr id="9" name="TextBox 8">
            <a:extLst>
              <a:ext uri="{FF2B5EF4-FFF2-40B4-BE49-F238E27FC236}">
                <a16:creationId xmlns:a16="http://schemas.microsoft.com/office/drawing/2014/main" id="{6C1E5E3A-5F22-2A26-55E4-63283405E364}"/>
              </a:ext>
            </a:extLst>
          </p:cNvPr>
          <p:cNvSpPr txBox="1"/>
          <p:nvPr/>
        </p:nvSpPr>
        <p:spPr>
          <a:xfrm>
            <a:off x="8274185" y="1614927"/>
            <a:ext cx="3738664"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For each pixel located at (row, column), the function calculates the value of the Gaussian distribution at that point.</a:t>
            </a:r>
            <a:endParaRPr lang="he-IL" dirty="0"/>
          </a:p>
        </p:txBody>
      </p:sp>
      <p:sp>
        <p:nvSpPr>
          <p:cNvPr id="12" name="TextBox 11">
            <a:extLst>
              <a:ext uri="{FF2B5EF4-FFF2-40B4-BE49-F238E27FC236}">
                <a16:creationId xmlns:a16="http://schemas.microsoft.com/office/drawing/2014/main" id="{2D31A514-D48A-379F-5905-5F421D216EE6}"/>
              </a:ext>
            </a:extLst>
          </p:cNvPr>
          <p:cNvSpPr txBox="1"/>
          <p:nvPr/>
        </p:nvSpPr>
        <p:spPr>
          <a:xfrm>
            <a:off x="7991273" y="2810768"/>
            <a:ext cx="4200727"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 and b are the normalized distances from the center of the Gaussian in the x and y directions, respectively.</a:t>
            </a:r>
            <a:endParaRPr lang="he-IL" dirty="0"/>
          </a:p>
        </p:txBody>
      </p:sp>
      <p:cxnSp>
        <p:nvCxnSpPr>
          <p:cNvPr id="14" name="Straight Arrow Connector 13">
            <a:extLst>
              <a:ext uri="{FF2B5EF4-FFF2-40B4-BE49-F238E27FC236}">
                <a16:creationId xmlns:a16="http://schemas.microsoft.com/office/drawing/2014/main" id="{53F603CD-955C-FEEF-9DE3-AC6FB34DE037}"/>
              </a:ext>
            </a:extLst>
          </p:cNvPr>
          <p:cNvCxnSpPr>
            <a:cxnSpLocks/>
            <a:stCxn id="12" idx="1"/>
          </p:cNvCxnSpPr>
          <p:nvPr/>
        </p:nvCxnSpPr>
        <p:spPr>
          <a:xfrm flipH="1" flipV="1">
            <a:off x="5175115" y="3138421"/>
            <a:ext cx="2816158" cy="134012"/>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8" name="TextBox 17">
            <a:extLst>
              <a:ext uri="{FF2B5EF4-FFF2-40B4-BE49-F238E27FC236}">
                <a16:creationId xmlns:a16="http://schemas.microsoft.com/office/drawing/2014/main" id="{B3B4A4B0-80B6-614C-04F8-A644F9E56184}"/>
              </a:ext>
            </a:extLst>
          </p:cNvPr>
          <p:cNvSpPr txBox="1"/>
          <p:nvPr/>
        </p:nvSpPr>
        <p:spPr>
          <a:xfrm>
            <a:off x="7492515" y="4042955"/>
            <a:ext cx="4649012"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Gaussian value c is then calculated using the formula for a 2D Gaussian distribution:</a:t>
            </a:r>
            <a:endParaRPr lang="he-IL" dirty="0"/>
          </a:p>
        </p:txBody>
      </p:sp>
      <p:cxnSp>
        <p:nvCxnSpPr>
          <p:cNvPr id="19" name="Straight Arrow Connector 18">
            <a:extLst>
              <a:ext uri="{FF2B5EF4-FFF2-40B4-BE49-F238E27FC236}">
                <a16:creationId xmlns:a16="http://schemas.microsoft.com/office/drawing/2014/main" id="{71FBE9E0-92DE-8020-3B1A-3A2EA23760A0}"/>
              </a:ext>
            </a:extLst>
          </p:cNvPr>
          <p:cNvCxnSpPr>
            <a:cxnSpLocks/>
          </p:cNvCxnSpPr>
          <p:nvPr/>
        </p:nvCxnSpPr>
        <p:spPr>
          <a:xfrm flipH="1" flipV="1">
            <a:off x="5175115" y="3521256"/>
            <a:ext cx="5408579" cy="540495"/>
          </a:xfrm>
          <a:prstGeom prst="straightConnector1">
            <a:avLst/>
          </a:prstGeom>
          <a:ln w="76200">
            <a:solidFill>
              <a:srgbClr val="7030A0"/>
            </a:solidFill>
            <a:tailEnd type="triangle"/>
          </a:ln>
        </p:spPr>
        <p:style>
          <a:lnRef idx="3">
            <a:schemeClr val="accent3"/>
          </a:lnRef>
          <a:fillRef idx="0">
            <a:schemeClr val="accent3"/>
          </a:fillRef>
          <a:effectRef idx="2">
            <a:schemeClr val="accent3"/>
          </a:effectRef>
          <a:fontRef idx="minor">
            <a:schemeClr val="tx1"/>
          </a:fontRef>
        </p:style>
      </p:cxnSp>
      <p:sp>
        <p:nvSpPr>
          <p:cNvPr id="25" name="TextBox 24">
            <a:extLst>
              <a:ext uri="{FF2B5EF4-FFF2-40B4-BE49-F238E27FC236}">
                <a16:creationId xmlns:a16="http://schemas.microsoft.com/office/drawing/2014/main" id="{2F311737-6B49-E10E-8499-1DBBB2CB2488}"/>
              </a:ext>
            </a:extLst>
          </p:cNvPr>
          <p:cNvSpPr txBox="1"/>
          <p:nvPr/>
        </p:nvSpPr>
        <p:spPr>
          <a:xfrm>
            <a:off x="7492515" y="4739811"/>
            <a:ext cx="4649012"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d is the Gaussian value rounded to the nearest integer.</a:t>
            </a:r>
            <a:endParaRPr lang="he-IL" dirty="0"/>
          </a:p>
        </p:txBody>
      </p:sp>
      <p:sp>
        <p:nvSpPr>
          <p:cNvPr id="27" name="TextBox 26">
            <a:extLst>
              <a:ext uri="{FF2B5EF4-FFF2-40B4-BE49-F238E27FC236}">
                <a16:creationId xmlns:a16="http://schemas.microsoft.com/office/drawing/2014/main" id="{14058FED-0CB2-DD70-2FF9-C888E86D50DA}"/>
              </a:ext>
            </a:extLst>
          </p:cNvPr>
          <p:cNvSpPr txBox="1"/>
          <p:nvPr/>
        </p:nvSpPr>
        <p:spPr>
          <a:xfrm>
            <a:off x="4189381" y="5436667"/>
            <a:ext cx="8002619"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updates the pixel value at (row, column) in the image array img:</a:t>
            </a:r>
          </a:p>
          <a:p>
            <a:r>
              <a:rPr lang="en-US" dirty="0"/>
              <a:t>If the calculated Gaussian value d is greater than 10, the pixel value is updated to d. If d is less than or equal to 10, the pixel value remains unchanged.</a:t>
            </a:r>
          </a:p>
        </p:txBody>
      </p:sp>
      <p:cxnSp>
        <p:nvCxnSpPr>
          <p:cNvPr id="30" name="Straight Arrow Connector 29">
            <a:extLst>
              <a:ext uri="{FF2B5EF4-FFF2-40B4-BE49-F238E27FC236}">
                <a16:creationId xmlns:a16="http://schemas.microsoft.com/office/drawing/2014/main" id="{F21F182F-8F8A-6162-2061-D5CADB31DAFE}"/>
              </a:ext>
            </a:extLst>
          </p:cNvPr>
          <p:cNvCxnSpPr>
            <a:cxnSpLocks/>
          </p:cNvCxnSpPr>
          <p:nvPr/>
        </p:nvCxnSpPr>
        <p:spPr>
          <a:xfrm flipH="1" flipV="1">
            <a:off x="4829775" y="4202437"/>
            <a:ext cx="1864065" cy="1234230"/>
          </a:xfrm>
          <a:prstGeom prst="straightConnector1">
            <a:avLst/>
          </a:prstGeom>
          <a:ln w="76200">
            <a:solidFill>
              <a:srgbClr val="0070C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505964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4</a:t>
            </a:fld>
            <a:endParaRPr lang="he-IL" sz="1400"/>
          </a:p>
        </p:txBody>
      </p:sp>
      <p:sp>
        <p:nvSpPr>
          <p:cNvPr id="2" name="Title 1">
            <a:extLst>
              <a:ext uri="{FF2B5EF4-FFF2-40B4-BE49-F238E27FC236}">
                <a16:creationId xmlns:a16="http://schemas.microsoft.com/office/drawing/2014/main" id="{12D43947-06AD-6896-2FE6-3ED938BA38FF}"/>
              </a:ext>
            </a:extLst>
          </p:cNvPr>
          <p:cNvSpPr txBox="1">
            <a:spLocks/>
          </p:cNvSpPr>
          <p:nvPr/>
        </p:nvSpPr>
        <p:spPr>
          <a:xfrm>
            <a:off x="27906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24.2 </a:t>
            </a:r>
            <a:r>
              <a:rPr lang="en-US" sz="2800" b="1" u="sng" dirty="0">
                <a:solidFill>
                  <a:srgbClr val="0070C0"/>
                </a:solidFill>
                <a:latin typeface="+mn-lt"/>
              </a:rPr>
              <a:t>– “ROI (region of interest)” struct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469326FF-6065-DBDC-C98C-05C7A0ABD889}"/>
              </a:ext>
            </a:extLst>
          </p:cNvPr>
          <p:cNvSpPr txBox="1"/>
          <p:nvPr/>
        </p:nvSpPr>
        <p:spPr>
          <a:xfrm>
            <a:off x="6250832" y="1028700"/>
            <a:ext cx="5941168"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primary purpose of the ROI struct is to define a rectangular area within an image where certain operations will be applied.</a:t>
            </a:r>
            <a:endParaRPr lang="he-IL" dirty="0"/>
          </a:p>
        </p:txBody>
      </p:sp>
      <p:sp>
        <p:nvSpPr>
          <p:cNvPr id="8" name="Arrow: Down 7">
            <a:extLst>
              <a:ext uri="{FF2B5EF4-FFF2-40B4-BE49-F238E27FC236}">
                <a16:creationId xmlns:a16="http://schemas.microsoft.com/office/drawing/2014/main" id="{69B7F779-1AC6-6036-59FA-9D6842C8C82C}"/>
              </a:ext>
            </a:extLst>
          </p:cNvPr>
          <p:cNvSpPr/>
          <p:nvPr/>
        </p:nvSpPr>
        <p:spPr>
          <a:xfrm>
            <a:off x="8998085" y="1952030"/>
            <a:ext cx="418289" cy="547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a:extLst>
              <a:ext uri="{FF2B5EF4-FFF2-40B4-BE49-F238E27FC236}">
                <a16:creationId xmlns:a16="http://schemas.microsoft.com/office/drawing/2014/main" id="{27E04356-879D-9AAA-1087-70E4EDAE2828}"/>
              </a:ext>
            </a:extLst>
          </p:cNvPr>
          <p:cNvSpPr txBox="1"/>
          <p:nvPr/>
        </p:nvSpPr>
        <p:spPr>
          <a:xfrm>
            <a:off x="6250832" y="2500009"/>
            <a:ext cx="5941168"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allows focusing on specific parts of the image rather than processing the entire image.</a:t>
            </a:r>
            <a:endParaRPr lang="he-IL" dirty="0"/>
          </a:p>
        </p:txBody>
      </p:sp>
      <p:sp>
        <p:nvSpPr>
          <p:cNvPr id="12" name="TextBox 11">
            <a:extLst>
              <a:ext uri="{FF2B5EF4-FFF2-40B4-BE49-F238E27FC236}">
                <a16:creationId xmlns:a16="http://schemas.microsoft.com/office/drawing/2014/main" id="{BBD7E002-271A-42FF-82C4-60BA6125833A}"/>
              </a:ext>
            </a:extLst>
          </p:cNvPr>
          <p:cNvSpPr txBox="1"/>
          <p:nvPr/>
        </p:nvSpPr>
        <p:spPr>
          <a:xfrm>
            <a:off x="6236645" y="3909722"/>
            <a:ext cx="5941168"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void </a:t>
            </a:r>
            <a:r>
              <a:rPr lang="en-US" b="1" dirty="0"/>
              <a:t>ClipToBounds</a:t>
            </a:r>
            <a:r>
              <a:rPr lang="en-US" dirty="0"/>
              <a:t> is a method to ensure the ROI is within the bounds of the image. It adjusts the top, bottom, left, and right properties to make sure they do not exceed the image dimensions.</a:t>
            </a:r>
            <a:endParaRPr lang="he-IL" dirty="0"/>
          </a:p>
        </p:txBody>
      </p:sp>
      <p:sp>
        <p:nvSpPr>
          <p:cNvPr id="13" name="Arrow: Down 12">
            <a:extLst>
              <a:ext uri="{FF2B5EF4-FFF2-40B4-BE49-F238E27FC236}">
                <a16:creationId xmlns:a16="http://schemas.microsoft.com/office/drawing/2014/main" id="{D15272F2-312D-413D-A196-B1B9C013A799}"/>
              </a:ext>
            </a:extLst>
          </p:cNvPr>
          <p:cNvSpPr/>
          <p:nvPr/>
        </p:nvSpPr>
        <p:spPr>
          <a:xfrm>
            <a:off x="8998084" y="3149349"/>
            <a:ext cx="418289" cy="7603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Rectangle 13">
            <a:extLst>
              <a:ext uri="{FF2B5EF4-FFF2-40B4-BE49-F238E27FC236}">
                <a16:creationId xmlns:a16="http://schemas.microsoft.com/office/drawing/2014/main" id="{8CA5FC28-35C9-3AB8-8D55-8FF6AEAF6429}"/>
              </a:ext>
            </a:extLst>
          </p:cNvPr>
          <p:cNvSpPr/>
          <p:nvPr/>
        </p:nvSpPr>
        <p:spPr>
          <a:xfrm>
            <a:off x="6250832" y="5680953"/>
            <a:ext cx="5926981" cy="933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Summary : we created the ROI as a useful tool for </a:t>
            </a:r>
            <a:r>
              <a:rPr lang="en-US" u="sng" dirty="0"/>
              <a:t>later</a:t>
            </a:r>
            <a:r>
              <a:rPr lang="en-US" dirty="0"/>
              <a:t> counting operation (of objects or gaussians). In the next slides the usefulness of the ROI will be clarified! </a:t>
            </a:r>
            <a:endParaRPr lang="he-IL" dirty="0"/>
          </a:p>
        </p:txBody>
      </p:sp>
      <p:pic>
        <p:nvPicPr>
          <p:cNvPr id="6" name="Picture 5">
            <a:extLst>
              <a:ext uri="{FF2B5EF4-FFF2-40B4-BE49-F238E27FC236}">
                <a16:creationId xmlns:a16="http://schemas.microsoft.com/office/drawing/2014/main" id="{E5BBF6CD-571C-4F3D-6777-1772CDC791B4}"/>
              </a:ext>
            </a:extLst>
          </p:cNvPr>
          <p:cNvPicPr>
            <a:picLocks noChangeAspect="1"/>
          </p:cNvPicPr>
          <p:nvPr/>
        </p:nvPicPr>
        <p:blipFill>
          <a:blip r:embed="rId2"/>
          <a:stretch>
            <a:fillRect/>
          </a:stretch>
        </p:blipFill>
        <p:spPr>
          <a:xfrm>
            <a:off x="0" y="1335425"/>
            <a:ext cx="6087472" cy="4187150"/>
          </a:xfrm>
          <a:prstGeom prst="rect">
            <a:avLst/>
          </a:prstGeom>
        </p:spPr>
      </p:pic>
    </p:spTree>
    <p:extLst>
      <p:ext uri="{BB962C8B-B14F-4D97-AF65-F5344CB8AC3E}">
        <p14:creationId xmlns:p14="http://schemas.microsoft.com/office/powerpoint/2010/main" val="1199179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F4EFA8-3F12-23A5-EB35-13B08F66554D}"/>
              </a:ext>
            </a:extLst>
          </p:cNvPr>
          <p:cNvPicPr>
            <a:picLocks noChangeAspect="1"/>
          </p:cNvPicPr>
          <p:nvPr/>
        </p:nvPicPr>
        <p:blipFill>
          <a:blip r:embed="rId2"/>
          <a:stretch>
            <a:fillRect/>
          </a:stretch>
        </p:blipFill>
        <p:spPr>
          <a:xfrm>
            <a:off x="0" y="1388648"/>
            <a:ext cx="8553450" cy="4953000"/>
          </a:xfrm>
          <a:prstGeom prst="rect">
            <a:avLst/>
          </a:prstGeom>
        </p:spPr>
      </p:pic>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5</a:t>
            </a:fld>
            <a:endParaRPr lang="he-IL" sz="1400"/>
          </a:p>
        </p:txBody>
      </p:sp>
      <p:sp>
        <p:nvSpPr>
          <p:cNvPr id="2" name="Title 1">
            <a:extLst>
              <a:ext uri="{FF2B5EF4-FFF2-40B4-BE49-F238E27FC236}">
                <a16:creationId xmlns:a16="http://schemas.microsoft.com/office/drawing/2014/main" id="{0E0A5D3A-BA8A-BD31-403D-5A1545FE1B59}"/>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24.3 </a:t>
            </a:r>
            <a:r>
              <a:rPr lang="en-US" sz="2800" b="1" u="sng" dirty="0">
                <a:solidFill>
                  <a:srgbClr val="0070C0"/>
                </a:solidFill>
                <a:latin typeface="+mn-lt"/>
              </a:rPr>
              <a:t>– “ContElemInPicture”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8" name="TextBox 7">
            <a:extLst>
              <a:ext uri="{FF2B5EF4-FFF2-40B4-BE49-F238E27FC236}">
                <a16:creationId xmlns:a16="http://schemas.microsoft.com/office/drawing/2014/main" id="{730A0A7E-8052-B41C-C3FA-E873674DA97B}"/>
              </a:ext>
            </a:extLst>
          </p:cNvPr>
          <p:cNvSpPr txBox="1"/>
          <p:nvPr/>
        </p:nvSpPr>
        <p:spPr>
          <a:xfrm>
            <a:off x="1741251" y="516352"/>
            <a:ext cx="7925610"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a:t>This function is designed to count elements in a specified region of interest (ROI) in a grayscale image and to mark these elements and the background.</a:t>
            </a:r>
            <a:endParaRPr lang="he-IL" b="1" dirty="0"/>
          </a:p>
        </p:txBody>
      </p:sp>
      <p:sp>
        <p:nvSpPr>
          <p:cNvPr id="10" name="TextBox 9">
            <a:extLst>
              <a:ext uri="{FF2B5EF4-FFF2-40B4-BE49-F238E27FC236}">
                <a16:creationId xmlns:a16="http://schemas.microsoft.com/office/drawing/2014/main" id="{F85CF297-87D0-A1FE-6CD1-EF994F8765D4}"/>
              </a:ext>
            </a:extLst>
          </p:cNvPr>
          <p:cNvSpPr txBox="1"/>
          <p:nvPr/>
        </p:nvSpPr>
        <p:spPr>
          <a:xfrm>
            <a:off x="7655668" y="1797702"/>
            <a:ext cx="4500258"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counts the number of elements (pixels) within a specified ROI in a grayscale image where the pixel values are below a certain threshold (127 in this case).</a:t>
            </a:r>
            <a:endParaRPr lang="he-IL" dirty="0"/>
          </a:p>
        </p:txBody>
      </p:sp>
      <p:sp>
        <p:nvSpPr>
          <p:cNvPr id="11" name="Arrow: Down 10">
            <a:extLst>
              <a:ext uri="{FF2B5EF4-FFF2-40B4-BE49-F238E27FC236}">
                <a16:creationId xmlns:a16="http://schemas.microsoft.com/office/drawing/2014/main" id="{85440742-D757-F7B0-AA7E-4CF903B23DD1}"/>
              </a:ext>
            </a:extLst>
          </p:cNvPr>
          <p:cNvSpPr/>
          <p:nvPr/>
        </p:nvSpPr>
        <p:spPr>
          <a:xfrm>
            <a:off x="9737387" y="2998031"/>
            <a:ext cx="291830" cy="63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9D0A8F9B-7EC1-A769-9109-C3099BFC7DD9}"/>
              </a:ext>
            </a:extLst>
          </p:cNvPr>
          <p:cNvSpPr txBox="1"/>
          <p:nvPr/>
        </p:nvSpPr>
        <p:spPr>
          <a:xfrm>
            <a:off x="7655668" y="3633050"/>
            <a:ext cx="4500258"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It also marks the pixels that are considered elements and those that are considered background.</a:t>
            </a:r>
          </a:p>
        </p:txBody>
      </p:sp>
      <p:sp>
        <p:nvSpPr>
          <p:cNvPr id="17" name="TextBox 16">
            <a:extLst>
              <a:ext uri="{FF2B5EF4-FFF2-40B4-BE49-F238E27FC236}">
                <a16:creationId xmlns:a16="http://schemas.microsoft.com/office/drawing/2014/main" id="{1CBD6A6F-8664-BBF7-50C1-52D695A5C9CC}"/>
              </a:ext>
            </a:extLst>
          </p:cNvPr>
          <p:cNvSpPr txBox="1"/>
          <p:nvPr/>
        </p:nvSpPr>
        <p:spPr>
          <a:xfrm>
            <a:off x="7145777" y="5223139"/>
            <a:ext cx="5046223"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a:t>
            </a:r>
            <a:r>
              <a:rPr lang="en-US" b="1" dirty="0"/>
              <a:t>pixelPtr</a:t>
            </a:r>
            <a:r>
              <a:rPr lang="en-US" dirty="0"/>
              <a:t> is declared as a pointer to traverse the pixel values in the image. All the operations will be applied on that pointer.</a:t>
            </a:r>
            <a:endParaRPr lang="he-IL" dirty="0"/>
          </a:p>
        </p:txBody>
      </p:sp>
      <p:sp>
        <p:nvSpPr>
          <p:cNvPr id="18" name="Arrow: Down 17">
            <a:extLst>
              <a:ext uri="{FF2B5EF4-FFF2-40B4-BE49-F238E27FC236}">
                <a16:creationId xmlns:a16="http://schemas.microsoft.com/office/drawing/2014/main" id="{B9F3F3F7-2BBF-A0D8-A168-F0098E03F157}"/>
              </a:ext>
            </a:extLst>
          </p:cNvPr>
          <p:cNvSpPr/>
          <p:nvPr/>
        </p:nvSpPr>
        <p:spPr>
          <a:xfrm>
            <a:off x="9737387" y="4572565"/>
            <a:ext cx="291830" cy="63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Star: 5 Points 5">
            <a:extLst>
              <a:ext uri="{FF2B5EF4-FFF2-40B4-BE49-F238E27FC236}">
                <a16:creationId xmlns:a16="http://schemas.microsoft.com/office/drawing/2014/main" id="{6B53BBFB-21B4-1229-BA33-A96FE5C0E8D3}"/>
              </a:ext>
            </a:extLst>
          </p:cNvPr>
          <p:cNvSpPr/>
          <p:nvPr/>
        </p:nvSpPr>
        <p:spPr>
          <a:xfrm>
            <a:off x="10029217" y="447472"/>
            <a:ext cx="1935804" cy="120032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solidFill>
                  <a:srgbClr val="FF0000"/>
                </a:solidFill>
              </a:rPr>
              <a:t>לבדוק</a:t>
            </a:r>
          </a:p>
        </p:txBody>
      </p:sp>
    </p:spTree>
    <p:extLst>
      <p:ext uri="{BB962C8B-B14F-4D97-AF65-F5344CB8AC3E}">
        <p14:creationId xmlns:p14="http://schemas.microsoft.com/office/powerpoint/2010/main" val="961649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6</a:t>
            </a:fld>
            <a:endParaRPr lang="he-IL" sz="1400"/>
          </a:p>
        </p:txBody>
      </p:sp>
      <p:sp>
        <p:nvSpPr>
          <p:cNvPr id="4" name="Title 1">
            <a:extLst>
              <a:ext uri="{FF2B5EF4-FFF2-40B4-BE49-F238E27FC236}">
                <a16:creationId xmlns:a16="http://schemas.microsoft.com/office/drawing/2014/main" id="{03A4DC77-8B6C-C7CB-E55E-18B4055D534C}"/>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24.4 </a:t>
            </a:r>
            <a:r>
              <a:rPr lang="en-US" sz="2800" b="1" u="sng" dirty="0">
                <a:solidFill>
                  <a:srgbClr val="0070C0"/>
                </a:solidFill>
                <a:latin typeface="+mn-lt"/>
              </a:rPr>
              <a:t>– “InitThresholdLUT”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E5A5ADF2-A21B-9775-A8E6-6A1D4F29DA8B}"/>
              </a:ext>
            </a:extLst>
          </p:cNvPr>
          <p:cNvSpPr txBox="1"/>
          <p:nvPr/>
        </p:nvSpPr>
        <p:spPr>
          <a:xfrm>
            <a:off x="1241134" y="1634972"/>
            <a:ext cx="9003103"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LUT is used to map the pixel values based on a specified threshold, either making them black or white depending on whether they are above or below the threshold.</a:t>
            </a:r>
            <a:endParaRPr lang="he-IL" b="1" dirty="0"/>
          </a:p>
        </p:txBody>
      </p:sp>
      <p:sp>
        <p:nvSpPr>
          <p:cNvPr id="9" name="TextBox 8">
            <a:extLst>
              <a:ext uri="{FF2B5EF4-FFF2-40B4-BE49-F238E27FC236}">
                <a16:creationId xmlns:a16="http://schemas.microsoft.com/office/drawing/2014/main" id="{C9D6BCA0-D28A-08EB-BB4A-4E19E1D2C195}"/>
              </a:ext>
            </a:extLst>
          </p:cNvPr>
          <p:cNvSpPr txBox="1"/>
          <p:nvPr/>
        </p:nvSpPr>
        <p:spPr>
          <a:xfrm>
            <a:off x="705505" y="672127"/>
            <a:ext cx="9691993"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a:t>
            </a:r>
            <a:r>
              <a:rPr lang="en-US" b="1" dirty="0"/>
              <a:t>InitThresholdLUT</a:t>
            </a:r>
            <a:r>
              <a:rPr lang="en-US" dirty="0"/>
              <a:t> function initializes a Lookup Table for thresholding a grayscale image. </a:t>
            </a:r>
            <a:endParaRPr lang="he-IL" dirty="0"/>
          </a:p>
        </p:txBody>
      </p:sp>
      <p:sp>
        <p:nvSpPr>
          <p:cNvPr id="10" name="Arrow: Down 9">
            <a:extLst>
              <a:ext uri="{FF2B5EF4-FFF2-40B4-BE49-F238E27FC236}">
                <a16:creationId xmlns:a16="http://schemas.microsoft.com/office/drawing/2014/main" id="{18AFD00E-E4AC-6AD9-7008-E3A5CE39DF93}"/>
              </a:ext>
            </a:extLst>
          </p:cNvPr>
          <p:cNvSpPr/>
          <p:nvPr/>
        </p:nvSpPr>
        <p:spPr>
          <a:xfrm>
            <a:off x="5551501" y="1083735"/>
            <a:ext cx="382371" cy="5329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225D7BF4-E507-DE31-3A71-DF75FA720E44}"/>
              </a:ext>
            </a:extLst>
          </p:cNvPr>
          <p:cNvSpPr txBox="1"/>
          <p:nvPr/>
        </p:nvSpPr>
        <p:spPr>
          <a:xfrm>
            <a:off x="2504312" y="4230989"/>
            <a:ext cx="609437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one of the input of the function is a pointer to the LUT which was defined as global. </a:t>
            </a:r>
            <a:endParaRPr lang="he-IL" dirty="0"/>
          </a:p>
        </p:txBody>
      </p:sp>
      <p:sp>
        <p:nvSpPr>
          <p:cNvPr id="14" name="TextBox 13">
            <a:extLst>
              <a:ext uri="{FF2B5EF4-FFF2-40B4-BE49-F238E27FC236}">
                <a16:creationId xmlns:a16="http://schemas.microsoft.com/office/drawing/2014/main" id="{5720E7B3-FB6C-6683-E8A0-90360B498566}"/>
              </a:ext>
            </a:extLst>
          </p:cNvPr>
          <p:cNvSpPr txBox="1"/>
          <p:nvPr/>
        </p:nvSpPr>
        <p:spPr>
          <a:xfrm>
            <a:off x="1514802" y="5058543"/>
            <a:ext cx="8838139"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B_Or_W is a flag that determines the output value for pixels based on the threshold</a:t>
            </a:r>
            <a:endParaRPr lang="he-IL" dirty="0"/>
          </a:p>
        </p:txBody>
      </p:sp>
      <p:cxnSp>
        <p:nvCxnSpPr>
          <p:cNvPr id="16" name="Straight Arrow Connector 15">
            <a:extLst>
              <a:ext uri="{FF2B5EF4-FFF2-40B4-BE49-F238E27FC236}">
                <a16:creationId xmlns:a16="http://schemas.microsoft.com/office/drawing/2014/main" id="{A730405E-37B4-D104-FCD7-1CAFF70BE5FD}"/>
              </a:ext>
            </a:extLst>
          </p:cNvPr>
          <p:cNvCxnSpPr>
            <a:cxnSpLocks/>
          </p:cNvCxnSpPr>
          <p:nvPr/>
        </p:nvCxnSpPr>
        <p:spPr>
          <a:xfrm flipH="1">
            <a:off x="4871781" y="5427875"/>
            <a:ext cx="679720" cy="423392"/>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BC0E9FC-5BA9-DBBC-2689-75162C607E8B}"/>
                  </a:ext>
                </a:extLst>
              </p:cNvPr>
              <p:cNvSpPr txBox="1"/>
              <p:nvPr/>
            </p:nvSpPr>
            <p:spPr>
              <a:xfrm>
                <a:off x="70341" y="5851267"/>
                <a:ext cx="4734939"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If B_Or_W is 1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pixels less than or equal to the threshold are set to 255 (white), and pixels greater than the threshold are set to 0 (black).</a:t>
                </a:r>
                <a:endParaRPr lang="he-IL" dirty="0"/>
              </a:p>
            </p:txBody>
          </p:sp>
        </mc:Choice>
        <mc:Fallback xmlns="">
          <p:sp>
            <p:nvSpPr>
              <p:cNvPr id="18" name="TextBox 17">
                <a:extLst>
                  <a:ext uri="{FF2B5EF4-FFF2-40B4-BE49-F238E27FC236}">
                    <a16:creationId xmlns:a16="http://schemas.microsoft.com/office/drawing/2014/main" id="{ABC0E9FC-5BA9-DBBC-2689-75162C607E8B}"/>
                  </a:ext>
                </a:extLst>
              </p:cNvPr>
              <p:cNvSpPr txBox="1">
                <a:spLocks noRot="1" noChangeAspect="1" noMove="1" noResize="1" noEditPoints="1" noAdjustHandles="1" noChangeArrowheads="1" noChangeShapeType="1" noTextEdit="1"/>
              </p:cNvSpPr>
              <p:nvPr/>
            </p:nvSpPr>
            <p:spPr>
              <a:xfrm>
                <a:off x="70341" y="5851267"/>
                <a:ext cx="4734939" cy="923330"/>
              </a:xfrm>
              <a:prstGeom prst="rect">
                <a:avLst/>
              </a:prstGeom>
              <a:blipFill>
                <a:blip r:embed="rId3"/>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C96552FE-1FA8-0745-7F8D-F79D19CFE810}"/>
              </a:ext>
            </a:extLst>
          </p:cNvPr>
          <p:cNvCxnSpPr>
            <a:cxnSpLocks/>
          </p:cNvCxnSpPr>
          <p:nvPr/>
        </p:nvCxnSpPr>
        <p:spPr>
          <a:xfrm>
            <a:off x="5551501" y="5387326"/>
            <a:ext cx="693656" cy="463941"/>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85366937-F5E2-A127-57EC-3BE6FE6E2EFD}"/>
              </a:ext>
            </a:extLst>
          </p:cNvPr>
          <p:cNvSpPr txBox="1"/>
          <p:nvPr/>
        </p:nvSpPr>
        <p:spPr>
          <a:xfrm>
            <a:off x="6245157" y="5869542"/>
            <a:ext cx="5617195"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If B_Or_W is 0, pixels less than or equal to the threshold are set to 0 (black), and pixels greater than the threshold are set to 255 (white).</a:t>
            </a:r>
            <a:endParaRPr lang="he-IL" dirty="0"/>
          </a:p>
        </p:txBody>
      </p:sp>
      <p:pic>
        <p:nvPicPr>
          <p:cNvPr id="6" name="Picture 5">
            <a:extLst>
              <a:ext uri="{FF2B5EF4-FFF2-40B4-BE49-F238E27FC236}">
                <a16:creationId xmlns:a16="http://schemas.microsoft.com/office/drawing/2014/main" id="{F34D64BA-1BC1-E189-E085-7D4490E4BA14}"/>
              </a:ext>
            </a:extLst>
          </p:cNvPr>
          <p:cNvPicPr>
            <a:picLocks noChangeAspect="1"/>
          </p:cNvPicPr>
          <p:nvPr/>
        </p:nvPicPr>
        <p:blipFill>
          <a:blip r:embed="rId4"/>
          <a:stretch>
            <a:fillRect/>
          </a:stretch>
        </p:blipFill>
        <p:spPr>
          <a:xfrm>
            <a:off x="100762" y="2542735"/>
            <a:ext cx="11283846" cy="1343315"/>
          </a:xfrm>
          <a:prstGeom prst="rect">
            <a:avLst/>
          </a:prstGeom>
        </p:spPr>
      </p:pic>
    </p:spTree>
    <p:extLst>
      <p:ext uri="{BB962C8B-B14F-4D97-AF65-F5344CB8AC3E}">
        <p14:creationId xmlns:p14="http://schemas.microsoft.com/office/powerpoint/2010/main" val="92821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7</a:t>
            </a:fld>
            <a:endParaRPr lang="he-IL" sz="1400"/>
          </a:p>
        </p:txBody>
      </p:sp>
      <p:sp>
        <p:nvSpPr>
          <p:cNvPr id="2" name="Title 1">
            <a:extLst>
              <a:ext uri="{FF2B5EF4-FFF2-40B4-BE49-F238E27FC236}">
                <a16:creationId xmlns:a16="http://schemas.microsoft.com/office/drawing/2014/main" id="{FC48BFB1-1E7E-2BB7-432E-3A84A6967D15}"/>
              </a:ext>
            </a:extLst>
          </p:cNvPr>
          <p:cNvSpPr txBox="1">
            <a:spLocks/>
          </p:cNvSpPr>
          <p:nvPr/>
        </p:nvSpPr>
        <p:spPr>
          <a:xfrm>
            <a:off x="3701475" y="0"/>
            <a:ext cx="4789049"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24.5 </a:t>
            </a:r>
            <a:r>
              <a:rPr lang="en-US" sz="2800" b="1" u="sng" dirty="0">
                <a:solidFill>
                  <a:srgbClr val="0070C0"/>
                </a:solidFill>
                <a:latin typeface="+mn-lt"/>
              </a:rPr>
              <a:t>– “ImposeLUT”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03C9289B-E68F-1599-D245-CD72DA3CDFB8}"/>
              </a:ext>
            </a:extLst>
          </p:cNvPr>
          <p:cNvSpPr txBox="1"/>
          <p:nvPr/>
        </p:nvSpPr>
        <p:spPr>
          <a:xfrm>
            <a:off x="2271683" y="744146"/>
            <a:ext cx="7238569"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After defining the LUT – we need to apply the LUT on the gray image. </a:t>
            </a:r>
          </a:p>
        </p:txBody>
      </p:sp>
      <p:sp>
        <p:nvSpPr>
          <p:cNvPr id="9" name="TextBox 8">
            <a:extLst>
              <a:ext uri="{FF2B5EF4-FFF2-40B4-BE49-F238E27FC236}">
                <a16:creationId xmlns:a16="http://schemas.microsoft.com/office/drawing/2014/main" id="{A996016B-34B6-0E4A-97FF-6340E37D8348}"/>
              </a:ext>
            </a:extLst>
          </p:cNvPr>
          <p:cNvSpPr txBox="1"/>
          <p:nvPr/>
        </p:nvSpPr>
        <p:spPr>
          <a:xfrm>
            <a:off x="2737583" y="3488262"/>
            <a:ext cx="6306766" cy="923330"/>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ptrToPixels</a:t>
            </a:r>
            <a:r>
              <a:rPr lang="en-US" dirty="0"/>
              <a:t> is initialized to point to the first pixel of the image.</a:t>
            </a:r>
          </a:p>
          <a:p>
            <a:r>
              <a:rPr lang="en-US" dirty="0"/>
              <a:t> Since GrayImage is a 2D array, GrayImage[0] points to the first row, and ptrToPixels thus points to the first pixel in that row.</a:t>
            </a:r>
            <a:endParaRPr lang="he-IL" dirty="0"/>
          </a:p>
        </p:txBody>
      </p:sp>
      <p:pic>
        <p:nvPicPr>
          <p:cNvPr id="6" name="Picture 5">
            <a:extLst>
              <a:ext uri="{FF2B5EF4-FFF2-40B4-BE49-F238E27FC236}">
                <a16:creationId xmlns:a16="http://schemas.microsoft.com/office/drawing/2014/main" id="{AB9C37A8-8CE0-B188-92E6-C463ECF1473F}"/>
              </a:ext>
            </a:extLst>
          </p:cNvPr>
          <p:cNvPicPr>
            <a:picLocks noChangeAspect="1"/>
          </p:cNvPicPr>
          <p:nvPr/>
        </p:nvPicPr>
        <p:blipFill>
          <a:blip r:embed="rId2"/>
          <a:stretch>
            <a:fillRect/>
          </a:stretch>
        </p:blipFill>
        <p:spPr>
          <a:xfrm>
            <a:off x="326178" y="1399121"/>
            <a:ext cx="11129577" cy="1795093"/>
          </a:xfrm>
          <a:prstGeom prst="rect">
            <a:avLst/>
          </a:prstGeom>
        </p:spPr>
      </p:pic>
    </p:spTree>
    <p:extLst>
      <p:ext uri="{BB962C8B-B14F-4D97-AF65-F5344CB8AC3E}">
        <p14:creationId xmlns:p14="http://schemas.microsoft.com/office/powerpoint/2010/main" val="1397233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927CE7-8EDF-6283-48EF-56E7420B3B01}"/>
              </a:ext>
            </a:extLst>
          </p:cNvPr>
          <p:cNvSpPr>
            <a:spLocks noGrp="1"/>
          </p:cNvSpPr>
          <p:nvPr>
            <p:ph type="sldNum" sz="quarter" idx="12"/>
          </p:nvPr>
        </p:nvSpPr>
        <p:spPr>
          <a:xfrm>
            <a:off x="11736421" y="0"/>
            <a:ext cx="455579" cy="365125"/>
          </a:xfrm>
        </p:spPr>
        <p:txBody>
          <a:bodyPr/>
          <a:lstStyle/>
          <a:p>
            <a:fld id="{81122904-1B5F-4679-B3DC-5E87602DE7DA}" type="slidenum">
              <a:rPr lang="he-IL" sz="1400" smtClean="0"/>
              <a:t>8</a:t>
            </a:fld>
            <a:endParaRPr lang="he-IL" sz="1400"/>
          </a:p>
        </p:txBody>
      </p:sp>
      <p:sp>
        <p:nvSpPr>
          <p:cNvPr id="5" name="Title 1">
            <a:extLst>
              <a:ext uri="{FF2B5EF4-FFF2-40B4-BE49-F238E27FC236}">
                <a16:creationId xmlns:a16="http://schemas.microsoft.com/office/drawing/2014/main" id="{FB5A6218-66AE-70B6-3848-CE9934722F27}"/>
              </a:ext>
            </a:extLst>
          </p:cNvPr>
          <p:cNvSpPr txBox="1">
            <a:spLocks/>
          </p:cNvSpPr>
          <p:nvPr/>
        </p:nvSpPr>
        <p:spPr>
          <a:xfrm>
            <a:off x="3419372" y="10065"/>
            <a:ext cx="6123461" cy="71011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“CalculateDistance”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7" name="Picture 6">
            <a:extLst>
              <a:ext uri="{FF2B5EF4-FFF2-40B4-BE49-F238E27FC236}">
                <a16:creationId xmlns:a16="http://schemas.microsoft.com/office/drawing/2014/main" id="{AE7FBC3A-5255-992E-1501-DB6471B5BE7C}"/>
              </a:ext>
            </a:extLst>
          </p:cNvPr>
          <p:cNvPicPr>
            <a:picLocks noChangeAspect="1"/>
          </p:cNvPicPr>
          <p:nvPr/>
        </p:nvPicPr>
        <p:blipFill>
          <a:blip r:embed="rId2"/>
          <a:stretch>
            <a:fillRect/>
          </a:stretch>
        </p:blipFill>
        <p:spPr>
          <a:xfrm>
            <a:off x="1709281" y="1128408"/>
            <a:ext cx="8773438" cy="1432398"/>
          </a:xfrm>
          <a:prstGeom prst="rect">
            <a:avLst/>
          </a:prstGeom>
        </p:spPr>
      </p:pic>
    </p:spTree>
    <p:extLst>
      <p:ext uri="{BB962C8B-B14F-4D97-AF65-F5344CB8AC3E}">
        <p14:creationId xmlns:p14="http://schemas.microsoft.com/office/powerpoint/2010/main" val="3349635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9</a:t>
            </a:fld>
            <a:endParaRPr lang="he-IL" sz="1400"/>
          </a:p>
        </p:txBody>
      </p:sp>
      <p:sp>
        <p:nvSpPr>
          <p:cNvPr id="2" name="Title 1">
            <a:extLst>
              <a:ext uri="{FF2B5EF4-FFF2-40B4-BE49-F238E27FC236}">
                <a16:creationId xmlns:a16="http://schemas.microsoft.com/office/drawing/2014/main" id="{8AE5DF3B-14D6-0E88-3914-89A36E78593A}"/>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06FB9005-CBE6-0C7E-269A-07D704746BE8}"/>
              </a:ext>
            </a:extLst>
          </p:cNvPr>
          <p:cNvPicPr>
            <a:picLocks noChangeAspect="1"/>
          </p:cNvPicPr>
          <p:nvPr/>
        </p:nvPicPr>
        <p:blipFill>
          <a:blip r:embed="rId2"/>
          <a:stretch>
            <a:fillRect/>
          </a:stretch>
        </p:blipFill>
        <p:spPr>
          <a:xfrm>
            <a:off x="136187" y="914400"/>
            <a:ext cx="9016096" cy="4473102"/>
          </a:xfrm>
          <a:prstGeom prst="rect">
            <a:avLst/>
          </a:prstGeom>
        </p:spPr>
      </p:pic>
    </p:spTree>
    <p:extLst>
      <p:ext uri="{BB962C8B-B14F-4D97-AF65-F5344CB8AC3E}">
        <p14:creationId xmlns:p14="http://schemas.microsoft.com/office/powerpoint/2010/main" val="2472497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41285" y="0"/>
            <a:ext cx="450715" cy="365125"/>
          </a:xfrm>
        </p:spPr>
        <p:txBody>
          <a:bodyPr/>
          <a:lstStyle/>
          <a:p>
            <a:fld id="{81122904-1B5F-4679-B3DC-5E87602DE7DA}" type="slidenum">
              <a:rPr lang="he-IL" sz="1400" smtClean="0"/>
              <a:t>10</a:t>
            </a:fld>
            <a:endParaRPr lang="he-IL" sz="1400"/>
          </a:p>
        </p:txBody>
      </p:sp>
      <p:sp>
        <p:nvSpPr>
          <p:cNvPr id="2" name="Title 1">
            <a:extLst>
              <a:ext uri="{FF2B5EF4-FFF2-40B4-BE49-F238E27FC236}">
                <a16:creationId xmlns:a16="http://schemas.microsoft.com/office/drawing/2014/main" id="{220D93DF-382F-C3AE-2211-5B16683B5334}"/>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2</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7" name="Picture 6">
            <a:extLst>
              <a:ext uri="{FF2B5EF4-FFF2-40B4-BE49-F238E27FC236}">
                <a16:creationId xmlns:a16="http://schemas.microsoft.com/office/drawing/2014/main" id="{249A4335-A533-C5B2-DD71-E7AF8A8123DB}"/>
              </a:ext>
            </a:extLst>
          </p:cNvPr>
          <p:cNvPicPr>
            <a:picLocks noChangeAspect="1"/>
          </p:cNvPicPr>
          <p:nvPr/>
        </p:nvPicPr>
        <p:blipFill>
          <a:blip r:embed="rId2"/>
          <a:stretch>
            <a:fillRect/>
          </a:stretch>
        </p:blipFill>
        <p:spPr>
          <a:xfrm>
            <a:off x="171392" y="476655"/>
            <a:ext cx="9042886" cy="6153174"/>
          </a:xfrm>
          <a:prstGeom prst="rect">
            <a:avLst/>
          </a:prstGeom>
        </p:spPr>
      </p:pic>
    </p:spTree>
    <p:extLst>
      <p:ext uri="{BB962C8B-B14F-4D97-AF65-F5344CB8AC3E}">
        <p14:creationId xmlns:p14="http://schemas.microsoft.com/office/powerpoint/2010/main" val="138071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12102" y="0"/>
            <a:ext cx="479898" cy="365125"/>
          </a:xfrm>
        </p:spPr>
        <p:txBody>
          <a:bodyPr/>
          <a:lstStyle/>
          <a:p>
            <a:fld id="{81122904-1B5F-4679-B3DC-5E87602DE7DA}" type="slidenum">
              <a:rPr lang="he-IL" sz="1400" smtClean="0"/>
              <a:t>11</a:t>
            </a:fld>
            <a:endParaRPr lang="he-IL" sz="1400"/>
          </a:p>
        </p:txBody>
      </p:sp>
      <p:sp>
        <p:nvSpPr>
          <p:cNvPr id="2" name="Title 1">
            <a:extLst>
              <a:ext uri="{FF2B5EF4-FFF2-40B4-BE49-F238E27FC236}">
                <a16:creationId xmlns:a16="http://schemas.microsoft.com/office/drawing/2014/main" id="{DC114CE1-A49C-EEA1-DB18-BE50C189E751}"/>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3</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DA36579C-C7C2-BE9A-4C0D-994A28C0122F}"/>
              </a:ext>
            </a:extLst>
          </p:cNvPr>
          <p:cNvPicPr>
            <a:picLocks noChangeAspect="1"/>
          </p:cNvPicPr>
          <p:nvPr/>
        </p:nvPicPr>
        <p:blipFill>
          <a:blip r:embed="rId2"/>
          <a:stretch>
            <a:fillRect/>
          </a:stretch>
        </p:blipFill>
        <p:spPr>
          <a:xfrm>
            <a:off x="687821" y="1332689"/>
            <a:ext cx="10816355" cy="3194523"/>
          </a:xfrm>
          <a:prstGeom prst="rect">
            <a:avLst/>
          </a:prstGeom>
        </p:spPr>
      </p:pic>
    </p:spTree>
    <p:extLst>
      <p:ext uri="{BB962C8B-B14F-4D97-AF65-F5344CB8AC3E}">
        <p14:creationId xmlns:p14="http://schemas.microsoft.com/office/powerpoint/2010/main" val="1812431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6BD66D-4B38-DA51-8DEE-1F578C110029}"/>
              </a:ext>
            </a:extLst>
          </p:cNvPr>
          <p:cNvSpPr>
            <a:spLocks noGrp="1"/>
          </p:cNvSpPr>
          <p:nvPr>
            <p:ph type="sldNum" sz="quarter" idx="12"/>
          </p:nvPr>
        </p:nvSpPr>
        <p:spPr>
          <a:xfrm>
            <a:off x="11658600" y="6492875"/>
            <a:ext cx="533400" cy="365125"/>
          </a:xfrm>
        </p:spPr>
        <p:txBody>
          <a:bodyPr/>
          <a:lstStyle/>
          <a:p>
            <a:fld id="{81122904-1B5F-4679-B3DC-5E87602DE7DA}" type="slidenum">
              <a:rPr lang="he-IL" sz="1400" smtClean="0"/>
              <a:t>12</a:t>
            </a:fld>
            <a:endParaRPr lang="he-IL" sz="1400"/>
          </a:p>
        </p:txBody>
      </p:sp>
      <p:sp>
        <p:nvSpPr>
          <p:cNvPr id="5" name="Title 1">
            <a:extLst>
              <a:ext uri="{FF2B5EF4-FFF2-40B4-BE49-F238E27FC236}">
                <a16:creationId xmlns:a16="http://schemas.microsoft.com/office/drawing/2014/main" id="{DA8503FF-6374-C95C-B95F-84B9DC653EA5}"/>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4</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9" name="Picture 8">
            <a:extLst>
              <a:ext uri="{FF2B5EF4-FFF2-40B4-BE49-F238E27FC236}">
                <a16:creationId xmlns:a16="http://schemas.microsoft.com/office/drawing/2014/main" id="{61A8E419-5A23-E503-A56C-F5752E6FE2F7}"/>
              </a:ext>
            </a:extLst>
          </p:cNvPr>
          <p:cNvPicPr>
            <a:picLocks noChangeAspect="1"/>
          </p:cNvPicPr>
          <p:nvPr/>
        </p:nvPicPr>
        <p:blipFill>
          <a:blip r:embed="rId2"/>
          <a:stretch>
            <a:fillRect/>
          </a:stretch>
        </p:blipFill>
        <p:spPr>
          <a:xfrm>
            <a:off x="0" y="751702"/>
            <a:ext cx="12192000" cy="5354595"/>
          </a:xfrm>
          <a:prstGeom prst="rect">
            <a:avLst/>
          </a:prstGeom>
        </p:spPr>
      </p:pic>
    </p:spTree>
    <p:extLst>
      <p:ext uri="{BB962C8B-B14F-4D97-AF65-F5344CB8AC3E}">
        <p14:creationId xmlns:p14="http://schemas.microsoft.com/office/powerpoint/2010/main" val="334175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80196" y="0"/>
            <a:ext cx="411804" cy="365125"/>
          </a:xfrm>
        </p:spPr>
        <p:txBody>
          <a:bodyPr/>
          <a:lstStyle/>
          <a:p>
            <a:fld id="{81122904-1B5F-4679-B3DC-5E87602DE7DA}" type="slidenum">
              <a:rPr lang="he-IL" sz="1400" smtClean="0"/>
              <a:t>13</a:t>
            </a:fld>
            <a:endParaRPr lang="he-IL" sz="1400"/>
          </a:p>
        </p:txBody>
      </p:sp>
      <p:sp>
        <p:nvSpPr>
          <p:cNvPr id="4" name="Title 1">
            <a:extLst>
              <a:ext uri="{FF2B5EF4-FFF2-40B4-BE49-F238E27FC236}">
                <a16:creationId xmlns:a16="http://schemas.microsoft.com/office/drawing/2014/main" id="{5D6799E5-5CE4-13C1-7E7F-1BC091C22AF0}"/>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and the counting results –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
        <p:nvSpPr>
          <p:cNvPr id="10" name="Rectangle 9">
            <a:extLst>
              <a:ext uri="{FF2B5EF4-FFF2-40B4-BE49-F238E27FC236}">
                <a16:creationId xmlns:a16="http://schemas.microsoft.com/office/drawing/2014/main" id="{AF672ED2-085B-38EF-419E-DE4BAEB34E17}"/>
              </a:ext>
            </a:extLst>
          </p:cNvPr>
          <p:cNvSpPr/>
          <p:nvPr/>
        </p:nvSpPr>
        <p:spPr>
          <a:xfrm>
            <a:off x="1284051" y="520092"/>
            <a:ext cx="1906621"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Image241.bmp</a:t>
            </a:r>
            <a:endParaRPr lang="he-IL" dirty="0"/>
          </a:p>
        </p:txBody>
      </p:sp>
      <p:sp>
        <p:nvSpPr>
          <p:cNvPr id="11" name="Arrow: Right 10">
            <a:extLst>
              <a:ext uri="{FF2B5EF4-FFF2-40B4-BE49-F238E27FC236}">
                <a16:creationId xmlns:a16="http://schemas.microsoft.com/office/drawing/2014/main" id="{CAF4D9FE-7750-E40E-1A56-9785B11C61AF}"/>
              </a:ext>
            </a:extLst>
          </p:cNvPr>
          <p:cNvSpPr/>
          <p:nvPr/>
        </p:nvSpPr>
        <p:spPr>
          <a:xfrm>
            <a:off x="4396902" y="1923644"/>
            <a:ext cx="2178995" cy="5200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2">
            <a:extLst>
              <a:ext uri="{FF2B5EF4-FFF2-40B4-BE49-F238E27FC236}">
                <a16:creationId xmlns:a16="http://schemas.microsoft.com/office/drawing/2014/main" id="{411A33C1-8DAC-2C88-9226-BEC853165AC7}"/>
              </a:ext>
            </a:extLst>
          </p:cNvPr>
          <p:cNvPicPr>
            <a:picLocks noChangeAspect="1"/>
          </p:cNvPicPr>
          <p:nvPr/>
        </p:nvPicPr>
        <p:blipFill rotWithShape="1">
          <a:blip r:embed="rId2"/>
          <a:srcRect t="22872"/>
          <a:stretch/>
        </p:blipFill>
        <p:spPr>
          <a:xfrm>
            <a:off x="6858000" y="2033554"/>
            <a:ext cx="3988668" cy="410182"/>
          </a:xfrm>
          <a:prstGeom prst="rect">
            <a:avLst/>
          </a:prstGeom>
        </p:spPr>
      </p:pic>
      <p:sp>
        <p:nvSpPr>
          <p:cNvPr id="2" name="Rectangle 1">
            <a:extLst>
              <a:ext uri="{FF2B5EF4-FFF2-40B4-BE49-F238E27FC236}">
                <a16:creationId xmlns:a16="http://schemas.microsoft.com/office/drawing/2014/main" id="{5FAB252F-5E69-672D-A4F3-11690D84C111}"/>
              </a:ext>
            </a:extLst>
          </p:cNvPr>
          <p:cNvSpPr/>
          <p:nvPr/>
        </p:nvSpPr>
        <p:spPr>
          <a:xfrm>
            <a:off x="6858000" y="2624036"/>
            <a:ext cx="4075889" cy="754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printing of the program indicate that 6 gaussian elements were found!</a:t>
            </a:r>
            <a:endParaRPr lang="he-IL" dirty="0"/>
          </a:p>
        </p:txBody>
      </p:sp>
      <p:sp>
        <p:nvSpPr>
          <p:cNvPr id="7" name="Rectangle 6">
            <a:extLst>
              <a:ext uri="{FF2B5EF4-FFF2-40B4-BE49-F238E27FC236}">
                <a16:creationId xmlns:a16="http://schemas.microsoft.com/office/drawing/2014/main" id="{F8A73BE2-40EC-D3E5-C422-98E82B750650}"/>
              </a:ext>
            </a:extLst>
          </p:cNvPr>
          <p:cNvSpPr/>
          <p:nvPr/>
        </p:nvSpPr>
        <p:spPr>
          <a:xfrm>
            <a:off x="618094" y="3667497"/>
            <a:ext cx="3613437" cy="21498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 addition – the profilers confirm that true gaussians were created.</a:t>
            </a:r>
          </a:p>
          <a:p>
            <a:pPr algn="ctr"/>
            <a:r>
              <a:rPr lang="en-US" dirty="0"/>
              <a:t>Pay attention that I made sure that the created gaussians will be independent – AKA no overlapping or clipping – for preventing any chance of wrong counting!</a:t>
            </a:r>
          </a:p>
        </p:txBody>
      </p:sp>
      <p:pic>
        <p:nvPicPr>
          <p:cNvPr id="12" name="Picture 11" descr="A group of white dots&#10;&#10;Description automatically generated">
            <a:extLst>
              <a:ext uri="{FF2B5EF4-FFF2-40B4-BE49-F238E27FC236}">
                <a16:creationId xmlns:a16="http://schemas.microsoft.com/office/drawing/2014/main" id="{CF8A4935-241B-A49A-F75E-8B3033015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812" y="1144739"/>
            <a:ext cx="3048000" cy="2286000"/>
          </a:xfrm>
          <a:prstGeom prst="rect">
            <a:avLst/>
          </a:prstGeom>
        </p:spPr>
      </p:pic>
      <p:pic>
        <p:nvPicPr>
          <p:cNvPr id="15" name="Picture 14">
            <a:extLst>
              <a:ext uri="{FF2B5EF4-FFF2-40B4-BE49-F238E27FC236}">
                <a16:creationId xmlns:a16="http://schemas.microsoft.com/office/drawing/2014/main" id="{5122089A-5ED7-AB4C-7A56-FA9DDE2A300D}"/>
              </a:ext>
            </a:extLst>
          </p:cNvPr>
          <p:cNvPicPr>
            <a:picLocks noChangeAspect="1"/>
          </p:cNvPicPr>
          <p:nvPr/>
        </p:nvPicPr>
        <p:blipFill>
          <a:blip r:embed="rId4"/>
          <a:stretch>
            <a:fillRect/>
          </a:stretch>
        </p:blipFill>
        <p:spPr>
          <a:xfrm>
            <a:off x="5763495" y="3544988"/>
            <a:ext cx="6428505" cy="824419"/>
          </a:xfrm>
          <a:prstGeom prst="rect">
            <a:avLst/>
          </a:prstGeom>
        </p:spPr>
      </p:pic>
      <p:cxnSp>
        <p:nvCxnSpPr>
          <p:cNvPr id="17" name="Straight Arrow Connector 16">
            <a:extLst>
              <a:ext uri="{FF2B5EF4-FFF2-40B4-BE49-F238E27FC236}">
                <a16:creationId xmlns:a16="http://schemas.microsoft.com/office/drawing/2014/main" id="{6717F84E-1225-B368-B613-BD0DAA743C29}"/>
              </a:ext>
            </a:extLst>
          </p:cNvPr>
          <p:cNvCxnSpPr/>
          <p:nvPr/>
        </p:nvCxnSpPr>
        <p:spPr>
          <a:xfrm flipV="1">
            <a:off x="7762672" y="4095345"/>
            <a:ext cx="136188" cy="79766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D6923FA-AE2C-B6D6-4E55-A765424FE8A1}"/>
              </a:ext>
            </a:extLst>
          </p:cNvPr>
          <p:cNvSpPr/>
          <p:nvPr/>
        </p:nvSpPr>
        <p:spPr>
          <a:xfrm>
            <a:off x="6833681" y="4893013"/>
            <a:ext cx="1994170" cy="57561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number I demanded!</a:t>
            </a:r>
            <a:endParaRPr lang="he-IL" dirty="0"/>
          </a:p>
        </p:txBody>
      </p:sp>
    </p:spTree>
    <p:extLst>
      <p:ext uri="{BB962C8B-B14F-4D97-AF65-F5344CB8AC3E}">
        <p14:creationId xmlns:p14="http://schemas.microsoft.com/office/powerpoint/2010/main" val="3227565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7FED9-20EF-BF61-B4D8-7D6C0717E52C}"/>
              </a:ext>
            </a:extLst>
          </p:cNvPr>
          <p:cNvSpPr>
            <a:spLocks noGrp="1"/>
          </p:cNvSpPr>
          <p:nvPr>
            <p:ph type="sldNum" sz="quarter" idx="12"/>
          </p:nvPr>
        </p:nvSpPr>
        <p:spPr>
          <a:xfrm>
            <a:off x="11668328" y="0"/>
            <a:ext cx="523672" cy="320675"/>
          </a:xfrm>
        </p:spPr>
        <p:txBody>
          <a:bodyPr/>
          <a:lstStyle/>
          <a:p>
            <a:fld id="{81122904-1B5F-4679-B3DC-5E87602DE7DA}" type="slidenum">
              <a:rPr lang="he-IL" smtClean="0"/>
              <a:t>14</a:t>
            </a:fld>
            <a:endParaRPr lang="he-IL"/>
          </a:p>
        </p:txBody>
      </p:sp>
      <p:sp>
        <p:nvSpPr>
          <p:cNvPr id="7" name="Title 1">
            <a:extLst>
              <a:ext uri="{FF2B5EF4-FFF2-40B4-BE49-F238E27FC236}">
                <a16:creationId xmlns:a16="http://schemas.microsoft.com/office/drawing/2014/main" id="{C0AF825C-47C3-69A5-42DC-8C2EA9960728}"/>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and the counting results – </a:t>
            </a:r>
            <a:r>
              <a:rPr lang="en-US" sz="2800" b="1" u="sng" dirty="0">
                <a:solidFill>
                  <a:srgbClr val="FF0000"/>
                </a:solidFill>
                <a:latin typeface="+mn-lt"/>
              </a:rPr>
              <a:t>part 2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9" name="Picture 8" descr="A group of cherry tomatoes&#10;&#10;Description automatically generated">
            <a:extLst>
              <a:ext uri="{FF2B5EF4-FFF2-40B4-BE49-F238E27FC236}">
                <a16:creationId xmlns:a16="http://schemas.microsoft.com/office/drawing/2014/main" id="{2E19636E-9CD2-5E1D-A825-2E8DB664E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90668"/>
            <a:ext cx="3047619" cy="2285714"/>
          </a:xfrm>
          <a:prstGeom prst="rect">
            <a:avLst/>
          </a:prstGeom>
        </p:spPr>
      </p:pic>
      <p:sp>
        <p:nvSpPr>
          <p:cNvPr id="10" name="Rectangle 9">
            <a:extLst>
              <a:ext uri="{FF2B5EF4-FFF2-40B4-BE49-F238E27FC236}">
                <a16:creationId xmlns:a16="http://schemas.microsoft.com/office/drawing/2014/main" id="{BFFC8DBA-BE63-7DF7-7FD0-AF9CB4DED49A}"/>
              </a:ext>
            </a:extLst>
          </p:cNvPr>
          <p:cNvSpPr/>
          <p:nvPr/>
        </p:nvSpPr>
        <p:spPr>
          <a:xfrm>
            <a:off x="1275754" y="568393"/>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Image242_color.bmp</a:t>
            </a:r>
            <a:endParaRPr lang="he-IL" dirty="0"/>
          </a:p>
        </p:txBody>
      </p:sp>
      <p:pic>
        <p:nvPicPr>
          <p:cNvPr id="12" name="Picture 11">
            <a:extLst>
              <a:ext uri="{FF2B5EF4-FFF2-40B4-BE49-F238E27FC236}">
                <a16:creationId xmlns:a16="http://schemas.microsoft.com/office/drawing/2014/main" id="{88B6228A-51E4-CDF0-6AD6-4BDC72BA53F6}"/>
              </a:ext>
            </a:extLst>
          </p:cNvPr>
          <p:cNvPicPr>
            <a:picLocks noChangeAspect="1"/>
          </p:cNvPicPr>
          <p:nvPr/>
        </p:nvPicPr>
        <p:blipFill>
          <a:blip r:embed="rId3"/>
          <a:stretch>
            <a:fillRect/>
          </a:stretch>
        </p:blipFill>
        <p:spPr>
          <a:xfrm>
            <a:off x="1008240" y="3310767"/>
            <a:ext cx="2686265" cy="2020249"/>
          </a:xfrm>
          <a:prstGeom prst="rect">
            <a:avLst/>
          </a:prstGeom>
        </p:spPr>
      </p:pic>
      <p:sp>
        <p:nvSpPr>
          <p:cNvPr id="13" name="Arrow: Right 12">
            <a:extLst>
              <a:ext uri="{FF2B5EF4-FFF2-40B4-BE49-F238E27FC236}">
                <a16:creationId xmlns:a16="http://schemas.microsoft.com/office/drawing/2014/main" id="{7785E605-552C-D1D6-4187-952A3A379352}"/>
              </a:ext>
            </a:extLst>
          </p:cNvPr>
          <p:cNvSpPr/>
          <p:nvPr/>
        </p:nvSpPr>
        <p:spPr>
          <a:xfrm>
            <a:off x="0" y="1789889"/>
            <a:ext cx="914400" cy="5447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input</a:t>
            </a:r>
            <a:endParaRPr lang="he-IL" dirty="0"/>
          </a:p>
        </p:txBody>
      </p:sp>
      <p:sp>
        <p:nvSpPr>
          <p:cNvPr id="14" name="Arrow: Right 13">
            <a:extLst>
              <a:ext uri="{FF2B5EF4-FFF2-40B4-BE49-F238E27FC236}">
                <a16:creationId xmlns:a16="http://schemas.microsoft.com/office/drawing/2014/main" id="{1B720FA0-88B8-5F48-D8C2-266E30CF05EC}"/>
              </a:ext>
            </a:extLst>
          </p:cNvPr>
          <p:cNvSpPr/>
          <p:nvPr/>
        </p:nvSpPr>
        <p:spPr>
          <a:xfrm>
            <a:off x="4066161" y="1692613"/>
            <a:ext cx="2029839"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5" descr="A group of tomatoes on a white surface&#10;&#10;Description automatically generated">
            <a:extLst>
              <a:ext uri="{FF2B5EF4-FFF2-40B4-BE49-F238E27FC236}">
                <a16:creationId xmlns:a16="http://schemas.microsoft.com/office/drawing/2014/main" id="{8760B53F-B913-4926-28C6-8ABD471057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247" y="1010176"/>
            <a:ext cx="3048000" cy="2286000"/>
          </a:xfrm>
          <a:prstGeom prst="rect">
            <a:avLst/>
          </a:prstGeom>
        </p:spPr>
      </p:pic>
      <p:sp>
        <p:nvSpPr>
          <p:cNvPr id="17" name="Rectangle 16">
            <a:extLst>
              <a:ext uri="{FF2B5EF4-FFF2-40B4-BE49-F238E27FC236}">
                <a16:creationId xmlns:a16="http://schemas.microsoft.com/office/drawing/2014/main" id="{6E0213EC-3172-8056-B33D-A9C63724BD6A}"/>
              </a:ext>
            </a:extLst>
          </p:cNvPr>
          <p:cNvSpPr/>
          <p:nvPr/>
        </p:nvSpPr>
        <p:spPr>
          <a:xfrm>
            <a:off x="6567792" y="561435"/>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Image242_gray.bmp</a:t>
            </a:r>
            <a:endParaRPr lang="he-IL" dirty="0"/>
          </a:p>
        </p:txBody>
      </p:sp>
      <p:sp>
        <p:nvSpPr>
          <p:cNvPr id="20" name="Arrow: Right 19">
            <a:extLst>
              <a:ext uri="{FF2B5EF4-FFF2-40B4-BE49-F238E27FC236}">
                <a16:creationId xmlns:a16="http://schemas.microsoft.com/office/drawing/2014/main" id="{DC2556DF-716A-4257-1364-C1144D6B34A5}"/>
              </a:ext>
            </a:extLst>
          </p:cNvPr>
          <p:cNvSpPr/>
          <p:nvPr/>
        </p:nvSpPr>
        <p:spPr>
          <a:xfrm rot="5400000">
            <a:off x="8398705" y="3623553"/>
            <a:ext cx="1156607"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4" name="Picture 23">
            <a:extLst>
              <a:ext uri="{FF2B5EF4-FFF2-40B4-BE49-F238E27FC236}">
                <a16:creationId xmlns:a16="http://schemas.microsoft.com/office/drawing/2014/main" id="{B6714FB7-C030-02DE-034D-740B5BB80DB0}"/>
              </a:ext>
            </a:extLst>
          </p:cNvPr>
          <p:cNvPicPr>
            <a:picLocks noChangeAspect="1"/>
          </p:cNvPicPr>
          <p:nvPr/>
        </p:nvPicPr>
        <p:blipFill rotWithShape="1">
          <a:blip r:embed="rId5"/>
          <a:srcRect t="14535" b="21366"/>
          <a:stretch/>
        </p:blipFill>
        <p:spPr>
          <a:xfrm>
            <a:off x="2774205" y="6439711"/>
            <a:ext cx="4956042" cy="291829"/>
          </a:xfrm>
          <a:prstGeom prst="rect">
            <a:avLst/>
          </a:prstGeom>
        </p:spPr>
      </p:pic>
      <p:sp>
        <p:nvSpPr>
          <p:cNvPr id="25" name="Arrow: Left-Right 24">
            <a:extLst>
              <a:ext uri="{FF2B5EF4-FFF2-40B4-BE49-F238E27FC236}">
                <a16:creationId xmlns:a16="http://schemas.microsoft.com/office/drawing/2014/main" id="{C0C47966-5D99-7A99-DF49-84C7E426DAE9}"/>
              </a:ext>
            </a:extLst>
          </p:cNvPr>
          <p:cNvSpPr/>
          <p:nvPr/>
        </p:nvSpPr>
        <p:spPr>
          <a:xfrm>
            <a:off x="7777264" y="6342433"/>
            <a:ext cx="796047" cy="48638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Rectangle 1">
            <a:extLst>
              <a:ext uri="{FF2B5EF4-FFF2-40B4-BE49-F238E27FC236}">
                <a16:creationId xmlns:a16="http://schemas.microsoft.com/office/drawing/2014/main" id="{B7F38D1C-C9AA-198D-E761-FFC3A730A424}"/>
              </a:ext>
            </a:extLst>
          </p:cNvPr>
          <p:cNvSpPr/>
          <p:nvPr/>
        </p:nvSpPr>
        <p:spPr>
          <a:xfrm>
            <a:off x="3694505" y="4980563"/>
            <a:ext cx="4802993" cy="1128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result after applying the threshold algorithm– we did it for easier understanding of how to count the objects and how to distinguish the element from the background.</a:t>
            </a:r>
            <a:endParaRPr lang="he-IL" dirty="0"/>
          </a:p>
        </p:txBody>
      </p:sp>
      <p:pic>
        <p:nvPicPr>
          <p:cNvPr id="5" name="Picture 4" descr="A group of black circles&#10;&#10;Description automatically generated">
            <a:extLst>
              <a:ext uri="{FF2B5EF4-FFF2-40B4-BE49-F238E27FC236}">
                <a16:creationId xmlns:a16="http://schemas.microsoft.com/office/drawing/2014/main" id="{CF6A0983-0D26-0D10-B99F-0060B7FDF8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55996" y="4542818"/>
            <a:ext cx="3048000" cy="2286000"/>
          </a:xfrm>
          <a:prstGeom prst="rect">
            <a:avLst/>
          </a:prstGeom>
          <a:ln>
            <a:solidFill>
              <a:schemeClr val="accent1"/>
            </a:solidFill>
          </a:ln>
        </p:spPr>
      </p:pic>
    </p:spTree>
    <p:extLst>
      <p:ext uri="{BB962C8B-B14F-4D97-AF65-F5344CB8AC3E}">
        <p14:creationId xmlns:p14="http://schemas.microsoft.com/office/powerpoint/2010/main" val="277597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64A9E7-1774-D09A-D15F-662AA275F0E5}"/>
              </a:ext>
            </a:extLst>
          </p:cNvPr>
          <p:cNvSpPr>
            <a:spLocks noGrp="1"/>
          </p:cNvSpPr>
          <p:nvPr>
            <p:ph type="sldNum" sz="quarter" idx="12"/>
          </p:nvPr>
        </p:nvSpPr>
        <p:spPr>
          <a:xfrm>
            <a:off x="11804515" y="0"/>
            <a:ext cx="387485" cy="379041"/>
          </a:xfrm>
        </p:spPr>
        <p:txBody>
          <a:bodyPr/>
          <a:lstStyle/>
          <a:p>
            <a:fld id="{81122904-1B5F-4679-B3DC-5E87602DE7DA}" type="slidenum">
              <a:rPr lang="he-IL" smtClean="0"/>
              <a:t>15</a:t>
            </a:fld>
            <a:endParaRPr lang="he-IL"/>
          </a:p>
        </p:txBody>
      </p:sp>
      <p:sp>
        <p:nvSpPr>
          <p:cNvPr id="7" name="Title 1">
            <a:extLst>
              <a:ext uri="{FF2B5EF4-FFF2-40B4-BE49-F238E27FC236}">
                <a16:creationId xmlns:a16="http://schemas.microsoft.com/office/drawing/2014/main" id="{AED5F5AC-16B6-F5CB-80F3-FB4E4A015A26}"/>
              </a:ext>
            </a:extLst>
          </p:cNvPr>
          <p:cNvSpPr txBox="1">
            <a:spLocks/>
          </p:cNvSpPr>
          <p:nvPr/>
        </p:nvSpPr>
        <p:spPr>
          <a:xfrm>
            <a:off x="2847772" y="-70526"/>
            <a:ext cx="6496455"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created images' profiles–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5" name="Picture 4">
            <a:extLst>
              <a:ext uri="{FF2B5EF4-FFF2-40B4-BE49-F238E27FC236}">
                <a16:creationId xmlns:a16="http://schemas.microsoft.com/office/drawing/2014/main" id="{707E52BC-9A3A-16D7-3197-A585D1B9EDC5}"/>
              </a:ext>
            </a:extLst>
          </p:cNvPr>
          <p:cNvPicPr>
            <a:picLocks noChangeAspect="1"/>
          </p:cNvPicPr>
          <p:nvPr/>
        </p:nvPicPr>
        <p:blipFill>
          <a:blip r:embed="rId2"/>
          <a:stretch>
            <a:fillRect/>
          </a:stretch>
        </p:blipFill>
        <p:spPr>
          <a:xfrm>
            <a:off x="154629" y="552652"/>
            <a:ext cx="6370578" cy="2876348"/>
          </a:xfrm>
          <a:prstGeom prst="rect">
            <a:avLst/>
          </a:prstGeom>
        </p:spPr>
      </p:pic>
      <p:pic>
        <p:nvPicPr>
          <p:cNvPr id="9" name="Picture 8">
            <a:extLst>
              <a:ext uri="{FF2B5EF4-FFF2-40B4-BE49-F238E27FC236}">
                <a16:creationId xmlns:a16="http://schemas.microsoft.com/office/drawing/2014/main" id="{F267407E-69D0-5BC6-8DAB-69DE135D984B}"/>
              </a:ext>
            </a:extLst>
          </p:cNvPr>
          <p:cNvPicPr>
            <a:picLocks noChangeAspect="1"/>
          </p:cNvPicPr>
          <p:nvPr/>
        </p:nvPicPr>
        <p:blipFill>
          <a:blip r:embed="rId3"/>
          <a:stretch>
            <a:fillRect/>
          </a:stretch>
        </p:blipFill>
        <p:spPr>
          <a:xfrm>
            <a:off x="6839356" y="701000"/>
            <a:ext cx="3124200" cy="2343150"/>
          </a:xfrm>
          <a:prstGeom prst="rect">
            <a:avLst/>
          </a:prstGeom>
        </p:spPr>
      </p:pic>
      <p:pic>
        <p:nvPicPr>
          <p:cNvPr id="13" name="Picture 12">
            <a:extLst>
              <a:ext uri="{FF2B5EF4-FFF2-40B4-BE49-F238E27FC236}">
                <a16:creationId xmlns:a16="http://schemas.microsoft.com/office/drawing/2014/main" id="{C1385A0E-1B67-6CF1-E49C-3675AF84DE75}"/>
              </a:ext>
            </a:extLst>
          </p:cNvPr>
          <p:cNvPicPr>
            <a:picLocks noChangeAspect="1"/>
          </p:cNvPicPr>
          <p:nvPr/>
        </p:nvPicPr>
        <p:blipFill>
          <a:blip r:embed="rId4"/>
          <a:stretch>
            <a:fillRect/>
          </a:stretch>
        </p:blipFill>
        <p:spPr>
          <a:xfrm>
            <a:off x="6839356" y="4032825"/>
            <a:ext cx="3095625" cy="2352675"/>
          </a:xfrm>
          <a:prstGeom prst="rect">
            <a:avLst/>
          </a:prstGeom>
        </p:spPr>
      </p:pic>
      <p:pic>
        <p:nvPicPr>
          <p:cNvPr id="15" name="Picture 14">
            <a:extLst>
              <a:ext uri="{FF2B5EF4-FFF2-40B4-BE49-F238E27FC236}">
                <a16:creationId xmlns:a16="http://schemas.microsoft.com/office/drawing/2014/main" id="{1C4C75C7-6933-C629-8CC5-7B63C53E6B12}"/>
              </a:ext>
            </a:extLst>
          </p:cNvPr>
          <p:cNvPicPr>
            <a:picLocks noChangeAspect="1"/>
          </p:cNvPicPr>
          <p:nvPr/>
        </p:nvPicPr>
        <p:blipFill>
          <a:blip r:embed="rId5"/>
          <a:stretch>
            <a:fillRect/>
          </a:stretch>
        </p:blipFill>
        <p:spPr>
          <a:xfrm>
            <a:off x="157669" y="3921378"/>
            <a:ext cx="6367538" cy="2785134"/>
          </a:xfrm>
          <a:prstGeom prst="rect">
            <a:avLst/>
          </a:prstGeom>
        </p:spPr>
      </p:pic>
      <p:cxnSp>
        <p:nvCxnSpPr>
          <p:cNvPr id="18" name="Straight Arrow Connector 17">
            <a:extLst>
              <a:ext uri="{FF2B5EF4-FFF2-40B4-BE49-F238E27FC236}">
                <a16:creationId xmlns:a16="http://schemas.microsoft.com/office/drawing/2014/main" id="{A1777C56-2780-1278-1E96-9855EC85E4CC}"/>
              </a:ext>
            </a:extLst>
          </p:cNvPr>
          <p:cNvCxnSpPr>
            <a:cxnSpLocks/>
          </p:cNvCxnSpPr>
          <p:nvPr/>
        </p:nvCxnSpPr>
        <p:spPr>
          <a:xfrm flipV="1">
            <a:off x="7244755" y="2733472"/>
            <a:ext cx="605466" cy="75212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3E0F6E7-97DB-621D-7FD9-63F74EA29366}"/>
              </a:ext>
            </a:extLst>
          </p:cNvPr>
          <p:cNvCxnSpPr>
            <a:cxnSpLocks/>
          </p:cNvCxnSpPr>
          <p:nvPr/>
        </p:nvCxnSpPr>
        <p:spPr>
          <a:xfrm>
            <a:off x="7159557" y="3813851"/>
            <a:ext cx="85198" cy="78378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FC624AB-BED8-0C67-DF4C-3F5EB1C96F24}"/>
              </a:ext>
            </a:extLst>
          </p:cNvPr>
          <p:cNvSpPr/>
          <p:nvPr/>
        </p:nvSpPr>
        <p:spPr>
          <a:xfrm>
            <a:off x="6692630" y="3429000"/>
            <a:ext cx="1935804" cy="38485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Inspection points</a:t>
            </a:r>
            <a:endParaRPr lang="he-IL" dirty="0"/>
          </a:p>
        </p:txBody>
      </p:sp>
    </p:spTree>
    <p:extLst>
      <p:ext uri="{BB962C8B-B14F-4D97-AF65-F5344CB8AC3E}">
        <p14:creationId xmlns:p14="http://schemas.microsoft.com/office/powerpoint/2010/main" val="2868358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C01DF-E57C-DC15-BFA4-3D73DD41FDE9}"/>
              </a:ext>
            </a:extLst>
          </p:cNvPr>
          <p:cNvSpPr>
            <a:spLocks noGrp="1"/>
          </p:cNvSpPr>
          <p:nvPr>
            <p:ph type="sldNum" sz="quarter" idx="12"/>
          </p:nvPr>
        </p:nvSpPr>
        <p:spPr>
          <a:xfrm>
            <a:off x="11697511" y="0"/>
            <a:ext cx="494489" cy="365125"/>
          </a:xfrm>
        </p:spPr>
        <p:txBody>
          <a:bodyPr/>
          <a:lstStyle/>
          <a:p>
            <a:fld id="{81122904-1B5F-4679-B3DC-5E87602DE7DA}" type="slidenum">
              <a:rPr lang="he-IL" sz="1400" smtClean="0"/>
              <a:t>16</a:t>
            </a:fld>
            <a:endParaRPr lang="he-IL" sz="1400"/>
          </a:p>
        </p:txBody>
      </p:sp>
      <p:sp>
        <p:nvSpPr>
          <p:cNvPr id="5" name="Content Placeholder 2">
            <a:extLst>
              <a:ext uri="{FF2B5EF4-FFF2-40B4-BE49-F238E27FC236}">
                <a16:creationId xmlns:a16="http://schemas.microsoft.com/office/drawing/2014/main" id="{238DA895-B942-3435-647E-3F0F2C7AD902}"/>
              </a:ext>
            </a:extLst>
          </p:cNvPr>
          <p:cNvSpPr>
            <a:spLocks noGrp="1"/>
          </p:cNvSpPr>
          <p:nvPr>
            <p:ph idx="1"/>
          </p:nvPr>
        </p:nvSpPr>
        <p:spPr>
          <a:xfrm>
            <a:off x="1770299" y="854497"/>
            <a:ext cx="8651401" cy="1966524"/>
          </a:xfrm>
        </p:spPr>
        <p:style>
          <a:lnRef idx="0">
            <a:schemeClr val="accent2"/>
          </a:lnRef>
          <a:fillRef idx="3">
            <a:schemeClr val="accent2"/>
          </a:fillRef>
          <a:effectRef idx="3">
            <a:schemeClr val="accent2"/>
          </a:effectRef>
          <a:fontRef idx="minor">
            <a:schemeClr val="lt1"/>
          </a:fontRef>
        </p:style>
        <p:txBody>
          <a:bodyPr>
            <a:normAutofit fontScale="85000" lnSpcReduction="20000"/>
          </a:bodyPr>
          <a:lstStyle/>
          <a:p>
            <a:pPr marL="342900" indent="-342900" algn="l" rtl="0">
              <a:buAutoNum type="arabicPeriod"/>
            </a:pPr>
            <a:r>
              <a:rPr lang="en-US" dirty="0"/>
              <a:t>We learned how to count similar objects with </a:t>
            </a:r>
            <a:r>
              <a:rPr lang="en-US"/>
              <a:t>similar shape and color </a:t>
            </a:r>
            <a:r>
              <a:rPr lang="en-US" dirty="0"/>
              <a:t>in a photo using binary threshold method (under known background)</a:t>
            </a:r>
            <a:endParaRPr lang="he-IL" dirty="0"/>
          </a:p>
          <a:p>
            <a:pPr algn="l" rtl="0">
              <a:buNone/>
            </a:pPr>
            <a:r>
              <a:rPr lang="en-US" dirty="0"/>
              <a:t>2. We learned how to use uniform distribution for getting random values</a:t>
            </a:r>
          </a:p>
          <a:p>
            <a:pPr algn="l" rtl="0">
              <a:buNone/>
            </a:pPr>
            <a:r>
              <a:rPr lang="en-US" dirty="0"/>
              <a:t>3. We learned how to create random gaussians</a:t>
            </a:r>
          </a:p>
          <a:p>
            <a:pPr algn="l" rtl="0">
              <a:buNone/>
            </a:pPr>
            <a:endParaRPr lang="he-IL" dirty="0">
              <a:solidFill>
                <a:srgbClr val="FF0000"/>
              </a:solidFill>
            </a:endParaRPr>
          </a:p>
        </p:txBody>
      </p:sp>
      <p:sp>
        <p:nvSpPr>
          <p:cNvPr id="6" name="Title 1">
            <a:extLst>
              <a:ext uri="{FF2B5EF4-FFF2-40B4-BE49-F238E27FC236}">
                <a16:creationId xmlns:a16="http://schemas.microsoft.com/office/drawing/2014/main" id="{8A284EDE-BCB6-518E-BA0F-3634CA3B832C}"/>
              </a:ext>
            </a:extLst>
          </p:cNvPr>
          <p:cNvSpPr txBox="1">
            <a:spLocks/>
          </p:cNvSpPr>
          <p:nvPr/>
        </p:nvSpPr>
        <p:spPr>
          <a:xfrm>
            <a:off x="3839993" y="105079"/>
            <a:ext cx="4331241"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what did we learn?</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574923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2016</TotalTime>
  <Words>997</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Cambria Math</vt:lpstr>
      <vt:lpstr>Office Theme</vt:lpstr>
      <vt:lpstr>Course: Image Processing 31651 Assignment #24 Pixel to Pixel Operations (Part 4) – version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27</cp:revision>
  <dcterms:created xsi:type="dcterms:W3CDTF">2024-07-25T10:37:35Z</dcterms:created>
  <dcterms:modified xsi:type="dcterms:W3CDTF">2024-08-18T12:39:04Z</dcterms:modified>
</cp:coreProperties>
</file>