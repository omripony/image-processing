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7" r:id="rId2"/>
    <p:sldId id="256" r:id="rId3"/>
    <p:sldId id="258" r:id="rId4"/>
    <p:sldId id="259" r:id="rId5"/>
    <p:sldId id="260" r:id="rId6"/>
    <p:sldId id="261" r:id="rId7"/>
    <p:sldId id="263" r:id="rId8"/>
    <p:sldId id="272" r:id="rId9"/>
    <p:sldId id="264" r:id="rId10"/>
    <p:sldId id="265" r:id="rId11"/>
    <p:sldId id="266" r:id="rId12"/>
    <p:sldId id="273" r:id="rId13"/>
    <p:sldId id="267" r:id="rId14"/>
    <p:sldId id="268" r:id="rId15"/>
    <p:sldId id="269" r:id="rId16"/>
    <p:sldId id="271" r:id="rId17"/>
  </p:sldIdLst>
  <p:sldSz cx="12192000" cy="6858000"/>
  <p:notesSz cx="6858000" cy="91440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9" d="100"/>
          <a:sy n="79" d="100"/>
        </p:scale>
        <p:origin x="85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ברק שינפלד" userId="e397c85a-ac8c-4bc6-b1de-00c5bc583039" providerId="ADAL" clId="{1CD1C4B1-E2C2-422E-A826-7341D5493A99}"/>
    <pc:docChg chg="custSel modSld">
      <pc:chgData name="ברק שינפלד" userId="e397c85a-ac8c-4bc6-b1de-00c5bc583039" providerId="ADAL" clId="{1CD1C4B1-E2C2-422E-A826-7341D5493A99}" dt="2024-08-11T11:26:10.575" v="30" actId="20577"/>
      <pc:docMkLst>
        <pc:docMk/>
      </pc:docMkLst>
      <pc:sldChg chg="modSp mod">
        <pc:chgData name="ברק שינפלד" userId="e397c85a-ac8c-4bc6-b1de-00c5bc583039" providerId="ADAL" clId="{1CD1C4B1-E2C2-422E-A826-7341D5493A99}" dt="2024-08-11T11:26:10.575" v="30" actId="20577"/>
        <pc:sldMkLst>
          <pc:docMk/>
          <pc:sldMk cId="1574923312" sldId="271"/>
        </pc:sldMkLst>
        <pc:spChg chg="mod">
          <ac:chgData name="ברק שינפלד" userId="e397c85a-ac8c-4bc6-b1de-00c5bc583039" providerId="ADAL" clId="{1CD1C4B1-E2C2-422E-A826-7341D5493A99}" dt="2024-08-11T11:26:10.575" v="30" actId="20577"/>
          <ac:spMkLst>
            <pc:docMk/>
            <pc:sldMk cId="1574923312" sldId="271"/>
            <ac:spMk id="5" creationId="{238DA895-B942-3435-647E-3F0F2C7AD90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he-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AFB334DA-C793-44E4-B394-9B1C2BDBCEFD}" type="datetimeFigureOut">
              <a:rPr lang="he-IL" smtClean="0"/>
              <a:t>י"א/אב/תשפ"ד</a:t>
            </a:fld>
            <a:endParaRPr lang="he-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he-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he-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ED0111F3-2A8E-44C9-8FA3-873288262D2C}" type="slidenum">
              <a:rPr lang="he-IL" smtClean="0"/>
              <a:t>‹#›</a:t>
            </a:fld>
            <a:endParaRPr lang="he-IL"/>
          </a:p>
        </p:txBody>
      </p:sp>
    </p:spTree>
    <p:extLst>
      <p:ext uri="{BB962C8B-B14F-4D97-AF65-F5344CB8AC3E}">
        <p14:creationId xmlns:p14="http://schemas.microsoft.com/office/powerpoint/2010/main" val="9643409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827C3-D6FA-66C7-369D-8DE41A8DCEC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he-IL"/>
          </a:p>
        </p:txBody>
      </p:sp>
      <p:sp>
        <p:nvSpPr>
          <p:cNvPr id="3" name="Subtitle 2">
            <a:extLst>
              <a:ext uri="{FF2B5EF4-FFF2-40B4-BE49-F238E27FC236}">
                <a16:creationId xmlns:a16="http://schemas.microsoft.com/office/drawing/2014/main" id="{59DF6AD8-E6D5-7B73-1DAD-C5C7367065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he-IL"/>
          </a:p>
        </p:txBody>
      </p:sp>
      <p:sp>
        <p:nvSpPr>
          <p:cNvPr id="4" name="Date Placeholder 3">
            <a:extLst>
              <a:ext uri="{FF2B5EF4-FFF2-40B4-BE49-F238E27FC236}">
                <a16:creationId xmlns:a16="http://schemas.microsoft.com/office/drawing/2014/main" id="{2C629893-8E50-5C9B-B314-8E39D39E9299}"/>
              </a:ext>
            </a:extLst>
          </p:cNvPr>
          <p:cNvSpPr>
            <a:spLocks noGrp="1"/>
          </p:cNvSpPr>
          <p:nvPr>
            <p:ph type="dt" sz="half" idx="10"/>
          </p:nvPr>
        </p:nvSpPr>
        <p:spPr/>
        <p:txBody>
          <a:bodyPr/>
          <a:lstStyle/>
          <a:p>
            <a:fld id="{DCD9A065-77D1-4BB5-913F-6F21EA3E767D}" type="datetime8">
              <a:rPr lang="he-IL" smtClean="0"/>
              <a:t>15 אוגוסט 24</a:t>
            </a:fld>
            <a:endParaRPr lang="he-IL"/>
          </a:p>
        </p:txBody>
      </p:sp>
      <p:sp>
        <p:nvSpPr>
          <p:cNvPr id="5" name="Footer Placeholder 4">
            <a:extLst>
              <a:ext uri="{FF2B5EF4-FFF2-40B4-BE49-F238E27FC236}">
                <a16:creationId xmlns:a16="http://schemas.microsoft.com/office/drawing/2014/main" id="{6F97481A-EF47-D3D4-181F-68588765E94F}"/>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7627652-E9C2-CCEA-1159-3E2A468EB227}"/>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6106079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D44BA-89BE-0791-E8F3-9333620EAF07}"/>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908764F6-EE5C-2D86-37F7-A1B110E310C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B122C2F0-207F-89AC-0FDF-D257046A5759}"/>
              </a:ext>
            </a:extLst>
          </p:cNvPr>
          <p:cNvSpPr>
            <a:spLocks noGrp="1"/>
          </p:cNvSpPr>
          <p:nvPr>
            <p:ph type="dt" sz="half" idx="10"/>
          </p:nvPr>
        </p:nvSpPr>
        <p:spPr/>
        <p:txBody>
          <a:bodyPr/>
          <a:lstStyle/>
          <a:p>
            <a:fld id="{6332F5D1-07B7-4DED-ADAA-07379330798F}" type="datetime8">
              <a:rPr lang="he-IL" smtClean="0"/>
              <a:t>15 אוגוסט 24</a:t>
            </a:fld>
            <a:endParaRPr lang="he-IL"/>
          </a:p>
        </p:txBody>
      </p:sp>
      <p:sp>
        <p:nvSpPr>
          <p:cNvPr id="5" name="Footer Placeholder 4">
            <a:extLst>
              <a:ext uri="{FF2B5EF4-FFF2-40B4-BE49-F238E27FC236}">
                <a16:creationId xmlns:a16="http://schemas.microsoft.com/office/drawing/2014/main" id="{A4999A65-55F4-0A7B-14D3-6626E36C510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04B461D4-BC6A-C1AB-E50F-C95AA6E8532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6235756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37767-8025-D151-1032-3811604FCE6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he-IL"/>
          </a:p>
        </p:txBody>
      </p:sp>
      <p:sp>
        <p:nvSpPr>
          <p:cNvPr id="3" name="Text Placeholder 2">
            <a:extLst>
              <a:ext uri="{FF2B5EF4-FFF2-40B4-BE49-F238E27FC236}">
                <a16:creationId xmlns:a16="http://schemas.microsoft.com/office/drawing/2014/main" id="{5C34F012-40A0-E999-4054-875307A2DA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D4895AA-F6EA-9A32-5637-0234A01B50BC}"/>
              </a:ext>
            </a:extLst>
          </p:cNvPr>
          <p:cNvSpPr>
            <a:spLocks noGrp="1"/>
          </p:cNvSpPr>
          <p:nvPr>
            <p:ph type="dt" sz="half" idx="10"/>
          </p:nvPr>
        </p:nvSpPr>
        <p:spPr/>
        <p:txBody>
          <a:bodyPr/>
          <a:lstStyle/>
          <a:p>
            <a:fld id="{90E21049-26CE-4894-ABA1-F507D930348C}" type="datetime8">
              <a:rPr lang="he-IL" smtClean="0"/>
              <a:t>15 אוגוסט 24</a:t>
            </a:fld>
            <a:endParaRPr lang="he-IL"/>
          </a:p>
        </p:txBody>
      </p:sp>
      <p:sp>
        <p:nvSpPr>
          <p:cNvPr id="5" name="Footer Placeholder 4">
            <a:extLst>
              <a:ext uri="{FF2B5EF4-FFF2-40B4-BE49-F238E27FC236}">
                <a16:creationId xmlns:a16="http://schemas.microsoft.com/office/drawing/2014/main" id="{5025F018-2478-EB6F-85D0-B61B488DC788}"/>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E8067CB2-DB44-02AA-BDB6-24F3721F914F}"/>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94424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CA5148-028E-E997-FEDA-0E608EE2D291}"/>
              </a:ext>
            </a:extLst>
          </p:cNvPr>
          <p:cNvSpPr>
            <a:spLocks noGrp="1"/>
          </p:cNvSpPr>
          <p:nvPr>
            <p:ph type="title"/>
          </p:nvPr>
        </p:nvSpPr>
        <p:spPr/>
        <p:txBody>
          <a:bodyPr/>
          <a:lstStyle/>
          <a:p>
            <a:r>
              <a:rPr lang="en-US"/>
              <a:t>Click to edit Master title style</a:t>
            </a:r>
            <a:endParaRPr lang="he-IL"/>
          </a:p>
        </p:txBody>
      </p:sp>
      <p:sp>
        <p:nvSpPr>
          <p:cNvPr id="3" name="Content Placeholder 2">
            <a:extLst>
              <a:ext uri="{FF2B5EF4-FFF2-40B4-BE49-F238E27FC236}">
                <a16:creationId xmlns:a16="http://schemas.microsoft.com/office/drawing/2014/main" id="{ECECC1D5-0C56-601F-4F62-2F5A7487104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Content Placeholder 3">
            <a:extLst>
              <a:ext uri="{FF2B5EF4-FFF2-40B4-BE49-F238E27FC236}">
                <a16:creationId xmlns:a16="http://schemas.microsoft.com/office/drawing/2014/main" id="{0F9EF57E-9C2F-5C56-4A32-1EDB4E44ABC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Date Placeholder 4">
            <a:extLst>
              <a:ext uri="{FF2B5EF4-FFF2-40B4-BE49-F238E27FC236}">
                <a16:creationId xmlns:a16="http://schemas.microsoft.com/office/drawing/2014/main" id="{C75A50C5-964D-610E-73B7-DEF919671D83}"/>
              </a:ext>
            </a:extLst>
          </p:cNvPr>
          <p:cNvSpPr>
            <a:spLocks noGrp="1"/>
          </p:cNvSpPr>
          <p:nvPr>
            <p:ph type="dt" sz="half" idx="10"/>
          </p:nvPr>
        </p:nvSpPr>
        <p:spPr/>
        <p:txBody>
          <a:bodyPr/>
          <a:lstStyle/>
          <a:p>
            <a:fld id="{D4AC38E6-4CD8-405F-8818-5109329025F5}" type="datetime8">
              <a:rPr lang="he-IL" smtClean="0"/>
              <a:t>15 אוגוסט 24</a:t>
            </a:fld>
            <a:endParaRPr lang="he-IL"/>
          </a:p>
        </p:txBody>
      </p:sp>
      <p:sp>
        <p:nvSpPr>
          <p:cNvPr id="6" name="Footer Placeholder 5">
            <a:extLst>
              <a:ext uri="{FF2B5EF4-FFF2-40B4-BE49-F238E27FC236}">
                <a16:creationId xmlns:a16="http://schemas.microsoft.com/office/drawing/2014/main" id="{AADFC7B4-2012-EBB1-F27E-0D4E490BAEC0}"/>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85CF4791-59BA-7A4C-61E1-3BB948E5994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9588443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EE904-44E7-64AF-6EA2-09106FCE8995}"/>
              </a:ext>
            </a:extLst>
          </p:cNvPr>
          <p:cNvSpPr>
            <a:spLocks noGrp="1"/>
          </p:cNvSpPr>
          <p:nvPr>
            <p:ph type="title"/>
          </p:nvPr>
        </p:nvSpPr>
        <p:spPr>
          <a:xfrm>
            <a:off x="839788" y="365125"/>
            <a:ext cx="10515600" cy="1325563"/>
          </a:xfrm>
        </p:spPr>
        <p:txBody>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F245126-195C-D8F0-D632-24FF3C6DC3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8DF84FA-8A83-D586-5A0A-5FA6171099D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5" name="Text Placeholder 4">
            <a:extLst>
              <a:ext uri="{FF2B5EF4-FFF2-40B4-BE49-F238E27FC236}">
                <a16:creationId xmlns:a16="http://schemas.microsoft.com/office/drawing/2014/main" id="{245A2644-AE96-0B6C-1558-3F2659F813D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3A2F93-088D-304D-D359-A3165B784F4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7" name="Date Placeholder 6">
            <a:extLst>
              <a:ext uri="{FF2B5EF4-FFF2-40B4-BE49-F238E27FC236}">
                <a16:creationId xmlns:a16="http://schemas.microsoft.com/office/drawing/2014/main" id="{225F0DD4-215D-423B-D191-053E9501A170}"/>
              </a:ext>
            </a:extLst>
          </p:cNvPr>
          <p:cNvSpPr>
            <a:spLocks noGrp="1"/>
          </p:cNvSpPr>
          <p:nvPr>
            <p:ph type="dt" sz="half" idx="10"/>
          </p:nvPr>
        </p:nvSpPr>
        <p:spPr/>
        <p:txBody>
          <a:bodyPr/>
          <a:lstStyle/>
          <a:p>
            <a:fld id="{729B336C-2388-467E-B959-6B70B437B2B0}" type="datetime8">
              <a:rPr lang="he-IL" smtClean="0"/>
              <a:t>15 אוגוסט 24</a:t>
            </a:fld>
            <a:endParaRPr lang="he-IL"/>
          </a:p>
        </p:txBody>
      </p:sp>
      <p:sp>
        <p:nvSpPr>
          <p:cNvPr id="8" name="Footer Placeholder 7">
            <a:extLst>
              <a:ext uri="{FF2B5EF4-FFF2-40B4-BE49-F238E27FC236}">
                <a16:creationId xmlns:a16="http://schemas.microsoft.com/office/drawing/2014/main" id="{3FAA5396-5503-5092-7139-69646B1BBCC3}"/>
              </a:ext>
            </a:extLst>
          </p:cNvPr>
          <p:cNvSpPr>
            <a:spLocks noGrp="1"/>
          </p:cNvSpPr>
          <p:nvPr>
            <p:ph type="ftr" sz="quarter" idx="11"/>
          </p:nvPr>
        </p:nvSpPr>
        <p:spPr/>
        <p:txBody>
          <a:bodyPr/>
          <a:lstStyle/>
          <a:p>
            <a:endParaRPr lang="he-IL"/>
          </a:p>
        </p:txBody>
      </p:sp>
      <p:sp>
        <p:nvSpPr>
          <p:cNvPr id="9" name="Slide Number Placeholder 8">
            <a:extLst>
              <a:ext uri="{FF2B5EF4-FFF2-40B4-BE49-F238E27FC236}">
                <a16:creationId xmlns:a16="http://schemas.microsoft.com/office/drawing/2014/main" id="{6321D9E1-3DAC-6570-5099-E2806668B4A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452110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4607B-3A97-292A-27C3-CD4EF0C6C8A4}"/>
              </a:ext>
            </a:extLst>
          </p:cNvPr>
          <p:cNvSpPr>
            <a:spLocks noGrp="1"/>
          </p:cNvSpPr>
          <p:nvPr>
            <p:ph type="title"/>
          </p:nvPr>
        </p:nvSpPr>
        <p:spPr/>
        <p:txBody>
          <a:bodyPr/>
          <a:lstStyle/>
          <a:p>
            <a:r>
              <a:rPr lang="en-US"/>
              <a:t>Click to edit Master title style</a:t>
            </a:r>
            <a:endParaRPr lang="he-IL"/>
          </a:p>
        </p:txBody>
      </p:sp>
      <p:sp>
        <p:nvSpPr>
          <p:cNvPr id="3" name="Date Placeholder 2">
            <a:extLst>
              <a:ext uri="{FF2B5EF4-FFF2-40B4-BE49-F238E27FC236}">
                <a16:creationId xmlns:a16="http://schemas.microsoft.com/office/drawing/2014/main" id="{F6AC28B4-490A-F37C-D686-A24EAE78806E}"/>
              </a:ext>
            </a:extLst>
          </p:cNvPr>
          <p:cNvSpPr>
            <a:spLocks noGrp="1"/>
          </p:cNvSpPr>
          <p:nvPr>
            <p:ph type="dt" sz="half" idx="10"/>
          </p:nvPr>
        </p:nvSpPr>
        <p:spPr/>
        <p:txBody>
          <a:bodyPr/>
          <a:lstStyle/>
          <a:p>
            <a:fld id="{D5124FE0-FCC2-48EF-9D98-9F69E9926681}" type="datetime8">
              <a:rPr lang="he-IL" smtClean="0"/>
              <a:t>15 אוגוסט 24</a:t>
            </a:fld>
            <a:endParaRPr lang="he-IL"/>
          </a:p>
        </p:txBody>
      </p:sp>
      <p:sp>
        <p:nvSpPr>
          <p:cNvPr id="4" name="Footer Placeholder 3">
            <a:extLst>
              <a:ext uri="{FF2B5EF4-FFF2-40B4-BE49-F238E27FC236}">
                <a16:creationId xmlns:a16="http://schemas.microsoft.com/office/drawing/2014/main" id="{C71CB608-00C1-6042-80C7-2CED09E78A5D}"/>
              </a:ext>
            </a:extLst>
          </p:cNvPr>
          <p:cNvSpPr>
            <a:spLocks noGrp="1"/>
          </p:cNvSpPr>
          <p:nvPr>
            <p:ph type="ftr" sz="quarter" idx="11"/>
          </p:nvPr>
        </p:nvSpPr>
        <p:spPr/>
        <p:txBody>
          <a:bodyPr/>
          <a:lstStyle/>
          <a:p>
            <a:endParaRPr lang="he-IL"/>
          </a:p>
        </p:txBody>
      </p:sp>
      <p:sp>
        <p:nvSpPr>
          <p:cNvPr id="5" name="Slide Number Placeholder 4">
            <a:extLst>
              <a:ext uri="{FF2B5EF4-FFF2-40B4-BE49-F238E27FC236}">
                <a16:creationId xmlns:a16="http://schemas.microsoft.com/office/drawing/2014/main" id="{A4E8451B-2DCD-CBFF-5DB8-BB93D8B33138}"/>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2800604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497823E-3C82-2A94-13C4-D2A39E1F32D5}"/>
              </a:ext>
            </a:extLst>
          </p:cNvPr>
          <p:cNvSpPr>
            <a:spLocks noGrp="1"/>
          </p:cNvSpPr>
          <p:nvPr>
            <p:ph type="dt" sz="half" idx="10"/>
          </p:nvPr>
        </p:nvSpPr>
        <p:spPr/>
        <p:txBody>
          <a:bodyPr/>
          <a:lstStyle/>
          <a:p>
            <a:fld id="{9C30FD23-55FE-4CC8-8277-39BB0EAEE0FA}" type="datetime8">
              <a:rPr lang="he-IL" smtClean="0"/>
              <a:t>15 אוגוסט 24</a:t>
            </a:fld>
            <a:endParaRPr lang="he-IL"/>
          </a:p>
        </p:txBody>
      </p:sp>
      <p:sp>
        <p:nvSpPr>
          <p:cNvPr id="3" name="Footer Placeholder 2">
            <a:extLst>
              <a:ext uri="{FF2B5EF4-FFF2-40B4-BE49-F238E27FC236}">
                <a16:creationId xmlns:a16="http://schemas.microsoft.com/office/drawing/2014/main" id="{74A7B998-B3AF-19BF-4AB1-8DABBFCE5A07}"/>
              </a:ext>
            </a:extLst>
          </p:cNvPr>
          <p:cNvSpPr>
            <a:spLocks noGrp="1"/>
          </p:cNvSpPr>
          <p:nvPr>
            <p:ph type="ftr" sz="quarter" idx="11"/>
          </p:nvPr>
        </p:nvSpPr>
        <p:spPr/>
        <p:txBody>
          <a:bodyPr/>
          <a:lstStyle/>
          <a:p>
            <a:endParaRPr lang="he-IL"/>
          </a:p>
        </p:txBody>
      </p:sp>
      <p:sp>
        <p:nvSpPr>
          <p:cNvPr id="4" name="Slide Number Placeholder 3">
            <a:extLst>
              <a:ext uri="{FF2B5EF4-FFF2-40B4-BE49-F238E27FC236}">
                <a16:creationId xmlns:a16="http://schemas.microsoft.com/office/drawing/2014/main" id="{239C4964-9B67-F490-122C-8FF47A82E3E2}"/>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3846969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A752B-6686-B1D1-F428-80262051D0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Content Placeholder 2">
            <a:extLst>
              <a:ext uri="{FF2B5EF4-FFF2-40B4-BE49-F238E27FC236}">
                <a16:creationId xmlns:a16="http://schemas.microsoft.com/office/drawing/2014/main" id="{48EDFBEA-BE44-F870-7F62-FF8E0DD40B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Text Placeholder 3">
            <a:extLst>
              <a:ext uri="{FF2B5EF4-FFF2-40B4-BE49-F238E27FC236}">
                <a16:creationId xmlns:a16="http://schemas.microsoft.com/office/drawing/2014/main" id="{E06AFEFB-C927-EAEC-47F7-15CD4DC97B5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F0696BF-A572-A4F6-710D-15B5A81DD09E}"/>
              </a:ext>
            </a:extLst>
          </p:cNvPr>
          <p:cNvSpPr>
            <a:spLocks noGrp="1"/>
          </p:cNvSpPr>
          <p:nvPr>
            <p:ph type="dt" sz="half" idx="10"/>
          </p:nvPr>
        </p:nvSpPr>
        <p:spPr/>
        <p:txBody>
          <a:bodyPr/>
          <a:lstStyle/>
          <a:p>
            <a:fld id="{37567DF8-D905-4650-92BF-EF6FBCF65DB5}" type="datetime8">
              <a:rPr lang="he-IL" smtClean="0"/>
              <a:t>15 אוגוסט 24</a:t>
            </a:fld>
            <a:endParaRPr lang="he-IL"/>
          </a:p>
        </p:txBody>
      </p:sp>
      <p:sp>
        <p:nvSpPr>
          <p:cNvPr id="6" name="Footer Placeholder 5">
            <a:extLst>
              <a:ext uri="{FF2B5EF4-FFF2-40B4-BE49-F238E27FC236}">
                <a16:creationId xmlns:a16="http://schemas.microsoft.com/office/drawing/2014/main" id="{F4C62ACE-62FA-A1E7-7983-520BC307A9D3}"/>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D5ACDC73-DDD9-E0FA-1F49-203514CEF9B4}"/>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247137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5D6C5C-3CBA-958A-FAC3-8546891A67D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he-IL"/>
          </a:p>
        </p:txBody>
      </p:sp>
      <p:sp>
        <p:nvSpPr>
          <p:cNvPr id="3" name="Picture Placeholder 2">
            <a:extLst>
              <a:ext uri="{FF2B5EF4-FFF2-40B4-BE49-F238E27FC236}">
                <a16:creationId xmlns:a16="http://schemas.microsoft.com/office/drawing/2014/main" id="{A01FA004-BC52-B5FD-8A00-32359E30FE1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he-IL"/>
          </a:p>
        </p:txBody>
      </p:sp>
      <p:sp>
        <p:nvSpPr>
          <p:cNvPr id="4" name="Text Placeholder 3">
            <a:extLst>
              <a:ext uri="{FF2B5EF4-FFF2-40B4-BE49-F238E27FC236}">
                <a16:creationId xmlns:a16="http://schemas.microsoft.com/office/drawing/2014/main" id="{5062E2EA-DA9E-6C9B-5C98-8062598268F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DF2F45-5560-84D7-5B68-522C8B7CD616}"/>
              </a:ext>
            </a:extLst>
          </p:cNvPr>
          <p:cNvSpPr>
            <a:spLocks noGrp="1"/>
          </p:cNvSpPr>
          <p:nvPr>
            <p:ph type="dt" sz="half" idx="10"/>
          </p:nvPr>
        </p:nvSpPr>
        <p:spPr/>
        <p:txBody>
          <a:bodyPr/>
          <a:lstStyle/>
          <a:p>
            <a:fld id="{14EDC78A-9B06-4685-BDED-5E58DA920AAA}" type="datetime8">
              <a:rPr lang="he-IL" smtClean="0"/>
              <a:t>15 אוגוסט 24</a:t>
            </a:fld>
            <a:endParaRPr lang="he-IL"/>
          </a:p>
        </p:txBody>
      </p:sp>
      <p:sp>
        <p:nvSpPr>
          <p:cNvPr id="6" name="Footer Placeholder 5">
            <a:extLst>
              <a:ext uri="{FF2B5EF4-FFF2-40B4-BE49-F238E27FC236}">
                <a16:creationId xmlns:a16="http://schemas.microsoft.com/office/drawing/2014/main" id="{266CD0C0-BC7C-78FC-6819-C848C482EB0D}"/>
              </a:ext>
            </a:extLst>
          </p:cNvPr>
          <p:cNvSpPr>
            <a:spLocks noGrp="1"/>
          </p:cNvSpPr>
          <p:nvPr>
            <p:ph type="ftr" sz="quarter" idx="11"/>
          </p:nvPr>
        </p:nvSpPr>
        <p:spPr/>
        <p:txBody>
          <a:bodyPr/>
          <a:lstStyle/>
          <a:p>
            <a:endParaRPr lang="he-IL"/>
          </a:p>
        </p:txBody>
      </p:sp>
      <p:sp>
        <p:nvSpPr>
          <p:cNvPr id="7" name="Slide Number Placeholder 6">
            <a:extLst>
              <a:ext uri="{FF2B5EF4-FFF2-40B4-BE49-F238E27FC236}">
                <a16:creationId xmlns:a16="http://schemas.microsoft.com/office/drawing/2014/main" id="{350AFA1C-0E8A-980E-D6A1-5AA47C47D023}"/>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6977003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1010D0-4FBF-8C1F-36DD-7027CBFDA432}"/>
              </a:ext>
            </a:extLst>
          </p:cNvPr>
          <p:cNvSpPr>
            <a:spLocks noGrp="1"/>
          </p:cNvSpPr>
          <p:nvPr>
            <p:ph type="title"/>
          </p:nvPr>
        </p:nvSpPr>
        <p:spPr/>
        <p:txBody>
          <a:bodyPr/>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6938040C-8F1D-93B3-9211-A09CF883A32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AE436E1D-93A5-BCC3-DDEF-B35110E19360}"/>
              </a:ext>
            </a:extLst>
          </p:cNvPr>
          <p:cNvSpPr>
            <a:spLocks noGrp="1"/>
          </p:cNvSpPr>
          <p:nvPr>
            <p:ph type="dt" sz="half" idx="10"/>
          </p:nvPr>
        </p:nvSpPr>
        <p:spPr/>
        <p:txBody>
          <a:bodyPr/>
          <a:lstStyle/>
          <a:p>
            <a:fld id="{051AF78F-7F0D-4982-817D-86660B6E51D5}" type="datetime8">
              <a:rPr lang="he-IL" smtClean="0"/>
              <a:t>15 אוגוסט 24</a:t>
            </a:fld>
            <a:endParaRPr lang="he-IL"/>
          </a:p>
        </p:txBody>
      </p:sp>
      <p:sp>
        <p:nvSpPr>
          <p:cNvPr id="5" name="Footer Placeholder 4">
            <a:extLst>
              <a:ext uri="{FF2B5EF4-FFF2-40B4-BE49-F238E27FC236}">
                <a16:creationId xmlns:a16="http://schemas.microsoft.com/office/drawing/2014/main" id="{81662B09-2F96-2601-000E-A57B4C3ECB5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3FFDC0FA-FFB1-E7A3-14A0-EFCD6F2209E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27119610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580661-F659-1514-139C-0584218641B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he-IL"/>
          </a:p>
        </p:txBody>
      </p:sp>
      <p:sp>
        <p:nvSpPr>
          <p:cNvPr id="3" name="Vertical Text Placeholder 2">
            <a:extLst>
              <a:ext uri="{FF2B5EF4-FFF2-40B4-BE49-F238E27FC236}">
                <a16:creationId xmlns:a16="http://schemas.microsoft.com/office/drawing/2014/main" id="{49472CC3-99AD-268D-1E56-A171FCCF98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32729E30-DC6E-4C01-F4AB-FB5148D77696}"/>
              </a:ext>
            </a:extLst>
          </p:cNvPr>
          <p:cNvSpPr>
            <a:spLocks noGrp="1"/>
          </p:cNvSpPr>
          <p:nvPr>
            <p:ph type="dt" sz="half" idx="10"/>
          </p:nvPr>
        </p:nvSpPr>
        <p:spPr/>
        <p:txBody>
          <a:bodyPr/>
          <a:lstStyle/>
          <a:p>
            <a:fld id="{E5DA3DA1-5CDE-4F50-9CE1-030A5B61402A}" type="datetime8">
              <a:rPr lang="he-IL" smtClean="0"/>
              <a:t>15 אוגוסט 24</a:t>
            </a:fld>
            <a:endParaRPr lang="he-IL"/>
          </a:p>
        </p:txBody>
      </p:sp>
      <p:sp>
        <p:nvSpPr>
          <p:cNvPr id="5" name="Footer Placeholder 4">
            <a:extLst>
              <a:ext uri="{FF2B5EF4-FFF2-40B4-BE49-F238E27FC236}">
                <a16:creationId xmlns:a16="http://schemas.microsoft.com/office/drawing/2014/main" id="{B7074491-34F5-9D0F-67EC-AD9E11A6987A}"/>
              </a:ext>
            </a:extLst>
          </p:cNvPr>
          <p:cNvSpPr>
            <a:spLocks noGrp="1"/>
          </p:cNvSpPr>
          <p:nvPr>
            <p:ph type="ftr" sz="quarter" idx="11"/>
          </p:nvPr>
        </p:nvSpPr>
        <p:spPr/>
        <p:txBody>
          <a:bodyPr/>
          <a:lstStyle/>
          <a:p>
            <a:endParaRPr lang="he-IL"/>
          </a:p>
        </p:txBody>
      </p:sp>
      <p:sp>
        <p:nvSpPr>
          <p:cNvPr id="6" name="Slide Number Placeholder 5">
            <a:extLst>
              <a:ext uri="{FF2B5EF4-FFF2-40B4-BE49-F238E27FC236}">
                <a16:creationId xmlns:a16="http://schemas.microsoft.com/office/drawing/2014/main" id="{CDC6A970-C368-6D00-E749-A8CF5AE8ABAB}"/>
              </a:ext>
            </a:extLst>
          </p:cNvPr>
          <p:cNvSpPr>
            <a:spLocks noGrp="1"/>
          </p:cNvSpPr>
          <p:nvPr>
            <p:ph type="sldNum" sz="quarter" idx="12"/>
          </p:nvPr>
        </p:nvSpPr>
        <p:spPr/>
        <p:txBody>
          <a:bodyPr/>
          <a:lstStyle/>
          <a:p>
            <a:fld id="{81122904-1B5F-4679-B3DC-5E87602DE7DA}" type="slidenum">
              <a:rPr lang="he-IL" smtClean="0"/>
              <a:t>‹#›</a:t>
            </a:fld>
            <a:endParaRPr lang="he-IL"/>
          </a:p>
        </p:txBody>
      </p:sp>
    </p:spTree>
    <p:extLst>
      <p:ext uri="{BB962C8B-B14F-4D97-AF65-F5344CB8AC3E}">
        <p14:creationId xmlns:p14="http://schemas.microsoft.com/office/powerpoint/2010/main" val="1387584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41225BC-2BFE-9BE2-56A2-1D472AD4E9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he-IL"/>
          </a:p>
        </p:txBody>
      </p:sp>
      <p:sp>
        <p:nvSpPr>
          <p:cNvPr id="3" name="Text Placeholder 2">
            <a:extLst>
              <a:ext uri="{FF2B5EF4-FFF2-40B4-BE49-F238E27FC236}">
                <a16:creationId xmlns:a16="http://schemas.microsoft.com/office/drawing/2014/main" id="{E80CE685-CD0D-C053-4392-2CC0FEF7F4D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he-IL"/>
          </a:p>
        </p:txBody>
      </p:sp>
      <p:sp>
        <p:nvSpPr>
          <p:cNvPr id="4" name="Date Placeholder 3">
            <a:extLst>
              <a:ext uri="{FF2B5EF4-FFF2-40B4-BE49-F238E27FC236}">
                <a16:creationId xmlns:a16="http://schemas.microsoft.com/office/drawing/2014/main" id="{DF600C61-3AFE-29B4-BC49-B91EE3B4097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B080159-467D-459C-83C1-C34DD7114053}" type="datetime8">
              <a:rPr lang="he-IL" smtClean="0"/>
              <a:t>15 אוגוסט 24</a:t>
            </a:fld>
            <a:endParaRPr lang="he-IL"/>
          </a:p>
        </p:txBody>
      </p:sp>
      <p:sp>
        <p:nvSpPr>
          <p:cNvPr id="5" name="Footer Placeholder 4">
            <a:extLst>
              <a:ext uri="{FF2B5EF4-FFF2-40B4-BE49-F238E27FC236}">
                <a16:creationId xmlns:a16="http://schemas.microsoft.com/office/drawing/2014/main" id="{D7F75550-E82A-9F65-7370-EA8244E4A15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he-IL"/>
          </a:p>
        </p:txBody>
      </p:sp>
      <p:sp>
        <p:nvSpPr>
          <p:cNvPr id="6" name="Slide Number Placeholder 5">
            <a:extLst>
              <a:ext uri="{FF2B5EF4-FFF2-40B4-BE49-F238E27FC236}">
                <a16:creationId xmlns:a16="http://schemas.microsoft.com/office/drawing/2014/main" id="{C464429F-9EA2-4D93-87E9-D7EF32ECE4C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1122904-1B5F-4679-B3DC-5E87602DE7DA}" type="slidenum">
              <a:rPr lang="he-IL" smtClean="0"/>
              <a:t>‹#›</a:t>
            </a:fld>
            <a:endParaRPr lang="he-IL"/>
          </a:p>
        </p:txBody>
      </p:sp>
    </p:spTree>
    <p:extLst>
      <p:ext uri="{BB962C8B-B14F-4D97-AF65-F5344CB8AC3E}">
        <p14:creationId xmlns:p14="http://schemas.microsoft.com/office/powerpoint/2010/main" val="23075168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E364457-9AE2-EF93-CC4B-12276FBCF7A9}"/>
              </a:ext>
            </a:extLst>
          </p:cNvPr>
          <p:cNvSpPr>
            <a:spLocks noGrp="1"/>
          </p:cNvSpPr>
          <p:nvPr>
            <p:ph type="ctrTitle"/>
          </p:nvPr>
        </p:nvSpPr>
        <p:spPr>
          <a:xfrm>
            <a:off x="2708063" y="-45288"/>
            <a:ext cx="6775874" cy="1488333"/>
          </a:xfrm>
        </p:spPr>
        <p:txBody>
          <a:bodyPr>
            <a:normAutofit/>
          </a:bodyPr>
          <a:lstStyle/>
          <a:p>
            <a:pPr rtl="0"/>
            <a:r>
              <a:rPr lang="en-US" sz="3200" b="1" dirty="0">
                <a:solidFill>
                  <a:srgbClr val="0070C0"/>
                </a:solidFill>
              </a:rPr>
              <a:t>Course: Image Processing 31651</a:t>
            </a:r>
            <a:br>
              <a:rPr lang="en-US" sz="3200" b="1" dirty="0">
                <a:solidFill>
                  <a:srgbClr val="0070C0"/>
                </a:solidFill>
              </a:rPr>
            </a:br>
            <a:r>
              <a:rPr lang="en-US" sz="3200" b="1" dirty="0">
                <a:solidFill>
                  <a:srgbClr val="0070C0"/>
                </a:solidFill>
              </a:rPr>
              <a:t>Assignment #24</a:t>
            </a:r>
            <a:br>
              <a:rPr lang="en-US" sz="3200" b="1" dirty="0">
                <a:solidFill>
                  <a:srgbClr val="0070C0"/>
                </a:solidFill>
              </a:rPr>
            </a:br>
            <a:r>
              <a:rPr lang="en-US" sz="3200" b="1" dirty="0">
                <a:solidFill>
                  <a:srgbClr val="0070C0"/>
                </a:solidFill>
              </a:rPr>
              <a:t>Pixel to Pixel Operations (Part 4)</a:t>
            </a:r>
            <a:endParaRPr lang="he-IL" sz="3200" b="1" dirty="0">
              <a:solidFill>
                <a:srgbClr val="0070C0"/>
              </a:solidFill>
            </a:endParaRPr>
          </a:p>
        </p:txBody>
      </p:sp>
      <p:graphicFrame>
        <p:nvGraphicFramePr>
          <p:cNvPr id="5" name="Table 4">
            <a:extLst>
              <a:ext uri="{FF2B5EF4-FFF2-40B4-BE49-F238E27FC236}">
                <a16:creationId xmlns:a16="http://schemas.microsoft.com/office/drawing/2014/main" id="{B2310BE6-3F81-9FB9-07A6-25E1FC274E98}"/>
              </a:ext>
            </a:extLst>
          </p:cNvPr>
          <p:cNvGraphicFramePr>
            <a:graphicFrameLocks noGrp="1"/>
          </p:cNvGraphicFramePr>
          <p:nvPr/>
        </p:nvGraphicFramePr>
        <p:xfrm>
          <a:off x="505839" y="1443045"/>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sp>
        <p:nvSpPr>
          <p:cNvPr id="6" name="Slide Number Placeholder 5">
            <a:extLst>
              <a:ext uri="{FF2B5EF4-FFF2-40B4-BE49-F238E27FC236}">
                <a16:creationId xmlns:a16="http://schemas.microsoft.com/office/drawing/2014/main" id="{630DDD76-149D-5CD9-20D8-E0D7C8A1C65E}"/>
              </a:ext>
            </a:extLst>
          </p:cNvPr>
          <p:cNvSpPr>
            <a:spLocks noGrp="1"/>
          </p:cNvSpPr>
          <p:nvPr>
            <p:ph type="sldNum" sz="quarter" idx="12"/>
          </p:nvPr>
        </p:nvSpPr>
        <p:spPr>
          <a:xfrm>
            <a:off x="11879094" y="6492875"/>
            <a:ext cx="312906" cy="365125"/>
          </a:xfrm>
        </p:spPr>
        <p:txBody>
          <a:bodyPr/>
          <a:lstStyle/>
          <a:p>
            <a:fld id="{1E5BF412-EFCF-4C51-A2DF-B419076696E3}" type="slidenum">
              <a:rPr lang="he-IL" sz="1600" smtClean="0"/>
              <a:t>1</a:t>
            </a:fld>
            <a:endParaRPr lang="he-IL" sz="1600" dirty="0"/>
          </a:p>
        </p:txBody>
      </p:sp>
      <p:pic>
        <p:nvPicPr>
          <p:cNvPr id="2" name="Picture 1" descr="A person standing on a stone wall with a bridge in the background&#10;&#10;Description automatically generated">
            <a:extLst>
              <a:ext uri="{FF2B5EF4-FFF2-40B4-BE49-F238E27FC236}">
                <a16:creationId xmlns:a16="http://schemas.microsoft.com/office/drawing/2014/main" id="{30125289-0874-E85E-63D6-B9B4F2C31DDE}"/>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4" y="3236167"/>
            <a:ext cx="1642513" cy="1846851"/>
          </a:xfrm>
          <a:prstGeom prst="rect">
            <a:avLst/>
          </a:prstGeom>
        </p:spPr>
      </p:pic>
      <p:pic>
        <p:nvPicPr>
          <p:cNvPr id="7" name="Picture 6" descr="A person in a uniform&#10;&#10;Description automatically generated">
            <a:extLst>
              <a:ext uri="{FF2B5EF4-FFF2-40B4-BE49-F238E27FC236}">
                <a16:creationId xmlns:a16="http://schemas.microsoft.com/office/drawing/2014/main" id="{475EB80C-A92F-F3B4-12B8-2283C49E2FA0}"/>
              </a:ext>
            </a:extLst>
          </p:cNvPr>
          <p:cNvPicPr>
            <a:picLocks noChangeAspect="1"/>
          </p:cNvPicPr>
          <p:nvPr/>
        </p:nvPicPr>
        <p:blipFill>
          <a:blip r:embed="rId3"/>
          <a:stretch>
            <a:fillRect/>
          </a:stretch>
        </p:blipFill>
        <p:spPr>
          <a:xfrm>
            <a:off x="6096000" y="4626894"/>
            <a:ext cx="1462391" cy="2065735"/>
          </a:xfrm>
          <a:prstGeom prst="rect">
            <a:avLst/>
          </a:prstGeom>
        </p:spPr>
      </p:pic>
      <p:pic>
        <p:nvPicPr>
          <p:cNvPr id="8" name="Picture 7">
            <a:extLst>
              <a:ext uri="{FF2B5EF4-FFF2-40B4-BE49-F238E27FC236}">
                <a16:creationId xmlns:a16="http://schemas.microsoft.com/office/drawing/2014/main" id="{53A24B95-E992-B8A2-C876-E5178DBDC409}"/>
              </a:ext>
            </a:extLst>
          </p:cNvPr>
          <p:cNvPicPr>
            <a:picLocks noChangeAspect="1"/>
          </p:cNvPicPr>
          <p:nvPr/>
        </p:nvPicPr>
        <p:blipFill>
          <a:blip r:embed="rId4"/>
          <a:stretch>
            <a:fillRect/>
          </a:stretch>
        </p:blipFill>
        <p:spPr>
          <a:xfrm>
            <a:off x="6096000" y="1608295"/>
            <a:ext cx="1550593" cy="2065735"/>
          </a:xfrm>
          <a:prstGeom prst="rect">
            <a:avLst/>
          </a:prstGeom>
        </p:spPr>
      </p:pic>
      <p:graphicFrame>
        <p:nvGraphicFramePr>
          <p:cNvPr id="3" name="Table 2">
            <a:extLst>
              <a:ext uri="{FF2B5EF4-FFF2-40B4-BE49-F238E27FC236}">
                <a16:creationId xmlns:a16="http://schemas.microsoft.com/office/drawing/2014/main" id="{28ECA60B-3674-650A-5502-62E9FA037AB6}"/>
              </a:ext>
            </a:extLst>
          </p:cNvPr>
          <p:cNvGraphicFramePr>
            <a:graphicFrameLocks noGrp="1"/>
          </p:cNvGraphicFramePr>
          <p:nvPr/>
        </p:nvGraphicFramePr>
        <p:xfrm>
          <a:off x="505838" y="1443044"/>
          <a:ext cx="11373254" cy="5249585"/>
        </p:xfrm>
        <a:graphic>
          <a:graphicData uri="http://schemas.openxmlformats.org/drawingml/2006/table">
            <a:tbl>
              <a:tblPr rtl="1" firstRow="1" bandRow="1">
                <a:tableStyleId>{5940675A-B579-460E-94D1-54222C63F5DA}</a:tableStyleId>
              </a:tblPr>
              <a:tblGrid>
                <a:gridCol w="5839221">
                  <a:extLst>
                    <a:ext uri="{9D8B030D-6E8A-4147-A177-3AD203B41FA5}">
                      <a16:colId xmlns:a16="http://schemas.microsoft.com/office/drawing/2014/main" val="20000"/>
                    </a:ext>
                  </a:extLst>
                </a:gridCol>
                <a:gridCol w="1852689">
                  <a:extLst>
                    <a:ext uri="{9D8B030D-6E8A-4147-A177-3AD203B41FA5}">
                      <a16:colId xmlns:a16="http://schemas.microsoft.com/office/drawing/2014/main" val="20001"/>
                    </a:ext>
                  </a:extLst>
                </a:gridCol>
                <a:gridCol w="1945424">
                  <a:extLst>
                    <a:ext uri="{9D8B030D-6E8A-4147-A177-3AD203B41FA5}">
                      <a16:colId xmlns:a16="http://schemas.microsoft.com/office/drawing/2014/main" val="20002"/>
                    </a:ext>
                  </a:extLst>
                </a:gridCol>
                <a:gridCol w="1735920">
                  <a:extLst>
                    <a:ext uri="{9D8B030D-6E8A-4147-A177-3AD203B41FA5}">
                      <a16:colId xmlns:a16="http://schemas.microsoft.com/office/drawing/2014/main" val="20003"/>
                    </a:ext>
                  </a:extLst>
                </a:gridCol>
              </a:tblGrid>
              <a:tr h="379379">
                <a:tc>
                  <a:txBody>
                    <a:bodyPr/>
                    <a:lstStyle/>
                    <a:p>
                      <a:pPr algn="ctr" rtl="0"/>
                      <a:r>
                        <a:rPr lang="en-US" dirty="0"/>
                        <a:t>Photo of the student </a:t>
                      </a:r>
                      <a:endParaRPr lang="he-IL" dirty="0"/>
                    </a:p>
                  </a:txBody>
                  <a:tcPr/>
                </a:tc>
                <a:tc>
                  <a:txBody>
                    <a:bodyPr/>
                    <a:lstStyle/>
                    <a:p>
                      <a:pPr algn="l" rtl="0"/>
                      <a:r>
                        <a:rPr lang="en-US" dirty="0"/>
                        <a:t>Shorten Name</a:t>
                      </a:r>
                      <a:endParaRPr lang="he-IL" dirty="0"/>
                    </a:p>
                  </a:txBody>
                  <a:tcPr/>
                </a:tc>
                <a:tc>
                  <a:txBody>
                    <a:bodyPr/>
                    <a:lstStyle/>
                    <a:p>
                      <a:pPr algn="l" rtl="0"/>
                      <a:r>
                        <a:rPr lang="en-US" dirty="0"/>
                        <a:t>ID (4 last digits)</a:t>
                      </a:r>
                      <a:endParaRPr lang="he-IL" dirty="0"/>
                    </a:p>
                  </a:txBody>
                  <a:tcPr/>
                </a:tc>
                <a:tc>
                  <a:txBody>
                    <a:bodyPr/>
                    <a:lstStyle/>
                    <a:p>
                      <a:pPr algn="l" rtl="0"/>
                      <a:endParaRPr lang="he-IL" dirty="0"/>
                    </a:p>
                  </a:txBody>
                  <a:tcPr/>
                </a:tc>
                <a:extLst>
                  <a:ext uri="{0D108BD9-81ED-4DB2-BD59-A6C34878D82A}">
                    <a16:rowId xmlns:a16="http://schemas.microsoft.com/office/drawing/2014/main" val="10000"/>
                  </a:ext>
                </a:extLst>
              </a:tr>
              <a:tr h="1857983">
                <a:tc>
                  <a:txBody>
                    <a:bodyPr/>
                    <a:lstStyle/>
                    <a:p>
                      <a:pPr algn="l" rtl="0"/>
                      <a:endParaRPr lang="en-US" dirty="0"/>
                    </a:p>
                    <a:p>
                      <a:pPr algn="l" rtl="0"/>
                      <a:endParaRPr lang="en-US" dirty="0"/>
                    </a:p>
                    <a:p>
                      <a:pPr algn="l" rtl="0"/>
                      <a:endParaRPr lang="he-IL" dirty="0"/>
                    </a:p>
                  </a:txBody>
                  <a:tcPr/>
                </a:tc>
                <a:tc>
                  <a:txBody>
                    <a:bodyPr/>
                    <a:lstStyle/>
                    <a:p>
                      <a:pPr algn="l" rtl="0"/>
                      <a:r>
                        <a:rPr lang="en-US" dirty="0">
                          <a:solidFill>
                            <a:srgbClr val="FF0000"/>
                          </a:solidFill>
                        </a:rPr>
                        <a:t>shienfeld</a:t>
                      </a:r>
                      <a:endParaRPr lang="he-IL" dirty="0">
                        <a:solidFill>
                          <a:srgbClr val="FF0000"/>
                        </a:solidFill>
                      </a:endParaRPr>
                    </a:p>
                  </a:txBody>
                  <a:tcPr/>
                </a:tc>
                <a:tc>
                  <a:txBody>
                    <a:bodyPr/>
                    <a:lstStyle/>
                    <a:p>
                      <a:pPr algn="l" rtl="0"/>
                      <a:r>
                        <a:rPr lang="en-US" b="1" dirty="0">
                          <a:solidFill>
                            <a:srgbClr val="FF0000"/>
                          </a:solidFill>
                        </a:rPr>
                        <a:t>1950</a:t>
                      </a:r>
                      <a:endParaRPr lang="he-IL" b="1" dirty="0">
                        <a:solidFill>
                          <a:srgbClr val="FF0000"/>
                        </a:solidFill>
                      </a:endParaRPr>
                    </a:p>
                  </a:txBody>
                  <a:tcPr/>
                </a:tc>
                <a:tc>
                  <a:txBody>
                    <a:bodyPr/>
                    <a:lstStyle/>
                    <a:p>
                      <a:pPr algn="l" rtl="0"/>
                      <a:r>
                        <a:rPr lang="en-US" dirty="0"/>
                        <a:t>Student #1</a:t>
                      </a:r>
                      <a:endParaRPr lang="he-IL" dirty="0"/>
                    </a:p>
                  </a:txBody>
                  <a:tcPr/>
                </a:tc>
                <a:extLst>
                  <a:ext uri="{0D108BD9-81ED-4DB2-BD59-A6C34878D82A}">
                    <a16:rowId xmlns:a16="http://schemas.microsoft.com/office/drawing/2014/main" val="10001"/>
                  </a:ext>
                </a:extLst>
              </a:tr>
              <a:tr h="1381328">
                <a:tc>
                  <a:txBody>
                    <a:bodyPr/>
                    <a:lstStyle/>
                    <a:p>
                      <a:pPr algn="l" rtl="0"/>
                      <a:endParaRPr lang="en-US" dirty="0"/>
                    </a:p>
                    <a:p>
                      <a:pPr algn="l" rtl="0"/>
                      <a:endParaRPr lang="he-IL" dirty="0"/>
                    </a:p>
                  </a:txBody>
                  <a:tcPr/>
                </a:tc>
                <a:tc>
                  <a:txBody>
                    <a:bodyPr/>
                    <a:lstStyle/>
                    <a:p>
                      <a:pPr algn="l" rtl="0"/>
                      <a:r>
                        <a:rPr lang="en-US" dirty="0">
                          <a:solidFill>
                            <a:srgbClr val="FF0000"/>
                          </a:solidFill>
                        </a:rPr>
                        <a:t>pony</a:t>
                      </a:r>
                      <a:endParaRPr lang="he-IL" dirty="0">
                        <a:solidFill>
                          <a:srgbClr val="FF0000"/>
                        </a:solidFill>
                      </a:endParaRPr>
                    </a:p>
                  </a:txBody>
                  <a:tcPr/>
                </a:tc>
                <a:tc>
                  <a:txBody>
                    <a:bodyPr/>
                    <a:lstStyle/>
                    <a:p>
                      <a:pPr algn="l" rtl="0"/>
                      <a:r>
                        <a:rPr lang="en-US" b="1" dirty="0">
                          <a:solidFill>
                            <a:srgbClr val="FF0000"/>
                          </a:solidFill>
                        </a:rPr>
                        <a:t>2210</a:t>
                      </a:r>
                      <a:endParaRPr lang="he-IL" b="1" dirty="0">
                        <a:solidFill>
                          <a:srgbClr val="FF0000"/>
                        </a:solidFill>
                      </a:endParaRPr>
                    </a:p>
                  </a:txBody>
                  <a:tcPr/>
                </a:tc>
                <a:tc>
                  <a:txBody>
                    <a:bodyPr/>
                    <a:lstStyle/>
                    <a:p>
                      <a:pPr algn="l" rtl="0"/>
                      <a:r>
                        <a:rPr lang="en-US" dirty="0"/>
                        <a:t>Student #2</a:t>
                      </a:r>
                      <a:endParaRPr lang="he-IL" dirty="0"/>
                    </a:p>
                  </a:txBody>
                  <a:tcPr/>
                </a:tc>
                <a:extLst>
                  <a:ext uri="{0D108BD9-81ED-4DB2-BD59-A6C34878D82A}">
                    <a16:rowId xmlns:a16="http://schemas.microsoft.com/office/drawing/2014/main" val="10002"/>
                  </a:ext>
                </a:extLst>
              </a:tr>
              <a:tr h="1630895">
                <a:tc>
                  <a:txBody>
                    <a:bodyPr/>
                    <a:lstStyle/>
                    <a:p>
                      <a:pPr algn="l" rtl="0"/>
                      <a:endParaRPr lang="he-IL" dirty="0"/>
                    </a:p>
                  </a:txBody>
                  <a:tcPr/>
                </a:tc>
                <a:tc>
                  <a:txBody>
                    <a:bodyPr/>
                    <a:lstStyle/>
                    <a:p>
                      <a:pPr algn="l" rtl="0"/>
                      <a:r>
                        <a:rPr lang="en-US" dirty="0">
                          <a:solidFill>
                            <a:srgbClr val="FF0000"/>
                          </a:solidFill>
                        </a:rPr>
                        <a:t>akimov</a:t>
                      </a:r>
                      <a:endParaRPr lang="he-IL" dirty="0">
                        <a:solidFill>
                          <a:srgbClr val="FF0000"/>
                        </a:solidFill>
                      </a:endParaRPr>
                    </a:p>
                  </a:txBody>
                  <a:tcPr/>
                </a:tc>
                <a:tc>
                  <a:txBody>
                    <a:bodyPr/>
                    <a:lstStyle/>
                    <a:p>
                      <a:pPr algn="l" rtl="0"/>
                      <a:r>
                        <a:rPr lang="en-US" b="1" dirty="0">
                          <a:solidFill>
                            <a:srgbClr val="FF0000"/>
                          </a:solidFill>
                        </a:rPr>
                        <a:t>7939</a:t>
                      </a:r>
                      <a:endParaRPr lang="he-IL" b="1" dirty="0">
                        <a:solidFill>
                          <a:srgbClr val="FF0000"/>
                        </a:solidFill>
                      </a:endParaRPr>
                    </a:p>
                  </a:txBody>
                  <a:tcPr/>
                </a:tc>
                <a:tc>
                  <a:txBody>
                    <a:bodyPr/>
                    <a:lstStyle/>
                    <a:p>
                      <a:pPr algn="l" rtl="0"/>
                      <a:r>
                        <a:rPr lang="en-US" dirty="0"/>
                        <a:t>Student #3</a:t>
                      </a:r>
                      <a:endParaRPr lang="he-IL" dirty="0"/>
                    </a:p>
                  </a:txBody>
                  <a:tcPr/>
                </a:tc>
                <a:extLst>
                  <a:ext uri="{0D108BD9-81ED-4DB2-BD59-A6C34878D82A}">
                    <a16:rowId xmlns:a16="http://schemas.microsoft.com/office/drawing/2014/main" val="10003"/>
                  </a:ext>
                </a:extLst>
              </a:tr>
            </a:tbl>
          </a:graphicData>
        </a:graphic>
      </p:graphicFrame>
      <p:pic>
        <p:nvPicPr>
          <p:cNvPr id="9" name="Picture 8" descr="A person standing on a stone wall with a bridge in the background&#10;&#10;Description automatically generated">
            <a:extLst>
              <a:ext uri="{FF2B5EF4-FFF2-40B4-BE49-F238E27FC236}">
                <a16:creationId xmlns:a16="http://schemas.microsoft.com/office/drawing/2014/main" id="{CF5CA309-35FB-8F7C-74FD-F7F0FF210E97}"/>
              </a:ext>
            </a:extLst>
          </p:cNvPr>
          <p:cNvPicPr>
            <a:picLocks noChangeAspect="1"/>
          </p:cNvPicPr>
          <p:nvPr/>
        </p:nvPicPr>
        <p:blipFill rotWithShape="1">
          <a:blip r:embed="rId2">
            <a:extLst>
              <a:ext uri="{28A0092B-C50C-407E-A947-70E740481C1C}">
                <a14:useLocalDpi xmlns:a14="http://schemas.microsoft.com/office/drawing/2010/main" val="0"/>
              </a:ext>
            </a:extLst>
          </a:blip>
          <a:srcRect l="16986" t="15872" r="26900"/>
          <a:stretch/>
        </p:blipFill>
        <p:spPr>
          <a:xfrm>
            <a:off x="8260243" y="3236166"/>
            <a:ext cx="1642513" cy="1846851"/>
          </a:xfrm>
          <a:prstGeom prst="rect">
            <a:avLst/>
          </a:prstGeom>
        </p:spPr>
      </p:pic>
      <p:pic>
        <p:nvPicPr>
          <p:cNvPr id="10" name="Picture 9" descr="A person in a uniform&#10;&#10;Description automatically generated">
            <a:extLst>
              <a:ext uri="{FF2B5EF4-FFF2-40B4-BE49-F238E27FC236}">
                <a16:creationId xmlns:a16="http://schemas.microsoft.com/office/drawing/2014/main" id="{EA6DD5D2-0039-7666-5028-9983FEBA2A98}"/>
              </a:ext>
            </a:extLst>
          </p:cNvPr>
          <p:cNvPicPr>
            <a:picLocks noChangeAspect="1"/>
          </p:cNvPicPr>
          <p:nvPr/>
        </p:nvPicPr>
        <p:blipFill>
          <a:blip r:embed="rId3"/>
          <a:stretch>
            <a:fillRect/>
          </a:stretch>
        </p:blipFill>
        <p:spPr>
          <a:xfrm>
            <a:off x="6095999" y="4626893"/>
            <a:ext cx="1462391" cy="2065735"/>
          </a:xfrm>
          <a:prstGeom prst="rect">
            <a:avLst/>
          </a:prstGeom>
        </p:spPr>
      </p:pic>
      <p:pic>
        <p:nvPicPr>
          <p:cNvPr id="11" name="Picture 10">
            <a:extLst>
              <a:ext uri="{FF2B5EF4-FFF2-40B4-BE49-F238E27FC236}">
                <a16:creationId xmlns:a16="http://schemas.microsoft.com/office/drawing/2014/main" id="{CCFF34B2-5484-C4F2-4E38-483B3E34E6C1}"/>
              </a:ext>
            </a:extLst>
          </p:cNvPr>
          <p:cNvPicPr>
            <a:picLocks noChangeAspect="1"/>
          </p:cNvPicPr>
          <p:nvPr/>
        </p:nvPicPr>
        <p:blipFill>
          <a:blip r:embed="rId4"/>
          <a:stretch>
            <a:fillRect/>
          </a:stretch>
        </p:blipFill>
        <p:spPr>
          <a:xfrm>
            <a:off x="6095999" y="1608294"/>
            <a:ext cx="1550593" cy="2065735"/>
          </a:xfrm>
          <a:prstGeom prst="rect">
            <a:avLst/>
          </a:prstGeom>
        </p:spPr>
      </p:pic>
      <p:sp>
        <p:nvSpPr>
          <p:cNvPr id="12" name="Slide Number Placeholder 5">
            <a:extLst>
              <a:ext uri="{FF2B5EF4-FFF2-40B4-BE49-F238E27FC236}">
                <a16:creationId xmlns:a16="http://schemas.microsoft.com/office/drawing/2014/main" id="{E3F585D0-07EB-A773-A93C-5A424F8EE9BA}"/>
              </a:ext>
            </a:extLst>
          </p:cNvPr>
          <p:cNvSpPr txBox="1">
            <a:spLocks/>
          </p:cNvSpPr>
          <p:nvPr/>
        </p:nvSpPr>
        <p:spPr>
          <a:xfrm>
            <a:off x="11833698" y="0"/>
            <a:ext cx="358302" cy="365125"/>
          </a:xfrm>
          <a:prstGeom prst="rect">
            <a:avLst/>
          </a:prstGeom>
        </p:spPr>
        <p:txBody>
          <a:bodyPr vert="horz" lIns="91440" tIns="45720" rIns="91440" bIns="45720" rtlCol="0" anchor="ctr"/>
          <a:lstStyle>
            <a:defPPr>
              <a:defRPr lang="he-IL"/>
            </a:defPPr>
            <a:lvl1pPr marL="0" algn="l"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1122904-1B5F-4679-B3DC-5E87602DE7DA}" type="slidenum">
              <a:rPr lang="he-IL" sz="1400" smtClean="0"/>
              <a:pPr/>
              <a:t>1</a:t>
            </a:fld>
            <a:endParaRPr lang="he-IL" sz="1400"/>
          </a:p>
        </p:txBody>
      </p:sp>
    </p:spTree>
    <p:extLst>
      <p:ext uri="{BB962C8B-B14F-4D97-AF65-F5344CB8AC3E}">
        <p14:creationId xmlns:p14="http://schemas.microsoft.com/office/powerpoint/2010/main" val="27956802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F4EA96-6FC4-AA11-7BE8-2F2E1A3BE70C}"/>
              </a:ext>
            </a:extLst>
          </p:cNvPr>
          <p:cNvPicPr>
            <a:picLocks noChangeAspect="1"/>
          </p:cNvPicPr>
          <p:nvPr/>
        </p:nvPicPr>
        <p:blipFill rotWithShape="1">
          <a:blip r:embed="rId2"/>
          <a:srcRect b="2011"/>
          <a:stretch/>
        </p:blipFill>
        <p:spPr>
          <a:xfrm>
            <a:off x="1357068" y="97706"/>
            <a:ext cx="9477862" cy="5668123"/>
          </a:xfrm>
          <a:prstGeom prst="rect">
            <a:avLst/>
          </a:prstGeom>
        </p:spPr>
      </p:pic>
      <p:sp>
        <p:nvSpPr>
          <p:cNvPr id="6" name="Slide Number Placeholder 5">
            <a:extLst>
              <a:ext uri="{FF2B5EF4-FFF2-40B4-BE49-F238E27FC236}">
                <a16:creationId xmlns:a16="http://schemas.microsoft.com/office/drawing/2014/main" id="{E94176B5-AAD4-22BD-CD51-9CB82B99CD23}"/>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2</a:t>
            </a:fld>
            <a:endParaRPr lang="he-IL" sz="1400"/>
          </a:p>
        </p:txBody>
      </p:sp>
      <p:sp>
        <p:nvSpPr>
          <p:cNvPr id="4" name="Rectangle 3">
            <a:extLst>
              <a:ext uri="{FF2B5EF4-FFF2-40B4-BE49-F238E27FC236}">
                <a16:creationId xmlns:a16="http://schemas.microsoft.com/office/drawing/2014/main" id="{C731E78C-DC61-F5C6-600D-1C1C6DAB8F4F}"/>
              </a:ext>
            </a:extLst>
          </p:cNvPr>
          <p:cNvSpPr/>
          <p:nvPr/>
        </p:nvSpPr>
        <p:spPr>
          <a:xfrm>
            <a:off x="998706" y="5884806"/>
            <a:ext cx="10194587" cy="87548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b="1" dirty="0">
                <a:solidFill>
                  <a:srgbClr val="FFFF00"/>
                </a:solidFill>
              </a:rPr>
              <a:t>Pay attention : due to the complexity of the code and the complexity of the order of operations in the code – the functions will be explained first and only after that the connectivity to the task will be explained. Every function will be explained as an “isolated part” of the entire program.  </a:t>
            </a:r>
            <a:endParaRPr lang="he-IL" b="1" dirty="0">
              <a:solidFill>
                <a:srgbClr val="FFFF00"/>
              </a:solidFill>
            </a:endParaRPr>
          </a:p>
        </p:txBody>
      </p:sp>
    </p:spTree>
    <p:extLst>
      <p:ext uri="{BB962C8B-B14F-4D97-AF65-F5344CB8AC3E}">
        <p14:creationId xmlns:p14="http://schemas.microsoft.com/office/powerpoint/2010/main" val="33102695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3</a:t>
            </a:fld>
            <a:endParaRPr lang="he-IL" sz="1400"/>
          </a:p>
        </p:txBody>
      </p:sp>
      <p:pic>
        <p:nvPicPr>
          <p:cNvPr id="4" name="Picture 3">
            <a:extLst>
              <a:ext uri="{FF2B5EF4-FFF2-40B4-BE49-F238E27FC236}">
                <a16:creationId xmlns:a16="http://schemas.microsoft.com/office/drawing/2014/main" id="{8480E82D-1680-76F5-DFDC-CB33AF2E05EC}"/>
              </a:ext>
            </a:extLst>
          </p:cNvPr>
          <p:cNvPicPr>
            <a:picLocks noChangeAspect="1"/>
          </p:cNvPicPr>
          <p:nvPr/>
        </p:nvPicPr>
        <p:blipFill>
          <a:blip r:embed="rId2"/>
          <a:stretch>
            <a:fillRect/>
          </a:stretch>
        </p:blipFill>
        <p:spPr>
          <a:xfrm>
            <a:off x="-5067" y="1342417"/>
            <a:ext cx="11306646" cy="3388250"/>
          </a:xfrm>
          <a:prstGeom prst="rect">
            <a:avLst/>
          </a:prstGeom>
        </p:spPr>
      </p:pic>
      <p:sp>
        <p:nvSpPr>
          <p:cNvPr id="2" name="Title 1">
            <a:extLst>
              <a:ext uri="{FF2B5EF4-FFF2-40B4-BE49-F238E27FC236}">
                <a16:creationId xmlns:a16="http://schemas.microsoft.com/office/drawing/2014/main" id="{77BC767D-A646-A503-C483-FF5C02924A75}"/>
              </a:ext>
            </a:extLst>
          </p:cNvPr>
          <p:cNvSpPr txBox="1">
            <a:spLocks/>
          </p:cNvSpPr>
          <p:nvPr/>
        </p:nvSpPr>
        <p:spPr>
          <a:xfrm>
            <a:off x="3441159" y="0"/>
            <a:ext cx="5309681" cy="539595"/>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24.1 </a:t>
            </a:r>
            <a:r>
              <a:rPr lang="en-US" sz="2800" b="1" u="sng" dirty="0">
                <a:solidFill>
                  <a:srgbClr val="0070C0"/>
                </a:solidFill>
                <a:latin typeface="+mn-lt"/>
              </a:rPr>
              <a:t>– “DrawGaussian”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6BE786D9-2E8F-350F-8216-CD4BBF1C8BB4}"/>
              </a:ext>
            </a:extLst>
          </p:cNvPr>
          <p:cNvSpPr txBox="1"/>
          <p:nvPr/>
        </p:nvSpPr>
        <p:spPr>
          <a:xfrm>
            <a:off x="448280" y="539595"/>
            <a:ext cx="11295437" cy="369332"/>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DrawGaussian function is designed to add a Gaussian distribution to an image at specified coordinates.</a:t>
            </a:r>
            <a:endParaRPr lang="he-IL" b="1" dirty="0"/>
          </a:p>
        </p:txBody>
      </p:sp>
      <p:sp>
        <p:nvSpPr>
          <p:cNvPr id="9" name="TextBox 8">
            <a:extLst>
              <a:ext uri="{FF2B5EF4-FFF2-40B4-BE49-F238E27FC236}">
                <a16:creationId xmlns:a16="http://schemas.microsoft.com/office/drawing/2014/main" id="{6C1E5E3A-5F22-2A26-55E4-63283405E364}"/>
              </a:ext>
            </a:extLst>
          </p:cNvPr>
          <p:cNvSpPr txBox="1"/>
          <p:nvPr/>
        </p:nvSpPr>
        <p:spPr>
          <a:xfrm>
            <a:off x="8274185" y="1614927"/>
            <a:ext cx="3738664"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For each pixel located at (row, column), the function calculates the value of the Gaussian distribution at that point.</a:t>
            </a:r>
            <a:endParaRPr lang="he-IL" dirty="0"/>
          </a:p>
        </p:txBody>
      </p:sp>
      <p:sp>
        <p:nvSpPr>
          <p:cNvPr id="12" name="TextBox 11">
            <a:extLst>
              <a:ext uri="{FF2B5EF4-FFF2-40B4-BE49-F238E27FC236}">
                <a16:creationId xmlns:a16="http://schemas.microsoft.com/office/drawing/2014/main" id="{2D31A514-D48A-379F-5905-5F421D216EE6}"/>
              </a:ext>
            </a:extLst>
          </p:cNvPr>
          <p:cNvSpPr txBox="1"/>
          <p:nvPr/>
        </p:nvSpPr>
        <p:spPr>
          <a:xfrm>
            <a:off x="7991273" y="2810768"/>
            <a:ext cx="4200727" cy="923330"/>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a and b are the normalized distances from the center of the Gaussian in the x and y directions, respectively.</a:t>
            </a:r>
            <a:endParaRPr lang="he-IL" dirty="0"/>
          </a:p>
        </p:txBody>
      </p:sp>
      <p:cxnSp>
        <p:nvCxnSpPr>
          <p:cNvPr id="14" name="Straight Arrow Connector 13">
            <a:extLst>
              <a:ext uri="{FF2B5EF4-FFF2-40B4-BE49-F238E27FC236}">
                <a16:creationId xmlns:a16="http://schemas.microsoft.com/office/drawing/2014/main" id="{53F603CD-955C-FEEF-9DE3-AC6FB34DE037}"/>
              </a:ext>
            </a:extLst>
          </p:cNvPr>
          <p:cNvCxnSpPr>
            <a:cxnSpLocks/>
            <a:stCxn id="12" idx="1"/>
          </p:cNvCxnSpPr>
          <p:nvPr/>
        </p:nvCxnSpPr>
        <p:spPr>
          <a:xfrm flipH="1" flipV="1">
            <a:off x="5175115" y="3138421"/>
            <a:ext cx="2816158" cy="134012"/>
          </a:xfrm>
          <a:prstGeom prst="straightConnector1">
            <a:avLst/>
          </a:prstGeom>
          <a:ln w="76200">
            <a:tailEnd type="triangle"/>
          </a:ln>
        </p:spPr>
        <p:style>
          <a:lnRef idx="3">
            <a:schemeClr val="accent3"/>
          </a:lnRef>
          <a:fillRef idx="0">
            <a:schemeClr val="accent3"/>
          </a:fillRef>
          <a:effectRef idx="2">
            <a:schemeClr val="accent3"/>
          </a:effectRef>
          <a:fontRef idx="minor">
            <a:schemeClr val="tx1"/>
          </a:fontRef>
        </p:style>
      </p:cxnSp>
      <p:sp>
        <p:nvSpPr>
          <p:cNvPr id="18" name="TextBox 17">
            <a:extLst>
              <a:ext uri="{FF2B5EF4-FFF2-40B4-BE49-F238E27FC236}">
                <a16:creationId xmlns:a16="http://schemas.microsoft.com/office/drawing/2014/main" id="{B3B4A4B0-80B6-614C-04F8-A644F9E56184}"/>
              </a:ext>
            </a:extLst>
          </p:cNvPr>
          <p:cNvSpPr txBox="1"/>
          <p:nvPr/>
        </p:nvSpPr>
        <p:spPr>
          <a:xfrm>
            <a:off x="7492515" y="4042955"/>
            <a:ext cx="4649012"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The Gaussian value c is then calculated using the formula for a 2D Gaussian distribution:</a:t>
            </a:r>
            <a:endParaRPr lang="he-IL" dirty="0"/>
          </a:p>
        </p:txBody>
      </p:sp>
      <p:cxnSp>
        <p:nvCxnSpPr>
          <p:cNvPr id="19" name="Straight Arrow Connector 18">
            <a:extLst>
              <a:ext uri="{FF2B5EF4-FFF2-40B4-BE49-F238E27FC236}">
                <a16:creationId xmlns:a16="http://schemas.microsoft.com/office/drawing/2014/main" id="{71FBE9E0-92DE-8020-3B1A-3A2EA23760A0}"/>
              </a:ext>
            </a:extLst>
          </p:cNvPr>
          <p:cNvCxnSpPr>
            <a:cxnSpLocks/>
          </p:cNvCxnSpPr>
          <p:nvPr/>
        </p:nvCxnSpPr>
        <p:spPr>
          <a:xfrm flipH="1" flipV="1">
            <a:off x="5175115" y="3521256"/>
            <a:ext cx="5408579" cy="540495"/>
          </a:xfrm>
          <a:prstGeom prst="straightConnector1">
            <a:avLst/>
          </a:prstGeom>
          <a:ln w="76200">
            <a:solidFill>
              <a:srgbClr val="7030A0"/>
            </a:solidFill>
            <a:tailEnd type="triangle"/>
          </a:ln>
        </p:spPr>
        <p:style>
          <a:lnRef idx="3">
            <a:schemeClr val="accent3"/>
          </a:lnRef>
          <a:fillRef idx="0">
            <a:schemeClr val="accent3"/>
          </a:fillRef>
          <a:effectRef idx="2">
            <a:schemeClr val="accent3"/>
          </a:effectRef>
          <a:fontRef idx="minor">
            <a:schemeClr val="tx1"/>
          </a:fontRef>
        </p:style>
      </p:cxnSp>
      <p:sp>
        <p:nvSpPr>
          <p:cNvPr id="25" name="TextBox 24">
            <a:extLst>
              <a:ext uri="{FF2B5EF4-FFF2-40B4-BE49-F238E27FC236}">
                <a16:creationId xmlns:a16="http://schemas.microsoft.com/office/drawing/2014/main" id="{2F311737-6B49-E10E-8499-1DBBB2CB2488}"/>
              </a:ext>
            </a:extLst>
          </p:cNvPr>
          <p:cNvSpPr txBox="1"/>
          <p:nvPr/>
        </p:nvSpPr>
        <p:spPr>
          <a:xfrm>
            <a:off x="7492515" y="4739811"/>
            <a:ext cx="4649012"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d is the Gaussian value rounded to the nearest integer.</a:t>
            </a:r>
            <a:endParaRPr lang="he-IL" dirty="0"/>
          </a:p>
        </p:txBody>
      </p:sp>
      <p:sp>
        <p:nvSpPr>
          <p:cNvPr id="27" name="TextBox 26">
            <a:extLst>
              <a:ext uri="{FF2B5EF4-FFF2-40B4-BE49-F238E27FC236}">
                <a16:creationId xmlns:a16="http://schemas.microsoft.com/office/drawing/2014/main" id="{14058FED-0CB2-DD70-2FF9-C888E86D50DA}"/>
              </a:ext>
            </a:extLst>
          </p:cNvPr>
          <p:cNvSpPr txBox="1"/>
          <p:nvPr/>
        </p:nvSpPr>
        <p:spPr>
          <a:xfrm>
            <a:off x="4189381" y="5436667"/>
            <a:ext cx="8002619"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The function updates the pixel value at (row, column) in the image array img:</a:t>
            </a:r>
          </a:p>
          <a:p>
            <a:r>
              <a:rPr lang="en-US" dirty="0"/>
              <a:t>If the calculated Gaussian value d is greater than 10, the pixel value is updated to d. If d is less than or equal to 10, the pixel value remains unchanged.</a:t>
            </a:r>
          </a:p>
        </p:txBody>
      </p:sp>
      <p:cxnSp>
        <p:nvCxnSpPr>
          <p:cNvPr id="30" name="Straight Arrow Connector 29">
            <a:extLst>
              <a:ext uri="{FF2B5EF4-FFF2-40B4-BE49-F238E27FC236}">
                <a16:creationId xmlns:a16="http://schemas.microsoft.com/office/drawing/2014/main" id="{F21F182F-8F8A-6162-2061-D5CADB31DAFE}"/>
              </a:ext>
            </a:extLst>
          </p:cNvPr>
          <p:cNvCxnSpPr>
            <a:cxnSpLocks/>
          </p:cNvCxnSpPr>
          <p:nvPr/>
        </p:nvCxnSpPr>
        <p:spPr>
          <a:xfrm flipH="1" flipV="1">
            <a:off x="4829775" y="4202437"/>
            <a:ext cx="1864065" cy="1234230"/>
          </a:xfrm>
          <a:prstGeom prst="straightConnector1">
            <a:avLst/>
          </a:prstGeom>
          <a:ln w="76200">
            <a:solidFill>
              <a:srgbClr val="0070C0"/>
            </a:solidFill>
            <a:tailEnd type="triangle"/>
          </a:ln>
        </p:spPr>
        <p:style>
          <a:lnRef idx="3">
            <a:schemeClr val="accent3"/>
          </a:lnRef>
          <a:fillRef idx="0">
            <a:schemeClr val="accent3"/>
          </a:fillRef>
          <a:effectRef idx="2">
            <a:schemeClr val="accent3"/>
          </a:effectRef>
          <a:fontRef idx="minor">
            <a:schemeClr val="tx1"/>
          </a:fontRef>
        </p:style>
      </p:cxnSp>
    </p:spTree>
    <p:extLst>
      <p:ext uri="{BB962C8B-B14F-4D97-AF65-F5344CB8AC3E}">
        <p14:creationId xmlns:p14="http://schemas.microsoft.com/office/powerpoint/2010/main" val="35059648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4</a:t>
            </a:fld>
            <a:endParaRPr lang="he-IL" sz="1400"/>
          </a:p>
        </p:txBody>
      </p:sp>
      <p:sp>
        <p:nvSpPr>
          <p:cNvPr id="2" name="Title 1">
            <a:extLst>
              <a:ext uri="{FF2B5EF4-FFF2-40B4-BE49-F238E27FC236}">
                <a16:creationId xmlns:a16="http://schemas.microsoft.com/office/drawing/2014/main" id="{12D43947-06AD-6896-2FE6-3ED938BA38FF}"/>
              </a:ext>
            </a:extLst>
          </p:cNvPr>
          <p:cNvSpPr txBox="1">
            <a:spLocks/>
          </p:cNvSpPr>
          <p:nvPr/>
        </p:nvSpPr>
        <p:spPr>
          <a:xfrm>
            <a:off x="27906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24.2 </a:t>
            </a:r>
            <a:r>
              <a:rPr lang="en-US" sz="2800" b="1" u="sng" dirty="0">
                <a:solidFill>
                  <a:srgbClr val="0070C0"/>
                </a:solidFill>
                <a:latin typeface="+mn-lt"/>
              </a:rPr>
              <a:t>– “ROI (region of interest)” struct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469326FF-6065-DBDC-C98C-05C7A0ABD889}"/>
              </a:ext>
            </a:extLst>
          </p:cNvPr>
          <p:cNvSpPr txBox="1"/>
          <p:nvPr/>
        </p:nvSpPr>
        <p:spPr>
          <a:xfrm>
            <a:off x="6250832" y="1028700"/>
            <a:ext cx="5941168"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The primary purpose of the ROI struct is to define a rectangular area within an image where certain operations will be applied.</a:t>
            </a:r>
            <a:endParaRPr lang="he-IL" dirty="0"/>
          </a:p>
        </p:txBody>
      </p:sp>
      <p:sp>
        <p:nvSpPr>
          <p:cNvPr id="8" name="Arrow: Down 7">
            <a:extLst>
              <a:ext uri="{FF2B5EF4-FFF2-40B4-BE49-F238E27FC236}">
                <a16:creationId xmlns:a16="http://schemas.microsoft.com/office/drawing/2014/main" id="{69B7F779-1AC6-6036-59FA-9D6842C8C82C}"/>
              </a:ext>
            </a:extLst>
          </p:cNvPr>
          <p:cNvSpPr/>
          <p:nvPr/>
        </p:nvSpPr>
        <p:spPr>
          <a:xfrm>
            <a:off x="8998085" y="1952030"/>
            <a:ext cx="418289" cy="54797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0" name="TextBox 9">
            <a:extLst>
              <a:ext uri="{FF2B5EF4-FFF2-40B4-BE49-F238E27FC236}">
                <a16:creationId xmlns:a16="http://schemas.microsoft.com/office/drawing/2014/main" id="{27E04356-879D-9AAA-1087-70E4EDAE2828}"/>
              </a:ext>
            </a:extLst>
          </p:cNvPr>
          <p:cNvSpPr txBox="1"/>
          <p:nvPr/>
        </p:nvSpPr>
        <p:spPr>
          <a:xfrm>
            <a:off x="6250832" y="2500009"/>
            <a:ext cx="5941168" cy="646331"/>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This allows focusing on specific parts of the image rather than processing the entire image.</a:t>
            </a:r>
            <a:endParaRPr lang="he-IL" dirty="0"/>
          </a:p>
        </p:txBody>
      </p:sp>
      <p:sp>
        <p:nvSpPr>
          <p:cNvPr id="12" name="TextBox 11">
            <a:extLst>
              <a:ext uri="{FF2B5EF4-FFF2-40B4-BE49-F238E27FC236}">
                <a16:creationId xmlns:a16="http://schemas.microsoft.com/office/drawing/2014/main" id="{BBD7E002-271A-42FF-82C4-60BA6125833A}"/>
              </a:ext>
            </a:extLst>
          </p:cNvPr>
          <p:cNvSpPr txBox="1"/>
          <p:nvPr/>
        </p:nvSpPr>
        <p:spPr>
          <a:xfrm>
            <a:off x="6236645" y="3909722"/>
            <a:ext cx="5941168" cy="1200329"/>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void </a:t>
            </a:r>
            <a:r>
              <a:rPr lang="en-US" b="1" dirty="0"/>
              <a:t>ClipToBounds</a:t>
            </a:r>
            <a:r>
              <a:rPr lang="en-US" dirty="0"/>
              <a:t> is a method to ensure the ROI is within the bounds of the image. It adjusts the top, bottom, left, and right properties to make sure they do not exceed the image dimensions.</a:t>
            </a:r>
            <a:endParaRPr lang="he-IL" dirty="0"/>
          </a:p>
        </p:txBody>
      </p:sp>
      <p:sp>
        <p:nvSpPr>
          <p:cNvPr id="13" name="Arrow: Down 12">
            <a:extLst>
              <a:ext uri="{FF2B5EF4-FFF2-40B4-BE49-F238E27FC236}">
                <a16:creationId xmlns:a16="http://schemas.microsoft.com/office/drawing/2014/main" id="{D15272F2-312D-413D-A196-B1B9C013A799}"/>
              </a:ext>
            </a:extLst>
          </p:cNvPr>
          <p:cNvSpPr/>
          <p:nvPr/>
        </p:nvSpPr>
        <p:spPr>
          <a:xfrm>
            <a:off x="8998084" y="3149349"/>
            <a:ext cx="418289" cy="760373"/>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4" name="Rectangle 13">
            <a:extLst>
              <a:ext uri="{FF2B5EF4-FFF2-40B4-BE49-F238E27FC236}">
                <a16:creationId xmlns:a16="http://schemas.microsoft.com/office/drawing/2014/main" id="{8CA5FC28-35C9-3AB8-8D55-8FF6AEAF6429}"/>
              </a:ext>
            </a:extLst>
          </p:cNvPr>
          <p:cNvSpPr/>
          <p:nvPr/>
        </p:nvSpPr>
        <p:spPr>
          <a:xfrm>
            <a:off x="6250832" y="5680953"/>
            <a:ext cx="5926981" cy="93385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Summary : we created the ROI as a useful tool for </a:t>
            </a:r>
            <a:r>
              <a:rPr lang="en-US" u="sng" dirty="0"/>
              <a:t>later</a:t>
            </a:r>
            <a:r>
              <a:rPr lang="en-US" dirty="0"/>
              <a:t> counting operation (of objects or gaussians). In the next slides the usefulness of the ROI will be clarified! </a:t>
            </a:r>
            <a:endParaRPr lang="he-IL" dirty="0"/>
          </a:p>
        </p:txBody>
      </p:sp>
      <p:pic>
        <p:nvPicPr>
          <p:cNvPr id="6" name="Picture 5">
            <a:extLst>
              <a:ext uri="{FF2B5EF4-FFF2-40B4-BE49-F238E27FC236}">
                <a16:creationId xmlns:a16="http://schemas.microsoft.com/office/drawing/2014/main" id="{E5BBF6CD-571C-4F3D-6777-1772CDC791B4}"/>
              </a:ext>
            </a:extLst>
          </p:cNvPr>
          <p:cNvPicPr>
            <a:picLocks noChangeAspect="1"/>
          </p:cNvPicPr>
          <p:nvPr/>
        </p:nvPicPr>
        <p:blipFill>
          <a:blip r:embed="rId2"/>
          <a:stretch>
            <a:fillRect/>
          </a:stretch>
        </p:blipFill>
        <p:spPr>
          <a:xfrm>
            <a:off x="0" y="1335425"/>
            <a:ext cx="6087472" cy="4187150"/>
          </a:xfrm>
          <a:prstGeom prst="rect">
            <a:avLst/>
          </a:prstGeom>
        </p:spPr>
      </p:pic>
    </p:spTree>
    <p:extLst>
      <p:ext uri="{BB962C8B-B14F-4D97-AF65-F5344CB8AC3E}">
        <p14:creationId xmlns:p14="http://schemas.microsoft.com/office/powerpoint/2010/main" val="11991792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F4EFA8-3F12-23A5-EB35-13B08F66554D}"/>
              </a:ext>
            </a:extLst>
          </p:cNvPr>
          <p:cNvPicPr>
            <a:picLocks noChangeAspect="1"/>
          </p:cNvPicPr>
          <p:nvPr/>
        </p:nvPicPr>
        <p:blipFill>
          <a:blip r:embed="rId2"/>
          <a:stretch>
            <a:fillRect/>
          </a:stretch>
        </p:blipFill>
        <p:spPr>
          <a:xfrm>
            <a:off x="0" y="1388648"/>
            <a:ext cx="8553450" cy="4953000"/>
          </a:xfrm>
          <a:prstGeom prst="rect">
            <a:avLst/>
          </a:prstGeom>
        </p:spPr>
      </p:pic>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5</a:t>
            </a:fld>
            <a:endParaRPr lang="he-IL" sz="1400"/>
          </a:p>
        </p:txBody>
      </p:sp>
      <p:sp>
        <p:nvSpPr>
          <p:cNvPr id="2" name="Title 1">
            <a:extLst>
              <a:ext uri="{FF2B5EF4-FFF2-40B4-BE49-F238E27FC236}">
                <a16:creationId xmlns:a16="http://schemas.microsoft.com/office/drawing/2014/main" id="{0E0A5D3A-BA8A-BD31-403D-5A1545FE1B59}"/>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24.3 </a:t>
            </a:r>
            <a:r>
              <a:rPr lang="en-US" sz="2800" b="1" u="sng" dirty="0">
                <a:solidFill>
                  <a:srgbClr val="0070C0"/>
                </a:solidFill>
                <a:latin typeface="+mn-lt"/>
              </a:rPr>
              <a:t>– “ContElemInPicture”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8" name="TextBox 7">
            <a:extLst>
              <a:ext uri="{FF2B5EF4-FFF2-40B4-BE49-F238E27FC236}">
                <a16:creationId xmlns:a16="http://schemas.microsoft.com/office/drawing/2014/main" id="{730A0A7E-8052-B41C-C3FA-E873674DA97B}"/>
              </a:ext>
            </a:extLst>
          </p:cNvPr>
          <p:cNvSpPr txBox="1"/>
          <p:nvPr/>
        </p:nvSpPr>
        <p:spPr>
          <a:xfrm>
            <a:off x="1741251" y="516352"/>
            <a:ext cx="7925610" cy="646331"/>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b="1" dirty="0"/>
              <a:t>This function is designed to count elements in a specified region of interest (ROI) in a grayscale image and to mark these elements and the background.</a:t>
            </a:r>
            <a:endParaRPr lang="he-IL" b="1" dirty="0"/>
          </a:p>
        </p:txBody>
      </p:sp>
      <p:sp>
        <p:nvSpPr>
          <p:cNvPr id="10" name="TextBox 9">
            <a:extLst>
              <a:ext uri="{FF2B5EF4-FFF2-40B4-BE49-F238E27FC236}">
                <a16:creationId xmlns:a16="http://schemas.microsoft.com/office/drawing/2014/main" id="{F85CF297-87D0-A1FE-6CD1-EF994F8765D4}"/>
              </a:ext>
            </a:extLst>
          </p:cNvPr>
          <p:cNvSpPr txBox="1"/>
          <p:nvPr/>
        </p:nvSpPr>
        <p:spPr>
          <a:xfrm>
            <a:off x="7655668" y="1797702"/>
            <a:ext cx="4500258" cy="1200329"/>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The function counts the number of elements (pixels) within a specified ROI in a grayscale image where the pixel values are below a certain threshold (127 in this case).</a:t>
            </a:r>
            <a:endParaRPr lang="he-IL" dirty="0"/>
          </a:p>
        </p:txBody>
      </p:sp>
      <p:sp>
        <p:nvSpPr>
          <p:cNvPr id="11" name="Arrow: Down 10">
            <a:extLst>
              <a:ext uri="{FF2B5EF4-FFF2-40B4-BE49-F238E27FC236}">
                <a16:creationId xmlns:a16="http://schemas.microsoft.com/office/drawing/2014/main" id="{85440742-D757-F7B0-AA7E-4CF903B23DD1}"/>
              </a:ext>
            </a:extLst>
          </p:cNvPr>
          <p:cNvSpPr/>
          <p:nvPr/>
        </p:nvSpPr>
        <p:spPr>
          <a:xfrm>
            <a:off x="9737387" y="2998031"/>
            <a:ext cx="291830" cy="63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5" name="TextBox 14">
            <a:extLst>
              <a:ext uri="{FF2B5EF4-FFF2-40B4-BE49-F238E27FC236}">
                <a16:creationId xmlns:a16="http://schemas.microsoft.com/office/drawing/2014/main" id="{9D0A8F9B-7EC1-A769-9109-C3099BFC7DD9}"/>
              </a:ext>
            </a:extLst>
          </p:cNvPr>
          <p:cNvSpPr txBox="1"/>
          <p:nvPr/>
        </p:nvSpPr>
        <p:spPr>
          <a:xfrm>
            <a:off x="7655668" y="3633050"/>
            <a:ext cx="4500258" cy="923330"/>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dirty="0"/>
              <a:t>It also marks the pixels that are considered elements and those that are considered background.</a:t>
            </a:r>
          </a:p>
        </p:txBody>
      </p:sp>
      <p:sp>
        <p:nvSpPr>
          <p:cNvPr id="17" name="TextBox 16">
            <a:extLst>
              <a:ext uri="{FF2B5EF4-FFF2-40B4-BE49-F238E27FC236}">
                <a16:creationId xmlns:a16="http://schemas.microsoft.com/office/drawing/2014/main" id="{1CBD6A6F-8664-BBF7-50C1-52D695A5C9CC}"/>
              </a:ext>
            </a:extLst>
          </p:cNvPr>
          <p:cNvSpPr txBox="1"/>
          <p:nvPr/>
        </p:nvSpPr>
        <p:spPr>
          <a:xfrm>
            <a:off x="7145777" y="5223139"/>
            <a:ext cx="5046223"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a:t>
            </a:r>
            <a:r>
              <a:rPr lang="en-US" b="1" dirty="0"/>
              <a:t>pixelPtr</a:t>
            </a:r>
            <a:r>
              <a:rPr lang="en-US" dirty="0"/>
              <a:t> is declared as a pointer to traverse the pixel values in the image. All the operations will be applied on that pointer.</a:t>
            </a:r>
            <a:endParaRPr lang="he-IL" dirty="0"/>
          </a:p>
        </p:txBody>
      </p:sp>
      <p:sp>
        <p:nvSpPr>
          <p:cNvPr id="18" name="Arrow: Down 17">
            <a:extLst>
              <a:ext uri="{FF2B5EF4-FFF2-40B4-BE49-F238E27FC236}">
                <a16:creationId xmlns:a16="http://schemas.microsoft.com/office/drawing/2014/main" id="{B9F3F3F7-2BBF-A0D8-A168-F0098E03F157}"/>
              </a:ext>
            </a:extLst>
          </p:cNvPr>
          <p:cNvSpPr/>
          <p:nvPr/>
        </p:nvSpPr>
        <p:spPr>
          <a:xfrm>
            <a:off x="9737387" y="4572565"/>
            <a:ext cx="291830" cy="635019"/>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6" name="Star: 5 Points 5">
            <a:extLst>
              <a:ext uri="{FF2B5EF4-FFF2-40B4-BE49-F238E27FC236}">
                <a16:creationId xmlns:a16="http://schemas.microsoft.com/office/drawing/2014/main" id="{6B53BBFB-21B4-1229-BA33-A96FE5C0E8D3}"/>
              </a:ext>
            </a:extLst>
          </p:cNvPr>
          <p:cNvSpPr/>
          <p:nvPr/>
        </p:nvSpPr>
        <p:spPr>
          <a:xfrm>
            <a:off x="10029217" y="447472"/>
            <a:ext cx="1935804" cy="1200329"/>
          </a:xfrm>
          <a:prstGeom prst="star5">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he-IL" dirty="0">
                <a:solidFill>
                  <a:srgbClr val="FF0000"/>
                </a:solidFill>
              </a:rPr>
              <a:t>לבדוק</a:t>
            </a:r>
          </a:p>
        </p:txBody>
      </p:sp>
    </p:spTree>
    <p:extLst>
      <p:ext uri="{BB962C8B-B14F-4D97-AF65-F5344CB8AC3E}">
        <p14:creationId xmlns:p14="http://schemas.microsoft.com/office/powerpoint/2010/main" val="9616493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6</a:t>
            </a:fld>
            <a:endParaRPr lang="he-IL" sz="1400"/>
          </a:p>
        </p:txBody>
      </p:sp>
      <p:sp>
        <p:nvSpPr>
          <p:cNvPr id="4" name="Title 1">
            <a:extLst>
              <a:ext uri="{FF2B5EF4-FFF2-40B4-BE49-F238E27FC236}">
                <a16:creationId xmlns:a16="http://schemas.microsoft.com/office/drawing/2014/main" id="{03A4DC77-8B6C-C7CB-E55E-18B4055D534C}"/>
              </a:ext>
            </a:extLst>
          </p:cNvPr>
          <p:cNvSpPr txBox="1">
            <a:spLocks/>
          </p:cNvSpPr>
          <p:nvPr/>
        </p:nvSpPr>
        <p:spPr>
          <a:xfrm>
            <a:off x="2714422" y="0"/>
            <a:ext cx="6763156"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24.4 </a:t>
            </a:r>
            <a:r>
              <a:rPr lang="en-US" sz="2800" b="1" u="sng" dirty="0">
                <a:solidFill>
                  <a:srgbClr val="0070C0"/>
                </a:solidFill>
                <a:latin typeface="+mn-lt"/>
              </a:rPr>
              <a:t>– “InitThresholdLUT”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E5A5ADF2-A21B-9775-A8E6-6A1D4F29DA8B}"/>
              </a:ext>
            </a:extLst>
          </p:cNvPr>
          <p:cNvSpPr txBox="1"/>
          <p:nvPr/>
        </p:nvSpPr>
        <p:spPr>
          <a:xfrm>
            <a:off x="1241134" y="1634972"/>
            <a:ext cx="9003103" cy="646331"/>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The LUT is used to map the pixel values based on a specified threshold, either making them black or white depending on whether they are above or below the threshold.</a:t>
            </a:r>
            <a:endParaRPr lang="he-IL" b="1" dirty="0"/>
          </a:p>
        </p:txBody>
      </p:sp>
      <p:sp>
        <p:nvSpPr>
          <p:cNvPr id="9" name="TextBox 8">
            <a:extLst>
              <a:ext uri="{FF2B5EF4-FFF2-40B4-BE49-F238E27FC236}">
                <a16:creationId xmlns:a16="http://schemas.microsoft.com/office/drawing/2014/main" id="{C9D6BCA0-D28A-08EB-BB4A-4E19E1D2C195}"/>
              </a:ext>
            </a:extLst>
          </p:cNvPr>
          <p:cNvSpPr txBox="1"/>
          <p:nvPr/>
        </p:nvSpPr>
        <p:spPr>
          <a:xfrm>
            <a:off x="705505" y="672127"/>
            <a:ext cx="9691993" cy="369332"/>
          </a:xfrm>
          <a:prstGeom prst="rect">
            <a:avLst/>
          </a:prstGeom>
        </p:spPr>
        <p:style>
          <a:lnRef idx="0">
            <a:schemeClr val="accent3"/>
          </a:lnRef>
          <a:fillRef idx="3">
            <a:schemeClr val="accent3"/>
          </a:fillRef>
          <a:effectRef idx="3">
            <a:schemeClr val="accent3"/>
          </a:effectRef>
          <a:fontRef idx="minor">
            <a:schemeClr val="lt1"/>
          </a:fontRef>
        </p:style>
        <p:txBody>
          <a:bodyPr wrap="square">
            <a:spAutoFit/>
          </a:bodyPr>
          <a:lstStyle/>
          <a:p>
            <a:r>
              <a:rPr lang="en-US" dirty="0"/>
              <a:t>The </a:t>
            </a:r>
            <a:r>
              <a:rPr lang="en-US" b="1" dirty="0"/>
              <a:t>InitThresholdLUT</a:t>
            </a:r>
            <a:r>
              <a:rPr lang="en-US" dirty="0"/>
              <a:t> function initializes a Lookup Table for thresholding a grayscale image. </a:t>
            </a:r>
            <a:endParaRPr lang="he-IL" dirty="0"/>
          </a:p>
        </p:txBody>
      </p:sp>
      <p:sp>
        <p:nvSpPr>
          <p:cNvPr id="10" name="Arrow: Down 9">
            <a:extLst>
              <a:ext uri="{FF2B5EF4-FFF2-40B4-BE49-F238E27FC236}">
                <a16:creationId xmlns:a16="http://schemas.microsoft.com/office/drawing/2014/main" id="{18AFD00E-E4AC-6AD9-7008-E3A5CE39DF93}"/>
              </a:ext>
            </a:extLst>
          </p:cNvPr>
          <p:cNvSpPr/>
          <p:nvPr/>
        </p:nvSpPr>
        <p:spPr>
          <a:xfrm>
            <a:off x="5551501" y="1083735"/>
            <a:ext cx="382371" cy="53296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12" name="TextBox 11">
            <a:extLst>
              <a:ext uri="{FF2B5EF4-FFF2-40B4-BE49-F238E27FC236}">
                <a16:creationId xmlns:a16="http://schemas.microsoft.com/office/drawing/2014/main" id="{225D7BF4-E507-DE31-3A71-DF75FA720E44}"/>
              </a:ext>
            </a:extLst>
          </p:cNvPr>
          <p:cNvSpPr txBox="1"/>
          <p:nvPr/>
        </p:nvSpPr>
        <p:spPr>
          <a:xfrm>
            <a:off x="2504312" y="4230989"/>
            <a:ext cx="609437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a:t>Pay attention – one of the input of the function is a pointer to the LUT which was defined as global. </a:t>
            </a:r>
            <a:endParaRPr lang="he-IL" dirty="0"/>
          </a:p>
        </p:txBody>
      </p:sp>
      <p:sp>
        <p:nvSpPr>
          <p:cNvPr id="14" name="TextBox 13">
            <a:extLst>
              <a:ext uri="{FF2B5EF4-FFF2-40B4-BE49-F238E27FC236}">
                <a16:creationId xmlns:a16="http://schemas.microsoft.com/office/drawing/2014/main" id="{5720E7B3-FB6C-6683-E8A0-90360B498566}"/>
              </a:ext>
            </a:extLst>
          </p:cNvPr>
          <p:cNvSpPr txBox="1"/>
          <p:nvPr/>
        </p:nvSpPr>
        <p:spPr>
          <a:xfrm>
            <a:off x="1514802" y="5058543"/>
            <a:ext cx="8838139" cy="369332"/>
          </a:xfrm>
          <a:prstGeom prst="rect">
            <a:avLst/>
          </a:prstGeom>
        </p:spPr>
        <p:style>
          <a:lnRef idx="0">
            <a:schemeClr val="accent4"/>
          </a:lnRef>
          <a:fillRef idx="3">
            <a:schemeClr val="accent4"/>
          </a:fillRef>
          <a:effectRef idx="3">
            <a:schemeClr val="accent4"/>
          </a:effectRef>
          <a:fontRef idx="minor">
            <a:schemeClr val="lt1"/>
          </a:fontRef>
        </p:style>
        <p:txBody>
          <a:bodyPr wrap="square">
            <a:spAutoFit/>
          </a:bodyPr>
          <a:lstStyle/>
          <a:p>
            <a:r>
              <a:rPr lang="en-US" dirty="0"/>
              <a:t>B_Or_W is a flag that determines the output value for pixels based on the threshold</a:t>
            </a:r>
            <a:endParaRPr lang="he-IL" dirty="0"/>
          </a:p>
        </p:txBody>
      </p:sp>
      <p:cxnSp>
        <p:nvCxnSpPr>
          <p:cNvPr id="16" name="Straight Arrow Connector 15">
            <a:extLst>
              <a:ext uri="{FF2B5EF4-FFF2-40B4-BE49-F238E27FC236}">
                <a16:creationId xmlns:a16="http://schemas.microsoft.com/office/drawing/2014/main" id="{A730405E-37B4-D104-FCD7-1CAFF70BE5FD}"/>
              </a:ext>
            </a:extLst>
          </p:cNvPr>
          <p:cNvCxnSpPr>
            <a:cxnSpLocks/>
          </p:cNvCxnSpPr>
          <p:nvPr/>
        </p:nvCxnSpPr>
        <p:spPr>
          <a:xfrm flipH="1">
            <a:off x="4871781" y="5427875"/>
            <a:ext cx="679720" cy="423392"/>
          </a:xfrm>
          <a:prstGeom prst="straightConnector1">
            <a:avLst/>
          </a:prstGeom>
          <a:ln w="57150" cap="flat" cmpd="sng" algn="ctr">
            <a:solidFill>
              <a:schemeClr val="accent5"/>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BC0E9FC-5BA9-DBBC-2689-75162C607E8B}"/>
                  </a:ext>
                </a:extLst>
              </p:cNvPr>
              <p:cNvSpPr txBox="1"/>
              <p:nvPr/>
            </p:nvSpPr>
            <p:spPr>
              <a:xfrm>
                <a:off x="70341" y="5851267"/>
                <a:ext cx="4734939" cy="923330"/>
              </a:xfrm>
              <a:prstGeom prst="rect">
                <a:avLst/>
              </a:prstGeom>
            </p:spPr>
            <p:style>
              <a:lnRef idx="0">
                <a:schemeClr val="accent5"/>
              </a:lnRef>
              <a:fillRef idx="3">
                <a:schemeClr val="accent5"/>
              </a:fillRef>
              <a:effectRef idx="3">
                <a:schemeClr val="accent5"/>
              </a:effectRef>
              <a:fontRef idx="minor">
                <a:schemeClr val="lt1"/>
              </a:fontRef>
            </p:style>
            <p:txBody>
              <a:bodyPr wrap="square">
                <a:spAutoFit/>
              </a:bodyPr>
              <a:lstStyle/>
              <a:p>
                <a:r>
                  <a:rPr lang="en-US" dirty="0"/>
                  <a:t>If B_Or_W is 1 </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r>
                  <a:rPr lang="en-US" dirty="0"/>
                  <a:t> pixels less than or equal to the threshold are set to 255 (white), and pixels greater than the threshold are set to 0 (black).</a:t>
                </a:r>
                <a:endParaRPr lang="he-IL" dirty="0"/>
              </a:p>
            </p:txBody>
          </p:sp>
        </mc:Choice>
        <mc:Fallback xmlns="">
          <p:sp>
            <p:nvSpPr>
              <p:cNvPr id="18" name="TextBox 17">
                <a:extLst>
                  <a:ext uri="{FF2B5EF4-FFF2-40B4-BE49-F238E27FC236}">
                    <a16:creationId xmlns:a16="http://schemas.microsoft.com/office/drawing/2014/main" id="{ABC0E9FC-5BA9-DBBC-2689-75162C607E8B}"/>
                  </a:ext>
                </a:extLst>
              </p:cNvPr>
              <p:cNvSpPr txBox="1">
                <a:spLocks noRot="1" noChangeAspect="1" noMove="1" noResize="1" noEditPoints="1" noAdjustHandles="1" noChangeArrowheads="1" noChangeShapeType="1" noTextEdit="1"/>
              </p:cNvSpPr>
              <p:nvPr/>
            </p:nvSpPr>
            <p:spPr>
              <a:xfrm>
                <a:off x="70341" y="5851267"/>
                <a:ext cx="4734939" cy="923330"/>
              </a:xfrm>
              <a:prstGeom prst="rect">
                <a:avLst/>
              </a:prstGeom>
              <a:blipFill>
                <a:blip r:embed="rId3"/>
                <a:stretch>
                  <a:fillRect/>
                </a:stretch>
              </a:blipFill>
            </p:spPr>
            <p:txBody>
              <a:bodyPr/>
              <a:lstStyle/>
              <a:p>
                <a:r>
                  <a:rPr lang="he-IL">
                    <a:noFill/>
                  </a:rPr>
                  <a:t> </a:t>
                </a:r>
              </a:p>
            </p:txBody>
          </p:sp>
        </mc:Fallback>
      </mc:AlternateContent>
      <p:cxnSp>
        <p:nvCxnSpPr>
          <p:cNvPr id="21" name="Straight Arrow Connector 20">
            <a:extLst>
              <a:ext uri="{FF2B5EF4-FFF2-40B4-BE49-F238E27FC236}">
                <a16:creationId xmlns:a16="http://schemas.microsoft.com/office/drawing/2014/main" id="{C96552FE-1FA8-0745-7F8D-F79D19CFE810}"/>
              </a:ext>
            </a:extLst>
          </p:cNvPr>
          <p:cNvCxnSpPr>
            <a:cxnSpLocks/>
          </p:cNvCxnSpPr>
          <p:nvPr/>
        </p:nvCxnSpPr>
        <p:spPr>
          <a:xfrm>
            <a:off x="5551501" y="5387326"/>
            <a:ext cx="693656" cy="463941"/>
          </a:xfrm>
          <a:prstGeom prst="straightConnector1">
            <a:avLst/>
          </a:prstGeom>
          <a:ln w="571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25" name="TextBox 24">
            <a:extLst>
              <a:ext uri="{FF2B5EF4-FFF2-40B4-BE49-F238E27FC236}">
                <a16:creationId xmlns:a16="http://schemas.microsoft.com/office/drawing/2014/main" id="{85366937-F5E2-A127-57EC-3BE6FE6E2EFD}"/>
              </a:ext>
            </a:extLst>
          </p:cNvPr>
          <p:cNvSpPr txBox="1"/>
          <p:nvPr/>
        </p:nvSpPr>
        <p:spPr>
          <a:xfrm>
            <a:off x="6245157" y="5869542"/>
            <a:ext cx="5617195" cy="923330"/>
          </a:xfrm>
          <a:prstGeom prst="rect">
            <a:avLst/>
          </a:prstGeom>
        </p:spPr>
        <p:style>
          <a:lnRef idx="0">
            <a:schemeClr val="accent6"/>
          </a:lnRef>
          <a:fillRef idx="3">
            <a:schemeClr val="accent6"/>
          </a:fillRef>
          <a:effectRef idx="3">
            <a:schemeClr val="accent6"/>
          </a:effectRef>
          <a:fontRef idx="minor">
            <a:schemeClr val="lt1"/>
          </a:fontRef>
        </p:style>
        <p:txBody>
          <a:bodyPr wrap="square">
            <a:spAutoFit/>
          </a:bodyPr>
          <a:lstStyle/>
          <a:p>
            <a:r>
              <a:rPr lang="en-US" dirty="0"/>
              <a:t>If B_Or_W is 0, pixels less than or equal to the threshold are set to 0 (black), and pixels greater than the threshold are set to 255 (white).</a:t>
            </a:r>
            <a:endParaRPr lang="he-IL" dirty="0"/>
          </a:p>
        </p:txBody>
      </p:sp>
      <p:pic>
        <p:nvPicPr>
          <p:cNvPr id="6" name="Picture 5">
            <a:extLst>
              <a:ext uri="{FF2B5EF4-FFF2-40B4-BE49-F238E27FC236}">
                <a16:creationId xmlns:a16="http://schemas.microsoft.com/office/drawing/2014/main" id="{F34D64BA-1BC1-E189-E085-7D4490E4BA14}"/>
              </a:ext>
            </a:extLst>
          </p:cNvPr>
          <p:cNvPicPr>
            <a:picLocks noChangeAspect="1"/>
          </p:cNvPicPr>
          <p:nvPr/>
        </p:nvPicPr>
        <p:blipFill>
          <a:blip r:embed="rId4"/>
          <a:stretch>
            <a:fillRect/>
          </a:stretch>
        </p:blipFill>
        <p:spPr>
          <a:xfrm>
            <a:off x="100762" y="2542735"/>
            <a:ext cx="11283846" cy="1343315"/>
          </a:xfrm>
          <a:prstGeom prst="rect">
            <a:avLst/>
          </a:prstGeom>
        </p:spPr>
      </p:pic>
    </p:spTree>
    <p:extLst>
      <p:ext uri="{BB962C8B-B14F-4D97-AF65-F5344CB8AC3E}">
        <p14:creationId xmlns:p14="http://schemas.microsoft.com/office/powerpoint/2010/main" val="92821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7</a:t>
            </a:fld>
            <a:endParaRPr lang="he-IL" sz="1400"/>
          </a:p>
        </p:txBody>
      </p:sp>
      <p:sp>
        <p:nvSpPr>
          <p:cNvPr id="2" name="Title 1">
            <a:extLst>
              <a:ext uri="{FF2B5EF4-FFF2-40B4-BE49-F238E27FC236}">
                <a16:creationId xmlns:a16="http://schemas.microsoft.com/office/drawing/2014/main" id="{FC48BFB1-1E7E-2BB7-432E-3A84A6967D15}"/>
              </a:ext>
            </a:extLst>
          </p:cNvPr>
          <p:cNvSpPr txBox="1">
            <a:spLocks/>
          </p:cNvSpPr>
          <p:nvPr/>
        </p:nvSpPr>
        <p:spPr>
          <a:xfrm>
            <a:off x="3701475" y="0"/>
            <a:ext cx="4789049" cy="59304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24.5 </a:t>
            </a:r>
            <a:r>
              <a:rPr lang="en-US" sz="2800" b="1" u="sng" dirty="0">
                <a:solidFill>
                  <a:srgbClr val="0070C0"/>
                </a:solidFill>
                <a:latin typeface="+mn-lt"/>
              </a:rPr>
              <a:t>– “ImposeLUT”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sp>
        <p:nvSpPr>
          <p:cNvPr id="7" name="TextBox 6">
            <a:extLst>
              <a:ext uri="{FF2B5EF4-FFF2-40B4-BE49-F238E27FC236}">
                <a16:creationId xmlns:a16="http://schemas.microsoft.com/office/drawing/2014/main" id="{03C9289B-E68F-1599-D245-CD72DA3CDFB8}"/>
              </a:ext>
            </a:extLst>
          </p:cNvPr>
          <p:cNvSpPr txBox="1"/>
          <p:nvPr/>
        </p:nvSpPr>
        <p:spPr>
          <a:xfrm>
            <a:off x="2271683" y="744146"/>
            <a:ext cx="7238569" cy="369332"/>
          </a:xfrm>
          <a:prstGeom prst="rect">
            <a:avLst/>
          </a:prstGeom>
        </p:spPr>
        <p:style>
          <a:lnRef idx="0">
            <a:schemeClr val="accent1"/>
          </a:lnRef>
          <a:fillRef idx="3">
            <a:schemeClr val="accent1"/>
          </a:fillRef>
          <a:effectRef idx="3">
            <a:schemeClr val="accent1"/>
          </a:effectRef>
          <a:fontRef idx="minor">
            <a:schemeClr val="lt1"/>
          </a:fontRef>
        </p:style>
        <p:txBody>
          <a:bodyPr wrap="square">
            <a:spAutoFit/>
          </a:bodyPr>
          <a:lstStyle/>
          <a:p>
            <a:r>
              <a:rPr lang="en-US" b="1" dirty="0"/>
              <a:t>After defining the LUT – we need to apply the LUT on the gray image. </a:t>
            </a:r>
          </a:p>
        </p:txBody>
      </p:sp>
      <p:sp>
        <p:nvSpPr>
          <p:cNvPr id="9" name="TextBox 8">
            <a:extLst>
              <a:ext uri="{FF2B5EF4-FFF2-40B4-BE49-F238E27FC236}">
                <a16:creationId xmlns:a16="http://schemas.microsoft.com/office/drawing/2014/main" id="{A996016B-34B6-0E4A-97FF-6340E37D8348}"/>
              </a:ext>
            </a:extLst>
          </p:cNvPr>
          <p:cNvSpPr txBox="1"/>
          <p:nvPr/>
        </p:nvSpPr>
        <p:spPr>
          <a:xfrm>
            <a:off x="2737583" y="3488262"/>
            <a:ext cx="6306766" cy="923330"/>
          </a:xfrm>
          <a:prstGeom prst="rect">
            <a:avLst/>
          </a:prstGeom>
          <a:ln/>
        </p:spPr>
        <p:style>
          <a:lnRef idx="0">
            <a:schemeClr val="accent2"/>
          </a:lnRef>
          <a:fillRef idx="3">
            <a:schemeClr val="accent2"/>
          </a:fillRef>
          <a:effectRef idx="3">
            <a:schemeClr val="accent2"/>
          </a:effectRef>
          <a:fontRef idx="minor">
            <a:schemeClr val="lt1"/>
          </a:fontRef>
        </p:style>
        <p:txBody>
          <a:bodyPr wrap="square">
            <a:spAutoFit/>
          </a:bodyPr>
          <a:lstStyle/>
          <a:p>
            <a:r>
              <a:rPr lang="en-US" b="1" dirty="0"/>
              <a:t>ptrToPixels</a:t>
            </a:r>
            <a:r>
              <a:rPr lang="en-US" dirty="0"/>
              <a:t> is initialized to point to the first pixel of the image.</a:t>
            </a:r>
          </a:p>
          <a:p>
            <a:r>
              <a:rPr lang="en-US" dirty="0"/>
              <a:t> Since GrayImage is a 2D array, GrayImage[0] points to the first row, and ptrToPixels thus points to the first pixel in that row.</a:t>
            </a:r>
            <a:endParaRPr lang="he-IL" dirty="0"/>
          </a:p>
        </p:txBody>
      </p:sp>
      <p:pic>
        <p:nvPicPr>
          <p:cNvPr id="6" name="Picture 5">
            <a:extLst>
              <a:ext uri="{FF2B5EF4-FFF2-40B4-BE49-F238E27FC236}">
                <a16:creationId xmlns:a16="http://schemas.microsoft.com/office/drawing/2014/main" id="{AB9C37A8-8CE0-B188-92E6-C463ECF1473F}"/>
              </a:ext>
            </a:extLst>
          </p:cNvPr>
          <p:cNvPicPr>
            <a:picLocks noChangeAspect="1"/>
          </p:cNvPicPr>
          <p:nvPr/>
        </p:nvPicPr>
        <p:blipFill>
          <a:blip r:embed="rId2"/>
          <a:stretch>
            <a:fillRect/>
          </a:stretch>
        </p:blipFill>
        <p:spPr>
          <a:xfrm>
            <a:off x="326178" y="1399121"/>
            <a:ext cx="11129577" cy="1795093"/>
          </a:xfrm>
          <a:prstGeom prst="rect">
            <a:avLst/>
          </a:prstGeom>
        </p:spPr>
      </p:pic>
    </p:spTree>
    <p:extLst>
      <p:ext uri="{BB962C8B-B14F-4D97-AF65-F5344CB8AC3E}">
        <p14:creationId xmlns:p14="http://schemas.microsoft.com/office/powerpoint/2010/main" val="13972333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6927CE7-8EDF-6283-48EF-56E7420B3B01}"/>
              </a:ext>
            </a:extLst>
          </p:cNvPr>
          <p:cNvSpPr>
            <a:spLocks noGrp="1"/>
          </p:cNvSpPr>
          <p:nvPr>
            <p:ph type="sldNum" sz="quarter" idx="12"/>
          </p:nvPr>
        </p:nvSpPr>
        <p:spPr>
          <a:xfrm>
            <a:off x="11736421" y="0"/>
            <a:ext cx="455579" cy="365125"/>
          </a:xfrm>
        </p:spPr>
        <p:txBody>
          <a:bodyPr/>
          <a:lstStyle/>
          <a:p>
            <a:fld id="{81122904-1B5F-4679-B3DC-5E87602DE7DA}" type="slidenum">
              <a:rPr lang="he-IL" sz="1400" smtClean="0"/>
              <a:t>8</a:t>
            </a:fld>
            <a:endParaRPr lang="he-IL" sz="1400"/>
          </a:p>
        </p:txBody>
      </p:sp>
      <p:sp>
        <p:nvSpPr>
          <p:cNvPr id="5" name="Title 1">
            <a:extLst>
              <a:ext uri="{FF2B5EF4-FFF2-40B4-BE49-F238E27FC236}">
                <a16:creationId xmlns:a16="http://schemas.microsoft.com/office/drawing/2014/main" id="{FB5A6218-66AE-70B6-3848-CE9934722F27}"/>
              </a:ext>
            </a:extLst>
          </p:cNvPr>
          <p:cNvSpPr txBox="1">
            <a:spLocks/>
          </p:cNvSpPr>
          <p:nvPr/>
        </p:nvSpPr>
        <p:spPr>
          <a:xfrm>
            <a:off x="3419372" y="10065"/>
            <a:ext cx="6123461" cy="710119"/>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“CalculateDistance” function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7" name="Picture 6">
            <a:extLst>
              <a:ext uri="{FF2B5EF4-FFF2-40B4-BE49-F238E27FC236}">
                <a16:creationId xmlns:a16="http://schemas.microsoft.com/office/drawing/2014/main" id="{AE7FBC3A-5255-992E-1501-DB6471B5BE7C}"/>
              </a:ext>
            </a:extLst>
          </p:cNvPr>
          <p:cNvPicPr>
            <a:picLocks noChangeAspect="1"/>
          </p:cNvPicPr>
          <p:nvPr/>
        </p:nvPicPr>
        <p:blipFill>
          <a:blip r:embed="rId2"/>
          <a:stretch>
            <a:fillRect/>
          </a:stretch>
        </p:blipFill>
        <p:spPr>
          <a:xfrm>
            <a:off x="1709281" y="1128408"/>
            <a:ext cx="8773438" cy="1432398"/>
          </a:xfrm>
          <a:prstGeom prst="rect">
            <a:avLst/>
          </a:prstGeom>
        </p:spPr>
      </p:pic>
    </p:spTree>
    <p:extLst>
      <p:ext uri="{BB962C8B-B14F-4D97-AF65-F5344CB8AC3E}">
        <p14:creationId xmlns:p14="http://schemas.microsoft.com/office/powerpoint/2010/main" val="33496352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833698" y="0"/>
            <a:ext cx="358302" cy="365125"/>
          </a:xfrm>
        </p:spPr>
        <p:txBody>
          <a:bodyPr/>
          <a:lstStyle/>
          <a:p>
            <a:fld id="{81122904-1B5F-4679-B3DC-5E87602DE7DA}" type="slidenum">
              <a:rPr lang="he-IL" sz="1400" smtClean="0"/>
              <a:t>9</a:t>
            </a:fld>
            <a:endParaRPr lang="he-IL" sz="1400"/>
          </a:p>
        </p:txBody>
      </p:sp>
      <p:sp>
        <p:nvSpPr>
          <p:cNvPr id="2" name="Title 1">
            <a:extLst>
              <a:ext uri="{FF2B5EF4-FFF2-40B4-BE49-F238E27FC236}">
                <a16:creationId xmlns:a16="http://schemas.microsoft.com/office/drawing/2014/main" id="{8AE5DF3B-14D6-0E88-3914-89A36E78593A}"/>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1</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06FB9005-CBE6-0C7E-269A-07D704746BE8}"/>
              </a:ext>
            </a:extLst>
          </p:cNvPr>
          <p:cNvPicPr>
            <a:picLocks noChangeAspect="1"/>
          </p:cNvPicPr>
          <p:nvPr/>
        </p:nvPicPr>
        <p:blipFill>
          <a:blip r:embed="rId2"/>
          <a:stretch>
            <a:fillRect/>
          </a:stretch>
        </p:blipFill>
        <p:spPr>
          <a:xfrm>
            <a:off x="136187" y="914400"/>
            <a:ext cx="9016096" cy="4473102"/>
          </a:xfrm>
          <a:prstGeom prst="rect">
            <a:avLst/>
          </a:prstGeom>
        </p:spPr>
      </p:pic>
    </p:spTree>
    <p:extLst>
      <p:ext uri="{BB962C8B-B14F-4D97-AF65-F5344CB8AC3E}">
        <p14:creationId xmlns:p14="http://schemas.microsoft.com/office/powerpoint/2010/main" val="24724979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41285" y="0"/>
            <a:ext cx="450715" cy="365125"/>
          </a:xfrm>
        </p:spPr>
        <p:txBody>
          <a:bodyPr/>
          <a:lstStyle/>
          <a:p>
            <a:fld id="{81122904-1B5F-4679-B3DC-5E87602DE7DA}" type="slidenum">
              <a:rPr lang="he-IL" sz="1400" smtClean="0"/>
              <a:t>10</a:t>
            </a:fld>
            <a:endParaRPr lang="he-IL" sz="1400"/>
          </a:p>
        </p:txBody>
      </p:sp>
      <p:sp>
        <p:nvSpPr>
          <p:cNvPr id="2" name="Title 1">
            <a:extLst>
              <a:ext uri="{FF2B5EF4-FFF2-40B4-BE49-F238E27FC236}">
                <a16:creationId xmlns:a16="http://schemas.microsoft.com/office/drawing/2014/main" id="{220D93DF-382F-C3AE-2211-5B16683B5334}"/>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2</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7" name="Picture 6">
            <a:extLst>
              <a:ext uri="{FF2B5EF4-FFF2-40B4-BE49-F238E27FC236}">
                <a16:creationId xmlns:a16="http://schemas.microsoft.com/office/drawing/2014/main" id="{249A4335-A533-C5B2-DD71-E7AF8A8123DB}"/>
              </a:ext>
            </a:extLst>
          </p:cNvPr>
          <p:cNvPicPr>
            <a:picLocks noChangeAspect="1"/>
          </p:cNvPicPr>
          <p:nvPr/>
        </p:nvPicPr>
        <p:blipFill>
          <a:blip r:embed="rId2"/>
          <a:stretch>
            <a:fillRect/>
          </a:stretch>
        </p:blipFill>
        <p:spPr>
          <a:xfrm>
            <a:off x="171392" y="476655"/>
            <a:ext cx="9042886" cy="6153174"/>
          </a:xfrm>
          <a:prstGeom prst="rect">
            <a:avLst/>
          </a:prstGeom>
        </p:spPr>
      </p:pic>
    </p:spTree>
    <p:extLst>
      <p:ext uri="{BB962C8B-B14F-4D97-AF65-F5344CB8AC3E}">
        <p14:creationId xmlns:p14="http://schemas.microsoft.com/office/powerpoint/2010/main" val="13807194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12102" y="0"/>
            <a:ext cx="479898" cy="365125"/>
          </a:xfrm>
        </p:spPr>
        <p:txBody>
          <a:bodyPr/>
          <a:lstStyle/>
          <a:p>
            <a:fld id="{81122904-1B5F-4679-B3DC-5E87602DE7DA}" type="slidenum">
              <a:rPr lang="he-IL" sz="1400" smtClean="0"/>
              <a:t>11</a:t>
            </a:fld>
            <a:endParaRPr lang="he-IL" sz="1400"/>
          </a:p>
        </p:txBody>
      </p:sp>
      <p:sp>
        <p:nvSpPr>
          <p:cNvPr id="2" name="Title 1">
            <a:extLst>
              <a:ext uri="{FF2B5EF4-FFF2-40B4-BE49-F238E27FC236}">
                <a16:creationId xmlns:a16="http://schemas.microsoft.com/office/drawing/2014/main" id="{DC114CE1-A49C-EEA1-DB18-BE50C189E751}"/>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3</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4" name="Picture 3">
            <a:extLst>
              <a:ext uri="{FF2B5EF4-FFF2-40B4-BE49-F238E27FC236}">
                <a16:creationId xmlns:a16="http://schemas.microsoft.com/office/drawing/2014/main" id="{DA36579C-C7C2-BE9A-4C0D-994A28C0122F}"/>
              </a:ext>
            </a:extLst>
          </p:cNvPr>
          <p:cNvPicPr>
            <a:picLocks noChangeAspect="1"/>
          </p:cNvPicPr>
          <p:nvPr/>
        </p:nvPicPr>
        <p:blipFill>
          <a:blip r:embed="rId2"/>
          <a:stretch>
            <a:fillRect/>
          </a:stretch>
        </p:blipFill>
        <p:spPr>
          <a:xfrm>
            <a:off x="687821" y="1332689"/>
            <a:ext cx="10816355" cy="3194523"/>
          </a:xfrm>
          <a:prstGeom prst="rect">
            <a:avLst/>
          </a:prstGeom>
        </p:spPr>
      </p:pic>
    </p:spTree>
    <p:extLst>
      <p:ext uri="{BB962C8B-B14F-4D97-AF65-F5344CB8AC3E}">
        <p14:creationId xmlns:p14="http://schemas.microsoft.com/office/powerpoint/2010/main" val="18124315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FB6BD66D-4B38-DA51-8DEE-1F578C110029}"/>
              </a:ext>
            </a:extLst>
          </p:cNvPr>
          <p:cNvSpPr>
            <a:spLocks noGrp="1"/>
          </p:cNvSpPr>
          <p:nvPr>
            <p:ph type="sldNum" sz="quarter" idx="12"/>
          </p:nvPr>
        </p:nvSpPr>
        <p:spPr>
          <a:xfrm>
            <a:off x="11658600" y="6492875"/>
            <a:ext cx="533400" cy="365125"/>
          </a:xfrm>
        </p:spPr>
        <p:txBody>
          <a:bodyPr/>
          <a:lstStyle/>
          <a:p>
            <a:fld id="{81122904-1B5F-4679-B3DC-5E87602DE7DA}" type="slidenum">
              <a:rPr lang="he-IL" sz="1400" smtClean="0"/>
              <a:t>12</a:t>
            </a:fld>
            <a:endParaRPr lang="he-IL" sz="1400"/>
          </a:p>
        </p:txBody>
      </p:sp>
      <p:sp>
        <p:nvSpPr>
          <p:cNvPr id="5" name="Title 1">
            <a:extLst>
              <a:ext uri="{FF2B5EF4-FFF2-40B4-BE49-F238E27FC236}">
                <a16:creationId xmlns:a16="http://schemas.microsoft.com/office/drawing/2014/main" id="{DA8503FF-6374-C95C-B95F-84B9DC653EA5}"/>
              </a:ext>
            </a:extLst>
          </p:cNvPr>
          <p:cNvSpPr txBox="1">
            <a:spLocks/>
          </p:cNvSpPr>
          <p:nvPr/>
        </p:nvSpPr>
        <p:spPr>
          <a:xfrm>
            <a:off x="3549404" y="0"/>
            <a:ext cx="5093191" cy="476655"/>
          </a:xfrm>
          <a:prstGeom prst="rect">
            <a:avLst/>
          </a:prstGeom>
        </p:spPr>
        <p:txBody>
          <a:bodyPr vert="horz" lIns="91440" tIns="45720" rIns="91440" bIns="45720" rtlCol="1" anchor="ctr">
            <a:normAutofit lnSpcReduction="10000"/>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24.6 </a:t>
            </a:r>
            <a:r>
              <a:rPr lang="en-US" sz="2800" b="1" u="sng" dirty="0">
                <a:solidFill>
                  <a:srgbClr val="0070C0"/>
                </a:solidFill>
                <a:latin typeface="+mn-lt"/>
              </a:rPr>
              <a:t>– “main” function – </a:t>
            </a:r>
            <a:r>
              <a:rPr lang="en-US" sz="2800" b="1" u="sng" dirty="0">
                <a:solidFill>
                  <a:srgbClr val="FF0000"/>
                </a:solidFill>
                <a:latin typeface="+mn-lt"/>
              </a:rPr>
              <a:t>part 4</a:t>
            </a:r>
            <a:r>
              <a:rPr lang="en-US" sz="2800" b="1" u="sng" dirty="0">
                <a:solidFill>
                  <a:srgbClr val="0070C0"/>
                </a:solidFill>
                <a:latin typeface="+mn-lt"/>
              </a:rPr>
              <a:t>  </a:t>
            </a:r>
            <a:endParaRPr kumimoji="0" lang="en-US" sz="2800" b="1" i="0" u="sng" strike="noStrike" kern="1200" cap="none" spc="0" normalizeH="0" baseline="0" noProof="0" dirty="0">
              <a:ln>
                <a:noFill/>
              </a:ln>
              <a:solidFill>
                <a:srgbClr val="0070C0"/>
              </a:solidFill>
              <a:effectLst/>
              <a:uLnTx/>
              <a:uFillTx/>
              <a:latin typeface="+mj-lt"/>
              <a:ea typeface="+mj-ea"/>
              <a:cs typeface="+mj-cs"/>
            </a:endParaRPr>
          </a:p>
        </p:txBody>
      </p:sp>
      <p:pic>
        <p:nvPicPr>
          <p:cNvPr id="9" name="Picture 8">
            <a:extLst>
              <a:ext uri="{FF2B5EF4-FFF2-40B4-BE49-F238E27FC236}">
                <a16:creationId xmlns:a16="http://schemas.microsoft.com/office/drawing/2014/main" id="{61A8E419-5A23-E503-A56C-F5752E6FE2F7}"/>
              </a:ext>
            </a:extLst>
          </p:cNvPr>
          <p:cNvPicPr>
            <a:picLocks noChangeAspect="1"/>
          </p:cNvPicPr>
          <p:nvPr/>
        </p:nvPicPr>
        <p:blipFill>
          <a:blip r:embed="rId2"/>
          <a:stretch>
            <a:fillRect/>
          </a:stretch>
        </p:blipFill>
        <p:spPr>
          <a:xfrm>
            <a:off x="0" y="751702"/>
            <a:ext cx="12192000" cy="5354595"/>
          </a:xfrm>
          <a:prstGeom prst="rect">
            <a:avLst/>
          </a:prstGeom>
        </p:spPr>
      </p:pic>
    </p:spTree>
    <p:extLst>
      <p:ext uri="{BB962C8B-B14F-4D97-AF65-F5344CB8AC3E}">
        <p14:creationId xmlns:p14="http://schemas.microsoft.com/office/powerpoint/2010/main" val="334175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a:extLst>
              <a:ext uri="{FF2B5EF4-FFF2-40B4-BE49-F238E27FC236}">
                <a16:creationId xmlns:a16="http://schemas.microsoft.com/office/drawing/2014/main" id="{E742A28E-11A4-D8DE-FFF8-A0991591C77A}"/>
              </a:ext>
            </a:extLst>
          </p:cNvPr>
          <p:cNvSpPr>
            <a:spLocks noGrp="1"/>
          </p:cNvSpPr>
          <p:nvPr>
            <p:ph type="sldNum" sz="quarter" idx="12"/>
          </p:nvPr>
        </p:nvSpPr>
        <p:spPr>
          <a:xfrm>
            <a:off x="11780196" y="0"/>
            <a:ext cx="411804" cy="365125"/>
          </a:xfrm>
        </p:spPr>
        <p:txBody>
          <a:bodyPr/>
          <a:lstStyle/>
          <a:p>
            <a:fld id="{81122904-1B5F-4679-B3DC-5E87602DE7DA}" type="slidenum">
              <a:rPr lang="he-IL" sz="1400" smtClean="0"/>
              <a:t>13</a:t>
            </a:fld>
            <a:endParaRPr lang="he-IL" sz="1400"/>
          </a:p>
        </p:txBody>
      </p:sp>
      <p:sp>
        <p:nvSpPr>
          <p:cNvPr id="4" name="Title 1">
            <a:extLst>
              <a:ext uri="{FF2B5EF4-FFF2-40B4-BE49-F238E27FC236}">
                <a16:creationId xmlns:a16="http://schemas.microsoft.com/office/drawing/2014/main" id="{5D6799E5-5CE4-13C1-7E7F-1BC091C22AF0}"/>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and the counting results –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
        <p:nvSpPr>
          <p:cNvPr id="10" name="Rectangle 9">
            <a:extLst>
              <a:ext uri="{FF2B5EF4-FFF2-40B4-BE49-F238E27FC236}">
                <a16:creationId xmlns:a16="http://schemas.microsoft.com/office/drawing/2014/main" id="{AF672ED2-085B-38EF-419E-DE4BAEB34E17}"/>
              </a:ext>
            </a:extLst>
          </p:cNvPr>
          <p:cNvSpPr/>
          <p:nvPr/>
        </p:nvSpPr>
        <p:spPr>
          <a:xfrm>
            <a:off x="1284051" y="520092"/>
            <a:ext cx="1906621"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Image241.bmp</a:t>
            </a:r>
            <a:endParaRPr lang="he-IL" dirty="0"/>
          </a:p>
        </p:txBody>
      </p:sp>
      <p:sp>
        <p:nvSpPr>
          <p:cNvPr id="11" name="Arrow: Right 10">
            <a:extLst>
              <a:ext uri="{FF2B5EF4-FFF2-40B4-BE49-F238E27FC236}">
                <a16:creationId xmlns:a16="http://schemas.microsoft.com/office/drawing/2014/main" id="{CAF4D9FE-7750-E40E-1A56-9785B11C61AF}"/>
              </a:ext>
            </a:extLst>
          </p:cNvPr>
          <p:cNvSpPr/>
          <p:nvPr/>
        </p:nvSpPr>
        <p:spPr>
          <a:xfrm>
            <a:off x="4396902" y="1923644"/>
            <a:ext cx="2178995" cy="52009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3" name="Picture 12">
            <a:extLst>
              <a:ext uri="{FF2B5EF4-FFF2-40B4-BE49-F238E27FC236}">
                <a16:creationId xmlns:a16="http://schemas.microsoft.com/office/drawing/2014/main" id="{411A33C1-8DAC-2C88-9226-BEC853165AC7}"/>
              </a:ext>
            </a:extLst>
          </p:cNvPr>
          <p:cNvPicPr>
            <a:picLocks noChangeAspect="1"/>
          </p:cNvPicPr>
          <p:nvPr/>
        </p:nvPicPr>
        <p:blipFill rotWithShape="1">
          <a:blip r:embed="rId2"/>
          <a:srcRect t="22872"/>
          <a:stretch/>
        </p:blipFill>
        <p:spPr>
          <a:xfrm>
            <a:off x="6858000" y="2033554"/>
            <a:ext cx="3988668" cy="410182"/>
          </a:xfrm>
          <a:prstGeom prst="rect">
            <a:avLst/>
          </a:prstGeom>
        </p:spPr>
      </p:pic>
      <p:sp>
        <p:nvSpPr>
          <p:cNvPr id="2" name="Rectangle 1">
            <a:extLst>
              <a:ext uri="{FF2B5EF4-FFF2-40B4-BE49-F238E27FC236}">
                <a16:creationId xmlns:a16="http://schemas.microsoft.com/office/drawing/2014/main" id="{5FAB252F-5E69-672D-A4F3-11690D84C111}"/>
              </a:ext>
            </a:extLst>
          </p:cNvPr>
          <p:cNvSpPr/>
          <p:nvPr/>
        </p:nvSpPr>
        <p:spPr>
          <a:xfrm>
            <a:off x="6858000" y="2624036"/>
            <a:ext cx="4075889" cy="75477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The printing of the program indicate that 6 gaussian elements were found!</a:t>
            </a:r>
            <a:endParaRPr lang="he-IL" dirty="0"/>
          </a:p>
        </p:txBody>
      </p:sp>
      <p:sp>
        <p:nvSpPr>
          <p:cNvPr id="7" name="Rectangle 6">
            <a:extLst>
              <a:ext uri="{FF2B5EF4-FFF2-40B4-BE49-F238E27FC236}">
                <a16:creationId xmlns:a16="http://schemas.microsoft.com/office/drawing/2014/main" id="{F8A73BE2-40EC-D3E5-C422-98E82B750650}"/>
              </a:ext>
            </a:extLst>
          </p:cNvPr>
          <p:cNvSpPr/>
          <p:nvPr/>
        </p:nvSpPr>
        <p:spPr>
          <a:xfrm>
            <a:off x="618094" y="3667497"/>
            <a:ext cx="3613437" cy="2149813"/>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 addition – the profilers confirm that true gaussians were created.</a:t>
            </a:r>
          </a:p>
          <a:p>
            <a:pPr algn="ctr"/>
            <a:r>
              <a:rPr lang="en-US" dirty="0"/>
              <a:t>Pay attention that I made sure that the created gaussians will be independent – AKA no overlapping or clipping – for preventing any chance of wrong counting!</a:t>
            </a:r>
          </a:p>
        </p:txBody>
      </p:sp>
      <p:pic>
        <p:nvPicPr>
          <p:cNvPr id="12" name="Picture 11" descr="A group of white dots&#10;&#10;Description automatically generated">
            <a:extLst>
              <a:ext uri="{FF2B5EF4-FFF2-40B4-BE49-F238E27FC236}">
                <a16:creationId xmlns:a16="http://schemas.microsoft.com/office/drawing/2014/main" id="{CF8A4935-241B-A49A-F75E-8B30330154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0812" y="1144739"/>
            <a:ext cx="3048000" cy="2286000"/>
          </a:xfrm>
          <a:prstGeom prst="rect">
            <a:avLst/>
          </a:prstGeom>
        </p:spPr>
      </p:pic>
      <p:pic>
        <p:nvPicPr>
          <p:cNvPr id="15" name="Picture 14">
            <a:extLst>
              <a:ext uri="{FF2B5EF4-FFF2-40B4-BE49-F238E27FC236}">
                <a16:creationId xmlns:a16="http://schemas.microsoft.com/office/drawing/2014/main" id="{5122089A-5ED7-AB4C-7A56-FA9DDE2A300D}"/>
              </a:ext>
            </a:extLst>
          </p:cNvPr>
          <p:cNvPicPr>
            <a:picLocks noChangeAspect="1"/>
          </p:cNvPicPr>
          <p:nvPr/>
        </p:nvPicPr>
        <p:blipFill>
          <a:blip r:embed="rId4"/>
          <a:stretch>
            <a:fillRect/>
          </a:stretch>
        </p:blipFill>
        <p:spPr>
          <a:xfrm>
            <a:off x="5763495" y="3544988"/>
            <a:ext cx="6428505" cy="824419"/>
          </a:xfrm>
          <a:prstGeom prst="rect">
            <a:avLst/>
          </a:prstGeom>
        </p:spPr>
      </p:pic>
      <p:cxnSp>
        <p:nvCxnSpPr>
          <p:cNvPr id="17" name="Straight Arrow Connector 16">
            <a:extLst>
              <a:ext uri="{FF2B5EF4-FFF2-40B4-BE49-F238E27FC236}">
                <a16:creationId xmlns:a16="http://schemas.microsoft.com/office/drawing/2014/main" id="{6717F84E-1225-B368-B613-BD0DAA743C29}"/>
              </a:ext>
            </a:extLst>
          </p:cNvPr>
          <p:cNvCxnSpPr/>
          <p:nvPr/>
        </p:nvCxnSpPr>
        <p:spPr>
          <a:xfrm flipV="1">
            <a:off x="7762672" y="4095345"/>
            <a:ext cx="136188" cy="797668"/>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8" name="Rectangle 17">
            <a:extLst>
              <a:ext uri="{FF2B5EF4-FFF2-40B4-BE49-F238E27FC236}">
                <a16:creationId xmlns:a16="http://schemas.microsoft.com/office/drawing/2014/main" id="{7D6923FA-AE2C-B6D6-4E55-A765424FE8A1}"/>
              </a:ext>
            </a:extLst>
          </p:cNvPr>
          <p:cNvSpPr/>
          <p:nvPr/>
        </p:nvSpPr>
        <p:spPr>
          <a:xfrm>
            <a:off x="6833681" y="4893013"/>
            <a:ext cx="1994170" cy="575619"/>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number I demanded!</a:t>
            </a:r>
            <a:endParaRPr lang="he-IL" dirty="0"/>
          </a:p>
        </p:txBody>
      </p:sp>
    </p:spTree>
    <p:extLst>
      <p:ext uri="{BB962C8B-B14F-4D97-AF65-F5344CB8AC3E}">
        <p14:creationId xmlns:p14="http://schemas.microsoft.com/office/powerpoint/2010/main" val="32275659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CB7FED9-20EF-BF61-B4D8-7D6C0717E52C}"/>
              </a:ext>
            </a:extLst>
          </p:cNvPr>
          <p:cNvSpPr>
            <a:spLocks noGrp="1"/>
          </p:cNvSpPr>
          <p:nvPr>
            <p:ph type="sldNum" sz="quarter" idx="12"/>
          </p:nvPr>
        </p:nvSpPr>
        <p:spPr>
          <a:xfrm>
            <a:off x="11668328" y="0"/>
            <a:ext cx="523672" cy="320675"/>
          </a:xfrm>
        </p:spPr>
        <p:txBody>
          <a:bodyPr/>
          <a:lstStyle/>
          <a:p>
            <a:fld id="{81122904-1B5F-4679-B3DC-5E87602DE7DA}" type="slidenum">
              <a:rPr lang="he-IL" smtClean="0"/>
              <a:t>14</a:t>
            </a:fld>
            <a:endParaRPr lang="he-IL"/>
          </a:p>
        </p:txBody>
      </p:sp>
      <p:sp>
        <p:nvSpPr>
          <p:cNvPr id="7" name="Title 1">
            <a:extLst>
              <a:ext uri="{FF2B5EF4-FFF2-40B4-BE49-F238E27FC236}">
                <a16:creationId xmlns:a16="http://schemas.microsoft.com/office/drawing/2014/main" id="{C0AF825C-47C3-69A5-42DC-8C2EA9960728}"/>
              </a:ext>
            </a:extLst>
          </p:cNvPr>
          <p:cNvSpPr txBox="1">
            <a:spLocks/>
          </p:cNvSpPr>
          <p:nvPr/>
        </p:nvSpPr>
        <p:spPr>
          <a:xfrm>
            <a:off x="1606685" y="0"/>
            <a:ext cx="8978630"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24.7 </a:t>
            </a:r>
            <a:r>
              <a:rPr lang="en-US" sz="2800" b="1" u="sng" dirty="0">
                <a:solidFill>
                  <a:srgbClr val="0070C0"/>
                </a:solidFill>
                <a:latin typeface="+mn-lt"/>
              </a:rPr>
              <a:t>– created images and the counting results – </a:t>
            </a:r>
            <a:r>
              <a:rPr lang="en-US" sz="2800" b="1" u="sng" dirty="0">
                <a:solidFill>
                  <a:srgbClr val="FF0000"/>
                </a:solidFill>
                <a:latin typeface="+mn-lt"/>
              </a:rPr>
              <a:t>part 2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9" name="Picture 8" descr="A group of cherry tomatoes&#10;&#10;Description automatically generated">
            <a:extLst>
              <a:ext uri="{FF2B5EF4-FFF2-40B4-BE49-F238E27FC236}">
                <a16:creationId xmlns:a16="http://schemas.microsoft.com/office/drawing/2014/main" id="{2E19636E-9CD2-5E1D-A825-2E8DB664E1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990668"/>
            <a:ext cx="3047619" cy="2285714"/>
          </a:xfrm>
          <a:prstGeom prst="rect">
            <a:avLst/>
          </a:prstGeom>
        </p:spPr>
      </p:pic>
      <p:sp>
        <p:nvSpPr>
          <p:cNvPr id="10" name="Rectangle 9">
            <a:extLst>
              <a:ext uri="{FF2B5EF4-FFF2-40B4-BE49-F238E27FC236}">
                <a16:creationId xmlns:a16="http://schemas.microsoft.com/office/drawing/2014/main" id="{BFFC8DBA-BE63-7DF7-7FD0-AF9CB4DED49A}"/>
              </a:ext>
            </a:extLst>
          </p:cNvPr>
          <p:cNvSpPr/>
          <p:nvPr/>
        </p:nvSpPr>
        <p:spPr>
          <a:xfrm>
            <a:off x="1275754" y="568393"/>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Image242_color.bmp</a:t>
            </a:r>
            <a:endParaRPr lang="he-IL" dirty="0"/>
          </a:p>
        </p:txBody>
      </p:sp>
      <p:pic>
        <p:nvPicPr>
          <p:cNvPr id="12" name="Picture 11">
            <a:extLst>
              <a:ext uri="{FF2B5EF4-FFF2-40B4-BE49-F238E27FC236}">
                <a16:creationId xmlns:a16="http://schemas.microsoft.com/office/drawing/2014/main" id="{88B6228A-51E4-CDF0-6AD6-4BDC72BA53F6}"/>
              </a:ext>
            </a:extLst>
          </p:cNvPr>
          <p:cNvPicPr>
            <a:picLocks noChangeAspect="1"/>
          </p:cNvPicPr>
          <p:nvPr/>
        </p:nvPicPr>
        <p:blipFill>
          <a:blip r:embed="rId3"/>
          <a:stretch>
            <a:fillRect/>
          </a:stretch>
        </p:blipFill>
        <p:spPr>
          <a:xfrm>
            <a:off x="1008240" y="3310767"/>
            <a:ext cx="2686265" cy="2020249"/>
          </a:xfrm>
          <a:prstGeom prst="rect">
            <a:avLst/>
          </a:prstGeom>
        </p:spPr>
      </p:pic>
      <p:sp>
        <p:nvSpPr>
          <p:cNvPr id="13" name="Arrow: Right 12">
            <a:extLst>
              <a:ext uri="{FF2B5EF4-FFF2-40B4-BE49-F238E27FC236}">
                <a16:creationId xmlns:a16="http://schemas.microsoft.com/office/drawing/2014/main" id="{7785E605-552C-D1D6-4187-952A3A379352}"/>
              </a:ext>
            </a:extLst>
          </p:cNvPr>
          <p:cNvSpPr/>
          <p:nvPr/>
        </p:nvSpPr>
        <p:spPr>
          <a:xfrm>
            <a:off x="0" y="1789889"/>
            <a:ext cx="914400" cy="5447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input</a:t>
            </a:r>
            <a:endParaRPr lang="he-IL" dirty="0"/>
          </a:p>
        </p:txBody>
      </p:sp>
      <p:sp>
        <p:nvSpPr>
          <p:cNvPr id="14" name="Arrow: Right 13">
            <a:extLst>
              <a:ext uri="{FF2B5EF4-FFF2-40B4-BE49-F238E27FC236}">
                <a16:creationId xmlns:a16="http://schemas.microsoft.com/office/drawing/2014/main" id="{1B720FA0-88B8-5F48-D8C2-266E30CF05EC}"/>
              </a:ext>
            </a:extLst>
          </p:cNvPr>
          <p:cNvSpPr/>
          <p:nvPr/>
        </p:nvSpPr>
        <p:spPr>
          <a:xfrm>
            <a:off x="4066161" y="1692613"/>
            <a:ext cx="2029839"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16" name="Picture 15" descr="A group of tomatoes on a white surface&#10;&#10;Description automatically generated">
            <a:extLst>
              <a:ext uri="{FF2B5EF4-FFF2-40B4-BE49-F238E27FC236}">
                <a16:creationId xmlns:a16="http://schemas.microsoft.com/office/drawing/2014/main" id="{8760B53F-B913-4926-28C6-8ABD4710575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06247" y="1010176"/>
            <a:ext cx="3048000" cy="2286000"/>
          </a:xfrm>
          <a:prstGeom prst="rect">
            <a:avLst/>
          </a:prstGeom>
        </p:spPr>
      </p:pic>
      <p:sp>
        <p:nvSpPr>
          <p:cNvPr id="17" name="Rectangle 16">
            <a:extLst>
              <a:ext uri="{FF2B5EF4-FFF2-40B4-BE49-F238E27FC236}">
                <a16:creationId xmlns:a16="http://schemas.microsoft.com/office/drawing/2014/main" id="{6E0213EC-3172-8056-B33D-A9C63724BD6A}"/>
              </a:ext>
            </a:extLst>
          </p:cNvPr>
          <p:cNvSpPr/>
          <p:nvPr/>
        </p:nvSpPr>
        <p:spPr>
          <a:xfrm>
            <a:off x="6567792" y="561435"/>
            <a:ext cx="2324910" cy="38789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Image242_gray.bmp</a:t>
            </a:r>
            <a:endParaRPr lang="he-IL" dirty="0"/>
          </a:p>
        </p:txBody>
      </p:sp>
      <p:sp>
        <p:nvSpPr>
          <p:cNvPr id="20" name="Arrow: Right 19">
            <a:extLst>
              <a:ext uri="{FF2B5EF4-FFF2-40B4-BE49-F238E27FC236}">
                <a16:creationId xmlns:a16="http://schemas.microsoft.com/office/drawing/2014/main" id="{DC2556DF-716A-4257-1364-C1144D6B34A5}"/>
              </a:ext>
            </a:extLst>
          </p:cNvPr>
          <p:cNvSpPr/>
          <p:nvPr/>
        </p:nvSpPr>
        <p:spPr>
          <a:xfrm rot="5400000">
            <a:off x="8398705" y="3623553"/>
            <a:ext cx="1156607" cy="6420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pic>
        <p:nvPicPr>
          <p:cNvPr id="24" name="Picture 23">
            <a:extLst>
              <a:ext uri="{FF2B5EF4-FFF2-40B4-BE49-F238E27FC236}">
                <a16:creationId xmlns:a16="http://schemas.microsoft.com/office/drawing/2014/main" id="{B6714FB7-C030-02DE-034D-740B5BB80DB0}"/>
              </a:ext>
            </a:extLst>
          </p:cNvPr>
          <p:cNvPicPr>
            <a:picLocks noChangeAspect="1"/>
          </p:cNvPicPr>
          <p:nvPr/>
        </p:nvPicPr>
        <p:blipFill rotWithShape="1">
          <a:blip r:embed="rId5"/>
          <a:srcRect t="14535" b="21366"/>
          <a:stretch/>
        </p:blipFill>
        <p:spPr>
          <a:xfrm>
            <a:off x="2774205" y="6439711"/>
            <a:ext cx="4956042" cy="291829"/>
          </a:xfrm>
          <a:prstGeom prst="rect">
            <a:avLst/>
          </a:prstGeom>
        </p:spPr>
      </p:pic>
      <p:sp>
        <p:nvSpPr>
          <p:cNvPr id="25" name="Arrow: Left-Right 24">
            <a:extLst>
              <a:ext uri="{FF2B5EF4-FFF2-40B4-BE49-F238E27FC236}">
                <a16:creationId xmlns:a16="http://schemas.microsoft.com/office/drawing/2014/main" id="{C0C47966-5D99-7A99-DF49-84C7E426DAE9}"/>
              </a:ext>
            </a:extLst>
          </p:cNvPr>
          <p:cNvSpPr/>
          <p:nvPr/>
        </p:nvSpPr>
        <p:spPr>
          <a:xfrm>
            <a:off x="7777264" y="6342433"/>
            <a:ext cx="796047" cy="486383"/>
          </a:xfrm>
          <a:prstGeom prst="leftRightArrow">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endParaRPr lang="he-IL"/>
          </a:p>
        </p:txBody>
      </p:sp>
      <p:sp>
        <p:nvSpPr>
          <p:cNvPr id="2" name="Rectangle 1">
            <a:extLst>
              <a:ext uri="{FF2B5EF4-FFF2-40B4-BE49-F238E27FC236}">
                <a16:creationId xmlns:a16="http://schemas.microsoft.com/office/drawing/2014/main" id="{B7F38D1C-C9AA-198D-E761-FFC3A730A424}"/>
              </a:ext>
            </a:extLst>
          </p:cNvPr>
          <p:cNvSpPr/>
          <p:nvPr/>
        </p:nvSpPr>
        <p:spPr>
          <a:xfrm>
            <a:off x="3694505" y="4980563"/>
            <a:ext cx="4802993" cy="112840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This is the result after applying the threshold algorithm– we did it for easier understanding of how to count the objects and how to distinguish the element from the background.</a:t>
            </a:r>
            <a:endParaRPr lang="he-IL" dirty="0"/>
          </a:p>
        </p:txBody>
      </p:sp>
      <p:pic>
        <p:nvPicPr>
          <p:cNvPr id="5" name="Picture 4" descr="A group of black circles&#10;&#10;Description automatically generated">
            <a:extLst>
              <a:ext uri="{FF2B5EF4-FFF2-40B4-BE49-F238E27FC236}">
                <a16:creationId xmlns:a16="http://schemas.microsoft.com/office/drawing/2014/main" id="{CF6A0983-0D26-0D10-B99F-0060B7FDF8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655996" y="4542818"/>
            <a:ext cx="3048000" cy="2286000"/>
          </a:xfrm>
          <a:prstGeom prst="rect">
            <a:avLst/>
          </a:prstGeom>
          <a:ln>
            <a:solidFill>
              <a:schemeClr val="accent1"/>
            </a:solidFill>
          </a:ln>
        </p:spPr>
      </p:pic>
    </p:spTree>
    <p:extLst>
      <p:ext uri="{BB962C8B-B14F-4D97-AF65-F5344CB8AC3E}">
        <p14:creationId xmlns:p14="http://schemas.microsoft.com/office/powerpoint/2010/main" val="27759795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B64A9E7-1774-D09A-D15F-662AA275F0E5}"/>
              </a:ext>
            </a:extLst>
          </p:cNvPr>
          <p:cNvSpPr>
            <a:spLocks noGrp="1"/>
          </p:cNvSpPr>
          <p:nvPr>
            <p:ph type="sldNum" sz="quarter" idx="12"/>
          </p:nvPr>
        </p:nvSpPr>
        <p:spPr>
          <a:xfrm>
            <a:off x="11804515" y="0"/>
            <a:ext cx="387485" cy="379041"/>
          </a:xfrm>
        </p:spPr>
        <p:txBody>
          <a:bodyPr/>
          <a:lstStyle/>
          <a:p>
            <a:fld id="{81122904-1B5F-4679-B3DC-5E87602DE7DA}" type="slidenum">
              <a:rPr lang="he-IL" smtClean="0"/>
              <a:t>15</a:t>
            </a:fld>
            <a:endParaRPr lang="he-IL"/>
          </a:p>
        </p:txBody>
      </p:sp>
      <p:sp>
        <p:nvSpPr>
          <p:cNvPr id="7" name="Title 1">
            <a:extLst>
              <a:ext uri="{FF2B5EF4-FFF2-40B4-BE49-F238E27FC236}">
                <a16:creationId xmlns:a16="http://schemas.microsoft.com/office/drawing/2014/main" id="{AED5F5AC-16B6-F5CB-80F3-FB4E4A015A26}"/>
              </a:ext>
            </a:extLst>
          </p:cNvPr>
          <p:cNvSpPr txBox="1">
            <a:spLocks/>
          </p:cNvSpPr>
          <p:nvPr/>
        </p:nvSpPr>
        <p:spPr>
          <a:xfrm>
            <a:off x="2847772" y="-70526"/>
            <a:ext cx="6496455"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created images' profiles– </a:t>
            </a:r>
            <a:r>
              <a:rPr lang="en-US" sz="2800" b="1" u="sng" dirty="0">
                <a:solidFill>
                  <a:srgbClr val="FF0000"/>
                </a:solidFill>
                <a:latin typeface="+mn-lt"/>
              </a:rPr>
              <a:t>part 1 </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pic>
        <p:nvPicPr>
          <p:cNvPr id="5" name="Picture 4">
            <a:extLst>
              <a:ext uri="{FF2B5EF4-FFF2-40B4-BE49-F238E27FC236}">
                <a16:creationId xmlns:a16="http://schemas.microsoft.com/office/drawing/2014/main" id="{707E52BC-9A3A-16D7-3197-A585D1B9EDC5}"/>
              </a:ext>
            </a:extLst>
          </p:cNvPr>
          <p:cNvPicPr>
            <a:picLocks noChangeAspect="1"/>
          </p:cNvPicPr>
          <p:nvPr/>
        </p:nvPicPr>
        <p:blipFill>
          <a:blip r:embed="rId2"/>
          <a:stretch>
            <a:fillRect/>
          </a:stretch>
        </p:blipFill>
        <p:spPr>
          <a:xfrm>
            <a:off x="154629" y="552652"/>
            <a:ext cx="6370578" cy="2876348"/>
          </a:xfrm>
          <a:prstGeom prst="rect">
            <a:avLst/>
          </a:prstGeom>
        </p:spPr>
      </p:pic>
      <p:pic>
        <p:nvPicPr>
          <p:cNvPr id="9" name="Picture 8">
            <a:extLst>
              <a:ext uri="{FF2B5EF4-FFF2-40B4-BE49-F238E27FC236}">
                <a16:creationId xmlns:a16="http://schemas.microsoft.com/office/drawing/2014/main" id="{F267407E-69D0-5BC6-8DAB-69DE135D984B}"/>
              </a:ext>
            </a:extLst>
          </p:cNvPr>
          <p:cNvPicPr>
            <a:picLocks noChangeAspect="1"/>
          </p:cNvPicPr>
          <p:nvPr/>
        </p:nvPicPr>
        <p:blipFill>
          <a:blip r:embed="rId3"/>
          <a:stretch>
            <a:fillRect/>
          </a:stretch>
        </p:blipFill>
        <p:spPr>
          <a:xfrm>
            <a:off x="6839356" y="701000"/>
            <a:ext cx="3124200" cy="2343150"/>
          </a:xfrm>
          <a:prstGeom prst="rect">
            <a:avLst/>
          </a:prstGeom>
        </p:spPr>
      </p:pic>
      <p:pic>
        <p:nvPicPr>
          <p:cNvPr id="13" name="Picture 12">
            <a:extLst>
              <a:ext uri="{FF2B5EF4-FFF2-40B4-BE49-F238E27FC236}">
                <a16:creationId xmlns:a16="http://schemas.microsoft.com/office/drawing/2014/main" id="{C1385A0E-1B67-6CF1-E49C-3675AF84DE75}"/>
              </a:ext>
            </a:extLst>
          </p:cNvPr>
          <p:cNvPicPr>
            <a:picLocks noChangeAspect="1"/>
          </p:cNvPicPr>
          <p:nvPr/>
        </p:nvPicPr>
        <p:blipFill>
          <a:blip r:embed="rId4"/>
          <a:stretch>
            <a:fillRect/>
          </a:stretch>
        </p:blipFill>
        <p:spPr>
          <a:xfrm>
            <a:off x="6839356" y="4032825"/>
            <a:ext cx="3095625" cy="2352675"/>
          </a:xfrm>
          <a:prstGeom prst="rect">
            <a:avLst/>
          </a:prstGeom>
        </p:spPr>
      </p:pic>
      <p:pic>
        <p:nvPicPr>
          <p:cNvPr id="15" name="Picture 14">
            <a:extLst>
              <a:ext uri="{FF2B5EF4-FFF2-40B4-BE49-F238E27FC236}">
                <a16:creationId xmlns:a16="http://schemas.microsoft.com/office/drawing/2014/main" id="{1C4C75C7-6933-C629-8CC5-7B63C53E6B12}"/>
              </a:ext>
            </a:extLst>
          </p:cNvPr>
          <p:cNvPicPr>
            <a:picLocks noChangeAspect="1"/>
          </p:cNvPicPr>
          <p:nvPr/>
        </p:nvPicPr>
        <p:blipFill>
          <a:blip r:embed="rId5"/>
          <a:stretch>
            <a:fillRect/>
          </a:stretch>
        </p:blipFill>
        <p:spPr>
          <a:xfrm>
            <a:off x="157669" y="3921378"/>
            <a:ext cx="6367538" cy="2785134"/>
          </a:xfrm>
          <a:prstGeom prst="rect">
            <a:avLst/>
          </a:prstGeom>
        </p:spPr>
      </p:pic>
      <p:cxnSp>
        <p:nvCxnSpPr>
          <p:cNvPr id="18" name="Straight Arrow Connector 17">
            <a:extLst>
              <a:ext uri="{FF2B5EF4-FFF2-40B4-BE49-F238E27FC236}">
                <a16:creationId xmlns:a16="http://schemas.microsoft.com/office/drawing/2014/main" id="{A1777C56-2780-1278-1E96-9855EC85E4CC}"/>
              </a:ext>
            </a:extLst>
          </p:cNvPr>
          <p:cNvCxnSpPr>
            <a:cxnSpLocks/>
          </p:cNvCxnSpPr>
          <p:nvPr/>
        </p:nvCxnSpPr>
        <p:spPr>
          <a:xfrm flipV="1">
            <a:off x="7244755" y="2733472"/>
            <a:ext cx="605466" cy="752121"/>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63E0F6E7-97DB-621D-7FD9-63F74EA29366}"/>
              </a:ext>
            </a:extLst>
          </p:cNvPr>
          <p:cNvCxnSpPr>
            <a:cxnSpLocks/>
          </p:cNvCxnSpPr>
          <p:nvPr/>
        </p:nvCxnSpPr>
        <p:spPr>
          <a:xfrm>
            <a:off x="7159557" y="3813851"/>
            <a:ext cx="85198" cy="783787"/>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7FC624AB-BED8-0C67-DF4C-3F5EB1C96F24}"/>
              </a:ext>
            </a:extLst>
          </p:cNvPr>
          <p:cNvSpPr/>
          <p:nvPr/>
        </p:nvSpPr>
        <p:spPr>
          <a:xfrm>
            <a:off x="6692630" y="3429000"/>
            <a:ext cx="1935804" cy="384851"/>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1" anchor="ctr"/>
          <a:lstStyle/>
          <a:p>
            <a:pPr algn="ctr"/>
            <a:r>
              <a:rPr lang="en-US" dirty="0"/>
              <a:t>Inspection points</a:t>
            </a:r>
            <a:endParaRPr lang="he-IL" dirty="0"/>
          </a:p>
        </p:txBody>
      </p:sp>
    </p:spTree>
    <p:extLst>
      <p:ext uri="{BB962C8B-B14F-4D97-AF65-F5344CB8AC3E}">
        <p14:creationId xmlns:p14="http://schemas.microsoft.com/office/powerpoint/2010/main" val="28683589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8D5C01DF-E57C-DC15-BFA4-3D73DD41FDE9}"/>
              </a:ext>
            </a:extLst>
          </p:cNvPr>
          <p:cNvSpPr>
            <a:spLocks noGrp="1"/>
          </p:cNvSpPr>
          <p:nvPr>
            <p:ph type="sldNum" sz="quarter" idx="12"/>
          </p:nvPr>
        </p:nvSpPr>
        <p:spPr>
          <a:xfrm>
            <a:off x="11697511" y="0"/>
            <a:ext cx="494489" cy="365125"/>
          </a:xfrm>
        </p:spPr>
        <p:txBody>
          <a:bodyPr/>
          <a:lstStyle/>
          <a:p>
            <a:fld id="{81122904-1B5F-4679-B3DC-5E87602DE7DA}" type="slidenum">
              <a:rPr lang="he-IL" sz="1400" smtClean="0"/>
              <a:t>16</a:t>
            </a:fld>
            <a:endParaRPr lang="he-IL" sz="1400"/>
          </a:p>
        </p:txBody>
      </p:sp>
      <p:sp>
        <p:nvSpPr>
          <p:cNvPr id="5" name="Content Placeholder 2">
            <a:extLst>
              <a:ext uri="{FF2B5EF4-FFF2-40B4-BE49-F238E27FC236}">
                <a16:creationId xmlns:a16="http://schemas.microsoft.com/office/drawing/2014/main" id="{238DA895-B942-3435-647E-3F0F2C7AD902}"/>
              </a:ext>
            </a:extLst>
          </p:cNvPr>
          <p:cNvSpPr>
            <a:spLocks noGrp="1"/>
          </p:cNvSpPr>
          <p:nvPr>
            <p:ph idx="1"/>
          </p:nvPr>
        </p:nvSpPr>
        <p:spPr>
          <a:xfrm>
            <a:off x="1770299" y="854497"/>
            <a:ext cx="8651401" cy="1966524"/>
          </a:xfrm>
        </p:spPr>
        <p:style>
          <a:lnRef idx="0">
            <a:schemeClr val="accent2"/>
          </a:lnRef>
          <a:fillRef idx="3">
            <a:schemeClr val="accent2"/>
          </a:fillRef>
          <a:effectRef idx="3">
            <a:schemeClr val="accent2"/>
          </a:effectRef>
          <a:fontRef idx="minor">
            <a:schemeClr val="lt1"/>
          </a:fontRef>
        </p:style>
        <p:txBody>
          <a:bodyPr>
            <a:normAutofit fontScale="85000" lnSpcReduction="20000"/>
          </a:bodyPr>
          <a:lstStyle/>
          <a:p>
            <a:pPr marL="342900" indent="-342900" algn="l" rtl="0">
              <a:buAutoNum type="arabicPeriod"/>
            </a:pPr>
            <a:r>
              <a:rPr lang="en-US" dirty="0"/>
              <a:t>We learned how to count similar objects with </a:t>
            </a:r>
            <a:r>
              <a:rPr lang="en-US"/>
              <a:t>similar shape and color </a:t>
            </a:r>
            <a:r>
              <a:rPr lang="en-US" dirty="0"/>
              <a:t>in a photo using binary threshold method (under known background)</a:t>
            </a:r>
            <a:endParaRPr lang="he-IL" dirty="0"/>
          </a:p>
          <a:p>
            <a:pPr algn="l" rtl="0">
              <a:buNone/>
            </a:pPr>
            <a:r>
              <a:rPr lang="en-US" dirty="0"/>
              <a:t>2. We learned how to use uniform distribution for getting random values</a:t>
            </a:r>
          </a:p>
          <a:p>
            <a:pPr algn="l" rtl="0">
              <a:buNone/>
            </a:pPr>
            <a:r>
              <a:rPr lang="en-US" dirty="0"/>
              <a:t>3. We learned how to create random gaussians</a:t>
            </a:r>
          </a:p>
          <a:p>
            <a:pPr algn="l" rtl="0">
              <a:buNone/>
            </a:pPr>
            <a:endParaRPr lang="he-IL" dirty="0">
              <a:solidFill>
                <a:srgbClr val="FF0000"/>
              </a:solidFill>
            </a:endParaRPr>
          </a:p>
        </p:txBody>
      </p:sp>
      <p:sp>
        <p:nvSpPr>
          <p:cNvPr id="6" name="Title 1">
            <a:extLst>
              <a:ext uri="{FF2B5EF4-FFF2-40B4-BE49-F238E27FC236}">
                <a16:creationId xmlns:a16="http://schemas.microsoft.com/office/drawing/2014/main" id="{8A284EDE-BCB6-518E-BA0F-3634CA3B832C}"/>
              </a:ext>
            </a:extLst>
          </p:cNvPr>
          <p:cNvSpPr txBox="1">
            <a:spLocks/>
          </p:cNvSpPr>
          <p:nvPr/>
        </p:nvSpPr>
        <p:spPr>
          <a:xfrm>
            <a:off x="3839993" y="105079"/>
            <a:ext cx="4331241" cy="520092"/>
          </a:xfrm>
          <a:prstGeom prst="rect">
            <a:avLst/>
          </a:prstGeom>
        </p:spPr>
        <p:txBody>
          <a:bodyPr vert="horz" lIns="91440" tIns="45720" rIns="91440" bIns="45720" rtlCol="1" anchor="ctr">
            <a:norm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1" i="0" u="sng" strike="noStrike" kern="1200" cap="none" spc="0" normalizeH="0" baseline="0" noProof="0" dirty="0">
                <a:ln>
                  <a:noFill/>
                </a:ln>
                <a:solidFill>
                  <a:srgbClr val="0070C0"/>
                </a:solidFill>
                <a:effectLst/>
                <a:uLnTx/>
                <a:uFillTx/>
                <a:latin typeface="+mj-lt"/>
                <a:ea typeface="+mj-ea"/>
                <a:cs typeface="+mj-cs"/>
              </a:rPr>
              <a:t>24.8 </a:t>
            </a:r>
            <a:r>
              <a:rPr lang="en-US" sz="2800" b="1" u="sng" dirty="0">
                <a:solidFill>
                  <a:srgbClr val="0070C0"/>
                </a:solidFill>
                <a:latin typeface="+mn-lt"/>
              </a:rPr>
              <a:t>– what did we learn?</a:t>
            </a:r>
            <a:endParaRPr kumimoji="0" lang="en-US" sz="2800" b="1" i="0" u="sng" strike="noStrike" kern="1200" cap="none" spc="0" normalizeH="0" baseline="0" noProof="0" dirty="0">
              <a:ln>
                <a:noFill/>
              </a:ln>
              <a:solidFill>
                <a:srgbClr val="FF0000"/>
              </a:solidFill>
              <a:effectLst/>
              <a:uLnTx/>
              <a:uFillTx/>
              <a:latin typeface="+mj-lt"/>
              <a:ea typeface="+mj-ea"/>
              <a:cs typeface="+mj-cs"/>
            </a:endParaRPr>
          </a:p>
        </p:txBody>
      </p:sp>
    </p:spTree>
    <p:extLst>
      <p:ext uri="{BB962C8B-B14F-4D97-AF65-F5344CB8AC3E}">
        <p14:creationId xmlns:p14="http://schemas.microsoft.com/office/powerpoint/2010/main" val="15749233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2016</TotalTime>
  <Words>994</Words>
  <Application>Microsoft Office PowerPoint</Application>
  <PresentationFormat>Widescreen</PresentationFormat>
  <Paragraphs>97</Paragraphs>
  <Slides>16</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Aptos</vt:lpstr>
      <vt:lpstr>Aptos Display</vt:lpstr>
      <vt:lpstr>Arial</vt:lpstr>
      <vt:lpstr>Cambria Math</vt:lpstr>
      <vt:lpstr>Office Theme</vt:lpstr>
      <vt:lpstr>Course: Image Processing 31651 Assignment #24 Pixel to Pixel Operations (Part 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omri pony</dc:creator>
  <cp:lastModifiedBy>omri pony</cp:lastModifiedBy>
  <cp:revision>26</cp:revision>
  <dcterms:created xsi:type="dcterms:W3CDTF">2024-07-25T10:37:35Z</dcterms:created>
  <dcterms:modified xsi:type="dcterms:W3CDTF">2024-08-15T09:43:38Z</dcterms:modified>
</cp:coreProperties>
</file>