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58" r:id="rId3"/>
    <p:sldId id="259" r:id="rId4"/>
    <p:sldId id="260" r:id="rId5"/>
    <p:sldId id="288" r:id="rId6"/>
    <p:sldId id="28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E687A6BE-6B40-4876-A71E-964C5C1B790A}" type="datetimeFigureOut">
              <a:rPr lang="he-IL" smtClean="0"/>
              <a:t>י"ז/אב/תשפ"ד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4163BB08-072F-4A32-B43D-B380A3784E1F}" type="slidenum">
              <a:rPr lang="he-IL" smtClean="0"/>
              <a:t>‹#›</a:t>
            </a:fld>
            <a:endParaRPr lang="he-IL"/>
          </a:p>
        </p:txBody>
      </p:sp>
    </p:spTree>
    <p:extLst>
      <p:ext uri="{BB962C8B-B14F-4D97-AF65-F5344CB8AC3E}">
        <p14:creationId xmlns:p14="http://schemas.microsoft.com/office/powerpoint/2010/main" val="428207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3</a:t>
            </a:fld>
            <a:endParaRPr lang="he-IL"/>
          </a:p>
        </p:txBody>
      </p:sp>
    </p:spTree>
    <p:extLst>
      <p:ext uri="{BB962C8B-B14F-4D97-AF65-F5344CB8AC3E}">
        <p14:creationId xmlns:p14="http://schemas.microsoft.com/office/powerpoint/2010/main" val="345090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5</a:t>
            </a:fld>
            <a:endParaRPr lang="he-IL"/>
          </a:p>
        </p:txBody>
      </p:sp>
    </p:spTree>
    <p:extLst>
      <p:ext uri="{BB962C8B-B14F-4D97-AF65-F5344CB8AC3E}">
        <p14:creationId xmlns:p14="http://schemas.microsoft.com/office/powerpoint/2010/main" val="39864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26FF2-8D14-F99C-D58F-717A4E984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DDC57680-4C6F-E747-2BDF-8590B41E54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D147D3ED-9530-B34D-9562-34E1A8A87C0E}"/>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A4EE62B1-CCE0-D4C1-477A-2F7540C99A2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DF73B8B-3958-F4EA-2519-77C95235D287}"/>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297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E1A5-49D9-41EB-A79F-DA16EBDDFD4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C71FA8F-FA0A-B244-0C9C-E196FE763E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C860A2DD-4915-F5A0-3242-BD8F3427D000}"/>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635F7590-7F70-50A3-F326-D9FAFD5B4987}"/>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C94C236-30FC-7FAD-2435-84043BB88BDB}"/>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160350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E4A1-4FF8-5740-5CF1-0833969FEF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001AE398-F7B2-5EE4-8ECF-E2D8306980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A7F804-01D5-A924-1FBB-0D59240D53D1}"/>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ACC949D2-7FD3-ACE3-408F-D40BC23AA2B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BCE0599-5AF5-935E-C506-F7961BF79030}"/>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49422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82C5-CD86-584C-DE57-631798958BDF}"/>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9480EA4-E2DB-9CA1-192F-ED36A5E160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EF6AD8F-029C-B90E-6A8D-66716A9F91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9C2C5F17-BA1D-0623-A7FC-BCF8E34E2959}"/>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6" name="Footer Placeholder 5">
            <a:extLst>
              <a:ext uri="{FF2B5EF4-FFF2-40B4-BE49-F238E27FC236}">
                <a16:creationId xmlns:a16="http://schemas.microsoft.com/office/drawing/2014/main" id="{56E86B00-FE9B-6F48-D394-F57CA3CFCAF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115EEB3-8BC0-306A-405C-8D19049F17FE}"/>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98380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0307-08AA-4771-3889-D6A00DEF190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FF60422-8AF7-4553-A185-3E8DDC489D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96D6A0-CC8C-4CBF-2306-A0F19865A0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8D7841F-9996-1C5D-C683-23E12A7301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AB1BEB-943F-0A13-1285-D27C6E74B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F91462BD-B39C-0419-6541-CD4C2D02E65F}"/>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8" name="Footer Placeholder 7">
            <a:extLst>
              <a:ext uri="{FF2B5EF4-FFF2-40B4-BE49-F238E27FC236}">
                <a16:creationId xmlns:a16="http://schemas.microsoft.com/office/drawing/2014/main" id="{228DD70C-4D8B-3B2B-AC64-B1361A8099CD}"/>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DE14C33E-5AFE-8F81-8C5A-5CB09E18F7A3}"/>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689450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A66A-AB61-5E96-92DD-C7A08869AC5D}"/>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0A727257-5FB4-5023-3B78-B1B1BE2474BB}"/>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4" name="Footer Placeholder 3">
            <a:extLst>
              <a:ext uri="{FF2B5EF4-FFF2-40B4-BE49-F238E27FC236}">
                <a16:creationId xmlns:a16="http://schemas.microsoft.com/office/drawing/2014/main" id="{A70828C7-D99A-94FB-912B-6C2A292EFC7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9719A4D-3AE8-9522-0F70-A790ADEE1C96}"/>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177145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F6D2A-BDB6-7FC4-76D1-A80D4CB94857}"/>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3" name="Footer Placeholder 2">
            <a:extLst>
              <a:ext uri="{FF2B5EF4-FFF2-40B4-BE49-F238E27FC236}">
                <a16:creationId xmlns:a16="http://schemas.microsoft.com/office/drawing/2014/main" id="{DF8A1A6C-F074-D970-2450-0E1FDA9BBBCB}"/>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E61688E3-E8D2-DAEC-FA30-CF49AF493C13}"/>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4152324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B787-B2EF-8F1D-27D1-C95E55DB7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9252263F-CA78-4885-BCF8-BD978E6E71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C803C21-04CD-0817-23E9-F4CA539482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B864-6AFF-4E99-2348-6DE71F3E73BC}"/>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6" name="Footer Placeholder 5">
            <a:extLst>
              <a:ext uri="{FF2B5EF4-FFF2-40B4-BE49-F238E27FC236}">
                <a16:creationId xmlns:a16="http://schemas.microsoft.com/office/drawing/2014/main" id="{2D7A018A-0709-4077-5284-24785BFB82FC}"/>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F6F27777-E42C-6467-78E0-6B33DE26D984}"/>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22465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0663-4F4D-5AE7-4917-C4A443561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BD94AD4A-5A97-527A-94FE-425C0DC067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8ADD5137-97D5-5110-513F-6DECF5E6E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28E252-0737-6BE1-F68A-E6339B96E212}"/>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6" name="Footer Placeholder 5">
            <a:extLst>
              <a:ext uri="{FF2B5EF4-FFF2-40B4-BE49-F238E27FC236}">
                <a16:creationId xmlns:a16="http://schemas.microsoft.com/office/drawing/2014/main" id="{13DE43ED-0126-D0FC-9298-D4035A4E8BA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14D6086-3337-3385-A06F-977936F95FB7}"/>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73952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D61C-C682-0D7D-2D3B-034F1A2156DD}"/>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196E05F0-8426-30CE-DD23-AE5389C6F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C7AB35D-A822-329B-05F2-5FADCAF4F604}"/>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C5C3F99E-FE0C-C22C-3F74-46EF94178C2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DA61744F-C536-8045-19B7-7836EF9D066E}"/>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009842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0FEEBA-D611-918C-67E5-7DFDEDCA12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763F4CB8-5C1C-11BE-8890-2E80A91E18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27490B6-4EAD-9CD8-8407-5A4802CFE232}"/>
              </a:ext>
            </a:extLst>
          </p:cNvPr>
          <p:cNvSpPr>
            <a:spLocks noGrp="1"/>
          </p:cNvSpPr>
          <p:nvPr>
            <p:ph type="dt" sz="half" idx="10"/>
          </p:nvPr>
        </p:nvSpPr>
        <p:spPr/>
        <p:txBody>
          <a:body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BD18B7A9-FD1B-953C-3013-3DD5530CF0A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44F8676-C247-CF9A-8156-56BF624BE7C8}"/>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1201504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953A77-B665-E4DF-B8A0-A283DB083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498950DA-8335-4AA3-B28B-D318B128C6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D3E7BCE-12FF-E19A-77F8-7D08FB8255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D837E2-37D5-4833-9345-4D93E085864D}" type="datetimeFigureOut">
              <a:rPr lang="he-IL" smtClean="0"/>
              <a:t>י"ז/אב/תשפ"ד</a:t>
            </a:fld>
            <a:endParaRPr lang="he-IL"/>
          </a:p>
        </p:txBody>
      </p:sp>
      <p:sp>
        <p:nvSpPr>
          <p:cNvPr id="5" name="Footer Placeholder 4">
            <a:extLst>
              <a:ext uri="{FF2B5EF4-FFF2-40B4-BE49-F238E27FC236}">
                <a16:creationId xmlns:a16="http://schemas.microsoft.com/office/drawing/2014/main" id="{0CCD66EF-45F8-EF43-317B-E6911180E0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136033FB-FDA9-AF14-8116-08B629A72B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59F542-7798-4398-84FF-BFF3125C04BE}" type="slidenum">
              <a:rPr lang="he-IL" smtClean="0"/>
              <a:t>‹#›</a:t>
            </a:fld>
            <a:endParaRPr lang="he-IL"/>
          </a:p>
        </p:txBody>
      </p:sp>
    </p:spTree>
    <p:extLst>
      <p:ext uri="{BB962C8B-B14F-4D97-AF65-F5344CB8AC3E}">
        <p14:creationId xmlns:p14="http://schemas.microsoft.com/office/powerpoint/2010/main" val="126155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89040994-C98F-94F7-5C25-8286D3B11EAF}"/>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a:t>
            </a:fld>
            <a:endParaRPr lang="he-IL" sz="1600" dirty="0"/>
          </a:p>
        </p:txBody>
      </p:sp>
      <p:graphicFrame>
        <p:nvGraphicFramePr>
          <p:cNvPr id="2" name="Table 1">
            <a:extLst>
              <a:ext uri="{FF2B5EF4-FFF2-40B4-BE49-F238E27FC236}">
                <a16:creationId xmlns:a16="http://schemas.microsoft.com/office/drawing/2014/main" id="{67320C74-0170-4209-911A-2E86279BDFC0}"/>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8" name="Picture 7" descr="A person in a uniform&#10;&#10;Description automatically generated">
            <a:extLst>
              <a:ext uri="{FF2B5EF4-FFF2-40B4-BE49-F238E27FC236}">
                <a16:creationId xmlns:a16="http://schemas.microsoft.com/office/drawing/2014/main" id="{838ECAA4-F6D6-5E3A-5583-2F9291A3A117}"/>
              </a:ext>
            </a:extLst>
          </p:cNvPr>
          <p:cNvPicPr>
            <a:picLocks noChangeAspect="1"/>
          </p:cNvPicPr>
          <p:nvPr/>
        </p:nvPicPr>
        <p:blipFill>
          <a:blip r:embed="rId2"/>
          <a:stretch>
            <a:fillRect/>
          </a:stretch>
        </p:blipFill>
        <p:spPr>
          <a:xfrm>
            <a:off x="6095999" y="4626893"/>
            <a:ext cx="1462391" cy="2065735"/>
          </a:xfrm>
          <a:prstGeom prst="rect">
            <a:avLst/>
          </a:prstGeom>
        </p:spPr>
      </p:pic>
      <p:pic>
        <p:nvPicPr>
          <p:cNvPr id="9" name="Picture 8">
            <a:extLst>
              <a:ext uri="{FF2B5EF4-FFF2-40B4-BE49-F238E27FC236}">
                <a16:creationId xmlns:a16="http://schemas.microsoft.com/office/drawing/2014/main" id="{4EBBE035-C93B-E94B-34FB-B9C3495FD497}"/>
              </a:ext>
            </a:extLst>
          </p:cNvPr>
          <p:cNvPicPr>
            <a:picLocks noChangeAspect="1"/>
          </p:cNvPicPr>
          <p:nvPr/>
        </p:nvPicPr>
        <p:blipFill>
          <a:blip r:embed="rId3"/>
          <a:stretch>
            <a:fillRect/>
          </a:stretch>
        </p:blipFill>
        <p:spPr>
          <a:xfrm>
            <a:off x="6095999" y="1608294"/>
            <a:ext cx="1550593" cy="2065735"/>
          </a:xfrm>
          <a:prstGeom prst="rect">
            <a:avLst/>
          </a:prstGeom>
        </p:spPr>
      </p:pic>
      <p:sp>
        <p:nvSpPr>
          <p:cNvPr id="14" name="Google Shape;55;p13">
            <a:extLst>
              <a:ext uri="{FF2B5EF4-FFF2-40B4-BE49-F238E27FC236}">
                <a16:creationId xmlns:a16="http://schemas.microsoft.com/office/drawing/2014/main" id="{4866D37C-A415-8616-52D0-7A47A0869F94}"/>
              </a:ext>
            </a:extLst>
          </p:cNvPr>
          <p:cNvSpPr txBox="1"/>
          <p:nvPr/>
        </p:nvSpPr>
        <p:spPr>
          <a:xfrm>
            <a:off x="2227435" y="-49285"/>
            <a:ext cx="7288042" cy="1409429"/>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Course: Image Processing 31651</a:t>
            </a:r>
            <a:br>
              <a:rPr lang="en" sz="2800" b="1" u="sng" dirty="0">
                <a:solidFill>
                  <a:srgbClr val="0070C0"/>
                </a:solidFill>
              </a:rPr>
            </a:br>
            <a:r>
              <a:rPr lang="en" sz="2800" b="1" u="sng" dirty="0">
                <a:solidFill>
                  <a:srgbClr val="0070C0"/>
                </a:solidFill>
              </a:rPr>
              <a:t>Micro Project 2 (MP2) : </a:t>
            </a:r>
            <a:r>
              <a:rPr lang="en-US" sz="2800" b="1" u="sng" dirty="0">
                <a:solidFill>
                  <a:srgbClr val="0070C0"/>
                </a:solidFill>
              </a:rPr>
              <a:t>Usage of Filtration</a:t>
            </a:r>
            <a:endParaRPr lang="en-US" sz="2800" b="1" u="sng" dirty="0">
              <a:solidFill>
                <a:srgbClr val="FF0000"/>
              </a:solidFill>
            </a:endParaRPr>
          </a:p>
          <a:p>
            <a:pPr algn="ctr"/>
            <a:r>
              <a:rPr lang="en-US" sz="2533" b="1" u="sng" dirty="0">
                <a:solidFill>
                  <a:srgbClr val="00B050"/>
                </a:solidFill>
              </a:rPr>
              <a:t>Date of submission : </a:t>
            </a:r>
            <a:endParaRPr sz="2533" b="1" u="sng" dirty="0">
              <a:solidFill>
                <a:srgbClr val="00B050"/>
              </a:solidFill>
            </a:endParaRPr>
          </a:p>
        </p:txBody>
      </p:sp>
      <p:pic>
        <p:nvPicPr>
          <p:cNvPr id="4" name="Picture 3" descr="A person taking a selfie in front of a building&#10;&#10;Description automatically generated">
            <a:extLst>
              <a:ext uri="{FF2B5EF4-FFF2-40B4-BE49-F238E27FC236}">
                <a16:creationId xmlns:a16="http://schemas.microsoft.com/office/drawing/2014/main" id="{00285330-5EA4-017A-44A0-51C3C73C45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8481750" y="3497546"/>
            <a:ext cx="2067455" cy="1550592"/>
          </a:xfrm>
          <a:prstGeom prst="rect">
            <a:avLst/>
          </a:prstGeom>
        </p:spPr>
      </p:pic>
    </p:spTree>
    <p:extLst>
      <p:ext uri="{BB962C8B-B14F-4D97-AF65-F5344CB8AC3E}">
        <p14:creationId xmlns:p14="http://schemas.microsoft.com/office/powerpoint/2010/main" val="283277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6392972-A889-3803-4C29-56F22A5793E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a:t>
            </a:fld>
            <a:endParaRPr lang="he-IL" sz="1600" dirty="0"/>
          </a:p>
        </p:txBody>
      </p:sp>
      <p:sp>
        <p:nvSpPr>
          <p:cNvPr id="5" name="Google Shape;60;p14">
            <a:extLst>
              <a:ext uri="{FF2B5EF4-FFF2-40B4-BE49-F238E27FC236}">
                <a16:creationId xmlns:a16="http://schemas.microsoft.com/office/drawing/2014/main" id="{63855DA2-D8CF-89D9-A572-8C80B7AD36BA}"/>
              </a:ext>
            </a:extLst>
          </p:cNvPr>
          <p:cNvSpPr txBox="1"/>
          <p:nvPr/>
        </p:nvSpPr>
        <p:spPr>
          <a:xfrm>
            <a:off x="705661" y="0"/>
            <a:ext cx="10780678" cy="639031"/>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Micro Project 2 (MP2) : </a:t>
            </a:r>
            <a:r>
              <a:rPr lang="en-US" sz="2800" b="1" u="sng" dirty="0">
                <a:solidFill>
                  <a:srgbClr val="0070C0"/>
                </a:solidFill>
              </a:rPr>
              <a:t>Usage of Filtration – </a:t>
            </a:r>
            <a:r>
              <a:rPr lang="en-US" sz="2800" b="1" u="sng" dirty="0">
                <a:solidFill>
                  <a:srgbClr val="FF0000"/>
                </a:solidFill>
              </a:rPr>
              <a:t>the given task: (part 1)</a:t>
            </a:r>
          </a:p>
        </p:txBody>
      </p:sp>
      <p:pic>
        <p:nvPicPr>
          <p:cNvPr id="7" name="Picture 6">
            <a:extLst>
              <a:ext uri="{FF2B5EF4-FFF2-40B4-BE49-F238E27FC236}">
                <a16:creationId xmlns:a16="http://schemas.microsoft.com/office/drawing/2014/main" id="{EF8C263D-29AC-92A1-CA0D-FC3C0E937AC5}"/>
              </a:ext>
            </a:extLst>
          </p:cNvPr>
          <p:cNvPicPr>
            <a:picLocks noChangeAspect="1"/>
          </p:cNvPicPr>
          <p:nvPr/>
        </p:nvPicPr>
        <p:blipFill>
          <a:blip r:embed="rId2"/>
          <a:stretch>
            <a:fillRect/>
          </a:stretch>
        </p:blipFill>
        <p:spPr>
          <a:xfrm>
            <a:off x="715382" y="639031"/>
            <a:ext cx="11163712" cy="5943600"/>
          </a:xfrm>
          <a:prstGeom prst="rect">
            <a:avLst/>
          </a:prstGeom>
        </p:spPr>
      </p:pic>
    </p:spTree>
    <p:extLst>
      <p:ext uri="{BB962C8B-B14F-4D97-AF65-F5344CB8AC3E}">
        <p14:creationId xmlns:p14="http://schemas.microsoft.com/office/powerpoint/2010/main" val="199918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6392972-A889-3803-4C29-56F22A5793E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a:t>
            </a:fld>
            <a:endParaRPr lang="he-IL" sz="1600" dirty="0"/>
          </a:p>
        </p:txBody>
      </p:sp>
      <p:sp>
        <p:nvSpPr>
          <p:cNvPr id="5" name="Google Shape;60;p14">
            <a:extLst>
              <a:ext uri="{FF2B5EF4-FFF2-40B4-BE49-F238E27FC236}">
                <a16:creationId xmlns:a16="http://schemas.microsoft.com/office/drawing/2014/main" id="{63855DA2-D8CF-89D9-A572-8C80B7AD36BA}"/>
              </a:ext>
            </a:extLst>
          </p:cNvPr>
          <p:cNvSpPr txBox="1"/>
          <p:nvPr/>
        </p:nvSpPr>
        <p:spPr>
          <a:xfrm>
            <a:off x="627839" y="-89099"/>
            <a:ext cx="10780678" cy="677942"/>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Micro Project 2 (MP2) : </a:t>
            </a:r>
            <a:r>
              <a:rPr lang="en-US" sz="2800" b="1" u="sng" dirty="0">
                <a:solidFill>
                  <a:srgbClr val="0070C0"/>
                </a:solidFill>
              </a:rPr>
              <a:t>Usage of Filtration – </a:t>
            </a:r>
            <a:r>
              <a:rPr lang="en-US" sz="2800" b="1" u="sng" dirty="0">
                <a:solidFill>
                  <a:srgbClr val="FF0000"/>
                </a:solidFill>
              </a:rPr>
              <a:t>the given task: (part 2)</a:t>
            </a:r>
          </a:p>
          <a:p>
            <a:pPr algn="ctr"/>
            <a:endParaRPr sz="2000" b="1" u="sng" dirty="0">
              <a:solidFill>
                <a:srgbClr val="FF0000"/>
              </a:solidFill>
            </a:endParaRPr>
          </a:p>
        </p:txBody>
      </p:sp>
      <p:pic>
        <p:nvPicPr>
          <p:cNvPr id="3" name="Picture 2">
            <a:extLst>
              <a:ext uri="{FF2B5EF4-FFF2-40B4-BE49-F238E27FC236}">
                <a16:creationId xmlns:a16="http://schemas.microsoft.com/office/drawing/2014/main" id="{36AEA71F-BEAD-F867-1C7A-6449236EA8C5}"/>
              </a:ext>
            </a:extLst>
          </p:cNvPr>
          <p:cNvPicPr>
            <a:picLocks noChangeAspect="1"/>
          </p:cNvPicPr>
          <p:nvPr/>
        </p:nvPicPr>
        <p:blipFill>
          <a:blip r:embed="rId3"/>
          <a:stretch>
            <a:fillRect/>
          </a:stretch>
        </p:blipFill>
        <p:spPr>
          <a:xfrm>
            <a:off x="101687" y="588843"/>
            <a:ext cx="11988625" cy="5070566"/>
          </a:xfrm>
          <a:prstGeom prst="rect">
            <a:avLst/>
          </a:prstGeom>
        </p:spPr>
      </p:pic>
      <p:sp>
        <p:nvSpPr>
          <p:cNvPr id="9" name="Rectangle 8">
            <a:extLst>
              <a:ext uri="{FF2B5EF4-FFF2-40B4-BE49-F238E27FC236}">
                <a16:creationId xmlns:a16="http://schemas.microsoft.com/office/drawing/2014/main" id="{FD4E7FE2-94FA-BF8B-88FC-096CF77A5E9C}"/>
              </a:ext>
            </a:extLst>
          </p:cNvPr>
          <p:cNvSpPr/>
          <p:nvPr/>
        </p:nvSpPr>
        <p:spPr>
          <a:xfrm>
            <a:off x="359923" y="5659409"/>
            <a:ext cx="11429999" cy="10234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a:t>
            </a:r>
            <a:r>
              <a:rPr lang="en-US" b="1" dirty="0"/>
              <a:t>: that presentation is ordered in the following order : first introductory part where we present and explain the functions we used in the project – stand alone way (every function independently from the main flow) – and then the formal results for  1-7 sub tasks. They will be marked MP2.#</a:t>
            </a:r>
            <a:endParaRPr lang="he-IL" b="1" dirty="0"/>
          </a:p>
        </p:txBody>
      </p:sp>
    </p:spTree>
    <p:extLst>
      <p:ext uri="{BB962C8B-B14F-4D97-AF65-F5344CB8AC3E}">
        <p14:creationId xmlns:p14="http://schemas.microsoft.com/office/powerpoint/2010/main" val="1976009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C9CFCD4-555C-C884-26C4-61DAF36E6CE8}"/>
              </a:ext>
            </a:extLst>
          </p:cNvPr>
          <p:cNvPicPr>
            <a:picLocks noChangeAspect="1"/>
          </p:cNvPicPr>
          <p:nvPr/>
        </p:nvPicPr>
        <p:blipFill>
          <a:blip r:embed="rId2"/>
          <a:stretch>
            <a:fillRect/>
          </a:stretch>
        </p:blipFill>
        <p:spPr>
          <a:xfrm>
            <a:off x="0" y="1183838"/>
            <a:ext cx="10476691" cy="5674162"/>
          </a:xfrm>
          <a:prstGeom prst="rect">
            <a:avLst/>
          </a:prstGeom>
        </p:spPr>
      </p:pic>
      <p:sp>
        <p:nvSpPr>
          <p:cNvPr id="4" name="Slide Number Placeholder 5">
            <a:extLst>
              <a:ext uri="{FF2B5EF4-FFF2-40B4-BE49-F238E27FC236}">
                <a16:creationId xmlns:a16="http://schemas.microsoft.com/office/drawing/2014/main" id="{46B1201B-612F-818D-3CB8-26D258948D8E}"/>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4</a:t>
            </a:fld>
            <a:endParaRPr lang="he-IL" sz="1600" dirty="0"/>
          </a:p>
        </p:txBody>
      </p:sp>
      <p:sp>
        <p:nvSpPr>
          <p:cNvPr id="7" name="Google Shape;60;p14">
            <a:extLst>
              <a:ext uri="{FF2B5EF4-FFF2-40B4-BE49-F238E27FC236}">
                <a16:creationId xmlns:a16="http://schemas.microsoft.com/office/drawing/2014/main" id="{C3D73FD8-5C27-9947-3A04-B330DAA94871}"/>
              </a:ext>
            </a:extLst>
          </p:cNvPr>
          <p:cNvSpPr txBox="1"/>
          <p:nvPr/>
        </p:nvSpPr>
        <p:spPr>
          <a:xfrm>
            <a:off x="2" y="-158690"/>
            <a:ext cx="11879094" cy="43243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1.1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10" name="TextBox 9">
            <a:extLst>
              <a:ext uri="{FF2B5EF4-FFF2-40B4-BE49-F238E27FC236}">
                <a16:creationId xmlns:a16="http://schemas.microsoft.com/office/drawing/2014/main" id="{0E19B9D4-6B44-E45F-C4E1-2C9CCE02B2B8}"/>
              </a:ext>
            </a:extLst>
          </p:cNvPr>
          <p:cNvSpPr txBox="1"/>
          <p:nvPr/>
        </p:nvSpPr>
        <p:spPr>
          <a:xfrm>
            <a:off x="1245141" y="492639"/>
            <a:ext cx="9231550"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That function applies a convolution operation between a given image (src) and a filter kernel (filter) to produce a filtered image (dest)</a:t>
            </a:r>
            <a:endParaRPr lang="he-IL" dirty="0"/>
          </a:p>
        </p:txBody>
      </p:sp>
      <p:sp>
        <p:nvSpPr>
          <p:cNvPr id="26" name="Rectangle 25">
            <a:extLst>
              <a:ext uri="{FF2B5EF4-FFF2-40B4-BE49-F238E27FC236}">
                <a16:creationId xmlns:a16="http://schemas.microsoft.com/office/drawing/2014/main" id="{CABF3704-2B15-4E80-D6AD-925D011F74E2}"/>
              </a:ext>
            </a:extLst>
          </p:cNvPr>
          <p:cNvSpPr/>
          <p:nvPr/>
        </p:nvSpPr>
        <p:spPr>
          <a:xfrm>
            <a:off x="9805480" y="2791838"/>
            <a:ext cx="2386519" cy="22276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Due to the nature of the function (nested loops) we prefer to explain it step by step in a big space- hence the explanation will be in the next slide!</a:t>
            </a:r>
            <a:endParaRPr lang="he-IL" dirty="0"/>
          </a:p>
        </p:txBody>
      </p:sp>
    </p:spTree>
    <p:extLst>
      <p:ext uri="{BB962C8B-B14F-4D97-AF65-F5344CB8AC3E}">
        <p14:creationId xmlns:p14="http://schemas.microsoft.com/office/powerpoint/2010/main" val="1029255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92A56310-3EF6-7A8A-4C29-73DB34688C36}"/>
              </a:ext>
            </a:extLst>
          </p:cNvPr>
          <p:cNvSpPr txBox="1"/>
          <p:nvPr/>
        </p:nvSpPr>
        <p:spPr>
          <a:xfrm>
            <a:off x="69715" y="-52696"/>
            <a:ext cx="11804513" cy="485161"/>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5" name="Slide Number Placeholder 5">
            <a:extLst>
              <a:ext uri="{FF2B5EF4-FFF2-40B4-BE49-F238E27FC236}">
                <a16:creationId xmlns:a16="http://schemas.microsoft.com/office/drawing/2014/main" id="{8D4B18A7-8A47-A075-B223-8415C853F68D}"/>
              </a:ext>
            </a:extLst>
          </p:cNvPr>
          <p:cNvSpPr txBox="1">
            <a:spLocks/>
          </p:cNvSpPr>
          <p:nvPr/>
        </p:nvSpPr>
        <p:spPr>
          <a:xfrm>
            <a:off x="11879094" y="174318"/>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5</a:t>
            </a:fld>
            <a:endParaRPr lang="he-IL" sz="1600" dirty="0"/>
          </a:p>
        </p:txBody>
      </p:sp>
      <p:pic>
        <p:nvPicPr>
          <p:cNvPr id="7" name="Picture 6">
            <a:extLst>
              <a:ext uri="{FF2B5EF4-FFF2-40B4-BE49-F238E27FC236}">
                <a16:creationId xmlns:a16="http://schemas.microsoft.com/office/drawing/2014/main" id="{BE15B8D9-D019-F459-121C-AF54D6628616}"/>
              </a:ext>
            </a:extLst>
          </p:cNvPr>
          <p:cNvPicPr>
            <a:picLocks noChangeAspect="1"/>
          </p:cNvPicPr>
          <p:nvPr/>
        </p:nvPicPr>
        <p:blipFill>
          <a:blip r:embed="rId3"/>
          <a:stretch>
            <a:fillRect/>
          </a:stretch>
        </p:blipFill>
        <p:spPr>
          <a:xfrm>
            <a:off x="0" y="591319"/>
            <a:ext cx="8424153" cy="485161"/>
          </a:xfrm>
          <a:prstGeom prst="rect">
            <a:avLst/>
          </a:prstGeom>
        </p:spPr>
      </p:pic>
      <p:sp>
        <p:nvSpPr>
          <p:cNvPr id="9" name="TextBox 8">
            <a:extLst>
              <a:ext uri="{FF2B5EF4-FFF2-40B4-BE49-F238E27FC236}">
                <a16:creationId xmlns:a16="http://schemas.microsoft.com/office/drawing/2014/main" id="{CB70ED43-E2B5-F391-FEE4-0F7A93255533}"/>
              </a:ext>
            </a:extLst>
          </p:cNvPr>
          <p:cNvSpPr txBox="1"/>
          <p:nvPr/>
        </p:nvSpPr>
        <p:spPr>
          <a:xfrm>
            <a:off x="5291847" y="1142076"/>
            <a:ext cx="6900154"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Then the function sets all values in the dest array to zero to ensure that any previous data does not interfere with the current operation. </a:t>
            </a:r>
            <a:endParaRPr lang="he-IL" dirty="0"/>
          </a:p>
        </p:txBody>
      </p:sp>
      <p:sp>
        <p:nvSpPr>
          <p:cNvPr id="10" name="Rectangle 9">
            <a:extLst>
              <a:ext uri="{FF2B5EF4-FFF2-40B4-BE49-F238E27FC236}">
                <a16:creationId xmlns:a16="http://schemas.microsoft.com/office/drawing/2014/main" id="{AC2DFB3A-4CD3-9AF1-BA46-568DFA7D9D40}"/>
              </a:ext>
            </a:extLst>
          </p:cNvPr>
          <p:cNvSpPr/>
          <p:nvPr/>
        </p:nvSpPr>
        <p:spPr>
          <a:xfrm>
            <a:off x="8492247" y="564895"/>
            <a:ext cx="3699753" cy="538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First , defines a pointer to the first element of the dest array</a:t>
            </a:r>
            <a:endParaRPr lang="he-IL" dirty="0"/>
          </a:p>
        </p:txBody>
      </p:sp>
      <p:sp>
        <p:nvSpPr>
          <p:cNvPr id="11" name="Arrow: Down 10">
            <a:extLst>
              <a:ext uri="{FF2B5EF4-FFF2-40B4-BE49-F238E27FC236}">
                <a16:creationId xmlns:a16="http://schemas.microsoft.com/office/drawing/2014/main" id="{8F9C206F-B00B-4C3B-6729-17BB982CD825}"/>
              </a:ext>
            </a:extLst>
          </p:cNvPr>
          <p:cNvSpPr/>
          <p:nvPr/>
        </p:nvSpPr>
        <p:spPr>
          <a:xfrm>
            <a:off x="3556270" y="1078796"/>
            <a:ext cx="344521" cy="10832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2">
            <a:extLst>
              <a:ext uri="{FF2B5EF4-FFF2-40B4-BE49-F238E27FC236}">
                <a16:creationId xmlns:a16="http://schemas.microsoft.com/office/drawing/2014/main" id="{BD3AFBEF-AAB0-189B-AB1B-C6A5E3D3A3C7}"/>
              </a:ext>
            </a:extLst>
          </p:cNvPr>
          <p:cNvPicPr>
            <a:picLocks noChangeAspect="1"/>
          </p:cNvPicPr>
          <p:nvPr/>
        </p:nvPicPr>
        <p:blipFill>
          <a:blip r:embed="rId4"/>
          <a:stretch>
            <a:fillRect/>
          </a:stretch>
        </p:blipFill>
        <p:spPr>
          <a:xfrm>
            <a:off x="49450" y="3085367"/>
            <a:ext cx="10330774" cy="2925231"/>
          </a:xfrm>
          <a:prstGeom prst="rect">
            <a:avLst/>
          </a:prstGeom>
        </p:spPr>
      </p:pic>
      <p:sp>
        <p:nvSpPr>
          <p:cNvPr id="15" name="TextBox 14">
            <a:extLst>
              <a:ext uri="{FF2B5EF4-FFF2-40B4-BE49-F238E27FC236}">
                <a16:creationId xmlns:a16="http://schemas.microsoft.com/office/drawing/2014/main" id="{02EA985F-3298-146E-C862-D03BFE3E8610}"/>
              </a:ext>
            </a:extLst>
          </p:cNvPr>
          <p:cNvSpPr txBox="1"/>
          <p:nvPr/>
        </p:nvSpPr>
        <p:spPr>
          <a:xfrm>
            <a:off x="69715" y="2162037"/>
            <a:ext cx="1031050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function then iterates over each pixel in the src image, excluding the boundary pixels where the filter cannot be fully applied. This exclusion is due to the fact that convolution requires access to neighboring pixels, which are not available at the edges of the image.</a:t>
            </a:r>
            <a:endParaRPr lang="he-IL" dirty="0"/>
          </a:p>
        </p:txBody>
      </p:sp>
      <p:sp>
        <p:nvSpPr>
          <p:cNvPr id="17" name="TextBox 16">
            <a:extLst>
              <a:ext uri="{FF2B5EF4-FFF2-40B4-BE49-F238E27FC236}">
                <a16:creationId xmlns:a16="http://schemas.microsoft.com/office/drawing/2014/main" id="{43F0B5F8-4A83-EB16-051B-C09FB6672792}"/>
              </a:ext>
            </a:extLst>
          </p:cNvPr>
          <p:cNvSpPr txBox="1"/>
          <p:nvPr/>
        </p:nvSpPr>
        <p:spPr>
          <a:xfrm>
            <a:off x="191310" y="6157531"/>
            <a:ext cx="11809379"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at position (row, column), the function calculates the convolution sum (summa) by multiplying each element of the filter kernel with the corresponding pixel in the src image. The sum is accumulated for the entire kernel.</a:t>
            </a:r>
            <a:endParaRPr lang="he-IL" dirty="0"/>
          </a:p>
        </p:txBody>
      </p:sp>
      <p:sp>
        <p:nvSpPr>
          <p:cNvPr id="20" name="Arrow: Bent 19">
            <a:extLst>
              <a:ext uri="{FF2B5EF4-FFF2-40B4-BE49-F238E27FC236}">
                <a16:creationId xmlns:a16="http://schemas.microsoft.com/office/drawing/2014/main" id="{F91A1B18-2CCF-31B1-BDF3-012C095DA5FC}"/>
              </a:ext>
            </a:extLst>
          </p:cNvPr>
          <p:cNvSpPr/>
          <p:nvPr/>
        </p:nvSpPr>
        <p:spPr>
          <a:xfrm rot="5400000">
            <a:off x="10267789" y="5423336"/>
            <a:ext cx="933774" cy="534616"/>
          </a:xfrm>
          <a:prstGeom prst="bent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169634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1CDA8B3-4F44-5D40-494F-495CF47A075E}"/>
              </a:ext>
            </a:extLst>
          </p:cNvPr>
          <p:cNvSpPr txBox="1"/>
          <p:nvPr/>
        </p:nvSpPr>
        <p:spPr>
          <a:xfrm>
            <a:off x="97277" y="-52696"/>
            <a:ext cx="11776951" cy="485161"/>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1.3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5" name="Slide Number Placeholder 5">
            <a:extLst>
              <a:ext uri="{FF2B5EF4-FFF2-40B4-BE49-F238E27FC236}">
                <a16:creationId xmlns:a16="http://schemas.microsoft.com/office/drawing/2014/main" id="{4FEDB50C-F45F-913F-98FB-BE2993EA3FFC}"/>
              </a:ext>
            </a:extLst>
          </p:cNvPr>
          <p:cNvSpPr txBox="1">
            <a:spLocks/>
          </p:cNvSpPr>
          <p:nvPr/>
        </p:nvSpPr>
        <p:spPr>
          <a:xfrm>
            <a:off x="11879094" y="174318"/>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6</a:t>
            </a:fld>
            <a:endParaRPr lang="he-IL" sz="1600" dirty="0"/>
          </a:p>
        </p:txBody>
      </p:sp>
      <p:pic>
        <p:nvPicPr>
          <p:cNvPr id="7" name="Picture 6">
            <a:extLst>
              <a:ext uri="{FF2B5EF4-FFF2-40B4-BE49-F238E27FC236}">
                <a16:creationId xmlns:a16="http://schemas.microsoft.com/office/drawing/2014/main" id="{E8F839F9-D069-1FBB-554B-9ED160CF0D7F}"/>
              </a:ext>
            </a:extLst>
          </p:cNvPr>
          <p:cNvPicPr>
            <a:picLocks noChangeAspect="1"/>
          </p:cNvPicPr>
          <p:nvPr/>
        </p:nvPicPr>
        <p:blipFill>
          <a:blip r:embed="rId2"/>
          <a:stretch>
            <a:fillRect/>
          </a:stretch>
        </p:blipFill>
        <p:spPr>
          <a:xfrm>
            <a:off x="0" y="758758"/>
            <a:ext cx="7566367" cy="2318020"/>
          </a:xfrm>
          <a:prstGeom prst="rect">
            <a:avLst/>
          </a:prstGeom>
        </p:spPr>
      </p:pic>
      <p:sp>
        <p:nvSpPr>
          <p:cNvPr id="9" name="TextBox 8">
            <a:extLst>
              <a:ext uri="{FF2B5EF4-FFF2-40B4-BE49-F238E27FC236}">
                <a16:creationId xmlns:a16="http://schemas.microsoft.com/office/drawing/2014/main" id="{47353973-3070-39AE-CB9A-C985C5E08B39}"/>
              </a:ext>
            </a:extLst>
          </p:cNvPr>
          <p:cNvSpPr txBox="1"/>
          <p:nvPr/>
        </p:nvSpPr>
        <p:spPr>
          <a:xfrm>
            <a:off x="7750512" y="839529"/>
            <a:ext cx="4441488"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After computing the sum, the result is normalized by dividing by 25.0, which corresponds to the total number of elements in the 5x5 filter (this is specific to the filter being used; other filters might have different normalization factors).</a:t>
            </a:r>
            <a:endParaRPr lang="he-IL" dirty="0"/>
          </a:p>
        </p:txBody>
      </p:sp>
      <p:sp>
        <p:nvSpPr>
          <p:cNvPr id="11" name="TextBox 10">
            <a:extLst>
              <a:ext uri="{FF2B5EF4-FFF2-40B4-BE49-F238E27FC236}">
                <a16:creationId xmlns:a16="http://schemas.microsoft.com/office/drawing/2014/main" id="{C0F261F0-AA12-DA50-3F55-5A151334521A}"/>
              </a:ext>
            </a:extLst>
          </p:cNvPr>
          <p:cNvSpPr txBox="1"/>
          <p:nvPr/>
        </p:nvSpPr>
        <p:spPr>
          <a:xfrm>
            <a:off x="6728301" y="2759530"/>
            <a:ext cx="5463699"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resulting value is then clamped to the valid grayscale range [0, 255] to ensure that the pixel intensity remains within the allowable range.</a:t>
            </a:r>
            <a:endParaRPr lang="he-IL" dirty="0"/>
          </a:p>
        </p:txBody>
      </p:sp>
      <p:sp>
        <p:nvSpPr>
          <p:cNvPr id="13" name="TextBox 12">
            <a:extLst>
              <a:ext uri="{FF2B5EF4-FFF2-40B4-BE49-F238E27FC236}">
                <a16:creationId xmlns:a16="http://schemas.microsoft.com/office/drawing/2014/main" id="{DFAF3536-CE7E-5C68-A71F-659D7A64AF21}"/>
              </a:ext>
            </a:extLst>
          </p:cNvPr>
          <p:cNvSpPr txBox="1"/>
          <p:nvPr/>
        </p:nvSpPr>
        <p:spPr>
          <a:xfrm>
            <a:off x="6728301" y="3844119"/>
            <a:ext cx="546369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normalized and clamped sum is then cast to an unsigned char and stored in the </a:t>
            </a:r>
            <a:r>
              <a:rPr lang="en-US" b="1" dirty="0"/>
              <a:t>dest</a:t>
            </a:r>
            <a:r>
              <a:rPr lang="en-US" dirty="0"/>
              <a:t> array at the corresponding pixel position.</a:t>
            </a:r>
            <a:endParaRPr lang="he-IL" dirty="0"/>
          </a:p>
        </p:txBody>
      </p: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358D7305-B76B-1FFA-B150-2853C3C64F36}"/>
                  </a:ext>
                </a:extLst>
              </p:cNvPr>
              <p:cNvSpPr/>
              <p:nvPr/>
            </p:nvSpPr>
            <p:spPr>
              <a:xfrm>
                <a:off x="0" y="5328309"/>
                <a:ext cx="4348264" cy="977389"/>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14:m>
                  <m:oMathPara xmlns:m="http://schemas.openxmlformats.org/officeDocument/2006/math">
                    <m:oMathParaPr>
                      <m:jc m:val="centerGroup"/>
                    </m:oMathParaPr>
                    <m:oMath xmlns:m="http://schemas.openxmlformats.org/officeDocument/2006/math">
                      <m:sSup>
                        <m:sSupPr>
                          <m:ctrlPr>
                            <a:rPr lang="en-US" b="0" i="1" smtClean="0">
                              <a:solidFill>
                                <a:srgbClr val="FFFF00"/>
                              </a:solidFill>
                              <a:latin typeface="Cambria Math" panose="02040503050406030204" pitchFamily="18" charset="0"/>
                            </a:rPr>
                          </m:ctrlPr>
                        </m:sSupPr>
                        <m:e>
                          <m:r>
                            <a:rPr lang="en-US" b="0" i="1" smtClean="0">
                              <a:solidFill>
                                <a:srgbClr val="FFFF00"/>
                              </a:solidFill>
                              <a:latin typeface="Cambria Math" panose="02040503050406030204" pitchFamily="18" charset="0"/>
                            </a:rPr>
                            <m:t>𝐼</m:t>
                          </m:r>
                        </m:e>
                        <m:sup>
                          <m:r>
                            <a:rPr lang="en-US" b="0" i="1" smtClean="0">
                              <a:solidFill>
                                <a:srgbClr val="FFFF00"/>
                              </a:solidFill>
                              <a:latin typeface="Cambria Math" panose="02040503050406030204" pitchFamily="18" charset="0"/>
                            </a:rPr>
                            <m:t>′</m:t>
                          </m:r>
                        </m:sup>
                      </m:sSup>
                      <m:d>
                        <m:dPr>
                          <m:ctrlPr>
                            <a:rPr lang="en-US" b="0" i="1" smtClean="0">
                              <a:solidFill>
                                <a:srgbClr val="FFFF00"/>
                              </a:solidFill>
                              <a:latin typeface="Cambria Math" panose="02040503050406030204" pitchFamily="18" charset="0"/>
                            </a:rPr>
                          </m:ctrlPr>
                        </m:dPr>
                        <m:e>
                          <m:r>
                            <a:rPr lang="en-US" b="0" i="1" smtClean="0">
                              <a:solidFill>
                                <a:srgbClr val="FFFF00"/>
                              </a:solidFill>
                              <a:latin typeface="Cambria Math" panose="02040503050406030204" pitchFamily="18" charset="0"/>
                            </a:rPr>
                            <m:t>𝑥</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𝑦</m:t>
                          </m:r>
                        </m:e>
                      </m:d>
                      <m:r>
                        <a:rPr lang="en-US" b="0" i="1" smtClean="0">
                          <a:solidFill>
                            <a:srgbClr val="FFFF00"/>
                          </a:solidFill>
                          <a:latin typeface="Cambria Math" panose="02040503050406030204" pitchFamily="18" charset="0"/>
                        </a:rPr>
                        <m:t>=</m:t>
                      </m:r>
                      <m:nary>
                        <m:naryPr>
                          <m:chr m:val="∑"/>
                          <m:ctrlPr>
                            <a:rPr lang="en-US" b="0" i="1" smtClean="0">
                              <a:solidFill>
                                <a:srgbClr val="FFFF00"/>
                              </a:solidFill>
                              <a:latin typeface="Cambria Math" panose="02040503050406030204" pitchFamily="18" charset="0"/>
                            </a:rPr>
                          </m:ctrlPr>
                        </m:naryPr>
                        <m:sub>
                          <m:r>
                            <m:rPr>
                              <m:brk m:alnAt="23"/>
                            </m:rP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𝑚</m:t>
                          </m:r>
                        </m:sub>
                        <m:sup>
                          <m:r>
                            <a:rPr lang="en-US" b="0" i="1" smtClean="0">
                              <a:solidFill>
                                <a:srgbClr val="FFFF00"/>
                              </a:solidFill>
                              <a:latin typeface="Cambria Math" panose="02040503050406030204" pitchFamily="18" charset="0"/>
                            </a:rPr>
                            <m:t>𝑚</m:t>
                          </m:r>
                        </m:sup>
                        <m:e>
                          <m:nary>
                            <m:naryPr>
                              <m:chr m:val="∑"/>
                              <m:ctrlPr>
                                <a:rPr lang="en-US" b="0" i="1" smtClean="0">
                                  <a:solidFill>
                                    <a:srgbClr val="FFFF00"/>
                                  </a:solidFill>
                                  <a:latin typeface="Cambria Math" panose="02040503050406030204" pitchFamily="18" charset="0"/>
                                </a:rPr>
                              </m:ctrlPr>
                            </m:naryPr>
                            <m:sub>
                              <m:r>
                                <m:rPr>
                                  <m:brk m:alnAt="23"/>
                                </m:rPr>
                                <a:rPr lang="en-US" b="0" i="1" smtClean="0">
                                  <a:solidFill>
                                    <a:srgbClr val="FFFF00"/>
                                  </a:solidFill>
                                  <a:latin typeface="Cambria Math" panose="02040503050406030204" pitchFamily="18" charset="0"/>
                                </a:rPr>
                                <m:t>𝑗</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𝑛</m:t>
                              </m:r>
                            </m:sub>
                            <m:sup>
                              <m:r>
                                <a:rPr lang="en-US" b="0" i="1" smtClean="0">
                                  <a:solidFill>
                                    <a:srgbClr val="FFFF00"/>
                                  </a:solidFill>
                                  <a:latin typeface="Cambria Math" panose="02040503050406030204" pitchFamily="18" charset="0"/>
                                </a:rPr>
                                <m:t>𝑛</m:t>
                              </m:r>
                            </m:sup>
                            <m:e>
                              <m:r>
                                <a:rPr lang="en-US" b="0" i="1" smtClean="0">
                                  <a:solidFill>
                                    <a:srgbClr val="FFFF00"/>
                                  </a:solidFill>
                                  <a:latin typeface="Cambria Math" panose="02040503050406030204" pitchFamily="18" charset="0"/>
                                </a:rPr>
                                <m:t>𝐾</m:t>
                              </m:r>
                              <m:d>
                                <m:dPr>
                                  <m:ctrlPr>
                                    <a:rPr lang="en-US" b="0" i="1" smtClean="0">
                                      <a:solidFill>
                                        <a:srgbClr val="FFFF00"/>
                                      </a:solidFill>
                                      <a:latin typeface="Cambria Math" panose="02040503050406030204" pitchFamily="18" charset="0"/>
                                    </a:rPr>
                                  </m:ctrlPr>
                                </m:dPr>
                                <m:e>
                                  <m: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𝑗</m:t>
                                  </m:r>
                                </m:e>
                              </m:d>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𝐼</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𝑥</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𝑦</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𝑗</m:t>
                              </m:r>
                              <m:r>
                                <a:rPr lang="en-US" b="0" i="1" smtClean="0">
                                  <a:solidFill>
                                    <a:srgbClr val="FFFF00"/>
                                  </a:solidFill>
                                  <a:latin typeface="Cambria Math" panose="02040503050406030204" pitchFamily="18" charset="0"/>
                                </a:rPr>
                                <m:t>)</m:t>
                              </m:r>
                            </m:e>
                          </m:nary>
                        </m:e>
                      </m:nary>
                    </m:oMath>
                  </m:oMathPara>
                </a14:m>
                <a:endParaRPr lang="he-IL" dirty="0">
                  <a:solidFill>
                    <a:srgbClr val="FFFF00"/>
                  </a:solidFill>
                </a:endParaRPr>
              </a:p>
            </p:txBody>
          </p:sp>
        </mc:Choice>
        <mc:Fallback>
          <p:sp>
            <p:nvSpPr>
              <p:cNvPr id="14" name="Rectangle 13">
                <a:extLst>
                  <a:ext uri="{FF2B5EF4-FFF2-40B4-BE49-F238E27FC236}">
                    <a16:creationId xmlns:a16="http://schemas.microsoft.com/office/drawing/2014/main" id="{358D7305-B76B-1FFA-B150-2853C3C64F36}"/>
                  </a:ext>
                </a:extLst>
              </p:cNvPr>
              <p:cNvSpPr>
                <a:spLocks noRot="1" noChangeAspect="1" noMove="1" noResize="1" noEditPoints="1" noAdjustHandles="1" noChangeArrowheads="1" noChangeShapeType="1" noTextEdit="1"/>
              </p:cNvSpPr>
              <p:nvPr/>
            </p:nvSpPr>
            <p:spPr>
              <a:xfrm>
                <a:off x="0" y="5328309"/>
                <a:ext cx="4348264" cy="977389"/>
              </a:xfrm>
              <a:prstGeom prst="rect">
                <a:avLst/>
              </a:prstGeom>
              <a:blipFill>
                <a:blip r:embed="rId3"/>
                <a:stretch>
                  <a:fillRect/>
                </a:stretch>
              </a:blipFill>
              <a:ln>
                <a:solidFill>
                  <a:srgbClr val="FF0000"/>
                </a:solidFill>
              </a:ln>
            </p:spPr>
            <p:txBody>
              <a:bodyPr/>
              <a:lstStyle/>
              <a:p>
                <a:r>
                  <a:rPr lang="he-IL">
                    <a:noFill/>
                  </a:rPr>
                  <a:t> </a:t>
                </a:r>
              </a:p>
            </p:txBody>
          </p:sp>
        </mc:Fallback>
      </mc:AlternateContent>
      <p:sp>
        <p:nvSpPr>
          <p:cNvPr id="15" name="Arrow: Right 14">
            <a:extLst>
              <a:ext uri="{FF2B5EF4-FFF2-40B4-BE49-F238E27FC236}">
                <a16:creationId xmlns:a16="http://schemas.microsoft.com/office/drawing/2014/main" id="{D3D68F93-0AEB-1DF7-1710-98642E84A024}"/>
              </a:ext>
            </a:extLst>
          </p:cNvPr>
          <p:cNvSpPr/>
          <p:nvPr/>
        </p:nvSpPr>
        <p:spPr>
          <a:xfrm>
            <a:off x="4416357" y="5573949"/>
            <a:ext cx="856034" cy="525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7C5D18D-B523-E639-C9BC-6071483DDF14}"/>
                  </a:ext>
                </a:extLst>
              </p:cNvPr>
              <p:cNvSpPr txBox="1"/>
              <p:nvPr/>
            </p:nvSpPr>
            <p:spPr>
              <a:xfrm>
                <a:off x="5272391" y="5007848"/>
                <a:ext cx="6919609"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14:m>
                  <m:oMath xmlns:m="http://schemas.openxmlformats.org/officeDocument/2006/math">
                    <m:r>
                      <a:rPr lang="en-US" i="1" dirty="0" smtClean="0">
                        <a:latin typeface="Cambria Math" panose="02040503050406030204" pitchFamily="18" charset="0"/>
                      </a:rPr>
                      <m:t>𝐼</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 </m:t>
                    </m:r>
                  </m:oMath>
                </a14:m>
                <a:r>
                  <a:rPr lang="en-US" dirty="0"/>
                  <a:t>is the intensity of the pixel at position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in the src image.</a:t>
                </a:r>
              </a:p>
              <a:p>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err="1" smtClean="0">
                        <a:latin typeface="Cambria Math" panose="02040503050406030204" pitchFamily="18" charset="0"/>
                      </a:rPr>
                      <m:t>,</m:t>
                    </m:r>
                    <m:r>
                      <a:rPr lang="en-US" i="1" dirty="0" err="1" smtClean="0">
                        <a:latin typeface="Cambria Math" panose="02040503050406030204" pitchFamily="18" charset="0"/>
                      </a:rPr>
                      <m:t>𝑗</m:t>
                    </m:r>
                    <m:r>
                      <a:rPr lang="en-US" i="1" dirty="0" smtClean="0">
                        <a:latin typeface="Cambria Math" panose="02040503050406030204" pitchFamily="18" charset="0"/>
                      </a:rPr>
                      <m:t>) </m:t>
                    </m:r>
                  </m:oMath>
                </a14:m>
                <a:r>
                  <a:rPr lang="en-US" dirty="0"/>
                  <a:t>is the value of the filter kernel at position </a:t>
                </a:r>
                <a14:m>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𝑖</m:t>
                        </m:r>
                        <m:r>
                          <a:rPr lang="en-US" i="1" dirty="0" err="1" smtClean="0">
                            <a:latin typeface="Cambria Math" panose="02040503050406030204" pitchFamily="18" charset="0"/>
                          </a:rPr>
                          <m:t>,</m:t>
                        </m:r>
                        <m:r>
                          <a:rPr lang="en-US" i="1" dirty="0" err="1" smtClean="0">
                            <a:latin typeface="Cambria Math" panose="02040503050406030204" pitchFamily="18" charset="0"/>
                          </a:rPr>
                          <m:t>𝑗</m:t>
                        </m:r>
                      </m:e>
                    </m:d>
                    <m:r>
                      <a:rPr lang="en-US" b="0" i="1" dirty="0" smtClean="0">
                        <a:latin typeface="Cambria Math" panose="02040503050406030204" pitchFamily="18" charset="0"/>
                      </a:rPr>
                      <m:t>.</m:t>
                    </m:r>
                  </m:oMath>
                </a14:m>
                <a:endParaRPr lang="en-US" b="0" i="1" dirty="0">
                  <a:latin typeface="Cambria Math" panose="02040503050406030204" pitchFamily="18" charset="0"/>
                </a:endParaRPr>
              </a:p>
              <a:p>
                <a14:m>
                  <m:oMath xmlns:m="http://schemas.openxmlformats.org/officeDocument/2006/math">
                    <m:r>
                      <a:rPr lang="en-US" i="1" dirty="0" smtClean="0">
                        <a:latin typeface="Cambria Math" panose="02040503050406030204" pitchFamily="18" charset="0"/>
                      </a:rPr>
                      <m:t>𝐼</m:t>
                    </m:r>
                    <m:r>
                      <a:rPr lang="en-US" i="1" dirty="0" smtClean="0">
                        <a:latin typeface="Cambria Math" panose="02040503050406030204" pitchFamily="18" charset="0"/>
                      </a:rPr>
                      <m:t>′</m:t>
                    </m:r>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m:t>
                    </m:r>
                  </m:oMath>
                </a14:m>
                <a:r>
                  <a:rPr lang="en-US" dirty="0"/>
                  <a:t>is the intensity of the pixel at position </a:t>
                </a:r>
                <a14:m>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e>
                    </m:d>
                  </m:oMath>
                </a14:m>
                <a:r>
                  <a:rPr lang="en-US" dirty="0"/>
                  <a:t> in the dest image.</a:t>
                </a:r>
                <a:endParaRPr lang="en-US" i="1" dirty="0">
                  <a:latin typeface="Cambria Math" panose="02040503050406030204" pitchFamily="18" charset="0"/>
                </a:endParaRPr>
              </a:p>
              <a:p>
                <a14:m>
                  <m:oMath xmlns:m="http://schemas.openxmlformats.org/officeDocument/2006/math">
                    <m:r>
                      <a:rPr lang="en-US" i="1" dirty="0" smtClean="0">
                        <a:latin typeface="Cambria Math" panose="02040503050406030204" pitchFamily="18" charset="0"/>
                      </a:rPr>
                      <m:t>𝑚</m:t>
                    </m:r>
                  </m:oMath>
                </a14:m>
                <a:r>
                  <a:rPr lang="en-US" dirty="0"/>
                  <a:t> and </a:t>
                </a:r>
                <a14:m>
                  <m:oMath xmlns:m="http://schemas.openxmlformats.org/officeDocument/2006/math">
                    <m:r>
                      <a:rPr lang="en-US" i="1" dirty="0" smtClean="0">
                        <a:latin typeface="Cambria Math" panose="02040503050406030204" pitchFamily="18" charset="0"/>
                      </a:rPr>
                      <m:t>𝑛</m:t>
                    </m:r>
                  </m:oMath>
                </a14:m>
                <a:r>
                  <a:rPr lang="en-US" dirty="0"/>
                  <a:t> are the half-width and half-height of the kernel, respectively</a:t>
                </a:r>
                <a14:m>
                  <m:oMath xmlns:m="http://schemas.openxmlformats.org/officeDocument/2006/math">
                    <m:r>
                      <a:rPr lang="en-US" i="1" dirty="0" smtClean="0">
                        <a:latin typeface="Cambria Math" panose="02040503050406030204" pitchFamily="18" charset="0"/>
                      </a:rPr>
                      <m:t> </m:t>
                    </m:r>
                  </m:oMath>
                </a14:m>
                <a:endParaRPr lang="he-IL" dirty="0"/>
              </a:p>
            </p:txBody>
          </p:sp>
        </mc:Choice>
        <mc:Fallback>
          <p:sp>
            <p:nvSpPr>
              <p:cNvPr id="17" name="TextBox 16">
                <a:extLst>
                  <a:ext uri="{FF2B5EF4-FFF2-40B4-BE49-F238E27FC236}">
                    <a16:creationId xmlns:a16="http://schemas.microsoft.com/office/drawing/2014/main" id="{67C5D18D-B523-E639-C9BC-6071483DDF14}"/>
                  </a:ext>
                </a:extLst>
              </p:cNvPr>
              <p:cNvSpPr txBox="1">
                <a:spLocks noRot="1" noChangeAspect="1" noMove="1" noResize="1" noEditPoints="1" noAdjustHandles="1" noChangeArrowheads="1" noChangeShapeType="1" noTextEdit="1"/>
              </p:cNvSpPr>
              <p:nvPr/>
            </p:nvSpPr>
            <p:spPr>
              <a:xfrm>
                <a:off x="5272391" y="5007848"/>
                <a:ext cx="6919609" cy="1200329"/>
              </a:xfrm>
              <a:prstGeom prst="rect">
                <a:avLst/>
              </a:prstGeom>
              <a:blipFill>
                <a:blip r:embed="rId4"/>
                <a:stretch>
                  <a:fillRect/>
                </a:stretch>
              </a:blipFill>
            </p:spPr>
            <p:txBody>
              <a:bodyPr/>
              <a:lstStyle/>
              <a:p>
                <a:r>
                  <a:rPr lang="he-IL">
                    <a:noFill/>
                  </a:rPr>
                  <a:t> </a:t>
                </a:r>
              </a:p>
            </p:txBody>
          </p:sp>
        </mc:Fallback>
      </mc:AlternateContent>
      <p:sp>
        <p:nvSpPr>
          <p:cNvPr id="18" name="Rectangle 17">
            <a:extLst>
              <a:ext uri="{FF2B5EF4-FFF2-40B4-BE49-F238E27FC236}">
                <a16:creationId xmlns:a16="http://schemas.microsoft.com/office/drawing/2014/main" id="{C37EB940-56A5-4CD8-FBFF-B8430A25F27B}"/>
              </a:ext>
            </a:extLst>
          </p:cNvPr>
          <p:cNvSpPr/>
          <p:nvPr/>
        </p:nvSpPr>
        <p:spPr>
          <a:xfrm>
            <a:off x="0" y="4864037"/>
            <a:ext cx="4348263" cy="4303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Short remainder of 2D convolution:</a:t>
            </a:r>
            <a:endParaRPr lang="he-IL" dirty="0"/>
          </a:p>
        </p:txBody>
      </p:sp>
      <p:sp>
        <p:nvSpPr>
          <p:cNvPr id="19" name="Rectangle 18">
            <a:extLst>
              <a:ext uri="{FF2B5EF4-FFF2-40B4-BE49-F238E27FC236}">
                <a16:creationId xmlns:a16="http://schemas.microsoft.com/office/drawing/2014/main" id="{6E6433CE-1A0B-CF38-F710-C4862C75EF75}"/>
              </a:ext>
            </a:extLst>
          </p:cNvPr>
          <p:cNvSpPr/>
          <p:nvPr/>
        </p:nvSpPr>
        <p:spPr>
          <a:xfrm>
            <a:off x="0" y="6339641"/>
            <a:ext cx="6828818" cy="518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2D convolution is a dimensional expansion to the well known 1D convolution as we studies in digital signal processing Couse</a:t>
            </a:r>
            <a:endParaRPr lang="he-IL" dirty="0"/>
          </a:p>
        </p:txBody>
      </p:sp>
    </p:spTree>
    <p:extLst>
      <p:ext uri="{BB962C8B-B14F-4D97-AF65-F5344CB8AC3E}">
        <p14:creationId xmlns:p14="http://schemas.microsoft.com/office/powerpoint/2010/main" val="4186383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7</a:t>
            </a:fld>
            <a:endParaRPr lang="he-IL" sz="1600" dirty="0"/>
          </a:p>
        </p:txBody>
      </p:sp>
      <p:pic>
        <p:nvPicPr>
          <p:cNvPr id="7" name="Picture 6">
            <a:extLst>
              <a:ext uri="{FF2B5EF4-FFF2-40B4-BE49-F238E27FC236}">
                <a16:creationId xmlns:a16="http://schemas.microsoft.com/office/drawing/2014/main" id="{DF639ABB-01AB-DF10-D718-4260F5B3FAC7}"/>
              </a:ext>
            </a:extLst>
          </p:cNvPr>
          <p:cNvPicPr>
            <a:picLocks noChangeAspect="1"/>
          </p:cNvPicPr>
          <p:nvPr/>
        </p:nvPicPr>
        <p:blipFill>
          <a:blip r:embed="rId2"/>
          <a:stretch>
            <a:fillRect/>
          </a:stretch>
        </p:blipFill>
        <p:spPr>
          <a:xfrm>
            <a:off x="-1" y="874280"/>
            <a:ext cx="12192000" cy="5109439"/>
          </a:xfrm>
          <a:prstGeom prst="rect">
            <a:avLst/>
          </a:prstGeom>
        </p:spPr>
      </p:pic>
      <p:sp>
        <p:nvSpPr>
          <p:cNvPr id="8" name="Google Shape;60;p14">
            <a:extLst>
              <a:ext uri="{FF2B5EF4-FFF2-40B4-BE49-F238E27FC236}">
                <a16:creationId xmlns:a16="http://schemas.microsoft.com/office/drawing/2014/main" id="{D374BE6E-485B-7DC6-C0F0-DB1128681F30}"/>
              </a:ext>
            </a:extLst>
          </p:cNvPr>
          <p:cNvSpPr txBox="1"/>
          <p:nvPr/>
        </p:nvSpPr>
        <p:spPr>
          <a:xfrm>
            <a:off x="1686534" y="-25210"/>
            <a:ext cx="8818932" cy="45764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2</a:t>
            </a:r>
            <a:r>
              <a:rPr lang="en-US" sz="2800" b="1" u="sng" dirty="0">
                <a:solidFill>
                  <a:srgbClr val="0070C0"/>
                </a:solidFill>
              </a:rPr>
              <a:t> -  the function “Convert”</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557901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8</a:t>
            </a:fld>
            <a:endParaRPr lang="he-IL" sz="1600" dirty="0"/>
          </a:p>
        </p:txBody>
      </p:sp>
      <p:sp>
        <p:nvSpPr>
          <p:cNvPr id="2" name="Google Shape;60;p14">
            <a:extLst>
              <a:ext uri="{FF2B5EF4-FFF2-40B4-BE49-F238E27FC236}">
                <a16:creationId xmlns:a16="http://schemas.microsoft.com/office/drawing/2014/main" id="{0CEE3D3E-64E2-4130-C682-EDFFAB77E832}"/>
              </a:ext>
            </a:extLst>
          </p:cNvPr>
          <p:cNvSpPr txBox="1"/>
          <p:nvPr/>
        </p:nvSpPr>
        <p:spPr>
          <a:xfrm>
            <a:off x="1128611" y="-83188"/>
            <a:ext cx="9934778" cy="70095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3</a:t>
            </a:r>
            <a:r>
              <a:rPr lang="en-US" sz="2800" b="1" u="sng" dirty="0">
                <a:solidFill>
                  <a:srgbClr val="0070C0"/>
                </a:solidFill>
              </a:rPr>
              <a:t> -  the function “OptimalConvert”</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58771C55-1A90-A329-9F5B-6F0045F928A4}"/>
              </a:ext>
            </a:extLst>
          </p:cNvPr>
          <p:cNvPicPr>
            <a:picLocks noChangeAspect="1"/>
          </p:cNvPicPr>
          <p:nvPr/>
        </p:nvPicPr>
        <p:blipFill>
          <a:blip r:embed="rId2"/>
          <a:stretch>
            <a:fillRect/>
          </a:stretch>
        </p:blipFill>
        <p:spPr>
          <a:xfrm>
            <a:off x="0" y="1226596"/>
            <a:ext cx="11622112" cy="3831787"/>
          </a:xfrm>
          <a:prstGeom prst="rect">
            <a:avLst/>
          </a:prstGeom>
        </p:spPr>
      </p:pic>
    </p:spTree>
    <p:extLst>
      <p:ext uri="{BB962C8B-B14F-4D97-AF65-F5344CB8AC3E}">
        <p14:creationId xmlns:p14="http://schemas.microsoft.com/office/powerpoint/2010/main" val="235441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9</a:t>
            </a:fld>
            <a:endParaRPr lang="he-IL" sz="1600" dirty="0"/>
          </a:p>
        </p:txBody>
      </p:sp>
      <p:sp>
        <p:nvSpPr>
          <p:cNvPr id="2" name="Google Shape;60;p14">
            <a:extLst>
              <a:ext uri="{FF2B5EF4-FFF2-40B4-BE49-F238E27FC236}">
                <a16:creationId xmlns:a16="http://schemas.microsoft.com/office/drawing/2014/main" id="{4B013A23-FBDD-8A01-99CB-50ECF229E8C7}"/>
              </a:ext>
            </a:extLst>
          </p:cNvPr>
          <p:cNvSpPr txBox="1"/>
          <p:nvPr/>
        </p:nvSpPr>
        <p:spPr>
          <a:xfrm>
            <a:off x="1595741" y="-97837"/>
            <a:ext cx="9000518" cy="730020"/>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4</a:t>
            </a:r>
            <a:r>
              <a:rPr lang="en-US" sz="2800" b="1" u="sng" dirty="0">
                <a:solidFill>
                  <a:srgbClr val="0070C0"/>
                </a:solidFill>
              </a:rPr>
              <a:t> -  the function “DoFFT”</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EF3DEAAA-7061-1B5E-D239-86DB5C4067AC}"/>
              </a:ext>
            </a:extLst>
          </p:cNvPr>
          <p:cNvPicPr>
            <a:picLocks noChangeAspect="1"/>
          </p:cNvPicPr>
          <p:nvPr/>
        </p:nvPicPr>
        <p:blipFill>
          <a:blip r:embed="rId2"/>
          <a:stretch>
            <a:fillRect/>
          </a:stretch>
        </p:blipFill>
        <p:spPr>
          <a:xfrm>
            <a:off x="0" y="1430566"/>
            <a:ext cx="12192000" cy="3529940"/>
          </a:xfrm>
          <a:prstGeom prst="rect">
            <a:avLst/>
          </a:prstGeom>
        </p:spPr>
      </p:pic>
    </p:spTree>
    <p:extLst>
      <p:ext uri="{BB962C8B-B14F-4D97-AF65-F5344CB8AC3E}">
        <p14:creationId xmlns:p14="http://schemas.microsoft.com/office/powerpoint/2010/main" val="390190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0197" y="6731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10</a:t>
            </a:fld>
            <a:endParaRPr lang="he-IL" sz="1600" dirty="0"/>
          </a:p>
        </p:txBody>
      </p:sp>
      <p:sp>
        <p:nvSpPr>
          <p:cNvPr id="2" name="Google Shape;60;p14">
            <a:extLst>
              <a:ext uri="{FF2B5EF4-FFF2-40B4-BE49-F238E27FC236}">
                <a16:creationId xmlns:a16="http://schemas.microsoft.com/office/drawing/2014/main" id="{ED7D8677-CD8F-7153-E0F5-1CD1A24739EF}"/>
              </a:ext>
            </a:extLst>
          </p:cNvPr>
          <p:cNvSpPr txBox="1"/>
          <p:nvPr/>
        </p:nvSpPr>
        <p:spPr>
          <a:xfrm>
            <a:off x="1323164" y="-49141"/>
            <a:ext cx="9545672" cy="632858"/>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5</a:t>
            </a:r>
            <a:r>
              <a:rPr lang="en-US" sz="2800" b="1" u="sng" dirty="0">
                <a:solidFill>
                  <a:srgbClr val="0070C0"/>
                </a:solidFill>
              </a:rPr>
              <a:t> -  the function “ShiftHalfSize”</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D02F31E0-555F-90B3-D9FE-CAE387B7B73C}"/>
              </a:ext>
            </a:extLst>
          </p:cNvPr>
          <p:cNvPicPr>
            <a:picLocks noChangeAspect="1"/>
          </p:cNvPicPr>
          <p:nvPr/>
        </p:nvPicPr>
        <p:blipFill>
          <a:blip r:embed="rId2"/>
          <a:stretch>
            <a:fillRect/>
          </a:stretch>
        </p:blipFill>
        <p:spPr>
          <a:xfrm>
            <a:off x="0" y="1027180"/>
            <a:ext cx="9131151" cy="4575952"/>
          </a:xfrm>
          <a:prstGeom prst="rect">
            <a:avLst/>
          </a:prstGeom>
        </p:spPr>
      </p:pic>
    </p:spTree>
    <p:extLst>
      <p:ext uri="{BB962C8B-B14F-4D97-AF65-F5344CB8AC3E}">
        <p14:creationId xmlns:p14="http://schemas.microsoft.com/office/powerpoint/2010/main" val="1658420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9923" y="67310"/>
            <a:ext cx="402077"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11</a:t>
            </a:fld>
            <a:endParaRPr lang="he-IL" sz="1600" dirty="0"/>
          </a:p>
        </p:txBody>
      </p:sp>
      <p:pic>
        <p:nvPicPr>
          <p:cNvPr id="3" name="Picture 2">
            <a:extLst>
              <a:ext uri="{FF2B5EF4-FFF2-40B4-BE49-F238E27FC236}">
                <a16:creationId xmlns:a16="http://schemas.microsoft.com/office/drawing/2014/main" id="{043D4964-749D-E8DE-7A44-D62DDE3D97FF}"/>
              </a:ext>
            </a:extLst>
          </p:cNvPr>
          <p:cNvPicPr>
            <a:picLocks noChangeAspect="1"/>
          </p:cNvPicPr>
          <p:nvPr/>
        </p:nvPicPr>
        <p:blipFill>
          <a:blip r:embed="rId2"/>
          <a:stretch>
            <a:fillRect/>
          </a:stretch>
        </p:blipFill>
        <p:spPr>
          <a:xfrm>
            <a:off x="0" y="1364431"/>
            <a:ext cx="12192000" cy="4129137"/>
          </a:xfrm>
          <a:prstGeom prst="rect">
            <a:avLst/>
          </a:prstGeom>
        </p:spPr>
      </p:pic>
      <p:sp>
        <p:nvSpPr>
          <p:cNvPr id="6" name="Google Shape;60;p14">
            <a:extLst>
              <a:ext uri="{FF2B5EF4-FFF2-40B4-BE49-F238E27FC236}">
                <a16:creationId xmlns:a16="http://schemas.microsoft.com/office/drawing/2014/main" id="{8F0329BA-0C28-C27C-1B63-DD0441FC9D51}"/>
              </a:ext>
            </a:extLst>
          </p:cNvPr>
          <p:cNvSpPr txBox="1"/>
          <p:nvPr/>
        </p:nvSpPr>
        <p:spPr>
          <a:xfrm>
            <a:off x="901429" y="9001"/>
            <a:ext cx="10389141" cy="62329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6</a:t>
            </a:r>
            <a:r>
              <a:rPr lang="en-US" sz="2800" b="1" u="sng" dirty="0">
                <a:solidFill>
                  <a:srgbClr val="0070C0"/>
                </a:solidFill>
              </a:rPr>
              <a:t> -  the function “CreateRectangle”</a:t>
            </a:r>
            <a:endParaRPr lang="en-US" sz="2800" b="1" u="sng" dirty="0">
              <a:solidFill>
                <a:srgbClr val="FF0000"/>
              </a:solidFill>
            </a:endParaRPr>
          </a:p>
          <a:p>
            <a:pPr algn="ctr"/>
            <a:endParaRPr lang="en-US" sz="2000" b="1" u="sng" dirty="0">
              <a:solidFill>
                <a:srgbClr val="FF0000"/>
              </a:solidFill>
            </a:endParaRPr>
          </a:p>
        </p:txBody>
      </p:sp>
    </p:spTree>
    <p:extLst>
      <p:ext uri="{BB962C8B-B14F-4D97-AF65-F5344CB8AC3E}">
        <p14:creationId xmlns:p14="http://schemas.microsoft.com/office/powerpoint/2010/main" val="2196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0196" y="6731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12</a:t>
            </a:fld>
            <a:endParaRPr lang="he-IL" sz="1600" dirty="0"/>
          </a:p>
        </p:txBody>
      </p:sp>
      <p:sp>
        <p:nvSpPr>
          <p:cNvPr id="2" name="Google Shape;60;p14">
            <a:extLst>
              <a:ext uri="{FF2B5EF4-FFF2-40B4-BE49-F238E27FC236}">
                <a16:creationId xmlns:a16="http://schemas.microsoft.com/office/drawing/2014/main" id="{EC55AB99-CE04-D96C-343A-261D27A1411E}"/>
              </a:ext>
            </a:extLst>
          </p:cNvPr>
          <p:cNvSpPr txBox="1"/>
          <p:nvPr/>
        </p:nvSpPr>
        <p:spPr>
          <a:xfrm>
            <a:off x="1060517" y="-44393"/>
            <a:ext cx="10070965" cy="67669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7</a:t>
            </a:r>
            <a:r>
              <a:rPr lang="en-US" sz="2800" b="1" u="sng" dirty="0">
                <a:solidFill>
                  <a:srgbClr val="0070C0"/>
                </a:solidFill>
              </a:rPr>
              <a:t> -  the function “DoFiltrationInFD”</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241B305D-1AE4-AD92-62D1-1537047DCCE8}"/>
              </a:ext>
            </a:extLst>
          </p:cNvPr>
          <p:cNvPicPr>
            <a:picLocks noChangeAspect="1"/>
          </p:cNvPicPr>
          <p:nvPr/>
        </p:nvPicPr>
        <p:blipFill>
          <a:blip r:embed="rId2"/>
          <a:stretch>
            <a:fillRect/>
          </a:stretch>
        </p:blipFill>
        <p:spPr>
          <a:xfrm>
            <a:off x="0" y="2069700"/>
            <a:ext cx="12192000" cy="2718599"/>
          </a:xfrm>
          <a:prstGeom prst="rect">
            <a:avLst/>
          </a:prstGeom>
        </p:spPr>
      </p:pic>
    </p:spTree>
    <p:extLst>
      <p:ext uri="{BB962C8B-B14F-4D97-AF65-F5344CB8AC3E}">
        <p14:creationId xmlns:p14="http://schemas.microsoft.com/office/powerpoint/2010/main" val="1281948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31557" y="67310"/>
            <a:ext cx="460443"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13</a:t>
            </a:fld>
            <a:endParaRPr lang="he-IL" sz="1600" dirty="0"/>
          </a:p>
        </p:txBody>
      </p:sp>
      <p:sp>
        <p:nvSpPr>
          <p:cNvPr id="2" name="Google Shape;60;p14">
            <a:extLst>
              <a:ext uri="{FF2B5EF4-FFF2-40B4-BE49-F238E27FC236}">
                <a16:creationId xmlns:a16="http://schemas.microsoft.com/office/drawing/2014/main" id="{1050772E-41E8-3909-1F19-91FB9D126D93}"/>
              </a:ext>
            </a:extLst>
          </p:cNvPr>
          <p:cNvSpPr txBox="1"/>
          <p:nvPr/>
        </p:nvSpPr>
        <p:spPr>
          <a:xfrm>
            <a:off x="460444" y="-20131"/>
            <a:ext cx="11131482" cy="88589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8</a:t>
            </a:r>
            <a:r>
              <a:rPr lang="en-US" sz="2800" b="1" u="sng" dirty="0">
                <a:solidFill>
                  <a:srgbClr val="0070C0"/>
                </a:solidFill>
              </a:rPr>
              <a:t> -  the function “PrepareGaussianFilter”</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DD95B7D5-FE3A-DEE5-B46F-DB6FBC27CC30}"/>
              </a:ext>
            </a:extLst>
          </p:cNvPr>
          <p:cNvPicPr>
            <a:picLocks noChangeAspect="1"/>
          </p:cNvPicPr>
          <p:nvPr/>
        </p:nvPicPr>
        <p:blipFill>
          <a:blip r:embed="rId2"/>
          <a:stretch>
            <a:fillRect/>
          </a:stretch>
        </p:blipFill>
        <p:spPr>
          <a:xfrm>
            <a:off x="0" y="1175931"/>
            <a:ext cx="9212919" cy="4038095"/>
          </a:xfrm>
          <a:prstGeom prst="rect">
            <a:avLst/>
          </a:prstGeom>
        </p:spPr>
      </p:pic>
    </p:spTree>
    <p:extLst>
      <p:ext uri="{BB962C8B-B14F-4D97-AF65-F5344CB8AC3E}">
        <p14:creationId xmlns:p14="http://schemas.microsoft.com/office/powerpoint/2010/main" val="58662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21830" y="67310"/>
            <a:ext cx="47017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14</a:t>
            </a:fld>
            <a:endParaRPr lang="he-IL" sz="1600" dirty="0"/>
          </a:p>
        </p:txBody>
      </p:sp>
      <p:sp>
        <p:nvSpPr>
          <p:cNvPr id="2" name="Google Shape;60;p14">
            <a:extLst>
              <a:ext uri="{FF2B5EF4-FFF2-40B4-BE49-F238E27FC236}">
                <a16:creationId xmlns:a16="http://schemas.microsoft.com/office/drawing/2014/main" id="{3F98BB67-E151-74C1-9F9D-C1352BCFFDFA}"/>
              </a:ext>
            </a:extLst>
          </p:cNvPr>
          <p:cNvSpPr txBox="1"/>
          <p:nvPr/>
        </p:nvSpPr>
        <p:spPr>
          <a:xfrm>
            <a:off x="632297" y="-63905"/>
            <a:ext cx="10771559" cy="662156"/>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9</a:t>
            </a:r>
            <a:r>
              <a:rPr lang="en-US" sz="2800" b="1" u="sng" dirty="0">
                <a:solidFill>
                  <a:srgbClr val="0070C0"/>
                </a:solidFill>
              </a:rPr>
              <a:t> -  the function “CreateGreyGaussian”</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0B578051-76C6-A671-579A-DC7D53489644}"/>
              </a:ext>
            </a:extLst>
          </p:cNvPr>
          <p:cNvPicPr>
            <a:picLocks noChangeAspect="1"/>
          </p:cNvPicPr>
          <p:nvPr/>
        </p:nvPicPr>
        <p:blipFill>
          <a:blip r:embed="rId2"/>
          <a:stretch>
            <a:fillRect/>
          </a:stretch>
        </p:blipFill>
        <p:spPr>
          <a:xfrm>
            <a:off x="-1" y="1235413"/>
            <a:ext cx="10852697" cy="3664287"/>
          </a:xfrm>
          <a:prstGeom prst="rect">
            <a:avLst/>
          </a:prstGeom>
        </p:spPr>
      </p:pic>
    </p:spTree>
    <p:extLst>
      <p:ext uri="{BB962C8B-B14F-4D97-AF65-F5344CB8AC3E}">
        <p14:creationId xmlns:p14="http://schemas.microsoft.com/office/powerpoint/2010/main" val="672051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41285" y="67310"/>
            <a:ext cx="450715"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15</a:t>
            </a:fld>
            <a:endParaRPr lang="he-IL" sz="1600" dirty="0"/>
          </a:p>
        </p:txBody>
      </p:sp>
      <p:sp>
        <p:nvSpPr>
          <p:cNvPr id="2" name="Google Shape;60;p14">
            <a:extLst>
              <a:ext uri="{FF2B5EF4-FFF2-40B4-BE49-F238E27FC236}">
                <a16:creationId xmlns:a16="http://schemas.microsoft.com/office/drawing/2014/main" id="{5903F32E-636C-7097-C29C-4509CB3BA01D}"/>
              </a:ext>
            </a:extLst>
          </p:cNvPr>
          <p:cNvSpPr txBox="1"/>
          <p:nvPr/>
        </p:nvSpPr>
        <p:spPr>
          <a:xfrm>
            <a:off x="1060517" y="-97952"/>
            <a:ext cx="10070965" cy="730020"/>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10</a:t>
            </a:r>
            <a:r>
              <a:rPr lang="en-US" sz="2800" b="1" u="sng" dirty="0">
                <a:solidFill>
                  <a:srgbClr val="0070C0"/>
                </a:solidFill>
              </a:rPr>
              <a:t> -  the function “CreateHFEF”</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97E12208-4EA3-EACC-F727-05899378E559}"/>
              </a:ext>
            </a:extLst>
          </p:cNvPr>
          <p:cNvPicPr>
            <a:picLocks noChangeAspect="1"/>
          </p:cNvPicPr>
          <p:nvPr/>
        </p:nvPicPr>
        <p:blipFill>
          <a:blip r:embed="rId2"/>
          <a:stretch>
            <a:fillRect/>
          </a:stretch>
        </p:blipFill>
        <p:spPr>
          <a:xfrm>
            <a:off x="0" y="1438072"/>
            <a:ext cx="9576047" cy="3202022"/>
          </a:xfrm>
          <a:prstGeom prst="rect">
            <a:avLst/>
          </a:prstGeom>
        </p:spPr>
      </p:pic>
    </p:spTree>
    <p:extLst>
      <p:ext uri="{BB962C8B-B14F-4D97-AF65-F5344CB8AC3E}">
        <p14:creationId xmlns:p14="http://schemas.microsoft.com/office/powerpoint/2010/main" val="35134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692647" y="67310"/>
            <a:ext cx="499353"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16</a:t>
            </a:fld>
            <a:endParaRPr lang="he-IL" sz="1600" dirty="0"/>
          </a:p>
        </p:txBody>
      </p:sp>
      <p:sp>
        <p:nvSpPr>
          <p:cNvPr id="2" name="Google Shape;60;p14">
            <a:extLst>
              <a:ext uri="{FF2B5EF4-FFF2-40B4-BE49-F238E27FC236}">
                <a16:creationId xmlns:a16="http://schemas.microsoft.com/office/drawing/2014/main" id="{B20E565D-62D5-D3B9-C6DB-5F2DBDC70C2D}"/>
              </a:ext>
            </a:extLst>
          </p:cNvPr>
          <p:cNvSpPr txBox="1"/>
          <p:nvPr/>
        </p:nvSpPr>
        <p:spPr>
          <a:xfrm>
            <a:off x="416769" y="-139058"/>
            <a:ext cx="11131483"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11</a:t>
            </a:r>
            <a:r>
              <a:rPr lang="en-US" sz="2800" b="1" u="sng" dirty="0">
                <a:solidFill>
                  <a:srgbClr val="0070C0"/>
                </a:solidFill>
              </a:rPr>
              <a:t>  -  the function “DoGaussianFiltration”</a:t>
            </a:r>
            <a:endParaRPr lang="en-US" sz="2800" b="1" u="sng" dirty="0">
              <a:solidFill>
                <a:srgbClr val="FF0000"/>
              </a:solidFill>
            </a:endParaRPr>
          </a:p>
          <a:p>
            <a:pPr algn="ctr"/>
            <a:endParaRPr lang="en-US" sz="2000" b="1" u="sng" dirty="0">
              <a:solidFill>
                <a:srgbClr val="FF0000"/>
              </a:solidFill>
            </a:endParaRPr>
          </a:p>
        </p:txBody>
      </p:sp>
      <p:pic>
        <p:nvPicPr>
          <p:cNvPr id="6" name="Picture 5">
            <a:extLst>
              <a:ext uri="{FF2B5EF4-FFF2-40B4-BE49-F238E27FC236}">
                <a16:creationId xmlns:a16="http://schemas.microsoft.com/office/drawing/2014/main" id="{5001162A-693C-F255-9809-C58EE885DA80}"/>
              </a:ext>
            </a:extLst>
          </p:cNvPr>
          <p:cNvPicPr>
            <a:picLocks noChangeAspect="1"/>
          </p:cNvPicPr>
          <p:nvPr/>
        </p:nvPicPr>
        <p:blipFill>
          <a:blip r:embed="rId2"/>
          <a:stretch>
            <a:fillRect/>
          </a:stretch>
        </p:blipFill>
        <p:spPr>
          <a:xfrm>
            <a:off x="68094" y="519213"/>
            <a:ext cx="11828834" cy="6338787"/>
          </a:xfrm>
          <a:prstGeom prst="rect">
            <a:avLst/>
          </a:prstGeom>
        </p:spPr>
      </p:pic>
    </p:spTree>
    <p:extLst>
      <p:ext uri="{BB962C8B-B14F-4D97-AF65-F5344CB8AC3E}">
        <p14:creationId xmlns:p14="http://schemas.microsoft.com/office/powerpoint/2010/main" val="2255344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5231" y="67310"/>
            <a:ext cx="416769"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17</a:t>
            </a:fld>
            <a:endParaRPr lang="he-IL" sz="1600" dirty="0"/>
          </a:p>
        </p:txBody>
      </p:sp>
      <p:sp>
        <p:nvSpPr>
          <p:cNvPr id="3" name="Google Shape;60;p14">
            <a:extLst>
              <a:ext uri="{FF2B5EF4-FFF2-40B4-BE49-F238E27FC236}">
                <a16:creationId xmlns:a16="http://schemas.microsoft.com/office/drawing/2014/main" id="{ADE42C8F-A88C-3FCB-AE6B-0F8DEBB3E82F}"/>
              </a:ext>
            </a:extLst>
          </p:cNvPr>
          <p:cNvSpPr txBox="1"/>
          <p:nvPr/>
        </p:nvSpPr>
        <p:spPr>
          <a:xfrm>
            <a:off x="1839389" y="-81374"/>
            <a:ext cx="8513222"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a:t>
            </a:r>
            <a:r>
              <a:rPr lang="en-US" sz="2800" b="1" u="sng" dirty="0">
                <a:solidFill>
                  <a:srgbClr val="0070C0"/>
                </a:solidFill>
              </a:rPr>
              <a:t>  -  the function “main”</a:t>
            </a:r>
            <a:endParaRPr lang="en-US" sz="2800" b="1" u="sng" dirty="0">
              <a:solidFill>
                <a:srgbClr val="FF0000"/>
              </a:solidFill>
            </a:endParaRPr>
          </a:p>
          <a:p>
            <a:pPr algn="ctr"/>
            <a:endParaRPr lang="en-US" sz="2000" b="1" u="sng" dirty="0">
              <a:solidFill>
                <a:srgbClr val="FF0000"/>
              </a:solidFill>
            </a:endParaRPr>
          </a:p>
        </p:txBody>
      </p:sp>
    </p:spTree>
    <p:extLst>
      <p:ext uri="{BB962C8B-B14F-4D97-AF65-F5344CB8AC3E}">
        <p14:creationId xmlns:p14="http://schemas.microsoft.com/office/powerpoint/2010/main" val="1325870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0468" y="67310"/>
            <a:ext cx="42153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18</a:t>
            </a:fld>
            <a:endParaRPr lang="he-IL" sz="1600" dirty="0"/>
          </a:p>
        </p:txBody>
      </p:sp>
      <p:sp>
        <p:nvSpPr>
          <p:cNvPr id="2" name="Google Shape;60;p14">
            <a:extLst>
              <a:ext uri="{FF2B5EF4-FFF2-40B4-BE49-F238E27FC236}">
                <a16:creationId xmlns:a16="http://schemas.microsoft.com/office/drawing/2014/main" id="{1515AB9E-6D28-EF83-3271-40DBF6EA2014}"/>
              </a:ext>
            </a:extLst>
          </p:cNvPr>
          <p:cNvSpPr txBox="1"/>
          <p:nvPr/>
        </p:nvSpPr>
        <p:spPr>
          <a:xfrm>
            <a:off x="1839389" y="-139058"/>
            <a:ext cx="8513222"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a:t>
            </a:r>
            <a:r>
              <a:rPr lang="en-US" sz="2800" b="1" u="sng" dirty="0">
                <a:solidFill>
                  <a:srgbClr val="0070C0"/>
                </a:solidFill>
              </a:rPr>
              <a:t>  -  the function “main”</a:t>
            </a:r>
            <a:endParaRPr lang="en-US" sz="2800" b="1" u="sng" dirty="0">
              <a:solidFill>
                <a:srgbClr val="FF0000"/>
              </a:solidFill>
            </a:endParaRPr>
          </a:p>
          <a:p>
            <a:pPr algn="ctr"/>
            <a:endParaRPr lang="en-US" sz="2000" b="1" u="sng" dirty="0">
              <a:solidFill>
                <a:srgbClr val="FF0000"/>
              </a:solidFill>
            </a:endParaRPr>
          </a:p>
        </p:txBody>
      </p:sp>
    </p:spTree>
    <p:extLst>
      <p:ext uri="{BB962C8B-B14F-4D97-AF65-F5344CB8AC3E}">
        <p14:creationId xmlns:p14="http://schemas.microsoft.com/office/powerpoint/2010/main" val="620785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19</a:t>
            </a:fld>
            <a:endParaRPr lang="he-IL" sz="1600" dirty="0"/>
          </a:p>
        </p:txBody>
      </p:sp>
      <p:sp>
        <p:nvSpPr>
          <p:cNvPr id="2" name="Google Shape;60;p14">
            <a:extLst>
              <a:ext uri="{FF2B5EF4-FFF2-40B4-BE49-F238E27FC236}">
                <a16:creationId xmlns:a16="http://schemas.microsoft.com/office/drawing/2014/main" id="{3E792CA4-FA6B-80B1-C586-300421198DF9}"/>
              </a:ext>
            </a:extLst>
          </p:cNvPr>
          <p:cNvSpPr txBox="1"/>
          <p:nvPr/>
        </p:nvSpPr>
        <p:spPr>
          <a:xfrm>
            <a:off x="1839389" y="-81374"/>
            <a:ext cx="8513222"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13</a:t>
            </a:r>
            <a:r>
              <a:rPr lang="en-US" sz="2800" b="1" u="sng" dirty="0">
                <a:solidFill>
                  <a:srgbClr val="0070C0"/>
                </a:solidFill>
              </a:rPr>
              <a:t>  -  the function “work”</a:t>
            </a:r>
            <a:endParaRPr lang="en-US" sz="2800" b="1" u="sng" dirty="0">
              <a:solidFill>
                <a:srgbClr val="FF0000"/>
              </a:solidFill>
            </a:endParaRPr>
          </a:p>
          <a:p>
            <a:pPr algn="ctr"/>
            <a:endParaRPr lang="en-US" sz="2000" b="1" u="sng" dirty="0">
              <a:solidFill>
                <a:srgbClr val="FF0000"/>
              </a:solidFill>
            </a:endParaRPr>
          </a:p>
        </p:txBody>
      </p:sp>
    </p:spTree>
    <p:extLst>
      <p:ext uri="{BB962C8B-B14F-4D97-AF65-F5344CB8AC3E}">
        <p14:creationId xmlns:p14="http://schemas.microsoft.com/office/powerpoint/2010/main" val="3685991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20</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2140466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21</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382410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22</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1371293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23</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2195790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24</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2338134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25</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570067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26</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1004784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27</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737314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28</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274050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29</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4159400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30</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2709324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31</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152182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32</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1822998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33</a:t>
            </a:fld>
            <a:endParaRPr lang="he-IL" sz="1600" dirty="0"/>
          </a:p>
        </p:txBody>
      </p:sp>
      <p:sp>
        <p:nvSpPr>
          <p:cNvPr id="5" name="Google Shape;60;p14">
            <a:extLst>
              <a:ext uri="{FF2B5EF4-FFF2-40B4-BE49-F238E27FC236}">
                <a16:creationId xmlns:a16="http://schemas.microsoft.com/office/drawing/2014/main" id="{18F9700B-E142-8CB8-C269-EE81FE98BC80}"/>
              </a:ext>
            </a:extLst>
          </p:cNvPr>
          <p:cNvSpPr txBox="1"/>
          <p:nvPr/>
        </p:nvSpPr>
        <p:spPr>
          <a:xfrm>
            <a:off x="2000655" y="-97722"/>
            <a:ext cx="8190689" cy="530157"/>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function “DoFiltationByConvolution”</a:t>
            </a:r>
            <a:endParaRPr lang="en-US" sz="2800" b="1" u="sng" dirty="0">
              <a:solidFill>
                <a:srgbClr val="FF0000"/>
              </a:solidFill>
            </a:endParaRPr>
          </a:p>
          <a:p>
            <a:pPr algn="ctr"/>
            <a:endParaRPr sz="2000" b="1" u="sng" dirty="0">
              <a:solidFill>
                <a:srgbClr val="FF0000"/>
              </a:solidFill>
            </a:endParaRPr>
          </a:p>
        </p:txBody>
      </p:sp>
    </p:spTree>
    <p:extLst>
      <p:ext uri="{BB962C8B-B14F-4D97-AF65-F5344CB8AC3E}">
        <p14:creationId xmlns:p14="http://schemas.microsoft.com/office/powerpoint/2010/main" val="3745324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847</Words>
  <Application>Microsoft Office PowerPoint</Application>
  <PresentationFormat>Widescreen</PresentationFormat>
  <Paragraphs>99</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8</cp:revision>
  <dcterms:created xsi:type="dcterms:W3CDTF">2024-08-21T11:57:32Z</dcterms:created>
  <dcterms:modified xsi:type="dcterms:W3CDTF">2024-08-21T13:12:50Z</dcterms:modified>
</cp:coreProperties>
</file>