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7" r:id="rId2"/>
    <p:sldId id="258" r:id="rId3"/>
    <p:sldId id="259" r:id="rId4"/>
    <p:sldId id="260" r:id="rId5"/>
    <p:sldId id="288" r:id="rId6"/>
    <p:sldId id="289"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90" r:id="rId21"/>
    <p:sldId id="291" r:id="rId22"/>
    <p:sldId id="292" r:id="rId23"/>
    <p:sldId id="293" r:id="rId24"/>
    <p:sldId id="294" r:id="rId25"/>
    <p:sldId id="295" r:id="rId26"/>
    <p:sldId id="296" r:id="rId27"/>
    <p:sldId id="297" r:id="rId28"/>
    <p:sldId id="298" r:id="rId29"/>
    <p:sldId id="299" r:id="rId30"/>
    <p:sldId id="300" r:id="rId31"/>
    <p:sldId id="301" r:id="rId32"/>
    <p:sldId id="302" r:id="rId33"/>
    <p:sldId id="303" r:id="rId34"/>
    <p:sldId id="304" r:id="rId35"/>
    <p:sldId id="305" r:id="rId36"/>
    <p:sldId id="306" r:id="rId37"/>
    <p:sldId id="307" r:id="rId38"/>
    <p:sldId id="310" r:id="rId39"/>
    <p:sldId id="311" r:id="rId40"/>
    <p:sldId id="308" r:id="rId41"/>
    <p:sldId id="309" r:id="rId42"/>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9" d="100"/>
          <a:sy n="79" d="100"/>
        </p:scale>
        <p:origin x="85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E687A6BE-6B40-4876-A71E-964C5C1B790A}" type="datetimeFigureOut">
              <a:rPr lang="he-IL" smtClean="0"/>
              <a:t>כ"א/אב/תשפ"ד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4163BB08-072F-4A32-B43D-B380A3784E1F}" type="slidenum">
              <a:rPr lang="he-IL" smtClean="0"/>
              <a:t>‹#›</a:t>
            </a:fld>
            <a:endParaRPr lang="he-IL"/>
          </a:p>
        </p:txBody>
      </p:sp>
    </p:spTree>
    <p:extLst>
      <p:ext uri="{BB962C8B-B14F-4D97-AF65-F5344CB8AC3E}">
        <p14:creationId xmlns:p14="http://schemas.microsoft.com/office/powerpoint/2010/main" val="428207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3</a:t>
            </a:fld>
            <a:endParaRPr lang="he-IL"/>
          </a:p>
        </p:txBody>
      </p:sp>
    </p:spTree>
    <p:extLst>
      <p:ext uri="{BB962C8B-B14F-4D97-AF65-F5344CB8AC3E}">
        <p14:creationId xmlns:p14="http://schemas.microsoft.com/office/powerpoint/2010/main" val="345090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5</a:t>
            </a:fld>
            <a:endParaRPr lang="he-IL"/>
          </a:p>
        </p:txBody>
      </p:sp>
    </p:spTree>
    <p:extLst>
      <p:ext uri="{BB962C8B-B14F-4D97-AF65-F5344CB8AC3E}">
        <p14:creationId xmlns:p14="http://schemas.microsoft.com/office/powerpoint/2010/main" val="398644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9</a:t>
            </a:fld>
            <a:endParaRPr lang="he-IL"/>
          </a:p>
        </p:txBody>
      </p:sp>
    </p:spTree>
    <p:extLst>
      <p:ext uri="{BB962C8B-B14F-4D97-AF65-F5344CB8AC3E}">
        <p14:creationId xmlns:p14="http://schemas.microsoft.com/office/powerpoint/2010/main" val="11846516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23</a:t>
            </a:fld>
            <a:endParaRPr lang="he-IL"/>
          </a:p>
        </p:txBody>
      </p:sp>
    </p:spTree>
    <p:extLst>
      <p:ext uri="{BB962C8B-B14F-4D97-AF65-F5344CB8AC3E}">
        <p14:creationId xmlns:p14="http://schemas.microsoft.com/office/powerpoint/2010/main" val="13609746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25</a:t>
            </a:fld>
            <a:endParaRPr lang="he-IL"/>
          </a:p>
        </p:txBody>
      </p:sp>
    </p:spTree>
    <p:extLst>
      <p:ext uri="{BB962C8B-B14F-4D97-AF65-F5344CB8AC3E}">
        <p14:creationId xmlns:p14="http://schemas.microsoft.com/office/powerpoint/2010/main" val="3725104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26FF2-8D14-F99C-D58F-717A4E9845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DDC57680-4C6F-E747-2BDF-8590B41E54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D147D3ED-9530-B34D-9562-34E1A8A87C0E}"/>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A4EE62B1-CCE0-D4C1-477A-2F7540C99A2D}"/>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DF73B8B-3958-F4EA-2519-77C95235D287}"/>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2971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2E1A5-49D9-41EB-A79F-DA16EBDDFD46}"/>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9C71FA8F-FA0A-B244-0C9C-E196FE763E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C860A2DD-4915-F5A0-3242-BD8F3427D000}"/>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635F7590-7F70-50A3-F326-D9FAFD5B4987}"/>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6C94C236-30FC-7FAD-2435-84043BB88BDB}"/>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1603505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DE4A1-4FF8-5740-5CF1-0833969FEF4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001AE398-F7B2-5EE4-8ECF-E2D8306980E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CA7F804-01D5-A924-1FBB-0D59240D53D1}"/>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ACC949D2-7FD3-ACE3-408F-D40BC23AA2B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7BCE0599-5AF5-935E-C506-F7961BF79030}"/>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4942201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E82C5-CD86-584C-DE57-631798958BDF}"/>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19480EA4-E2DB-9CA1-192F-ED36A5E160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AEF6AD8F-029C-B90E-6A8D-66716A9F913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9C2C5F17-BA1D-0623-A7FC-BCF8E34E2959}"/>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6" name="Footer Placeholder 5">
            <a:extLst>
              <a:ext uri="{FF2B5EF4-FFF2-40B4-BE49-F238E27FC236}">
                <a16:creationId xmlns:a16="http://schemas.microsoft.com/office/drawing/2014/main" id="{56E86B00-FE9B-6F48-D394-F57CA3CFCAF2}"/>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0115EEB3-8BC0-306A-405C-8D19049F17FE}"/>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983808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A0307-08AA-4771-3889-D6A00DEF1905}"/>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3FF60422-8AF7-4553-A185-3E8DDC489D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96D6A0-CC8C-4CBF-2306-A0F19865A0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28D7841F-9996-1C5D-C683-23E12A7301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AB1BEB-943F-0A13-1285-D27C6E74B7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F91462BD-B39C-0419-6541-CD4C2D02E65F}"/>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8" name="Footer Placeholder 7">
            <a:extLst>
              <a:ext uri="{FF2B5EF4-FFF2-40B4-BE49-F238E27FC236}">
                <a16:creationId xmlns:a16="http://schemas.microsoft.com/office/drawing/2014/main" id="{228DD70C-4D8B-3B2B-AC64-B1361A8099CD}"/>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DE14C33E-5AFE-8F81-8C5A-5CB09E18F7A3}"/>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68945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AA66A-AB61-5E96-92DD-C7A08869AC5D}"/>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0A727257-5FB4-5023-3B78-B1B1BE2474BB}"/>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4" name="Footer Placeholder 3">
            <a:extLst>
              <a:ext uri="{FF2B5EF4-FFF2-40B4-BE49-F238E27FC236}">
                <a16:creationId xmlns:a16="http://schemas.microsoft.com/office/drawing/2014/main" id="{A70828C7-D99A-94FB-912B-6C2A292EFC7B}"/>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A9719A4D-3AE8-9522-0F70-A790ADEE1C96}"/>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17714513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F6D2A-BDB6-7FC4-76D1-A80D4CB94857}"/>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3" name="Footer Placeholder 2">
            <a:extLst>
              <a:ext uri="{FF2B5EF4-FFF2-40B4-BE49-F238E27FC236}">
                <a16:creationId xmlns:a16="http://schemas.microsoft.com/office/drawing/2014/main" id="{DF8A1A6C-F074-D970-2450-0E1FDA9BBBCB}"/>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E61688E3-E8D2-DAEC-FA30-CF49AF493C13}"/>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4152324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BEB787-B2EF-8F1D-27D1-C95E55DB7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9252263F-CA78-4885-BCF8-BD978E6E71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4C803C21-04CD-0817-23E9-F4CA539482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B1B864-6AFF-4E99-2348-6DE71F3E73BC}"/>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6" name="Footer Placeholder 5">
            <a:extLst>
              <a:ext uri="{FF2B5EF4-FFF2-40B4-BE49-F238E27FC236}">
                <a16:creationId xmlns:a16="http://schemas.microsoft.com/office/drawing/2014/main" id="{2D7A018A-0709-4077-5284-24785BFB82FC}"/>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F6F27777-E42C-6467-78E0-6B33DE26D984}"/>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2246547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E0663-4F4D-5AE7-4917-C4A4435616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BD94AD4A-5A97-527A-94FE-425C0DC067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8ADD5137-97D5-5110-513F-6DECF5E6EC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28E252-0737-6BE1-F68A-E6339B96E212}"/>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6" name="Footer Placeholder 5">
            <a:extLst>
              <a:ext uri="{FF2B5EF4-FFF2-40B4-BE49-F238E27FC236}">
                <a16:creationId xmlns:a16="http://schemas.microsoft.com/office/drawing/2014/main" id="{13DE43ED-0126-D0FC-9298-D4035A4E8BA2}"/>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614D6086-3337-3385-A06F-977936F95FB7}"/>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739524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6D61C-C682-0D7D-2D3B-034F1A2156DD}"/>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196E05F0-8426-30CE-DD23-AE5389C6FB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AC7AB35D-A822-329B-05F2-5FADCAF4F604}"/>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C5C3F99E-FE0C-C22C-3F74-46EF94178C2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DA61744F-C536-8045-19B7-7836EF9D066E}"/>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0098425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0FEEBA-D611-918C-67E5-7DFDEDCA127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763F4CB8-5C1C-11BE-8890-2E80A91E18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F27490B6-4EAD-9CD8-8407-5A4802CFE232}"/>
              </a:ext>
            </a:extLst>
          </p:cNvPr>
          <p:cNvSpPr>
            <a:spLocks noGrp="1"/>
          </p:cNvSpPr>
          <p:nvPr>
            <p:ph type="dt" sz="half" idx="10"/>
          </p:nvPr>
        </p:nvSpPr>
        <p:spPr/>
        <p:txBody>
          <a:body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BD18B7A9-FD1B-953C-3013-3DD5530CF0AC}"/>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744F8676-C247-CF9A-8156-56BF624BE7C8}"/>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12015049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953A77-B665-E4DF-B8A0-A283DB083C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498950DA-8335-4AA3-B28B-D318B128C6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9D3E7BCE-12FF-E19A-77F8-7D08FB8255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D837E2-37D5-4833-9345-4D93E085864D}" type="datetimeFigureOut">
              <a:rPr lang="he-IL" smtClean="0"/>
              <a:t>כ"א/אב/תשפ"ד</a:t>
            </a:fld>
            <a:endParaRPr lang="he-IL"/>
          </a:p>
        </p:txBody>
      </p:sp>
      <p:sp>
        <p:nvSpPr>
          <p:cNvPr id="5" name="Footer Placeholder 4">
            <a:extLst>
              <a:ext uri="{FF2B5EF4-FFF2-40B4-BE49-F238E27FC236}">
                <a16:creationId xmlns:a16="http://schemas.microsoft.com/office/drawing/2014/main" id="{0CCD66EF-45F8-EF43-317B-E6911180E0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136033FB-FDA9-AF14-8116-08B629A72B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9F542-7798-4398-84FF-BFF3125C04BE}" type="slidenum">
              <a:rPr lang="he-IL" smtClean="0"/>
              <a:t>‹#›</a:t>
            </a:fld>
            <a:endParaRPr lang="he-IL"/>
          </a:p>
        </p:txBody>
      </p:sp>
    </p:spTree>
    <p:extLst>
      <p:ext uri="{BB962C8B-B14F-4D97-AF65-F5344CB8AC3E}">
        <p14:creationId xmlns:p14="http://schemas.microsoft.com/office/powerpoint/2010/main" val="1261555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a:extLst>
              <a:ext uri="{FF2B5EF4-FFF2-40B4-BE49-F238E27FC236}">
                <a16:creationId xmlns:a16="http://schemas.microsoft.com/office/drawing/2014/main" id="{89040994-C98F-94F7-5C25-8286D3B11EAF}"/>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a:t>
            </a:fld>
            <a:endParaRPr lang="he-IL" sz="1600" dirty="0"/>
          </a:p>
        </p:txBody>
      </p:sp>
      <p:graphicFrame>
        <p:nvGraphicFramePr>
          <p:cNvPr id="2" name="Table 1">
            <a:extLst>
              <a:ext uri="{FF2B5EF4-FFF2-40B4-BE49-F238E27FC236}">
                <a16:creationId xmlns:a16="http://schemas.microsoft.com/office/drawing/2014/main" id="{67320C74-0170-4209-911A-2E86279BDFC0}"/>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8" name="Picture 7" descr="A person in a uniform&#10;&#10;Description automatically generated">
            <a:extLst>
              <a:ext uri="{FF2B5EF4-FFF2-40B4-BE49-F238E27FC236}">
                <a16:creationId xmlns:a16="http://schemas.microsoft.com/office/drawing/2014/main" id="{838ECAA4-F6D6-5E3A-5583-2F9291A3A117}"/>
              </a:ext>
            </a:extLst>
          </p:cNvPr>
          <p:cNvPicPr>
            <a:picLocks noChangeAspect="1"/>
          </p:cNvPicPr>
          <p:nvPr/>
        </p:nvPicPr>
        <p:blipFill>
          <a:blip r:embed="rId2"/>
          <a:stretch>
            <a:fillRect/>
          </a:stretch>
        </p:blipFill>
        <p:spPr>
          <a:xfrm>
            <a:off x="6095999" y="4626893"/>
            <a:ext cx="1462391" cy="2065735"/>
          </a:xfrm>
          <a:prstGeom prst="rect">
            <a:avLst/>
          </a:prstGeom>
        </p:spPr>
      </p:pic>
      <p:pic>
        <p:nvPicPr>
          <p:cNvPr id="9" name="Picture 8">
            <a:extLst>
              <a:ext uri="{FF2B5EF4-FFF2-40B4-BE49-F238E27FC236}">
                <a16:creationId xmlns:a16="http://schemas.microsoft.com/office/drawing/2014/main" id="{4EBBE035-C93B-E94B-34FB-B9C3495FD497}"/>
              </a:ext>
            </a:extLst>
          </p:cNvPr>
          <p:cNvPicPr>
            <a:picLocks noChangeAspect="1"/>
          </p:cNvPicPr>
          <p:nvPr/>
        </p:nvPicPr>
        <p:blipFill>
          <a:blip r:embed="rId3"/>
          <a:stretch>
            <a:fillRect/>
          </a:stretch>
        </p:blipFill>
        <p:spPr>
          <a:xfrm>
            <a:off x="6095999" y="1608294"/>
            <a:ext cx="1550593" cy="2065735"/>
          </a:xfrm>
          <a:prstGeom prst="rect">
            <a:avLst/>
          </a:prstGeom>
        </p:spPr>
      </p:pic>
      <p:sp>
        <p:nvSpPr>
          <p:cNvPr id="14" name="Google Shape;55;p13">
            <a:extLst>
              <a:ext uri="{FF2B5EF4-FFF2-40B4-BE49-F238E27FC236}">
                <a16:creationId xmlns:a16="http://schemas.microsoft.com/office/drawing/2014/main" id="{4866D37C-A415-8616-52D0-7A47A0869F94}"/>
              </a:ext>
            </a:extLst>
          </p:cNvPr>
          <p:cNvSpPr txBox="1"/>
          <p:nvPr/>
        </p:nvSpPr>
        <p:spPr>
          <a:xfrm>
            <a:off x="2227435" y="-49285"/>
            <a:ext cx="7288042" cy="1409429"/>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Course: Image Processing 31651</a:t>
            </a:r>
            <a:br>
              <a:rPr lang="en" sz="2800" b="1" u="sng" dirty="0">
                <a:solidFill>
                  <a:srgbClr val="0070C0"/>
                </a:solidFill>
              </a:rPr>
            </a:br>
            <a:r>
              <a:rPr lang="en" sz="2800" b="1" u="sng" dirty="0">
                <a:solidFill>
                  <a:srgbClr val="0070C0"/>
                </a:solidFill>
              </a:rPr>
              <a:t>Micro Project 2 (MP2) : </a:t>
            </a:r>
            <a:r>
              <a:rPr lang="en-US" sz="2800" b="1" u="sng" dirty="0">
                <a:solidFill>
                  <a:srgbClr val="0070C0"/>
                </a:solidFill>
              </a:rPr>
              <a:t>Usage of Filtration</a:t>
            </a:r>
            <a:endParaRPr lang="en-US" sz="2800" b="1" u="sng" dirty="0">
              <a:solidFill>
                <a:srgbClr val="FF0000"/>
              </a:solidFill>
            </a:endParaRPr>
          </a:p>
          <a:p>
            <a:pPr algn="ctr"/>
            <a:r>
              <a:rPr lang="en-US" sz="2533" b="1" u="sng" dirty="0">
                <a:solidFill>
                  <a:srgbClr val="00B050"/>
                </a:solidFill>
              </a:rPr>
              <a:t>Date of submission : </a:t>
            </a:r>
            <a:endParaRPr sz="2533" b="1" u="sng" dirty="0">
              <a:solidFill>
                <a:srgbClr val="00B050"/>
              </a:solidFill>
            </a:endParaRPr>
          </a:p>
        </p:txBody>
      </p:sp>
      <p:pic>
        <p:nvPicPr>
          <p:cNvPr id="4" name="Picture 3" descr="A person taking a selfie in front of a building&#10;&#10;Description automatically generated">
            <a:extLst>
              <a:ext uri="{FF2B5EF4-FFF2-40B4-BE49-F238E27FC236}">
                <a16:creationId xmlns:a16="http://schemas.microsoft.com/office/drawing/2014/main" id="{00285330-5EA4-017A-44A0-51C3C73C45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5400000">
            <a:off x="8481750" y="3497546"/>
            <a:ext cx="2067455" cy="1550592"/>
          </a:xfrm>
          <a:prstGeom prst="rect">
            <a:avLst/>
          </a:prstGeom>
        </p:spPr>
      </p:pic>
    </p:spTree>
    <p:extLst>
      <p:ext uri="{BB962C8B-B14F-4D97-AF65-F5344CB8AC3E}">
        <p14:creationId xmlns:p14="http://schemas.microsoft.com/office/powerpoint/2010/main" val="283277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56392972-A889-3803-4C29-56F22A5793E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a:t>
            </a:fld>
            <a:endParaRPr lang="he-IL" sz="1600" dirty="0"/>
          </a:p>
        </p:txBody>
      </p:sp>
      <p:sp>
        <p:nvSpPr>
          <p:cNvPr id="5" name="Google Shape;60;p14">
            <a:extLst>
              <a:ext uri="{FF2B5EF4-FFF2-40B4-BE49-F238E27FC236}">
                <a16:creationId xmlns:a16="http://schemas.microsoft.com/office/drawing/2014/main" id="{63855DA2-D8CF-89D9-A572-8C80B7AD36BA}"/>
              </a:ext>
            </a:extLst>
          </p:cNvPr>
          <p:cNvSpPr txBox="1"/>
          <p:nvPr/>
        </p:nvSpPr>
        <p:spPr>
          <a:xfrm>
            <a:off x="705661" y="0"/>
            <a:ext cx="10780678" cy="639031"/>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Micro Project 2 (MP2) : </a:t>
            </a:r>
            <a:r>
              <a:rPr lang="en-US" sz="2800" b="1" u="sng" dirty="0">
                <a:solidFill>
                  <a:srgbClr val="0070C0"/>
                </a:solidFill>
              </a:rPr>
              <a:t>Usage of Filtration – </a:t>
            </a:r>
            <a:r>
              <a:rPr lang="en-US" sz="2800" b="1" u="sng" dirty="0">
                <a:solidFill>
                  <a:srgbClr val="FF0000"/>
                </a:solidFill>
              </a:rPr>
              <a:t>the given task: (part 1)</a:t>
            </a:r>
          </a:p>
        </p:txBody>
      </p:sp>
      <p:pic>
        <p:nvPicPr>
          <p:cNvPr id="7" name="Picture 6">
            <a:extLst>
              <a:ext uri="{FF2B5EF4-FFF2-40B4-BE49-F238E27FC236}">
                <a16:creationId xmlns:a16="http://schemas.microsoft.com/office/drawing/2014/main" id="{EF8C263D-29AC-92A1-CA0D-FC3C0E937AC5}"/>
              </a:ext>
            </a:extLst>
          </p:cNvPr>
          <p:cNvPicPr>
            <a:picLocks noChangeAspect="1"/>
          </p:cNvPicPr>
          <p:nvPr/>
        </p:nvPicPr>
        <p:blipFill>
          <a:blip r:embed="rId2"/>
          <a:stretch>
            <a:fillRect/>
          </a:stretch>
        </p:blipFill>
        <p:spPr>
          <a:xfrm>
            <a:off x="715382" y="639031"/>
            <a:ext cx="11163712" cy="5943600"/>
          </a:xfrm>
          <a:prstGeom prst="rect">
            <a:avLst/>
          </a:prstGeom>
        </p:spPr>
      </p:pic>
    </p:spTree>
    <p:extLst>
      <p:ext uri="{BB962C8B-B14F-4D97-AF65-F5344CB8AC3E}">
        <p14:creationId xmlns:p14="http://schemas.microsoft.com/office/powerpoint/2010/main" val="19991865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56392972-A889-3803-4C29-56F22A5793E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a:t>
            </a:fld>
            <a:endParaRPr lang="he-IL" sz="1600" dirty="0"/>
          </a:p>
        </p:txBody>
      </p:sp>
      <p:sp>
        <p:nvSpPr>
          <p:cNvPr id="5" name="Google Shape;60;p14">
            <a:extLst>
              <a:ext uri="{FF2B5EF4-FFF2-40B4-BE49-F238E27FC236}">
                <a16:creationId xmlns:a16="http://schemas.microsoft.com/office/drawing/2014/main" id="{63855DA2-D8CF-89D9-A572-8C80B7AD36BA}"/>
              </a:ext>
            </a:extLst>
          </p:cNvPr>
          <p:cNvSpPr txBox="1"/>
          <p:nvPr/>
        </p:nvSpPr>
        <p:spPr>
          <a:xfrm>
            <a:off x="627839" y="-89099"/>
            <a:ext cx="10780678" cy="677942"/>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Micro Project 2 (MP2) : </a:t>
            </a:r>
            <a:r>
              <a:rPr lang="en-US" sz="2800" b="1" u="sng" dirty="0">
                <a:solidFill>
                  <a:srgbClr val="0070C0"/>
                </a:solidFill>
              </a:rPr>
              <a:t>Usage of Filtration – </a:t>
            </a:r>
            <a:r>
              <a:rPr lang="en-US" sz="2800" b="1" u="sng" dirty="0">
                <a:solidFill>
                  <a:srgbClr val="FF0000"/>
                </a:solidFill>
              </a:rPr>
              <a:t>the given task: (part 2)</a:t>
            </a:r>
          </a:p>
          <a:p>
            <a:pPr algn="ctr"/>
            <a:endParaRPr sz="2000" b="1" u="sng" dirty="0">
              <a:solidFill>
                <a:srgbClr val="FF0000"/>
              </a:solidFill>
            </a:endParaRPr>
          </a:p>
        </p:txBody>
      </p:sp>
      <p:pic>
        <p:nvPicPr>
          <p:cNvPr id="3" name="Picture 2">
            <a:extLst>
              <a:ext uri="{FF2B5EF4-FFF2-40B4-BE49-F238E27FC236}">
                <a16:creationId xmlns:a16="http://schemas.microsoft.com/office/drawing/2014/main" id="{36AEA71F-BEAD-F867-1C7A-6449236EA8C5}"/>
              </a:ext>
            </a:extLst>
          </p:cNvPr>
          <p:cNvPicPr>
            <a:picLocks noChangeAspect="1"/>
          </p:cNvPicPr>
          <p:nvPr/>
        </p:nvPicPr>
        <p:blipFill>
          <a:blip r:embed="rId3"/>
          <a:stretch>
            <a:fillRect/>
          </a:stretch>
        </p:blipFill>
        <p:spPr>
          <a:xfrm>
            <a:off x="101687" y="588843"/>
            <a:ext cx="11988625" cy="5070566"/>
          </a:xfrm>
          <a:prstGeom prst="rect">
            <a:avLst/>
          </a:prstGeom>
        </p:spPr>
      </p:pic>
      <p:sp>
        <p:nvSpPr>
          <p:cNvPr id="9" name="Rectangle 8">
            <a:extLst>
              <a:ext uri="{FF2B5EF4-FFF2-40B4-BE49-F238E27FC236}">
                <a16:creationId xmlns:a16="http://schemas.microsoft.com/office/drawing/2014/main" id="{FD4E7FE2-94FA-BF8B-88FC-096CF77A5E9C}"/>
              </a:ext>
            </a:extLst>
          </p:cNvPr>
          <p:cNvSpPr/>
          <p:nvPr/>
        </p:nvSpPr>
        <p:spPr>
          <a:xfrm>
            <a:off x="359923" y="5659409"/>
            <a:ext cx="11429999" cy="10234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Pay attention </a:t>
            </a:r>
            <a:r>
              <a:rPr lang="en-US" b="1" dirty="0"/>
              <a:t>: that presentation is ordered in the following order : first introductory part where we present and explain the functions we used in the project – stand alone way (every function independently from the main flow) – and then the formal results for  1-7 sub tasks. They will be marked MP2.#</a:t>
            </a:r>
            <a:endParaRPr lang="he-IL" b="1" dirty="0"/>
          </a:p>
        </p:txBody>
      </p:sp>
    </p:spTree>
    <p:extLst>
      <p:ext uri="{BB962C8B-B14F-4D97-AF65-F5344CB8AC3E}">
        <p14:creationId xmlns:p14="http://schemas.microsoft.com/office/powerpoint/2010/main" val="19760092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FC9CFCD4-555C-C884-26C4-61DAF36E6CE8}"/>
              </a:ext>
            </a:extLst>
          </p:cNvPr>
          <p:cNvPicPr>
            <a:picLocks noChangeAspect="1"/>
          </p:cNvPicPr>
          <p:nvPr/>
        </p:nvPicPr>
        <p:blipFill>
          <a:blip r:embed="rId2"/>
          <a:stretch>
            <a:fillRect/>
          </a:stretch>
        </p:blipFill>
        <p:spPr>
          <a:xfrm>
            <a:off x="0" y="1183838"/>
            <a:ext cx="10476691" cy="5674162"/>
          </a:xfrm>
          <a:prstGeom prst="rect">
            <a:avLst/>
          </a:prstGeom>
        </p:spPr>
      </p:pic>
      <p:sp>
        <p:nvSpPr>
          <p:cNvPr id="4" name="Slide Number Placeholder 5">
            <a:extLst>
              <a:ext uri="{FF2B5EF4-FFF2-40B4-BE49-F238E27FC236}">
                <a16:creationId xmlns:a16="http://schemas.microsoft.com/office/drawing/2014/main" id="{46B1201B-612F-818D-3CB8-26D258948D8E}"/>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a:t>
            </a:fld>
            <a:endParaRPr lang="he-IL" sz="1600" dirty="0"/>
          </a:p>
        </p:txBody>
      </p:sp>
      <p:sp>
        <p:nvSpPr>
          <p:cNvPr id="7" name="Google Shape;60;p14">
            <a:extLst>
              <a:ext uri="{FF2B5EF4-FFF2-40B4-BE49-F238E27FC236}">
                <a16:creationId xmlns:a16="http://schemas.microsoft.com/office/drawing/2014/main" id="{C3D73FD8-5C27-9947-3A04-B330DAA94871}"/>
              </a:ext>
            </a:extLst>
          </p:cNvPr>
          <p:cNvSpPr txBox="1"/>
          <p:nvPr/>
        </p:nvSpPr>
        <p:spPr>
          <a:xfrm>
            <a:off x="2" y="-158690"/>
            <a:ext cx="11879094" cy="432435"/>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1.1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10" name="TextBox 9">
            <a:extLst>
              <a:ext uri="{FF2B5EF4-FFF2-40B4-BE49-F238E27FC236}">
                <a16:creationId xmlns:a16="http://schemas.microsoft.com/office/drawing/2014/main" id="{0E19B9D4-6B44-E45F-C4E1-2C9CCE02B2B8}"/>
              </a:ext>
            </a:extLst>
          </p:cNvPr>
          <p:cNvSpPr txBox="1"/>
          <p:nvPr/>
        </p:nvSpPr>
        <p:spPr>
          <a:xfrm>
            <a:off x="1245141" y="492639"/>
            <a:ext cx="9231550"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That function applies a convolution operation between a given image (src) and a filter kernel (filter) to produce a filtered image (dest)</a:t>
            </a:r>
            <a:endParaRPr lang="he-IL" dirty="0"/>
          </a:p>
        </p:txBody>
      </p:sp>
      <p:sp>
        <p:nvSpPr>
          <p:cNvPr id="26" name="Rectangle 25">
            <a:extLst>
              <a:ext uri="{FF2B5EF4-FFF2-40B4-BE49-F238E27FC236}">
                <a16:creationId xmlns:a16="http://schemas.microsoft.com/office/drawing/2014/main" id="{CABF3704-2B15-4E80-D6AD-925D011F74E2}"/>
              </a:ext>
            </a:extLst>
          </p:cNvPr>
          <p:cNvSpPr/>
          <p:nvPr/>
        </p:nvSpPr>
        <p:spPr>
          <a:xfrm>
            <a:off x="9805480" y="2791838"/>
            <a:ext cx="2386519" cy="22276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Due to the nature of the function (nested loops) we prefer to explain it step by step in a big space- hence the explanation will be in the next slide!</a:t>
            </a:r>
            <a:endParaRPr lang="he-IL" dirty="0"/>
          </a:p>
        </p:txBody>
      </p:sp>
    </p:spTree>
    <p:extLst>
      <p:ext uri="{BB962C8B-B14F-4D97-AF65-F5344CB8AC3E}">
        <p14:creationId xmlns:p14="http://schemas.microsoft.com/office/powerpoint/2010/main" val="1029255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92A56310-3EF6-7A8A-4C29-73DB34688C36}"/>
              </a:ext>
            </a:extLst>
          </p:cNvPr>
          <p:cNvSpPr txBox="1"/>
          <p:nvPr/>
        </p:nvSpPr>
        <p:spPr>
          <a:xfrm>
            <a:off x="69715" y="-52696"/>
            <a:ext cx="11804513" cy="485161"/>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5" name="Slide Number Placeholder 5">
            <a:extLst>
              <a:ext uri="{FF2B5EF4-FFF2-40B4-BE49-F238E27FC236}">
                <a16:creationId xmlns:a16="http://schemas.microsoft.com/office/drawing/2014/main" id="{8D4B18A7-8A47-A075-B223-8415C853F68D}"/>
              </a:ext>
            </a:extLst>
          </p:cNvPr>
          <p:cNvSpPr txBox="1">
            <a:spLocks/>
          </p:cNvSpPr>
          <p:nvPr/>
        </p:nvSpPr>
        <p:spPr>
          <a:xfrm>
            <a:off x="11879094" y="174318"/>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5</a:t>
            </a:fld>
            <a:endParaRPr lang="he-IL" sz="1600" dirty="0"/>
          </a:p>
        </p:txBody>
      </p:sp>
      <p:pic>
        <p:nvPicPr>
          <p:cNvPr id="7" name="Picture 6">
            <a:extLst>
              <a:ext uri="{FF2B5EF4-FFF2-40B4-BE49-F238E27FC236}">
                <a16:creationId xmlns:a16="http://schemas.microsoft.com/office/drawing/2014/main" id="{BE15B8D9-D019-F459-121C-AF54D6628616}"/>
              </a:ext>
            </a:extLst>
          </p:cNvPr>
          <p:cNvPicPr>
            <a:picLocks noChangeAspect="1"/>
          </p:cNvPicPr>
          <p:nvPr/>
        </p:nvPicPr>
        <p:blipFill>
          <a:blip r:embed="rId3"/>
          <a:stretch>
            <a:fillRect/>
          </a:stretch>
        </p:blipFill>
        <p:spPr>
          <a:xfrm>
            <a:off x="0" y="591319"/>
            <a:ext cx="8424153" cy="485161"/>
          </a:xfrm>
          <a:prstGeom prst="rect">
            <a:avLst/>
          </a:prstGeom>
        </p:spPr>
      </p:pic>
      <p:sp>
        <p:nvSpPr>
          <p:cNvPr id="9" name="TextBox 8">
            <a:extLst>
              <a:ext uri="{FF2B5EF4-FFF2-40B4-BE49-F238E27FC236}">
                <a16:creationId xmlns:a16="http://schemas.microsoft.com/office/drawing/2014/main" id="{CB70ED43-E2B5-F391-FEE4-0F7A93255533}"/>
              </a:ext>
            </a:extLst>
          </p:cNvPr>
          <p:cNvSpPr txBox="1"/>
          <p:nvPr/>
        </p:nvSpPr>
        <p:spPr>
          <a:xfrm>
            <a:off x="5291847" y="1142076"/>
            <a:ext cx="6900154"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Then the function sets all values in the dest array to zero to ensure that any previous data does not interfere with the current operation. </a:t>
            </a:r>
            <a:endParaRPr lang="he-IL" dirty="0"/>
          </a:p>
        </p:txBody>
      </p:sp>
      <p:sp>
        <p:nvSpPr>
          <p:cNvPr id="10" name="Rectangle 9">
            <a:extLst>
              <a:ext uri="{FF2B5EF4-FFF2-40B4-BE49-F238E27FC236}">
                <a16:creationId xmlns:a16="http://schemas.microsoft.com/office/drawing/2014/main" id="{AC2DFB3A-4CD3-9AF1-BA46-568DFA7D9D40}"/>
              </a:ext>
            </a:extLst>
          </p:cNvPr>
          <p:cNvSpPr/>
          <p:nvPr/>
        </p:nvSpPr>
        <p:spPr>
          <a:xfrm>
            <a:off x="8492247" y="564895"/>
            <a:ext cx="3699753" cy="5380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r>
              <a:rPr lang="en-US" dirty="0"/>
              <a:t>First , defines a pointer to the first element of the dest array</a:t>
            </a:r>
            <a:endParaRPr lang="he-IL" dirty="0"/>
          </a:p>
        </p:txBody>
      </p:sp>
      <p:sp>
        <p:nvSpPr>
          <p:cNvPr id="11" name="Arrow: Down 10">
            <a:extLst>
              <a:ext uri="{FF2B5EF4-FFF2-40B4-BE49-F238E27FC236}">
                <a16:creationId xmlns:a16="http://schemas.microsoft.com/office/drawing/2014/main" id="{8F9C206F-B00B-4C3B-6729-17BB982CD825}"/>
              </a:ext>
            </a:extLst>
          </p:cNvPr>
          <p:cNvSpPr/>
          <p:nvPr/>
        </p:nvSpPr>
        <p:spPr>
          <a:xfrm>
            <a:off x="3556270" y="1078796"/>
            <a:ext cx="344521" cy="108324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3" name="Picture 12">
            <a:extLst>
              <a:ext uri="{FF2B5EF4-FFF2-40B4-BE49-F238E27FC236}">
                <a16:creationId xmlns:a16="http://schemas.microsoft.com/office/drawing/2014/main" id="{BD3AFBEF-AAB0-189B-AB1B-C6A5E3D3A3C7}"/>
              </a:ext>
            </a:extLst>
          </p:cNvPr>
          <p:cNvPicPr>
            <a:picLocks noChangeAspect="1"/>
          </p:cNvPicPr>
          <p:nvPr/>
        </p:nvPicPr>
        <p:blipFill>
          <a:blip r:embed="rId4"/>
          <a:stretch>
            <a:fillRect/>
          </a:stretch>
        </p:blipFill>
        <p:spPr>
          <a:xfrm>
            <a:off x="49450" y="3085367"/>
            <a:ext cx="10330774" cy="2925231"/>
          </a:xfrm>
          <a:prstGeom prst="rect">
            <a:avLst/>
          </a:prstGeom>
        </p:spPr>
      </p:pic>
      <p:sp>
        <p:nvSpPr>
          <p:cNvPr id="15" name="TextBox 14">
            <a:extLst>
              <a:ext uri="{FF2B5EF4-FFF2-40B4-BE49-F238E27FC236}">
                <a16:creationId xmlns:a16="http://schemas.microsoft.com/office/drawing/2014/main" id="{02EA985F-3298-146E-C862-D03BFE3E8610}"/>
              </a:ext>
            </a:extLst>
          </p:cNvPr>
          <p:cNvSpPr txBox="1"/>
          <p:nvPr/>
        </p:nvSpPr>
        <p:spPr>
          <a:xfrm>
            <a:off x="69715" y="2162037"/>
            <a:ext cx="1031050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then iterates over each pixel in the src image, excluding the boundary pixels where the filter cannot be fully applied. This exclusion is due to the fact that convolution requires access to neighboring pixels, which are not available at the edges of the image.</a:t>
            </a:r>
            <a:endParaRPr lang="he-IL" dirty="0"/>
          </a:p>
        </p:txBody>
      </p:sp>
      <p:sp>
        <p:nvSpPr>
          <p:cNvPr id="17" name="TextBox 16">
            <a:extLst>
              <a:ext uri="{FF2B5EF4-FFF2-40B4-BE49-F238E27FC236}">
                <a16:creationId xmlns:a16="http://schemas.microsoft.com/office/drawing/2014/main" id="{43F0B5F8-4A83-EB16-051B-C09FB6672792}"/>
              </a:ext>
            </a:extLst>
          </p:cNvPr>
          <p:cNvSpPr txBox="1"/>
          <p:nvPr/>
        </p:nvSpPr>
        <p:spPr>
          <a:xfrm>
            <a:off x="191310" y="6157531"/>
            <a:ext cx="1180937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pixel at position (row, column), the function calculates the convolution sum (summa) by multiplying each element of the filter kernel with the corresponding pixel in the src image. The sum is accumulated for the entire kernel.</a:t>
            </a:r>
            <a:endParaRPr lang="he-IL" dirty="0"/>
          </a:p>
        </p:txBody>
      </p:sp>
      <p:sp>
        <p:nvSpPr>
          <p:cNvPr id="20" name="Arrow: Bent 19">
            <a:extLst>
              <a:ext uri="{FF2B5EF4-FFF2-40B4-BE49-F238E27FC236}">
                <a16:creationId xmlns:a16="http://schemas.microsoft.com/office/drawing/2014/main" id="{F91A1B18-2CCF-31B1-BDF3-012C095DA5FC}"/>
              </a:ext>
            </a:extLst>
          </p:cNvPr>
          <p:cNvSpPr/>
          <p:nvPr/>
        </p:nvSpPr>
        <p:spPr>
          <a:xfrm rot="5400000">
            <a:off x="10267789" y="5423336"/>
            <a:ext cx="933774" cy="534616"/>
          </a:xfrm>
          <a:prstGeom prst="bentArrow">
            <a:avLst/>
          </a:prstGeom>
        </p:spPr>
        <p:style>
          <a:lnRef idx="0">
            <a:schemeClr val="accent4"/>
          </a:lnRef>
          <a:fillRef idx="3">
            <a:schemeClr val="accent4"/>
          </a:fillRef>
          <a:effectRef idx="3">
            <a:schemeClr val="accent4"/>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16963419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1CDA8B3-4F44-5D40-494F-495CF47A075E}"/>
              </a:ext>
            </a:extLst>
          </p:cNvPr>
          <p:cNvSpPr txBox="1"/>
          <p:nvPr/>
        </p:nvSpPr>
        <p:spPr>
          <a:xfrm>
            <a:off x="97277" y="-52696"/>
            <a:ext cx="11776951" cy="485161"/>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1.3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5" name="Slide Number Placeholder 5">
            <a:extLst>
              <a:ext uri="{FF2B5EF4-FFF2-40B4-BE49-F238E27FC236}">
                <a16:creationId xmlns:a16="http://schemas.microsoft.com/office/drawing/2014/main" id="{4FEDB50C-F45F-913F-98FB-BE2993EA3FFC}"/>
              </a:ext>
            </a:extLst>
          </p:cNvPr>
          <p:cNvSpPr txBox="1">
            <a:spLocks/>
          </p:cNvSpPr>
          <p:nvPr/>
        </p:nvSpPr>
        <p:spPr>
          <a:xfrm>
            <a:off x="11879094" y="174318"/>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6</a:t>
            </a:fld>
            <a:endParaRPr lang="he-IL" sz="1600" dirty="0"/>
          </a:p>
        </p:txBody>
      </p:sp>
      <p:pic>
        <p:nvPicPr>
          <p:cNvPr id="7" name="Picture 6">
            <a:extLst>
              <a:ext uri="{FF2B5EF4-FFF2-40B4-BE49-F238E27FC236}">
                <a16:creationId xmlns:a16="http://schemas.microsoft.com/office/drawing/2014/main" id="{E8F839F9-D069-1FBB-554B-9ED160CF0D7F}"/>
              </a:ext>
            </a:extLst>
          </p:cNvPr>
          <p:cNvPicPr>
            <a:picLocks noChangeAspect="1"/>
          </p:cNvPicPr>
          <p:nvPr/>
        </p:nvPicPr>
        <p:blipFill>
          <a:blip r:embed="rId2"/>
          <a:stretch>
            <a:fillRect/>
          </a:stretch>
        </p:blipFill>
        <p:spPr>
          <a:xfrm>
            <a:off x="0" y="758758"/>
            <a:ext cx="7566367" cy="2318020"/>
          </a:xfrm>
          <a:prstGeom prst="rect">
            <a:avLst/>
          </a:prstGeom>
        </p:spPr>
      </p:pic>
      <p:sp>
        <p:nvSpPr>
          <p:cNvPr id="9" name="TextBox 8">
            <a:extLst>
              <a:ext uri="{FF2B5EF4-FFF2-40B4-BE49-F238E27FC236}">
                <a16:creationId xmlns:a16="http://schemas.microsoft.com/office/drawing/2014/main" id="{47353973-3070-39AE-CB9A-C985C5E08B39}"/>
              </a:ext>
            </a:extLst>
          </p:cNvPr>
          <p:cNvSpPr txBox="1"/>
          <p:nvPr/>
        </p:nvSpPr>
        <p:spPr>
          <a:xfrm>
            <a:off x="7750512" y="839529"/>
            <a:ext cx="4441488" cy="1754326"/>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After computing the sum, the result is normalized by dividing by 25.0, which corresponds to the total number of elements in the 5x5 filter (this is specific to the filter being used; other filters might have different normalization factors).</a:t>
            </a:r>
            <a:endParaRPr lang="he-IL" dirty="0"/>
          </a:p>
        </p:txBody>
      </p:sp>
      <p:sp>
        <p:nvSpPr>
          <p:cNvPr id="11" name="TextBox 10">
            <a:extLst>
              <a:ext uri="{FF2B5EF4-FFF2-40B4-BE49-F238E27FC236}">
                <a16:creationId xmlns:a16="http://schemas.microsoft.com/office/drawing/2014/main" id="{C0F261F0-AA12-DA50-3F55-5A151334521A}"/>
              </a:ext>
            </a:extLst>
          </p:cNvPr>
          <p:cNvSpPr txBox="1"/>
          <p:nvPr/>
        </p:nvSpPr>
        <p:spPr>
          <a:xfrm>
            <a:off x="6728301" y="2759530"/>
            <a:ext cx="5463699"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resulting value is then clamped to the valid grayscale range [0, 255] to ensure that the pixel intensity remains within the allowable range.</a:t>
            </a:r>
            <a:endParaRPr lang="he-IL" dirty="0"/>
          </a:p>
        </p:txBody>
      </p:sp>
      <p:sp>
        <p:nvSpPr>
          <p:cNvPr id="13" name="TextBox 12">
            <a:extLst>
              <a:ext uri="{FF2B5EF4-FFF2-40B4-BE49-F238E27FC236}">
                <a16:creationId xmlns:a16="http://schemas.microsoft.com/office/drawing/2014/main" id="{DFAF3536-CE7E-5C68-A71F-659D7A64AF21}"/>
              </a:ext>
            </a:extLst>
          </p:cNvPr>
          <p:cNvSpPr txBox="1"/>
          <p:nvPr/>
        </p:nvSpPr>
        <p:spPr>
          <a:xfrm>
            <a:off x="6728301" y="3844119"/>
            <a:ext cx="546369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normalized and clamped sum is then cast to an unsigned char and stored in the </a:t>
            </a:r>
            <a:r>
              <a:rPr lang="en-US" b="1" dirty="0"/>
              <a:t>dest</a:t>
            </a:r>
            <a:r>
              <a:rPr lang="en-US" dirty="0"/>
              <a:t> array at the corresponding pixel position.</a:t>
            </a:r>
            <a:endParaRPr lang="he-IL" dirty="0"/>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358D7305-B76B-1FFA-B150-2853C3C64F36}"/>
                  </a:ext>
                </a:extLst>
              </p:cNvPr>
              <p:cNvSpPr/>
              <p:nvPr/>
            </p:nvSpPr>
            <p:spPr>
              <a:xfrm>
                <a:off x="0" y="5328309"/>
                <a:ext cx="4348264" cy="977389"/>
              </a:xfrm>
              <a:prstGeom prst="rect">
                <a:avLst/>
              </a:prstGeom>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14:m>
                  <m:oMathPara xmlns:m="http://schemas.openxmlformats.org/officeDocument/2006/math">
                    <m:oMathParaPr>
                      <m:jc m:val="centerGroup"/>
                    </m:oMathParaPr>
                    <m:oMath xmlns:m="http://schemas.openxmlformats.org/officeDocument/2006/math">
                      <m:sSup>
                        <m:sSupPr>
                          <m:ctrlPr>
                            <a:rPr lang="en-US" b="0" i="1" smtClean="0">
                              <a:solidFill>
                                <a:srgbClr val="FFFF00"/>
                              </a:solidFill>
                              <a:latin typeface="Cambria Math" panose="02040503050406030204" pitchFamily="18" charset="0"/>
                            </a:rPr>
                          </m:ctrlPr>
                        </m:sSupPr>
                        <m:e>
                          <m:r>
                            <a:rPr lang="en-US" b="0" i="1" smtClean="0">
                              <a:solidFill>
                                <a:srgbClr val="FFFF00"/>
                              </a:solidFill>
                              <a:latin typeface="Cambria Math" panose="02040503050406030204" pitchFamily="18" charset="0"/>
                            </a:rPr>
                            <m:t>𝐼</m:t>
                          </m:r>
                        </m:e>
                        <m:sup>
                          <m:r>
                            <a:rPr lang="en-US" b="0" i="1" smtClean="0">
                              <a:solidFill>
                                <a:srgbClr val="FFFF00"/>
                              </a:solidFill>
                              <a:latin typeface="Cambria Math" panose="02040503050406030204" pitchFamily="18" charset="0"/>
                            </a:rPr>
                            <m:t>′</m:t>
                          </m:r>
                        </m:sup>
                      </m:sSup>
                      <m:d>
                        <m:dPr>
                          <m:ctrlPr>
                            <a:rPr lang="en-US" b="0" i="1" smtClean="0">
                              <a:solidFill>
                                <a:srgbClr val="FFFF00"/>
                              </a:solidFill>
                              <a:latin typeface="Cambria Math" panose="02040503050406030204" pitchFamily="18" charset="0"/>
                            </a:rPr>
                          </m:ctrlPr>
                        </m:dPr>
                        <m:e>
                          <m:r>
                            <a:rPr lang="en-US" b="0" i="1" smtClean="0">
                              <a:solidFill>
                                <a:srgbClr val="FFFF00"/>
                              </a:solidFill>
                              <a:latin typeface="Cambria Math" panose="02040503050406030204" pitchFamily="18" charset="0"/>
                            </a:rPr>
                            <m:t>𝑥</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𝑦</m:t>
                          </m:r>
                        </m:e>
                      </m:d>
                      <m:r>
                        <a:rPr lang="en-US" b="0" i="1" smtClean="0">
                          <a:solidFill>
                            <a:srgbClr val="FFFF00"/>
                          </a:solidFill>
                          <a:latin typeface="Cambria Math" panose="02040503050406030204" pitchFamily="18" charset="0"/>
                        </a:rPr>
                        <m:t>=</m:t>
                      </m:r>
                      <m:nary>
                        <m:naryPr>
                          <m:chr m:val="∑"/>
                          <m:ctrlPr>
                            <a:rPr lang="en-US" b="0" i="1" smtClean="0">
                              <a:solidFill>
                                <a:srgbClr val="FFFF00"/>
                              </a:solidFill>
                              <a:latin typeface="Cambria Math" panose="02040503050406030204" pitchFamily="18" charset="0"/>
                            </a:rPr>
                          </m:ctrlPr>
                        </m:naryPr>
                        <m:sub>
                          <m:r>
                            <m:rPr>
                              <m:brk m:alnAt="23"/>
                            </m:rP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𝑚</m:t>
                          </m:r>
                        </m:sub>
                        <m:sup>
                          <m:r>
                            <a:rPr lang="en-US" b="0" i="1" smtClean="0">
                              <a:solidFill>
                                <a:srgbClr val="FFFF00"/>
                              </a:solidFill>
                              <a:latin typeface="Cambria Math" panose="02040503050406030204" pitchFamily="18" charset="0"/>
                            </a:rPr>
                            <m:t>𝑚</m:t>
                          </m:r>
                        </m:sup>
                        <m:e>
                          <m:nary>
                            <m:naryPr>
                              <m:chr m:val="∑"/>
                              <m:ctrlPr>
                                <a:rPr lang="en-US" b="0" i="1" smtClean="0">
                                  <a:solidFill>
                                    <a:srgbClr val="FFFF00"/>
                                  </a:solidFill>
                                  <a:latin typeface="Cambria Math" panose="02040503050406030204" pitchFamily="18" charset="0"/>
                                </a:rPr>
                              </m:ctrlPr>
                            </m:naryPr>
                            <m:sub>
                              <m:r>
                                <m:rPr>
                                  <m:brk m:alnAt="23"/>
                                </m:rPr>
                                <a:rPr lang="en-US" b="0" i="1" smtClean="0">
                                  <a:solidFill>
                                    <a:srgbClr val="FFFF00"/>
                                  </a:solidFill>
                                  <a:latin typeface="Cambria Math" panose="02040503050406030204" pitchFamily="18" charset="0"/>
                                </a:rPr>
                                <m:t>𝑗</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𝑛</m:t>
                              </m:r>
                            </m:sub>
                            <m:sup>
                              <m:r>
                                <a:rPr lang="en-US" b="0" i="1" smtClean="0">
                                  <a:solidFill>
                                    <a:srgbClr val="FFFF00"/>
                                  </a:solidFill>
                                  <a:latin typeface="Cambria Math" panose="02040503050406030204" pitchFamily="18" charset="0"/>
                                </a:rPr>
                                <m:t>𝑛</m:t>
                              </m:r>
                            </m:sup>
                            <m:e>
                              <m:r>
                                <a:rPr lang="en-US" b="0" i="1" smtClean="0">
                                  <a:solidFill>
                                    <a:srgbClr val="FFFF00"/>
                                  </a:solidFill>
                                  <a:latin typeface="Cambria Math" panose="02040503050406030204" pitchFamily="18" charset="0"/>
                                </a:rPr>
                                <m:t>𝐾</m:t>
                              </m:r>
                              <m:d>
                                <m:dPr>
                                  <m:ctrlPr>
                                    <a:rPr lang="en-US" b="0" i="1" smtClean="0">
                                      <a:solidFill>
                                        <a:srgbClr val="FFFF00"/>
                                      </a:solidFill>
                                      <a:latin typeface="Cambria Math" panose="02040503050406030204" pitchFamily="18" charset="0"/>
                                    </a:rPr>
                                  </m:ctrlPr>
                                </m:dPr>
                                <m:e>
                                  <m: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𝑗</m:t>
                                  </m:r>
                                </m:e>
                              </m:d>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𝐼</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𝑥</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𝑦</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𝑗</m:t>
                              </m:r>
                              <m:r>
                                <a:rPr lang="en-US" b="0" i="1" smtClean="0">
                                  <a:solidFill>
                                    <a:srgbClr val="FFFF00"/>
                                  </a:solidFill>
                                  <a:latin typeface="Cambria Math" panose="02040503050406030204" pitchFamily="18" charset="0"/>
                                </a:rPr>
                                <m:t>)</m:t>
                              </m:r>
                            </m:e>
                          </m:nary>
                        </m:e>
                      </m:nary>
                    </m:oMath>
                  </m:oMathPara>
                </a14:m>
                <a:endParaRPr lang="he-IL" dirty="0">
                  <a:solidFill>
                    <a:srgbClr val="FFFF00"/>
                  </a:solidFill>
                </a:endParaRPr>
              </a:p>
            </p:txBody>
          </p:sp>
        </mc:Choice>
        <mc:Fallback xmlns="">
          <p:sp>
            <p:nvSpPr>
              <p:cNvPr id="14" name="Rectangle 13">
                <a:extLst>
                  <a:ext uri="{FF2B5EF4-FFF2-40B4-BE49-F238E27FC236}">
                    <a16:creationId xmlns:a16="http://schemas.microsoft.com/office/drawing/2014/main" id="{358D7305-B76B-1FFA-B150-2853C3C64F36}"/>
                  </a:ext>
                </a:extLst>
              </p:cNvPr>
              <p:cNvSpPr>
                <a:spLocks noRot="1" noChangeAspect="1" noMove="1" noResize="1" noEditPoints="1" noAdjustHandles="1" noChangeArrowheads="1" noChangeShapeType="1" noTextEdit="1"/>
              </p:cNvSpPr>
              <p:nvPr/>
            </p:nvSpPr>
            <p:spPr>
              <a:xfrm>
                <a:off x="0" y="5328309"/>
                <a:ext cx="4348264" cy="977389"/>
              </a:xfrm>
              <a:prstGeom prst="rect">
                <a:avLst/>
              </a:prstGeom>
              <a:blipFill>
                <a:blip r:embed="rId3"/>
                <a:stretch>
                  <a:fillRect/>
                </a:stretch>
              </a:blipFill>
              <a:ln>
                <a:solidFill>
                  <a:srgbClr val="FF0000"/>
                </a:solidFill>
              </a:ln>
            </p:spPr>
            <p:txBody>
              <a:bodyPr/>
              <a:lstStyle/>
              <a:p>
                <a:r>
                  <a:rPr lang="he-IL">
                    <a:noFill/>
                  </a:rPr>
                  <a:t> </a:t>
                </a:r>
              </a:p>
            </p:txBody>
          </p:sp>
        </mc:Fallback>
      </mc:AlternateContent>
      <p:sp>
        <p:nvSpPr>
          <p:cNvPr id="15" name="Arrow: Right 14">
            <a:extLst>
              <a:ext uri="{FF2B5EF4-FFF2-40B4-BE49-F238E27FC236}">
                <a16:creationId xmlns:a16="http://schemas.microsoft.com/office/drawing/2014/main" id="{D3D68F93-0AEB-1DF7-1710-98642E84A024}"/>
              </a:ext>
            </a:extLst>
          </p:cNvPr>
          <p:cNvSpPr/>
          <p:nvPr/>
        </p:nvSpPr>
        <p:spPr>
          <a:xfrm>
            <a:off x="4416357" y="5573949"/>
            <a:ext cx="856034" cy="5252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7C5D18D-B523-E639-C9BC-6071483DDF14}"/>
                  </a:ext>
                </a:extLst>
              </p:cNvPr>
              <p:cNvSpPr txBox="1"/>
              <p:nvPr/>
            </p:nvSpPr>
            <p:spPr>
              <a:xfrm>
                <a:off x="5272391" y="5007848"/>
                <a:ext cx="6919609"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14:m>
                  <m:oMath xmlns:m="http://schemas.openxmlformats.org/officeDocument/2006/math">
                    <m:r>
                      <a:rPr lang="en-US" i="1" dirty="0" smtClean="0">
                        <a:latin typeface="Cambria Math" panose="02040503050406030204" pitchFamily="18" charset="0"/>
                      </a:rPr>
                      <m:t>𝐼</m:t>
                    </m:r>
                    <m:r>
                      <a:rPr lang="en-US" i="1" dirty="0" smtClean="0">
                        <a:latin typeface="Cambria Math" panose="02040503050406030204" pitchFamily="18" charset="0"/>
                      </a:rPr>
                      <m:t>(</m:t>
                    </m:r>
                    <m:r>
                      <a:rPr lang="en-US" i="1" dirty="0" err="1">
                        <a:latin typeface="Cambria Math" panose="02040503050406030204" pitchFamily="18" charset="0"/>
                      </a:rPr>
                      <m:t>𝑥</m:t>
                    </m:r>
                    <m:r>
                      <a:rPr lang="en-US" i="1" dirty="0" err="1">
                        <a:latin typeface="Cambria Math" panose="02040503050406030204" pitchFamily="18" charset="0"/>
                      </a:rPr>
                      <m:t>,</m:t>
                    </m:r>
                    <m:r>
                      <a:rPr lang="en-US" i="1" dirty="0" err="1">
                        <a:latin typeface="Cambria Math" panose="02040503050406030204" pitchFamily="18" charset="0"/>
                      </a:rPr>
                      <m:t>𝑦</m:t>
                    </m:r>
                    <m:r>
                      <a:rPr lang="en-US" i="1" dirty="0">
                        <a:latin typeface="Cambria Math" panose="02040503050406030204" pitchFamily="18" charset="0"/>
                      </a:rPr>
                      <m:t>) </m:t>
                    </m:r>
                  </m:oMath>
                </a14:m>
                <a:r>
                  <a:rPr lang="en-US" dirty="0"/>
                  <a:t>is the intensity of the pixel at position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𝑥</m:t>
                    </m:r>
                    <m:r>
                      <a:rPr lang="en-US" i="1" dirty="0" smtClean="0">
                        <a:latin typeface="Cambria Math" panose="02040503050406030204" pitchFamily="18" charset="0"/>
                      </a:rPr>
                      <m:t>,</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in the src image.</a:t>
                </a:r>
              </a:p>
              <a:p>
                <a14:m>
                  <m:oMath xmlns:m="http://schemas.openxmlformats.org/officeDocument/2006/math">
                    <m:r>
                      <a:rPr lang="en-US" i="1" dirty="0" smtClean="0">
                        <a:latin typeface="Cambria Math" panose="02040503050406030204" pitchFamily="18" charset="0"/>
                      </a:rPr>
                      <m:t>𝐾</m:t>
                    </m:r>
                    <m:r>
                      <a:rPr lang="en-US" i="1" dirty="0" smtClean="0">
                        <a:latin typeface="Cambria Math" panose="02040503050406030204" pitchFamily="18" charset="0"/>
                      </a:rPr>
                      <m:t>(</m:t>
                    </m:r>
                    <m:r>
                      <a:rPr lang="en-US" i="1" dirty="0" err="1" smtClean="0">
                        <a:latin typeface="Cambria Math" panose="02040503050406030204" pitchFamily="18" charset="0"/>
                      </a:rPr>
                      <m:t>𝑖</m:t>
                    </m:r>
                    <m:r>
                      <a:rPr lang="en-US" i="1" dirty="0" err="1" smtClean="0">
                        <a:latin typeface="Cambria Math" panose="02040503050406030204" pitchFamily="18" charset="0"/>
                      </a:rPr>
                      <m:t>,</m:t>
                    </m:r>
                    <m:r>
                      <a:rPr lang="en-US" i="1" dirty="0" err="1" smtClean="0">
                        <a:latin typeface="Cambria Math" panose="02040503050406030204" pitchFamily="18" charset="0"/>
                      </a:rPr>
                      <m:t>𝑗</m:t>
                    </m:r>
                    <m:r>
                      <a:rPr lang="en-US" i="1" dirty="0" smtClean="0">
                        <a:latin typeface="Cambria Math" panose="02040503050406030204" pitchFamily="18" charset="0"/>
                      </a:rPr>
                      <m:t>) </m:t>
                    </m:r>
                  </m:oMath>
                </a14:m>
                <a:r>
                  <a:rPr lang="en-US" dirty="0"/>
                  <a:t>is the value of the filter kernel at position </a:t>
                </a:r>
                <a14:m>
                  <m:oMath xmlns:m="http://schemas.openxmlformats.org/officeDocument/2006/math">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𝑖</m:t>
                        </m:r>
                        <m:r>
                          <a:rPr lang="en-US" i="1" dirty="0" err="1" smtClean="0">
                            <a:latin typeface="Cambria Math" panose="02040503050406030204" pitchFamily="18" charset="0"/>
                          </a:rPr>
                          <m:t>,</m:t>
                        </m:r>
                        <m:r>
                          <a:rPr lang="en-US" i="1" dirty="0" err="1" smtClean="0">
                            <a:latin typeface="Cambria Math" panose="02040503050406030204" pitchFamily="18" charset="0"/>
                          </a:rPr>
                          <m:t>𝑗</m:t>
                        </m:r>
                      </m:e>
                    </m:d>
                    <m:r>
                      <a:rPr lang="en-US" b="0" i="1" dirty="0" smtClean="0">
                        <a:latin typeface="Cambria Math" panose="02040503050406030204" pitchFamily="18" charset="0"/>
                      </a:rPr>
                      <m:t>.</m:t>
                    </m:r>
                  </m:oMath>
                </a14:m>
                <a:endParaRPr lang="en-US" b="0" i="1" dirty="0">
                  <a:latin typeface="Cambria Math" panose="02040503050406030204" pitchFamily="18" charset="0"/>
                </a:endParaRPr>
              </a:p>
              <a:p>
                <a14:m>
                  <m:oMath xmlns:m="http://schemas.openxmlformats.org/officeDocument/2006/math">
                    <m:r>
                      <a:rPr lang="en-US" i="1" dirty="0" smtClean="0">
                        <a:latin typeface="Cambria Math" panose="02040503050406030204" pitchFamily="18" charset="0"/>
                      </a:rPr>
                      <m:t>𝐼</m:t>
                    </m:r>
                    <m:r>
                      <a:rPr lang="en-US" i="1" dirty="0" smtClean="0">
                        <a:latin typeface="Cambria Math" panose="02040503050406030204" pitchFamily="18" charset="0"/>
                      </a:rPr>
                      <m:t>′</m:t>
                    </m:r>
                    <m:r>
                      <a:rPr lang="en-US" i="1" dirty="0" smtClean="0">
                        <a:latin typeface="Cambria Math" panose="02040503050406030204" pitchFamily="18" charset="0"/>
                      </a:rPr>
                      <m:t>(</m:t>
                    </m:r>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r>
                      <a:rPr lang="en-US" i="1" dirty="0" smtClean="0">
                        <a:latin typeface="Cambria Math" panose="02040503050406030204" pitchFamily="18" charset="0"/>
                      </a:rPr>
                      <m:t>) </m:t>
                    </m:r>
                  </m:oMath>
                </a14:m>
                <a:r>
                  <a:rPr lang="en-US" dirty="0"/>
                  <a:t>is the intensity of the pixel at position </a:t>
                </a:r>
                <a14:m>
                  <m:oMath xmlns:m="http://schemas.openxmlformats.org/officeDocument/2006/math">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e>
                    </m:d>
                  </m:oMath>
                </a14:m>
                <a:r>
                  <a:rPr lang="en-US" dirty="0"/>
                  <a:t> in the dest image.</a:t>
                </a:r>
                <a:endParaRPr lang="en-US" i="1" dirty="0">
                  <a:latin typeface="Cambria Math" panose="02040503050406030204" pitchFamily="18" charset="0"/>
                </a:endParaRPr>
              </a:p>
              <a:p>
                <a14:m>
                  <m:oMath xmlns:m="http://schemas.openxmlformats.org/officeDocument/2006/math">
                    <m:r>
                      <a:rPr lang="en-US" i="1" dirty="0" smtClean="0">
                        <a:latin typeface="Cambria Math" panose="02040503050406030204" pitchFamily="18" charset="0"/>
                      </a:rPr>
                      <m:t>𝑚</m:t>
                    </m:r>
                  </m:oMath>
                </a14:m>
                <a:r>
                  <a:rPr lang="en-US" dirty="0"/>
                  <a:t> and </a:t>
                </a:r>
                <a14:m>
                  <m:oMath xmlns:m="http://schemas.openxmlformats.org/officeDocument/2006/math">
                    <m:r>
                      <a:rPr lang="en-US" i="1" dirty="0" smtClean="0">
                        <a:latin typeface="Cambria Math" panose="02040503050406030204" pitchFamily="18" charset="0"/>
                      </a:rPr>
                      <m:t>𝑛</m:t>
                    </m:r>
                  </m:oMath>
                </a14:m>
                <a:r>
                  <a:rPr lang="en-US" dirty="0"/>
                  <a:t> are the half-width and half-height of the kernel, respectively</a:t>
                </a:r>
                <a14:m>
                  <m:oMath xmlns:m="http://schemas.openxmlformats.org/officeDocument/2006/math">
                    <m:r>
                      <a:rPr lang="en-US" i="1" dirty="0" smtClean="0">
                        <a:latin typeface="Cambria Math" panose="02040503050406030204" pitchFamily="18" charset="0"/>
                      </a:rPr>
                      <m:t> </m:t>
                    </m:r>
                  </m:oMath>
                </a14:m>
                <a:endParaRPr lang="he-IL" dirty="0"/>
              </a:p>
            </p:txBody>
          </p:sp>
        </mc:Choice>
        <mc:Fallback xmlns="">
          <p:sp>
            <p:nvSpPr>
              <p:cNvPr id="17" name="TextBox 16">
                <a:extLst>
                  <a:ext uri="{FF2B5EF4-FFF2-40B4-BE49-F238E27FC236}">
                    <a16:creationId xmlns:a16="http://schemas.microsoft.com/office/drawing/2014/main" id="{67C5D18D-B523-E639-C9BC-6071483DDF14}"/>
                  </a:ext>
                </a:extLst>
              </p:cNvPr>
              <p:cNvSpPr txBox="1">
                <a:spLocks noRot="1" noChangeAspect="1" noMove="1" noResize="1" noEditPoints="1" noAdjustHandles="1" noChangeArrowheads="1" noChangeShapeType="1" noTextEdit="1"/>
              </p:cNvSpPr>
              <p:nvPr/>
            </p:nvSpPr>
            <p:spPr>
              <a:xfrm>
                <a:off x="5272391" y="5007848"/>
                <a:ext cx="6919609" cy="1200329"/>
              </a:xfrm>
              <a:prstGeom prst="rect">
                <a:avLst/>
              </a:prstGeom>
              <a:blipFill>
                <a:blip r:embed="rId4"/>
                <a:stretch>
                  <a:fillRect/>
                </a:stretch>
              </a:blipFill>
            </p:spPr>
            <p:txBody>
              <a:bodyPr/>
              <a:lstStyle/>
              <a:p>
                <a:r>
                  <a:rPr lang="he-IL">
                    <a:noFill/>
                  </a:rPr>
                  <a:t> </a:t>
                </a:r>
              </a:p>
            </p:txBody>
          </p:sp>
        </mc:Fallback>
      </mc:AlternateContent>
      <p:sp>
        <p:nvSpPr>
          <p:cNvPr id="18" name="Rectangle 17">
            <a:extLst>
              <a:ext uri="{FF2B5EF4-FFF2-40B4-BE49-F238E27FC236}">
                <a16:creationId xmlns:a16="http://schemas.microsoft.com/office/drawing/2014/main" id="{C37EB940-56A5-4CD8-FBFF-B8430A25F27B}"/>
              </a:ext>
            </a:extLst>
          </p:cNvPr>
          <p:cNvSpPr/>
          <p:nvPr/>
        </p:nvSpPr>
        <p:spPr>
          <a:xfrm>
            <a:off x="0" y="4864037"/>
            <a:ext cx="4348263" cy="4303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Short remainder of 2D convolution:</a:t>
            </a:r>
            <a:endParaRPr lang="he-IL" dirty="0"/>
          </a:p>
        </p:txBody>
      </p:sp>
      <p:sp>
        <p:nvSpPr>
          <p:cNvPr id="19" name="Rectangle 18">
            <a:extLst>
              <a:ext uri="{FF2B5EF4-FFF2-40B4-BE49-F238E27FC236}">
                <a16:creationId xmlns:a16="http://schemas.microsoft.com/office/drawing/2014/main" id="{6E6433CE-1A0B-CF38-F710-C4862C75EF75}"/>
              </a:ext>
            </a:extLst>
          </p:cNvPr>
          <p:cNvSpPr/>
          <p:nvPr/>
        </p:nvSpPr>
        <p:spPr>
          <a:xfrm>
            <a:off x="0" y="6339641"/>
            <a:ext cx="6828818" cy="5183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2D convolution is a dimensional expansion to the well known 1D convolution as we studies in digital signal processing Couse</a:t>
            </a:r>
            <a:endParaRPr lang="he-IL" dirty="0"/>
          </a:p>
        </p:txBody>
      </p:sp>
    </p:spTree>
    <p:extLst>
      <p:ext uri="{BB962C8B-B14F-4D97-AF65-F5344CB8AC3E}">
        <p14:creationId xmlns:p14="http://schemas.microsoft.com/office/powerpoint/2010/main" val="4186383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7</a:t>
            </a:fld>
            <a:endParaRPr lang="he-IL" sz="1600" dirty="0"/>
          </a:p>
        </p:txBody>
      </p:sp>
      <p:pic>
        <p:nvPicPr>
          <p:cNvPr id="7" name="Picture 6">
            <a:extLst>
              <a:ext uri="{FF2B5EF4-FFF2-40B4-BE49-F238E27FC236}">
                <a16:creationId xmlns:a16="http://schemas.microsoft.com/office/drawing/2014/main" id="{DF639ABB-01AB-DF10-D718-4260F5B3FAC7}"/>
              </a:ext>
            </a:extLst>
          </p:cNvPr>
          <p:cNvPicPr>
            <a:picLocks noChangeAspect="1"/>
          </p:cNvPicPr>
          <p:nvPr/>
        </p:nvPicPr>
        <p:blipFill>
          <a:blip r:embed="rId2"/>
          <a:stretch>
            <a:fillRect/>
          </a:stretch>
        </p:blipFill>
        <p:spPr>
          <a:xfrm>
            <a:off x="0" y="1535761"/>
            <a:ext cx="12192000" cy="5109439"/>
          </a:xfrm>
          <a:prstGeom prst="rect">
            <a:avLst/>
          </a:prstGeom>
        </p:spPr>
      </p:pic>
      <p:sp>
        <p:nvSpPr>
          <p:cNvPr id="8" name="Google Shape;60;p14">
            <a:extLst>
              <a:ext uri="{FF2B5EF4-FFF2-40B4-BE49-F238E27FC236}">
                <a16:creationId xmlns:a16="http://schemas.microsoft.com/office/drawing/2014/main" id="{D374BE6E-485B-7DC6-C0F0-DB1128681F30}"/>
              </a:ext>
            </a:extLst>
          </p:cNvPr>
          <p:cNvSpPr txBox="1"/>
          <p:nvPr/>
        </p:nvSpPr>
        <p:spPr>
          <a:xfrm>
            <a:off x="1686534" y="-25210"/>
            <a:ext cx="8818932" cy="457645"/>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2</a:t>
            </a:r>
            <a:r>
              <a:rPr lang="en-US" sz="2800" b="1" u="sng" dirty="0">
                <a:solidFill>
                  <a:srgbClr val="0070C0"/>
                </a:solidFill>
              </a:rPr>
              <a:t> -  the function “Convert”</a:t>
            </a:r>
            <a:endParaRPr lang="en-US" sz="2800" b="1" u="sng" dirty="0">
              <a:solidFill>
                <a:srgbClr val="FF0000"/>
              </a:solidFill>
            </a:endParaRPr>
          </a:p>
          <a:p>
            <a:pPr algn="ctr"/>
            <a:endParaRPr sz="2000" b="1" u="sng" dirty="0">
              <a:solidFill>
                <a:srgbClr val="FF0000"/>
              </a:solidFill>
            </a:endParaRPr>
          </a:p>
        </p:txBody>
      </p:sp>
      <p:sp>
        <p:nvSpPr>
          <p:cNvPr id="3" name="TextBox 2">
            <a:extLst>
              <a:ext uri="{FF2B5EF4-FFF2-40B4-BE49-F238E27FC236}">
                <a16:creationId xmlns:a16="http://schemas.microsoft.com/office/drawing/2014/main" id="{EFE0B83D-08E6-FFA2-68C7-D500E1598503}"/>
              </a:ext>
            </a:extLst>
          </p:cNvPr>
          <p:cNvSpPr txBox="1"/>
          <p:nvPr/>
        </p:nvSpPr>
        <p:spPr>
          <a:xfrm>
            <a:off x="2057805" y="660932"/>
            <a:ext cx="8818932"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Convert function scales and normalizes the floating-point image data (</a:t>
            </a:r>
            <a:r>
              <a:rPr lang="en-US" b="1" dirty="0"/>
              <a:t>floatImage</a:t>
            </a:r>
            <a:r>
              <a:rPr lang="en-US" dirty="0"/>
              <a:t>) into the 0-255 range, which is suitable for 8-bit grayscale images.</a:t>
            </a:r>
            <a:endParaRPr lang="he-IL" dirty="0"/>
          </a:p>
        </p:txBody>
      </p:sp>
      <p:sp>
        <p:nvSpPr>
          <p:cNvPr id="6" name="TextBox 5">
            <a:extLst>
              <a:ext uri="{FF2B5EF4-FFF2-40B4-BE49-F238E27FC236}">
                <a16:creationId xmlns:a16="http://schemas.microsoft.com/office/drawing/2014/main" id="{8F29092D-3F28-DC31-C43F-FCF398FE0E8F}"/>
              </a:ext>
            </a:extLst>
          </p:cNvPr>
          <p:cNvSpPr txBox="1"/>
          <p:nvPr/>
        </p:nvSpPr>
        <p:spPr>
          <a:xfrm>
            <a:off x="5956570" y="2546363"/>
            <a:ext cx="4779523"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calculates two factors, c and b, which are used to linearly transform the values in floatImage to the desired 0-255 range.</a:t>
            </a:r>
            <a:endParaRPr lang="he-IL" dirty="0"/>
          </a:p>
        </p:txBody>
      </p:sp>
      <p:sp>
        <p:nvSpPr>
          <p:cNvPr id="9" name="Right Brace 8">
            <a:extLst>
              <a:ext uri="{FF2B5EF4-FFF2-40B4-BE49-F238E27FC236}">
                <a16:creationId xmlns:a16="http://schemas.microsoft.com/office/drawing/2014/main" id="{944F7E88-BD7B-6793-55CD-D0A982510F94}"/>
              </a:ext>
            </a:extLst>
          </p:cNvPr>
          <p:cNvSpPr/>
          <p:nvPr/>
        </p:nvSpPr>
        <p:spPr>
          <a:xfrm>
            <a:off x="4893013" y="2120630"/>
            <a:ext cx="982493" cy="2120630"/>
          </a:xfrm>
          <a:prstGeom prst="rightBrace">
            <a:avLst/>
          </a:prstGeom>
        </p:spPr>
        <p:style>
          <a:lnRef idx="3">
            <a:schemeClr val="accent4"/>
          </a:lnRef>
          <a:fillRef idx="0">
            <a:schemeClr val="accent4"/>
          </a:fillRef>
          <a:effectRef idx="2">
            <a:schemeClr val="accent4"/>
          </a:effectRef>
          <a:fontRef idx="minor">
            <a:schemeClr val="tx1"/>
          </a:fontRef>
        </p:style>
        <p:txBody>
          <a:bodyPr rtlCol="1" anchor="ctr"/>
          <a:lstStyle/>
          <a:p>
            <a:pPr algn="ctr"/>
            <a:endParaRPr lang="he-IL"/>
          </a:p>
        </p:txBody>
      </p:sp>
      <p:sp>
        <p:nvSpPr>
          <p:cNvPr id="13" name="TextBox 12">
            <a:extLst>
              <a:ext uri="{FF2B5EF4-FFF2-40B4-BE49-F238E27FC236}">
                <a16:creationId xmlns:a16="http://schemas.microsoft.com/office/drawing/2014/main" id="{37C8A720-D113-11C1-470A-2B1592DB4A3D}"/>
              </a:ext>
            </a:extLst>
          </p:cNvPr>
          <p:cNvSpPr txBox="1"/>
          <p:nvPr/>
        </p:nvSpPr>
        <p:spPr>
          <a:xfrm>
            <a:off x="7953983" y="3570310"/>
            <a:ext cx="4215319"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function then iterates over every pixel in the </a:t>
            </a:r>
            <a:r>
              <a:rPr lang="en-US" b="1" dirty="0"/>
              <a:t>floatImage</a:t>
            </a:r>
            <a:r>
              <a:rPr lang="en-US" dirty="0"/>
              <a:t>, applying the linear transformation defined by c and b.</a:t>
            </a:r>
            <a:endParaRPr lang="he-IL" dirty="0"/>
          </a:p>
        </p:txBody>
      </p:sp>
      <p:sp>
        <p:nvSpPr>
          <p:cNvPr id="15" name="TextBox 14">
            <a:extLst>
              <a:ext uri="{FF2B5EF4-FFF2-40B4-BE49-F238E27FC236}">
                <a16:creationId xmlns:a16="http://schemas.microsoft.com/office/drawing/2014/main" id="{CF2C0F5B-3261-69E2-A6CE-C03A95E49FD4}"/>
              </a:ext>
            </a:extLst>
          </p:cNvPr>
          <p:cNvSpPr txBox="1"/>
          <p:nvPr/>
        </p:nvSpPr>
        <p:spPr>
          <a:xfrm>
            <a:off x="8346331" y="4480295"/>
            <a:ext cx="3822970"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For each pixel, the formula used is temp = c * (*ptrToFloatImage++) + b. This calculates the new pixel value in the normalized range.</a:t>
            </a:r>
            <a:endParaRPr lang="he-IL" dirty="0"/>
          </a:p>
        </p:txBody>
      </p:sp>
      <p:sp>
        <p:nvSpPr>
          <p:cNvPr id="19" name="TextBox 18">
            <a:extLst>
              <a:ext uri="{FF2B5EF4-FFF2-40B4-BE49-F238E27FC236}">
                <a16:creationId xmlns:a16="http://schemas.microsoft.com/office/drawing/2014/main" id="{DA34CFFA-4903-72E9-D59C-9B2ABBA5769F}"/>
              </a:ext>
            </a:extLst>
          </p:cNvPr>
          <p:cNvSpPr txBox="1"/>
          <p:nvPr/>
        </p:nvSpPr>
        <p:spPr>
          <a:xfrm>
            <a:off x="6874213" y="5676345"/>
            <a:ext cx="5295089"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value is then clamped to ensure it stays within the 0-255 range. If temp is less than 0, it is set to 0; if greater than 255, it is set to 255.</a:t>
            </a:r>
            <a:endParaRPr lang="he-IL" dirty="0"/>
          </a:p>
        </p:txBody>
      </p:sp>
    </p:spTree>
    <p:extLst>
      <p:ext uri="{BB962C8B-B14F-4D97-AF65-F5344CB8AC3E}">
        <p14:creationId xmlns:p14="http://schemas.microsoft.com/office/powerpoint/2010/main" val="557901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8</a:t>
            </a:fld>
            <a:endParaRPr lang="he-IL" sz="1600" dirty="0"/>
          </a:p>
        </p:txBody>
      </p:sp>
      <p:sp>
        <p:nvSpPr>
          <p:cNvPr id="2" name="Google Shape;60;p14">
            <a:extLst>
              <a:ext uri="{FF2B5EF4-FFF2-40B4-BE49-F238E27FC236}">
                <a16:creationId xmlns:a16="http://schemas.microsoft.com/office/drawing/2014/main" id="{0CEE3D3E-64E2-4130-C682-EDFFAB77E832}"/>
              </a:ext>
            </a:extLst>
          </p:cNvPr>
          <p:cNvSpPr txBox="1"/>
          <p:nvPr/>
        </p:nvSpPr>
        <p:spPr>
          <a:xfrm>
            <a:off x="1128611" y="-83188"/>
            <a:ext cx="9934778" cy="70095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3</a:t>
            </a:r>
            <a:r>
              <a:rPr lang="en-US" sz="2800" b="1" u="sng" dirty="0">
                <a:solidFill>
                  <a:srgbClr val="0070C0"/>
                </a:solidFill>
              </a:rPr>
              <a:t> -  the function “OptimalConvert”</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58771C55-1A90-A329-9F5B-6F0045F928A4}"/>
              </a:ext>
            </a:extLst>
          </p:cNvPr>
          <p:cNvPicPr>
            <a:picLocks noChangeAspect="1"/>
          </p:cNvPicPr>
          <p:nvPr/>
        </p:nvPicPr>
        <p:blipFill>
          <a:blip r:embed="rId2"/>
          <a:stretch>
            <a:fillRect/>
          </a:stretch>
        </p:blipFill>
        <p:spPr>
          <a:xfrm>
            <a:off x="-23235" y="1379522"/>
            <a:ext cx="11902329" cy="3924174"/>
          </a:xfrm>
          <a:prstGeom prst="rect">
            <a:avLst/>
          </a:prstGeom>
        </p:spPr>
      </p:pic>
      <p:sp>
        <p:nvSpPr>
          <p:cNvPr id="5" name="TextBox 4">
            <a:extLst>
              <a:ext uri="{FF2B5EF4-FFF2-40B4-BE49-F238E27FC236}">
                <a16:creationId xmlns:a16="http://schemas.microsoft.com/office/drawing/2014/main" id="{50B68CDB-CDC5-3A7F-3894-71A52ABE86F1}"/>
              </a:ext>
            </a:extLst>
          </p:cNvPr>
          <p:cNvSpPr txBox="1"/>
          <p:nvPr/>
        </p:nvSpPr>
        <p:spPr>
          <a:xfrm>
            <a:off x="558940" y="6227689"/>
            <a:ext cx="10801746"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This conversion is crucial because, after various operations in the frequency domain, the pixel values might not be in a range that can be directly displayed or interpreted.</a:t>
            </a:r>
            <a:endParaRPr lang="he-IL" dirty="0"/>
          </a:p>
        </p:txBody>
      </p:sp>
      <p:sp>
        <p:nvSpPr>
          <p:cNvPr id="8" name="TextBox 7">
            <a:extLst>
              <a:ext uri="{FF2B5EF4-FFF2-40B4-BE49-F238E27FC236}">
                <a16:creationId xmlns:a16="http://schemas.microsoft.com/office/drawing/2014/main" id="{C9126E77-5391-19F2-3A94-9E472E56A3E8}"/>
              </a:ext>
            </a:extLst>
          </p:cNvPr>
          <p:cNvSpPr txBox="1"/>
          <p:nvPr/>
        </p:nvSpPr>
        <p:spPr>
          <a:xfrm>
            <a:off x="413435" y="710097"/>
            <a:ext cx="1162211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That function is designed to take an image represented in the frequency domain (stored in a floating-point array </a:t>
            </a:r>
            <a:r>
              <a:rPr lang="en-US" b="1" u="sng" dirty="0">
                <a:solidFill>
                  <a:srgbClr val="FFFF00"/>
                </a:solidFill>
              </a:rPr>
              <a:t>floatImage</a:t>
            </a:r>
            <a:r>
              <a:rPr lang="en-US" b="1" dirty="0"/>
              <a:t>) and convert it into a grayscale image represented as an 8-bit unsigned char array (</a:t>
            </a:r>
            <a:r>
              <a:rPr lang="en-US" b="1" u="sng" dirty="0" err="1">
                <a:solidFill>
                  <a:srgbClr val="FFFF00"/>
                </a:solidFill>
              </a:rPr>
              <a:t>byteOriginal</a:t>
            </a:r>
            <a:r>
              <a:rPr lang="en-US" b="1" dirty="0"/>
              <a:t>). </a:t>
            </a:r>
            <a:endParaRPr lang="he-IL" b="1" dirty="0"/>
          </a:p>
        </p:txBody>
      </p:sp>
      <p:sp>
        <p:nvSpPr>
          <p:cNvPr id="10" name="TextBox 9">
            <a:extLst>
              <a:ext uri="{FF2B5EF4-FFF2-40B4-BE49-F238E27FC236}">
                <a16:creationId xmlns:a16="http://schemas.microsoft.com/office/drawing/2014/main" id="{AB5FA884-3C3D-7ECE-01B1-FC1FE2A332C4}"/>
              </a:ext>
            </a:extLst>
          </p:cNvPr>
          <p:cNvSpPr txBox="1"/>
          <p:nvPr/>
        </p:nvSpPr>
        <p:spPr>
          <a:xfrm>
            <a:off x="9013216" y="2095777"/>
            <a:ext cx="3106366" cy="286232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function scans through the </a:t>
            </a:r>
            <a:r>
              <a:rPr lang="en-US" b="1" dirty="0"/>
              <a:t>floatImage</a:t>
            </a:r>
            <a:r>
              <a:rPr lang="en-US" dirty="0"/>
              <a:t> to find the minimum (</a:t>
            </a:r>
            <a:r>
              <a:rPr lang="en-US" b="1" dirty="0"/>
              <a:t>MinVal</a:t>
            </a:r>
            <a:r>
              <a:rPr lang="en-US" dirty="0"/>
              <a:t>) and maximum (</a:t>
            </a:r>
            <a:r>
              <a:rPr lang="en-US" b="1" dirty="0"/>
              <a:t>MaxVal</a:t>
            </a:r>
            <a:r>
              <a:rPr lang="en-US" dirty="0"/>
              <a:t>) values. This step is crucial because the pixel values after FFT and subsequent operations might span a wide range and normalizing them is necessary for visualization.</a:t>
            </a:r>
            <a:endParaRPr lang="he-IL" dirty="0"/>
          </a:p>
        </p:txBody>
      </p:sp>
      <p:sp>
        <p:nvSpPr>
          <p:cNvPr id="13" name="TextBox 12">
            <a:extLst>
              <a:ext uri="{FF2B5EF4-FFF2-40B4-BE49-F238E27FC236}">
                <a16:creationId xmlns:a16="http://schemas.microsoft.com/office/drawing/2014/main" id="{E6A9B489-6EFE-C579-B838-55B502600D1C}"/>
              </a:ext>
            </a:extLst>
          </p:cNvPr>
          <p:cNvSpPr txBox="1"/>
          <p:nvPr/>
        </p:nvSpPr>
        <p:spPr>
          <a:xfrm>
            <a:off x="6527260" y="5024353"/>
            <a:ext cx="5592322" cy="1200329"/>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The function then calls Convert, passing the MinVal and </a:t>
            </a:r>
            <a:r>
              <a:rPr lang="en-US" u="sng" dirty="0"/>
              <a:t>MaxVal</a:t>
            </a:r>
            <a:r>
              <a:rPr lang="en-US" dirty="0"/>
              <a:t> it found. The Convert function normalizes the values in floatImage so that they fit within the 0-255 range, which is suitable for a grayscale image.</a:t>
            </a:r>
            <a:endParaRPr lang="he-IL" dirty="0"/>
          </a:p>
        </p:txBody>
      </p:sp>
    </p:spTree>
    <p:extLst>
      <p:ext uri="{BB962C8B-B14F-4D97-AF65-F5344CB8AC3E}">
        <p14:creationId xmlns:p14="http://schemas.microsoft.com/office/powerpoint/2010/main" val="2354416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9</a:t>
            </a:fld>
            <a:endParaRPr lang="he-IL" sz="1600" dirty="0"/>
          </a:p>
        </p:txBody>
      </p:sp>
      <p:sp>
        <p:nvSpPr>
          <p:cNvPr id="2" name="Google Shape;60;p14">
            <a:extLst>
              <a:ext uri="{FF2B5EF4-FFF2-40B4-BE49-F238E27FC236}">
                <a16:creationId xmlns:a16="http://schemas.microsoft.com/office/drawing/2014/main" id="{4B013A23-FBDD-8A01-99CB-50ECF229E8C7}"/>
              </a:ext>
            </a:extLst>
          </p:cNvPr>
          <p:cNvSpPr txBox="1"/>
          <p:nvPr/>
        </p:nvSpPr>
        <p:spPr>
          <a:xfrm>
            <a:off x="1595741" y="-97837"/>
            <a:ext cx="9000518" cy="730020"/>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4</a:t>
            </a:r>
            <a:r>
              <a:rPr lang="en-US" sz="2800" b="1" u="sng" dirty="0">
                <a:solidFill>
                  <a:srgbClr val="0070C0"/>
                </a:solidFill>
              </a:rPr>
              <a:t> -  the function “DoFFT”</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EF3DEAAA-7061-1B5E-D239-86DB5C4067AC}"/>
              </a:ext>
            </a:extLst>
          </p:cNvPr>
          <p:cNvPicPr>
            <a:picLocks noChangeAspect="1"/>
          </p:cNvPicPr>
          <p:nvPr/>
        </p:nvPicPr>
        <p:blipFill>
          <a:blip r:embed="rId3"/>
          <a:stretch>
            <a:fillRect/>
          </a:stretch>
        </p:blipFill>
        <p:spPr>
          <a:xfrm>
            <a:off x="8106" y="1527844"/>
            <a:ext cx="12192000" cy="3529940"/>
          </a:xfrm>
          <a:prstGeom prst="rect">
            <a:avLst/>
          </a:prstGeom>
        </p:spPr>
      </p:pic>
      <p:sp>
        <p:nvSpPr>
          <p:cNvPr id="5" name="TextBox 4">
            <a:extLst>
              <a:ext uri="{FF2B5EF4-FFF2-40B4-BE49-F238E27FC236}">
                <a16:creationId xmlns:a16="http://schemas.microsoft.com/office/drawing/2014/main" id="{896F4351-449A-07D0-6A4A-9EF6448EA445}"/>
              </a:ext>
            </a:extLst>
          </p:cNvPr>
          <p:cNvSpPr txBox="1"/>
          <p:nvPr/>
        </p:nvSpPr>
        <p:spPr>
          <a:xfrm>
            <a:off x="2005721" y="518475"/>
            <a:ext cx="8180557"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The DoFFT function converts an image between the spatial domain and the frequency domain. In the frequency domain, the image data is represented by two components: the real part (imageRe) and the imaginary part (imageIm).</a:t>
            </a:r>
            <a:endParaRPr lang="he-IL" b="1" dirty="0"/>
          </a:p>
        </p:txBody>
      </p:sp>
      <p:sp>
        <p:nvSpPr>
          <p:cNvPr id="8" name="TextBox 7">
            <a:extLst>
              <a:ext uri="{FF2B5EF4-FFF2-40B4-BE49-F238E27FC236}">
                <a16:creationId xmlns:a16="http://schemas.microsoft.com/office/drawing/2014/main" id="{63544AC4-326F-97EE-5E89-B5084350A522}"/>
              </a:ext>
            </a:extLst>
          </p:cNvPr>
          <p:cNvSpPr txBox="1"/>
          <p:nvPr/>
        </p:nvSpPr>
        <p:spPr>
          <a:xfrm>
            <a:off x="5826869" y="2459184"/>
            <a:ext cx="5673656" cy="1477328"/>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core of the DoFFT function is the call to PrimeFFTn, which is a specialized FFT function provided in the </a:t>
            </a:r>
            <a:r>
              <a:rPr lang="en-US" b="1" dirty="0"/>
              <a:t>PrimeFFTn.h</a:t>
            </a:r>
            <a:r>
              <a:rPr lang="en-US" dirty="0"/>
              <a:t> library (was given to use in the website of the course). This function performs the actual FFT calculation based on the provided parameters:</a:t>
            </a:r>
            <a:endParaRPr lang="he-IL" dirty="0"/>
          </a:p>
        </p:txBody>
      </p:sp>
      <p:sp>
        <p:nvSpPr>
          <p:cNvPr id="10" name="TextBox 9">
            <a:extLst>
              <a:ext uri="{FF2B5EF4-FFF2-40B4-BE49-F238E27FC236}">
                <a16:creationId xmlns:a16="http://schemas.microsoft.com/office/drawing/2014/main" id="{F3C3D15A-83F7-9374-E8EC-88B76C150C6F}"/>
              </a:ext>
            </a:extLst>
          </p:cNvPr>
          <p:cNvSpPr txBox="1"/>
          <p:nvPr/>
        </p:nvSpPr>
        <p:spPr>
          <a:xfrm>
            <a:off x="4293952" y="499806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2 indicates that the FFT is being performed on a 2D array.</a:t>
            </a:r>
            <a:endParaRPr lang="he-IL" dirty="0"/>
          </a:p>
        </p:txBody>
      </p:sp>
      <p:sp>
        <p:nvSpPr>
          <p:cNvPr id="12" name="TextBox 11">
            <a:extLst>
              <a:ext uri="{FF2B5EF4-FFF2-40B4-BE49-F238E27FC236}">
                <a16:creationId xmlns:a16="http://schemas.microsoft.com/office/drawing/2014/main" id="{F224AAF8-F809-00F3-7EDD-FDA3D06FFF19}"/>
              </a:ext>
            </a:extLst>
          </p:cNvPr>
          <p:cNvSpPr txBox="1"/>
          <p:nvPr/>
        </p:nvSpPr>
        <p:spPr>
          <a:xfrm>
            <a:off x="4293952" y="537403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arrayOfDimensions specifies the dimensions of the array.</a:t>
            </a:r>
            <a:endParaRPr lang="he-IL" dirty="0"/>
          </a:p>
        </p:txBody>
      </p:sp>
      <p:sp>
        <p:nvSpPr>
          <p:cNvPr id="14" name="TextBox 13">
            <a:extLst>
              <a:ext uri="{FF2B5EF4-FFF2-40B4-BE49-F238E27FC236}">
                <a16:creationId xmlns:a16="http://schemas.microsoft.com/office/drawing/2014/main" id="{90E322AC-96B6-1EF2-E4BF-096A655BB368}"/>
              </a:ext>
            </a:extLst>
          </p:cNvPr>
          <p:cNvSpPr txBox="1"/>
          <p:nvPr/>
        </p:nvSpPr>
        <p:spPr>
          <a:xfrm>
            <a:off x="4293952" y="5765335"/>
            <a:ext cx="7906154"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ptrToRe</a:t>
            </a:r>
            <a:r>
              <a:rPr lang="en-US" dirty="0"/>
              <a:t> and </a:t>
            </a:r>
            <a:r>
              <a:rPr lang="en-US" b="1" dirty="0"/>
              <a:t>ptrToIm</a:t>
            </a:r>
            <a:r>
              <a:rPr lang="en-US" dirty="0"/>
              <a:t> point to the real and imaginary parts of the image data.</a:t>
            </a:r>
            <a:endParaRPr lang="he-IL" dirty="0"/>
          </a:p>
        </p:txBody>
      </p:sp>
      <p:sp>
        <p:nvSpPr>
          <p:cNvPr id="16" name="TextBox 15">
            <a:extLst>
              <a:ext uri="{FF2B5EF4-FFF2-40B4-BE49-F238E27FC236}">
                <a16:creationId xmlns:a16="http://schemas.microsoft.com/office/drawing/2014/main" id="{0E64F659-BB82-F50F-C0F2-A29222144C01}"/>
              </a:ext>
            </a:extLst>
          </p:cNvPr>
          <p:cNvSpPr txBox="1"/>
          <p:nvPr/>
        </p:nvSpPr>
        <p:spPr>
          <a:xfrm>
            <a:off x="4293952" y="616327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exponentSign determines the direction of the FFT.</a:t>
            </a:r>
            <a:endParaRPr lang="he-IL" dirty="0"/>
          </a:p>
        </p:txBody>
      </p:sp>
      <p:sp>
        <p:nvSpPr>
          <p:cNvPr id="18" name="TextBox 17">
            <a:extLst>
              <a:ext uri="{FF2B5EF4-FFF2-40B4-BE49-F238E27FC236}">
                <a16:creationId xmlns:a16="http://schemas.microsoft.com/office/drawing/2014/main" id="{D32660D1-C094-BCAF-D0C8-8F85A64523D1}"/>
              </a:ext>
            </a:extLst>
          </p:cNvPr>
          <p:cNvSpPr txBox="1"/>
          <p:nvPr/>
        </p:nvSpPr>
        <p:spPr>
          <a:xfrm>
            <a:off x="4293952" y="6488668"/>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normalizationScalingType controls how the result is scaled.</a:t>
            </a:r>
            <a:endParaRPr lang="he-IL" dirty="0"/>
          </a:p>
        </p:txBody>
      </p:sp>
      <p:sp>
        <p:nvSpPr>
          <p:cNvPr id="22" name="Right Brace 21">
            <a:extLst>
              <a:ext uri="{FF2B5EF4-FFF2-40B4-BE49-F238E27FC236}">
                <a16:creationId xmlns:a16="http://schemas.microsoft.com/office/drawing/2014/main" id="{1A76A20C-F8A8-D4E2-F0FD-B2930740526C}"/>
              </a:ext>
            </a:extLst>
          </p:cNvPr>
          <p:cNvSpPr/>
          <p:nvPr/>
        </p:nvSpPr>
        <p:spPr>
          <a:xfrm>
            <a:off x="3871609" y="3628417"/>
            <a:ext cx="330740" cy="1235413"/>
          </a:xfrm>
          <a:prstGeom prst="rightBrace">
            <a:avLst/>
          </a:prstGeom>
        </p:spPr>
        <p:style>
          <a:lnRef idx="3">
            <a:schemeClr val="accent2"/>
          </a:lnRef>
          <a:fillRef idx="0">
            <a:schemeClr val="accent2"/>
          </a:fillRef>
          <a:effectRef idx="2">
            <a:schemeClr val="accent2"/>
          </a:effectRef>
          <a:fontRef idx="minor">
            <a:schemeClr val="tx1"/>
          </a:fontRef>
        </p:style>
        <p:txBody>
          <a:bodyPr rtlCol="1" anchor="ctr"/>
          <a:lstStyle/>
          <a:p>
            <a:pPr algn="ctr"/>
            <a:endParaRPr lang="he-IL"/>
          </a:p>
        </p:txBody>
      </p:sp>
      <p:sp>
        <p:nvSpPr>
          <p:cNvPr id="23" name="Arrow: Bent 22">
            <a:extLst>
              <a:ext uri="{FF2B5EF4-FFF2-40B4-BE49-F238E27FC236}">
                <a16:creationId xmlns:a16="http://schemas.microsoft.com/office/drawing/2014/main" id="{223F0DDF-99CD-330A-3C35-2979253655AA}"/>
              </a:ext>
            </a:extLst>
          </p:cNvPr>
          <p:cNvSpPr/>
          <p:nvPr/>
        </p:nvSpPr>
        <p:spPr>
          <a:xfrm rot="5400000">
            <a:off x="5353829" y="3042528"/>
            <a:ext cx="878936" cy="2998690"/>
          </a:xfrm>
          <a:prstGeom prst="bentArrow">
            <a:avLst/>
          </a:prstGeom>
        </p:spPr>
        <p:style>
          <a:lnRef idx="0">
            <a:schemeClr val="accent2"/>
          </a:lnRef>
          <a:fillRef idx="3">
            <a:schemeClr val="accent2"/>
          </a:fillRef>
          <a:effectRef idx="3">
            <a:schemeClr val="accent2"/>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39019090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0197" y="67310"/>
            <a:ext cx="411804"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10</a:t>
            </a:fld>
            <a:endParaRPr lang="he-IL" sz="1600" dirty="0"/>
          </a:p>
        </p:txBody>
      </p:sp>
      <p:sp>
        <p:nvSpPr>
          <p:cNvPr id="2" name="Google Shape;60;p14">
            <a:extLst>
              <a:ext uri="{FF2B5EF4-FFF2-40B4-BE49-F238E27FC236}">
                <a16:creationId xmlns:a16="http://schemas.microsoft.com/office/drawing/2014/main" id="{ED7D8677-CD8F-7153-E0F5-1CD1A24739EF}"/>
              </a:ext>
            </a:extLst>
          </p:cNvPr>
          <p:cNvSpPr txBox="1"/>
          <p:nvPr/>
        </p:nvSpPr>
        <p:spPr>
          <a:xfrm>
            <a:off x="1323164" y="-49141"/>
            <a:ext cx="9545672" cy="632858"/>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5</a:t>
            </a:r>
            <a:r>
              <a:rPr lang="en-US" sz="2800" b="1" u="sng" dirty="0">
                <a:solidFill>
                  <a:srgbClr val="0070C0"/>
                </a:solidFill>
              </a:rPr>
              <a:t> -  the function “ShiftHalfSize”</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D02F31E0-555F-90B3-D9FE-CAE387B7B73C}"/>
              </a:ext>
            </a:extLst>
          </p:cNvPr>
          <p:cNvPicPr>
            <a:picLocks noChangeAspect="1"/>
          </p:cNvPicPr>
          <p:nvPr/>
        </p:nvPicPr>
        <p:blipFill>
          <a:blip r:embed="rId2"/>
          <a:stretch>
            <a:fillRect/>
          </a:stretch>
        </p:blipFill>
        <p:spPr>
          <a:xfrm>
            <a:off x="0" y="1387103"/>
            <a:ext cx="9131151" cy="4575952"/>
          </a:xfrm>
          <a:prstGeom prst="rect">
            <a:avLst/>
          </a:prstGeom>
        </p:spPr>
      </p:pic>
      <p:sp>
        <p:nvSpPr>
          <p:cNvPr id="5" name="TextBox 4">
            <a:extLst>
              <a:ext uri="{FF2B5EF4-FFF2-40B4-BE49-F238E27FC236}">
                <a16:creationId xmlns:a16="http://schemas.microsoft.com/office/drawing/2014/main" id="{ECE60067-974F-0836-3C09-BC47C51A3B25}"/>
              </a:ext>
            </a:extLst>
          </p:cNvPr>
          <p:cNvSpPr txBox="1"/>
          <p:nvPr/>
        </p:nvSpPr>
        <p:spPr>
          <a:xfrm>
            <a:off x="2068749" y="571779"/>
            <a:ext cx="8054502"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b="1" dirty="0"/>
              <a:t>That function shifts the quadrants of the image so that the zero frequency component (also known as the DC component) is centered.</a:t>
            </a:r>
            <a:endParaRPr lang="he-IL" b="1" dirty="0"/>
          </a:p>
        </p:txBody>
      </p:sp>
      <p:sp>
        <p:nvSpPr>
          <p:cNvPr id="8" name="TextBox 7">
            <a:extLst>
              <a:ext uri="{FF2B5EF4-FFF2-40B4-BE49-F238E27FC236}">
                <a16:creationId xmlns:a16="http://schemas.microsoft.com/office/drawing/2014/main" id="{BEE9B264-31DE-8C28-41C8-BDFF55BAD68B}"/>
              </a:ext>
            </a:extLst>
          </p:cNvPr>
          <p:cNvSpPr txBox="1"/>
          <p:nvPr/>
        </p:nvSpPr>
        <p:spPr>
          <a:xfrm>
            <a:off x="1787052" y="6132048"/>
            <a:ext cx="8617895"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a:t>
            </a:r>
            <a:r>
              <a:rPr lang="en-US" b="1" dirty="0"/>
              <a:t>ShiftHalfSize</a:t>
            </a:r>
            <a:r>
              <a:rPr lang="en-US" dirty="0"/>
              <a:t> function is conceptually similar to the fftshift function in MATLAB.</a:t>
            </a:r>
            <a:endParaRPr lang="he-IL" dirty="0"/>
          </a:p>
        </p:txBody>
      </p:sp>
      <p:sp>
        <p:nvSpPr>
          <p:cNvPr id="11" name="TextBox 10">
            <a:extLst>
              <a:ext uri="{FF2B5EF4-FFF2-40B4-BE49-F238E27FC236}">
                <a16:creationId xmlns:a16="http://schemas.microsoft.com/office/drawing/2014/main" id="{10481AC8-DBF5-F14E-59ED-0E1FEE21959B}"/>
              </a:ext>
            </a:extLst>
          </p:cNvPr>
          <p:cNvSpPr txBox="1"/>
          <p:nvPr/>
        </p:nvSpPr>
        <p:spPr>
          <a:xfrm>
            <a:off x="7023371" y="3069475"/>
            <a:ext cx="5030822"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It rearranges the output of the FFT such that the low frequencies are centered, which is often more intuitive for analysis and visualization.</a:t>
            </a:r>
            <a:endParaRPr lang="he-IL" dirty="0"/>
          </a:p>
        </p:txBody>
      </p:sp>
    </p:spTree>
    <p:extLst>
      <p:ext uri="{BB962C8B-B14F-4D97-AF65-F5344CB8AC3E}">
        <p14:creationId xmlns:p14="http://schemas.microsoft.com/office/powerpoint/2010/main" val="1658420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9923" y="67310"/>
            <a:ext cx="402077"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11</a:t>
            </a:fld>
            <a:endParaRPr lang="he-IL" sz="1600" dirty="0"/>
          </a:p>
        </p:txBody>
      </p:sp>
      <p:pic>
        <p:nvPicPr>
          <p:cNvPr id="3" name="Picture 2">
            <a:extLst>
              <a:ext uri="{FF2B5EF4-FFF2-40B4-BE49-F238E27FC236}">
                <a16:creationId xmlns:a16="http://schemas.microsoft.com/office/drawing/2014/main" id="{043D4964-749D-E8DE-7A44-D62DDE3D97FF}"/>
              </a:ext>
            </a:extLst>
          </p:cNvPr>
          <p:cNvPicPr>
            <a:picLocks noChangeAspect="1"/>
          </p:cNvPicPr>
          <p:nvPr/>
        </p:nvPicPr>
        <p:blipFill>
          <a:blip r:embed="rId2"/>
          <a:stretch>
            <a:fillRect/>
          </a:stretch>
        </p:blipFill>
        <p:spPr>
          <a:xfrm>
            <a:off x="0" y="1656261"/>
            <a:ext cx="12192000" cy="4129137"/>
          </a:xfrm>
          <a:prstGeom prst="rect">
            <a:avLst/>
          </a:prstGeom>
        </p:spPr>
      </p:pic>
      <p:sp>
        <p:nvSpPr>
          <p:cNvPr id="6" name="Google Shape;60;p14">
            <a:extLst>
              <a:ext uri="{FF2B5EF4-FFF2-40B4-BE49-F238E27FC236}">
                <a16:creationId xmlns:a16="http://schemas.microsoft.com/office/drawing/2014/main" id="{8F0329BA-0C28-C27C-1B63-DD0441FC9D51}"/>
              </a:ext>
            </a:extLst>
          </p:cNvPr>
          <p:cNvSpPr txBox="1"/>
          <p:nvPr/>
        </p:nvSpPr>
        <p:spPr>
          <a:xfrm>
            <a:off x="901429" y="9001"/>
            <a:ext cx="10389141" cy="623297"/>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6</a:t>
            </a:r>
            <a:r>
              <a:rPr lang="en-US" sz="2800" b="1" u="sng" dirty="0">
                <a:solidFill>
                  <a:srgbClr val="0070C0"/>
                </a:solidFill>
              </a:rPr>
              <a:t> -  the function “CreateRectangle”</a:t>
            </a:r>
            <a:endParaRPr lang="en-US" sz="2800" b="1" u="sng" dirty="0">
              <a:solidFill>
                <a:srgbClr val="FF0000"/>
              </a:solidFill>
            </a:endParaRPr>
          </a:p>
          <a:p>
            <a:pPr algn="ctr"/>
            <a:endParaRPr lang="en-US" sz="2000" b="1" u="sng" dirty="0">
              <a:solidFill>
                <a:srgbClr val="FF0000"/>
              </a:solidFill>
            </a:endParaRPr>
          </a:p>
        </p:txBody>
      </p:sp>
      <p:sp>
        <p:nvSpPr>
          <p:cNvPr id="5" name="TextBox 4">
            <a:extLst>
              <a:ext uri="{FF2B5EF4-FFF2-40B4-BE49-F238E27FC236}">
                <a16:creationId xmlns:a16="http://schemas.microsoft.com/office/drawing/2014/main" id="{D65AD758-EDDA-126A-6B08-FA87B7063E5B}"/>
              </a:ext>
            </a:extLst>
          </p:cNvPr>
          <p:cNvSpPr txBox="1"/>
          <p:nvPr/>
        </p:nvSpPr>
        <p:spPr>
          <a:xfrm>
            <a:off x="1874194" y="626458"/>
            <a:ext cx="8443609"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That function is designed to generate a 2D rectangular region within an image, where the central area of the rectangle has one value (centralValue), and the surrounding (peripheral) area has another value (peripheryValue). </a:t>
            </a:r>
            <a:endParaRPr lang="he-IL" b="1" dirty="0"/>
          </a:p>
        </p:txBody>
      </p:sp>
      <p:sp>
        <p:nvSpPr>
          <p:cNvPr id="8" name="TextBox 7">
            <a:extLst>
              <a:ext uri="{FF2B5EF4-FFF2-40B4-BE49-F238E27FC236}">
                <a16:creationId xmlns:a16="http://schemas.microsoft.com/office/drawing/2014/main" id="{EDB27938-91AA-426A-9218-8A91ADF14F9E}"/>
              </a:ext>
            </a:extLst>
          </p:cNvPr>
          <p:cNvSpPr txBox="1"/>
          <p:nvPr/>
        </p:nvSpPr>
        <p:spPr>
          <a:xfrm>
            <a:off x="2714016" y="5886031"/>
            <a:ext cx="5875507"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This function is used in our program to create basic filters like low-pass or high-pass filters </a:t>
            </a:r>
            <a:endParaRPr lang="he-IL" dirty="0"/>
          </a:p>
        </p:txBody>
      </p:sp>
      <p:sp>
        <p:nvSpPr>
          <p:cNvPr id="9" name="Oval 8">
            <a:extLst>
              <a:ext uri="{FF2B5EF4-FFF2-40B4-BE49-F238E27FC236}">
                <a16:creationId xmlns:a16="http://schemas.microsoft.com/office/drawing/2014/main" id="{4A1C68E5-53AB-D8CC-AAB3-13FA99C2FE36}"/>
              </a:ext>
            </a:extLst>
          </p:cNvPr>
          <p:cNvSpPr/>
          <p:nvPr/>
        </p:nvSpPr>
        <p:spPr>
          <a:xfrm>
            <a:off x="6780179" y="4679004"/>
            <a:ext cx="4510391" cy="110639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t>בגרסאות קודמות של </a:t>
            </a:r>
            <a:r>
              <a:rPr lang="en-US" dirty="0"/>
              <a:t>work()</a:t>
            </a:r>
            <a:r>
              <a:rPr lang="he-IL" dirty="0"/>
              <a:t> השתמשתי בזה אבל בגרסאות החדשות כבר לא. לבחון מחיקה.</a:t>
            </a:r>
          </a:p>
        </p:txBody>
      </p:sp>
    </p:spTree>
    <p:extLst>
      <p:ext uri="{BB962C8B-B14F-4D97-AF65-F5344CB8AC3E}">
        <p14:creationId xmlns:p14="http://schemas.microsoft.com/office/powerpoint/2010/main" val="21960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0196" y="67310"/>
            <a:ext cx="411804"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12</a:t>
            </a:fld>
            <a:endParaRPr lang="he-IL" sz="1600" dirty="0"/>
          </a:p>
        </p:txBody>
      </p:sp>
      <p:sp>
        <p:nvSpPr>
          <p:cNvPr id="2" name="Google Shape;60;p14">
            <a:extLst>
              <a:ext uri="{FF2B5EF4-FFF2-40B4-BE49-F238E27FC236}">
                <a16:creationId xmlns:a16="http://schemas.microsoft.com/office/drawing/2014/main" id="{EC55AB99-CE04-D96C-343A-261D27A1411E}"/>
              </a:ext>
            </a:extLst>
          </p:cNvPr>
          <p:cNvSpPr txBox="1"/>
          <p:nvPr/>
        </p:nvSpPr>
        <p:spPr>
          <a:xfrm>
            <a:off x="1060517" y="-44393"/>
            <a:ext cx="10070965" cy="67669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7</a:t>
            </a:r>
            <a:r>
              <a:rPr lang="en-US" sz="2800" b="1" u="sng" dirty="0">
                <a:solidFill>
                  <a:srgbClr val="0070C0"/>
                </a:solidFill>
              </a:rPr>
              <a:t> -  the function “DoFiltrationInFD”</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241B305D-1AE4-AD92-62D1-1537047DCCE8}"/>
              </a:ext>
            </a:extLst>
          </p:cNvPr>
          <p:cNvPicPr>
            <a:picLocks noChangeAspect="1"/>
          </p:cNvPicPr>
          <p:nvPr/>
        </p:nvPicPr>
        <p:blipFill>
          <a:blip r:embed="rId2"/>
          <a:stretch>
            <a:fillRect/>
          </a:stretch>
        </p:blipFill>
        <p:spPr>
          <a:xfrm>
            <a:off x="0" y="1792700"/>
            <a:ext cx="12192000" cy="2718599"/>
          </a:xfrm>
          <a:prstGeom prst="rect">
            <a:avLst/>
          </a:prstGeom>
        </p:spPr>
      </p:pic>
      <p:sp>
        <p:nvSpPr>
          <p:cNvPr id="5" name="TextBox 4">
            <a:extLst>
              <a:ext uri="{FF2B5EF4-FFF2-40B4-BE49-F238E27FC236}">
                <a16:creationId xmlns:a16="http://schemas.microsoft.com/office/drawing/2014/main" id="{24763AD0-5A15-1C2A-6018-AD1C248E94E4}"/>
              </a:ext>
            </a:extLst>
          </p:cNvPr>
          <p:cNvSpPr txBox="1"/>
          <p:nvPr/>
        </p:nvSpPr>
        <p:spPr>
          <a:xfrm>
            <a:off x="1947962" y="889334"/>
            <a:ext cx="901510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The primary purpose of DoFiltrationInFD is to apply a filter (stored in floatFilter) to an image that has already been transformed into the frequency domain. </a:t>
            </a:r>
            <a:endParaRPr lang="he-IL" b="1" dirty="0"/>
          </a:p>
        </p:txBody>
      </p:sp>
      <p:sp>
        <p:nvSpPr>
          <p:cNvPr id="8" name="TextBox 7">
            <a:extLst>
              <a:ext uri="{FF2B5EF4-FFF2-40B4-BE49-F238E27FC236}">
                <a16:creationId xmlns:a16="http://schemas.microsoft.com/office/drawing/2014/main" id="{10BC7102-9186-8C4B-9635-EDF886FDAFE3}"/>
              </a:ext>
            </a:extLst>
          </p:cNvPr>
          <p:cNvSpPr txBox="1"/>
          <p:nvPr/>
        </p:nvSpPr>
        <p:spPr>
          <a:xfrm>
            <a:off x="8385242" y="2696066"/>
            <a:ext cx="3367392" cy="1754326"/>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filtering is done by element-wise multiplication of the frequency domain representation of the image (stored in </a:t>
            </a:r>
            <a:r>
              <a:rPr lang="en-US" b="1" dirty="0"/>
              <a:t>floatRe</a:t>
            </a:r>
            <a:r>
              <a:rPr lang="en-US" dirty="0"/>
              <a:t> and </a:t>
            </a:r>
            <a:r>
              <a:rPr lang="en-US" b="1" dirty="0"/>
              <a:t>floatIm</a:t>
            </a:r>
            <a:r>
              <a:rPr lang="en-US" dirty="0"/>
              <a:t> arrays) with the filter.</a:t>
            </a:r>
            <a:endParaRPr lang="he-IL" dirty="0"/>
          </a:p>
        </p:txBody>
      </p:sp>
      <p:sp>
        <p:nvSpPr>
          <p:cNvPr id="9" name="Right Brace 8">
            <a:extLst>
              <a:ext uri="{FF2B5EF4-FFF2-40B4-BE49-F238E27FC236}">
                <a16:creationId xmlns:a16="http://schemas.microsoft.com/office/drawing/2014/main" id="{3F67C692-F5BE-1408-922D-9C55B037361D}"/>
              </a:ext>
            </a:extLst>
          </p:cNvPr>
          <p:cNvSpPr/>
          <p:nvPr/>
        </p:nvSpPr>
        <p:spPr>
          <a:xfrm>
            <a:off x="7247106" y="2976664"/>
            <a:ext cx="924128" cy="1400783"/>
          </a:xfrm>
          <a:prstGeom prst="rightBrace">
            <a:avLst/>
          </a:prstGeom>
        </p:spPr>
        <p:style>
          <a:lnRef idx="3">
            <a:schemeClr val="accent3"/>
          </a:lnRef>
          <a:fillRef idx="0">
            <a:schemeClr val="accent3"/>
          </a:fillRef>
          <a:effectRef idx="2">
            <a:schemeClr val="accent3"/>
          </a:effectRef>
          <a:fontRef idx="minor">
            <a:schemeClr val="tx1"/>
          </a:fontRef>
        </p:style>
        <p:txBody>
          <a:bodyPr rtlCol="1" anchor="ctr"/>
          <a:lstStyle/>
          <a:p>
            <a:pPr algn="ctr"/>
            <a:endParaRPr lang="he-IL"/>
          </a:p>
        </p:txBody>
      </p:sp>
      <p:sp>
        <p:nvSpPr>
          <p:cNvPr id="11" name="TextBox 10">
            <a:extLst>
              <a:ext uri="{FF2B5EF4-FFF2-40B4-BE49-F238E27FC236}">
                <a16:creationId xmlns:a16="http://schemas.microsoft.com/office/drawing/2014/main" id="{31ABC3DE-0EA4-4E5C-8F3E-E6472C7EA159}"/>
              </a:ext>
            </a:extLst>
          </p:cNvPr>
          <p:cNvSpPr txBox="1"/>
          <p:nvPr/>
        </p:nvSpPr>
        <p:spPr>
          <a:xfrm>
            <a:off x="2298158" y="4676001"/>
            <a:ext cx="6904207" cy="1200329"/>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After applying the filter in the frequency domain, the next step is to perform an inverse FFT (using </a:t>
            </a:r>
            <a:r>
              <a:rPr lang="en-US" b="1" dirty="0"/>
              <a:t>DoFFT</a:t>
            </a:r>
            <a:r>
              <a:rPr lang="en-US" dirty="0"/>
              <a:t> with a negative exponent) to transform the filtered image back into the spatial domain. </a:t>
            </a:r>
          </a:p>
          <a:p>
            <a:r>
              <a:rPr lang="en-US" dirty="0"/>
              <a:t>The result is a filtered version of the original image.</a:t>
            </a:r>
            <a:endParaRPr lang="he-IL" dirty="0"/>
          </a:p>
        </p:txBody>
      </p:sp>
    </p:spTree>
    <p:extLst>
      <p:ext uri="{BB962C8B-B14F-4D97-AF65-F5344CB8AC3E}">
        <p14:creationId xmlns:p14="http://schemas.microsoft.com/office/powerpoint/2010/main" val="1281948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31557" y="67310"/>
            <a:ext cx="460443"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13</a:t>
            </a:fld>
            <a:endParaRPr lang="he-IL" sz="1600" dirty="0"/>
          </a:p>
        </p:txBody>
      </p:sp>
      <p:sp>
        <p:nvSpPr>
          <p:cNvPr id="2" name="Google Shape;60;p14">
            <a:extLst>
              <a:ext uri="{FF2B5EF4-FFF2-40B4-BE49-F238E27FC236}">
                <a16:creationId xmlns:a16="http://schemas.microsoft.com/office/drawing/2014/main" id="{1050772E-41E8-3909-1F19-91FB9D126D93}"/>
              </a:ext>
            </a:extLst>
          </p:cNvPr>
          <p:cNvSpPr txBox="1"/>
          <p:nvPr/>
        </p:nvSpPr>
        <p:spPr>
          <a:xfrm>
            <a:off x="460444" y="-20131"/>
            <a:ext cx="11131482" cy="88589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8</a:t>
            </a:r>
            <a:r>
              <a:rPr lang="en-US" sz="2800" b="1" u="sng" dirty="0">
                <a:solidFill>
                  <a:srgbClr val="0070C0"/>
                </a:solidFill>
              </a:rPr>
              <a:t> -  the function “PrepareGaussianFilter”</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DD95B7D5-FE3A-DEE5-B46F-DB6FBC27CC30}"/>
              </a:ext>
            </a:extLst>
          </p:cNvPr>
          <p:cNvPicPr>
            <a:picLocks noChangeAspect="1"/>
          </p:cNvPicPr>
          <p:nvPr/>
        </p:nvPicPr>
        <p:blipFill>
          <a:blip r:embed="rId2"/>
          <a:stretch>
            <a:fillRect/>
          </a:stretch>
        </p:blipFill>
        <p:spPr>
          <a:xfrm>
            <a:off x="0" y="1759590"/>
            <a:ext cx="9212919" cy="4038095"/>
          </a:xfrm>
          <a:prstGeom prst="rect">
            <a:avLst/>
          </a:prstGeom>
          <a:ln>
            <a:tailEnd type="triangle"/>
          </a:ln>
        </p:spPr>
      </p:pic>
      <p:sp>
        <p:nvSpPr>
          <p:cNvPr id="5" name="TextBox 4">
            <a:extLst>
              <a:ext uri="{FF2B5EF4-FFF2-40B4-BE49-F238E27FC236}">
                <a16:creationId xmlns:a16="http://schemas.microsoft.com/office/drawing/2014/main" id="{5FFFC3DD-0C2E-951B-78C1-6C671B3280E2}"/>
              </a:ext>
            </a:extLst>
          </p:cNvPr>
          <p:cNvSpPr txBox="1"/>
          <p:nvPr/>
        </p:nvSpPr>
        <p:spPr>
          <a:xfrm>
            <a:off x="942822" y="598650"/>
            <a:ext cx="10306355"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purpose of this function is to generate a 1D Gaussian filter kernel of a specified size, based on a given standard deviation (sigma). The resulting filter is normalized so that its sum equals 1, which ensures that the overall brightness of the image remains unchanged after filtering.</a:t>
            </a:r>
            <a:endParaRPr lang="he-IL" b="1" dirty="0"/>
          </a:p>
        </p:txBody>
      </p:sp>
      <p:sp>
        <p:nvSpPr>
          <p:cNvPr id="8" name="TextBox 7">
            <a:extLst>
              <a:ext uri="{FF2B5EF4-FFF2-40B4-BE49-F238E27FC236}">
                <a16:creationId xmlns:a16="http://schemas.microsoft.com/office/drawing/2014/main" id="{FE8A4AC4-0C72-8DF9-3415-540835222B87}"/>
              </a:ext>
            </a:extLst>
          </p:cNvPr>
          <p:cNvSpPr txBox="1"/>
          <p:nvPr/>
        </p:nvSpPr>
        <p:spPr>
          <a:xfrm>
            <a:off x="6754238" y="2259529"/>
            <a:ext cx="543776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function calculates the </a:t>
            </a:r>
            <a:r>
              <a:rPr lang="en-US" b="1" dirty="0" err="1"/>
              <a:t>half_size</a:t>
            </a:r>
            <a:r>
              <a:rPr lang="en-US" dirty="0"/>
              <a:t>, which is used to center the Gaussian filter around the origin</a:t>
            </a:r>
            <a:endParaRPr lang="he-IL" dirty="0"/>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F6BE8B29-8E87-5445-649C-C505B3FE1C55}"/>
                  </a:ext>
                </a:extLst>
              </p:cNvPr>
              <p:cNvSpPr txBox="1"/>
              <p:nvPr/>
            </p:nvSpPr>
            <p:spPr>
              <a:xfrm>
                <a:off x="7137671" y="3178472"/>
                <a:ext cx="5054329" cy="166007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then computes the Gaussian values for each element in the filter array. It iterates over the range of the filter size and calculates each value based on the Gaussian function:</a:t>
                </a:r>
              </a:p>
              <a:p>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𝐺</m:t>
                      </m:r>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sSup>
                        <m:sSupPr>
                          <m:ctrlPr>
                            <a:rPr lang="en-US"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𝜎</m:t>
                                  </m:r>
                                </m:e>
                                <m:sup>
                                  <m:r>
                                    <a:rPr lang="en-US" b="0" i="1" smtClean="0">
                                      <a:latin typeface="Cambria Math" panose="02040503050406030204" pitchFamily="18" charset="0"/>
                                    </a:rPr>
                                    <m:t>2</m:t>
                                  </m:r>
                                </m:sup>
                              </m:sSup>
                            </m:den>
                          </m:f>
                          <m:r>
                            <a:rPr lang="en-US" b="0" i="1" smtClean="0">
                              <a:latin typeface="Cambria Math" panose="02040503050406030204" pitchFamily="18" charset="0"/>
                            </a:rPr>
                            <m:t>)</m:t>
                          </m:r>
                        </m:sup>
                      </m:sSup>
                    </m:oMath>
                  </m:oMathPara>
                </a14:m>
                <a:endParaRPr lang="he-IL" dirty="0"/>
              </a:p>
            </p:txBody>
          </p:sp>
        </mc:Choice>
        <mc:Fallback>
          <p:sp>
            <p:nvSpPr>
              <p:cNvPr id="10" name="TextBox 9">
                <a:extLst>
                  <a:ext uri="{FF2B5EF4-FFF2-40B4-BE49-F238E27FC236}">
                    <a16:creationId xmlns:a16="http://schemas.microsoft.com/office/drawing/2014/main" id="{F6BE8B29-8E87-5445-649C-C505B3FE1C55}"/>
                  </a:ext>
                </a:extLst>
              </p:cNvPr>
              <p:cNvSpPr txBox="1">
                <a:spLocks noRot="1" noChangeAspect="1" noMove="1" noResize="1" noEditPoints="1" noAdjustHandles="1" noChangeArrowheads="1" noChangeShapeType="1" noTextEdit="1"/>
              </p:cNvSpPr>
              <p:nvPr/>
            </p:nvSpPr>
            <p:spPr>
              <a:xfrm>
                <a:off x="7137671" y="3178472"/>
                <a:ext cx="5054329" cy="1660070"/>
              </a:xfrm>
              <a:prstGeom prst="rect">
                <a:avLst/>
              </a:prstGeom>
              <a:blipFill>
                <a:blip r:embed="rId3"/>
                <a:stretch>
                  <a:fillRect/>
                </a:stretch>
              </a:blipFill>
            </p:spPr>
            <p:txBody>
              <a:bodyPr/>
              <a:lstStyle/>
              <a:p>
                <a:r>
                  <a:rPr lang="he-IL">
                    <a:noFill/>
                  </a:rPr>
                  <a:t> </a:t>
                </a:r>
              </a:p>
            </p:txBody>
          </p:sp>
        </mc:Fallback>
      </mc:AlternateContent>
      <p:sp>
        <p:nvSpPr>
          <p:cNvPr id="12" name="TextBox 11">
            <a:extLst>
              <a:ext uri="{FF2B5EF4-FFF2-40B4-BE49-F238E27FC236}">
                <a16:creationId xmlns:a16="http://schemas.microsoft.com/office/drawing/2014/main" id="{DD222B16-06E8-95B3-1746-E972D40EE73F}"/>
              </a:ext>
            </a:extLst>
          </p:cNvPr>
          <p:cNvSpPr txBox="1"/>
          <p:nvPr/>
        </p:nvSpPr>
        <p:spPr>
          <a:xfrm>
            <a:off x="6754239" y="4917969"/>
            <a:ext cx="5527756" cy="1477328"/>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By dividing each filter element by summa, the function ensures that the filter is normalized.</a:t>
            </a:r>
          </a:p>
          <a:p>
            <a:r>
              <a:rPr lang="en-US" dirty="0"/>
              <a:t>This step makes the filter a proper Gaussian blur filter, which, when applied to an image, will appropriately average the pixel values without introducing any bias.</a:t>
            </a:r>
            <a:endParaRPr lang="he-IL" dirty="0"/>
          </a:p>
        </p:txBody>
      </p:sp>
      <p:sp>
        <p:nvSpPr>
          <p:cNvPr id="13" name="Right Brace 12">
            <a:extLst>
              <a:ext uri="{FF2B5EF4-FFF2-40B4-BE49-F238E27FC236}">
                <a16:creationId xmlns:a16="http://schemas.microsoft.com/office/drawing/2014/main" id="{901B57C1-6332-CA8D-B5C2-774B5B8AB23C}"/>
              </a:ext>
            </a:extLst>
          </p:cNvPr>
          <p:cNvSpPr/>
          <p:nvPr/>
        </p:nvSpPr>
        <p:spPr>
          <a:xfrm>
            <a:off x="5625831" y="4378083"/>
            <a:ext cx="272374" cy="1079771"/>
          </a:xfrm>
          <a:prstGeom prst="rightBrace">
            <a:avLst/>
          </a:prstGeom>
          <a:ln>
            <a:tailEnd type="triangle"/>
          </a:ln>
        </p:spPr>
        <p:style>
          <a:lnRef idx="3">
            <a:schemeClr val="accent3"/>
          </a:lnRef>
          <a:fillRef idx="0">
            <a:schemeClr val="accent3"/>
          </a:fillRef>
          <a:effectRef idx="2">
            <a:schemeClr val="accent3"/>
          </a:effectRef>
          <a:fontRef idx="minor">
            <a:schemeClr val="tx1"/>
          </a:fontRef>
        </p:style>
        <p:txBody>
          <a:bodyPr rtlCol="1" anchor="ctr"/>
          <a:lstStyle/>
          <a:p>
            <a:pPr algn="ctr"/>
            <a:endParaRPr lang="he-IL"/>
          </a:p>
        </p:txBody>
      </p:sp>
      <p:cxnSp>
        <p:nvCxnSpPr>
          <p:cNvPr id="15" name="Straight Arrow Connector 14">
            <a:extLst>
              <a:ext uri="{FF2B5EF4-FFF2-40B4-BE49-F238E27FC236}">
                <a16:creationId xmlns:a16="http://schemas.microsoft.com/office/drawing/2014/main" id="{A8184A99-959D-4D1D-52BD-0323FCA741BD}"/>
              </a:ext>
            </a:extLst>
          </p:cNvPr>
          <p:cNvCxnSpPr>
            <a:cxnSpLocks/>
            <a:stCxn id="12" idx="1"/>
          </p:cNvCxnSpPr>
          <p:nvPr/>
        </p:nvCxnSpPr>
        <p:spPr>
          <a:xfrm flipH="1" flipV="1">
            <a:off x="6096000" y="4917969"/>
            <a:ext cx="658239" cy="738664"/>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5866249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21830" y="67310"/>
            <a:ext cx="47017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14</a:t>
            </a:fld>
            <a:endParaRPr lang="he-IL" sz="1600" dirty="0"/>
          </a:p>
        </p:txBody>
      </p:sp>
      <p:sp>
        <p:nvSpPr>
          <p:cNvPr id="2" name="Google Shape;60;p14">
            <a:extLst>
              <a:ext uri="{FF2B5EF4-FFF2-40B4-BE49-F238E27FC236}">
                <a16:creationId xmlns:a16="http://schemas.microsoft.com/office/drawing/2014/main" id="{3F98BB67-E151-74C1-9F9D-C1352BCFFDFA}"/>
              </a:ext>
            </a:extLst>
          </p:cNvPr>
          <p:cNvSpPr txBox="1"/>
          <p:nvPr/>
        </p:nvSpPr>
        <p:spPr>
          <a:xfrm>
            <a:off x="632297" y="-63905"/>
            <a:ext cx="10771559" cy="662156"/>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9</a:t>
            </a:r>
            <a:r>
              <a:rPr lang="en-US" sz="2800" b="1" u="sng" dirty="0">
                <a:solidFill>
                  <a:srgbClr val="0070C0"/>
                </a:solidFill>
              </a:rPr>
              <a:t> -  the function “CreateGreyGaussian”</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0B578051-76C6-A671-579A-DC7D53489644}"/>
              </a:ext>
            </a:extLst>
          </p:cNvPr>
          <p:cNvPicPr>
            <a:picLocks noChangeAspect="1"/>
          </p:cNvPicPr>
          <p:nvPr/>
        </p:nvPicPr>
        <p:blipFill>
          <a:blip r:embed="rId2"/>
          <a:stretch>
            <a:fillRect/>
          </a:stretch>
        </p:blipFill>
        <p:spPr>
          <a:xfrm>
            <a:off x="669651" y="1313235"/>
            <a:ext cx="10852697" cy="3664287"/>
          </a:xfrm>
          <a:prstGeom prst="rect">
            <a:avLst/>
          </a:prstGeom>
        </p:spPr>
      </p:pic>
      <p:sp>
        <p:nvSpPr>
          <p:cNvPr id="5" name="TextBox 4">
            <a:extLst>
              <a:ext uri="{FF2B5EF4-FFF2-40B4-BE49-F238E27FC236}">
                <a16:creationId xmlns:a16="http://schemas.microsoft.com/office/drawing/2014/main" id="{DFBAFD30-110F-0237-C842-92B666AF3759}"/>
              </a:ext>
            </a:extLst>
          </p:cNvPr>
          <p:cNvSpPr txBox="1"/>
          <p:nvPr/>
        </p:nvSpPr>
        <p:spPr>
          <a:xfrm>
            <a:off x="1084163" y="513893"/>
            <a:ext cx="9509257"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purpose of the CreateGreyGaussian function is to create a synthetic grayscale image that simulates the effect of a Gaussian function applied over a 2D plane. </a:t>
            </a:r>
          </a:p>
        </p:txBody>
      </p:sp>
      <p:sp>
        <p:nvSpPr>
          <p:cNvPr id="7" name="Rectangle 6">
            <a:extLst>
              <a:ext uri="{FF2B5EF4-FFF2-40B4-BE49-F238E27FC236}">
                <a16:creationId xmlns:a16="http://schemas.microsoft.com/office/drawing/2014/main" id="{C4F2932F-B79B-C83C-B2AA-659FEC887B8D}"/>
              </a:ext>
            </a:extLst>
          </p:cNvPr>
          <p:cNvSpPr/>
          <p:nvPr/>
        </p:nvSpPr>
        <p:spPr>
          <a:xfrm>
            <a:off x="3774332" y="5233481"/>
            <a:ext cx="4299625" cy="8560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used that function many times in the course so we wont explain it too much</a:t>
            </a:r>
            <a:endParaRPr lang="he-IL" dirty="0"/>
          </a:p>
        </p:txBody>
      </p:sp>
    </p:spTree>
    <p:extLst>
      <p:ext uri="{BB962C8B-B14F-4D97-AF65-F5344CB8AC3E}">
        <p14:creationId xmlns:p14="http://schemas.microsoft.com/office/powerpoint/2010/main" val="672051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41285" y="67310"/>
            <a:ext cx="450715"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15</a:t>
            </a:fld>
            <a:endParaRPr lang="he-IL" sz="1600" dirty="0"/>
          </a:p>
        </p:txBody>
      </p:sp>
      <p:sp>
        <p:nvSpPr>
          <p:cNvPr id="2" name="Google Shape;60;p14">
            <a:extLst>
              <a:ext uri="{FF2B5EF4-FFF2-40B4-BE49-F238E27FC236}">
                <a16:creationId xmlns:a16="http://schemas.microsoft.com/office/drawing/2014/main" id="{5903F32E-636C-7097-C29C-4509CB3BA01D}"/>
              </a:ext>
            </a:extLst>
          </p:cNvPr>
          <p:cNvSpPr txBox="1"/>
          <p:nvPr/>
        </p:nvSpPr>
        <p:spPr>
          <a:xfrm>
            <a:off x="1060517" y="-97952"/>
            <a:ext cx="10070965" cy="730020"/>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10</a:t>
            </a:r>
            <a:r>
              <a:rPr lang="en-US" sz="2800" b="1" u="sng" dirty="0">
                <a:solidFill>
                  <a:srgbClr val="0070C0"/>
                </a:solidFill>
              </a:rPr>
              <a:t> -  the function “CreateHFEF”</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97E12208-4EA3-EACC-F727-05899378E559}"/>
              </a:ext>
            </a:extLst>
          </p:cNvPr>
          <p:cNvPicPr>
            <a:picLocks noChangeAspect="1"/>
          </p:cNvPicPr>
          <p:nvPr/>
        </p:nvPicPr>
        <p:blipFill>
          <a:blip r:embed="rId2"/>
          <a:stretch>
            <a:fillRect/>
          </a:stretch>
        </p:blipFill>
        <p:spPr>
          <a:xfrm>
            <a:off x="0" y="1438072"/>
            <a:ext cx="9576047" cy="3202022"/>
          </a:xfrm>
          <a:prstGeom prst="rect">
            <a:avLst/>
          </a:prstGeom>
        </p:spPr>
      </p:pic>
    </p:spTree>
    <p:extLst>
      <p:ext uri="{BB962C8B-B14F-4D97-AF65-F5344CB8AC3E}">
        <p14:creationId xmlns:p14="http://schemas.microsoft.com/office/powerpoint/2010/main" val="35134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692647" y="67310"/>
            <a:ext cx="499353"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16</a:t>
            </a:fld>
            <a:endParaRPr lang="he-IL" sz="1600" dirty="0"/>
          </a:p>
        </p:txBody>
      </p:sp>
      <p:sp>
        <p:nvSpPr>
          <p:cNvPr id="2" name="Google Shape;60;p14">
            <a:extLst>
              <a:ext uri="{FF2B5EF4-FFF2-40B4-BE49-F238E27FC236}">
                <a16:creationId xmlns:a16="http://schemas.microsoft.com/office/drawing/2014/main" id="{B20E565D-62D5-D3B9-C6DB-5F2DBDC70C2D}"/>
              </a:ext>
            </a:extLst>
          </p:cNvPr>
          <p:cNvSpPr txBox="1"/>
          <p:nvPr/>
        </p:nvSpPr>
        <p:spPr>
          <a:xfrm>
            <a:off x="416769" y="-139058"/>
            <a:ext cx="11131483"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11</a:t>
            </a:r>
            <a:r>
              <a:rPr lang="en-US" sz="2800" b="1" u="sng" dirty="0">
                <a:solidFill>
                  <a:srgbClr val="0070C0"/>
                </a:solidFill>
              </a:rPr>
              <a:t>  -  the function “DoGaussianFiltration”</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5001162A-693C-F255-9809-C58EE885DA80}"/>
              </a:ext>
            </a:extLst>
          </p:cNvPr>
          <p:cNvPicPr>
            <a:picLocks noChangeAspect="1"/>
          </p:cNvPicPr>
          <p:nvPr/>
        </p:nvPicPr>
        <p:blipFill>
          <a:blip r:embed="rId2"/>
          <a:stretch>
            <a:fillRect/>
          </a:stretch>
        </p:blipFill>
        <p:spPr>
          <a:xfrm>
            <a:off x="68094" y="519213"/>
            <a:ext cx="11828834" cy="6338787"/>
          </a:xfrm>
          <a:prstGeom prst="rect">
            <a:avLst/>
          </a:prstGeom>
        </p:spPr>
      </p:pic>
      <p:sp>
        <p:nvSpPr>
          <p:cNvPr id="5" name="TextBox 4">
            <a:extLst>
              <a:ext uri="{FF2B5EF4-FFF2-40B4-BE49-F238E27FC236}">
                <a16:creationId xmlns:a16="http://schemas.microsoft.com/office/drawing/2014/main" id="{E9F016CD-5530-3224-252F-2F4E8FE943D4}"/>
              </a:ext>
            </a:extLst>
          </p:cNvPr>
          <p:cNvSpPr txBox="1"/>
          <p:nvPr/>
        </p:nvSpPr>
        <p:spPr>
          <a:xfrm>
            <a:off x="4985425" y="887929"/>
            <a:ext cx="6099242"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purpose of this function is to blur an image by applying a Gaussian filter. </a:t>
            </a:r>
            <a:endParaRPr lang="he-IL" dirty="0"/>
          </a:p>
        </p:txBody>
      </p:sp>
    </p:spTree>
    <p:extLst>
      <p:ext uri="{BB962C8B-B14F-4D97-AF65-F5344CB8AC3E}">
        <p14:creationId xmlns:p14="http://schemas.microsoft.com/office/powerpoint/2010/main" val="2255344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75231" y="67310"/>
            <a:ext cx="416769"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17</a:t>
            </a:fld>
            <a:endParaRPr lang="he-IL" sz="1600" dirty="0"/>
          </a:p>
        </p:txBody>
      </p:sp>
      <p:sp>
        <p:nvSpPr>
          <p:cNvPr id="3" name="Google Shape;60;p14">
            <a:extLst>
              <a:ext uri="{FF2B5EF4-FFF2-40B4-BE49-F238E27FC236}">
                <a16:creationId xmlns:a16="http://schemas.microsoft.com/office/drawing/2014/main" id="{ADE42C8F-A88C-3FCB-AE6B-0F8DEBB3E82F}"/>
              </a:ext>
            </a:extLst>
          </p:cNvPr>
          <p:cNvSpPr txBox="1"/>
          <p:nvPr/>
        </p:nvSpPr>
        <p:spPr>
          <a:xfrm>
            <a:off x="1839389" y="-81374"/>
            <a:ext cx="8513222"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a:t>
            </a:r>
            <a:r>
              <a:rPr lang="en-US" sz="2800" b="1" u="sng" dirty="0">
                <a:solidFill>
                  <a:srgbClr val="0070C0"/>
                </a:solidFill>
              </a:rPr>
              <a:t>  -  the function “main”</a:t>
            </a:r>
            <a:endParaRPr lang="en-US" sz="2800" b="1" u="sng" dirty="0">
              <a:solidFill>
                <a:srgbClr val="FF0000"/>
              </a:solidFill>
            </a:endParaRPr>
          </a:p>
          <a:p>
            <a:pPr algn="ctr"/>
            <a:endParaRPr lang="en-US" sz="2000" b="1" u="sng" dirty="0">
              <a:solidFill>
                <a:srgbClr val="FF0000"/>
              </a:solidFill>
            </a:endParaRPr>
          </a:p>
        </p:txBody>
      </p:sp>
    </p:spTree>
    <p:extLst>
      <p:ext uri="{BB962C8B-B14F-4D97-AF65-F5344CB8AC3E}">
        <p14:creationId xmlns:p14="http://schemas.microsoft.com/office/powerpoint/2010/main" val="13258702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70468" y="67310"/>
            <a:ext cx="421532"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18</a:t>
            </a:fld>
            <a:endParaRPr lang="he-IL" sz="1600" dirty="0"/>
          </a:p>
        </p:txBody>
      </p:sp>
      <p:sp>
        <p:nvSpPr>
          <p:cNvPr id="2" name="Google Shape;60;p14">
            <a:extLst>
              <a:ext uri="{FF2B5EF4-FFF2-40B4-BE49-F238E27FC236}">
                <a16:creationId xmlns:a16="http://schemas.microsoft.com/office/drawing/2014/main" id="{1515AB9E-6D28-EF83-3271-40DBF6EA2014}"/>
              </a:ext>
            </a:extLst>
          </p:cNvPr>
          <p:cNvSpPr txBox="1"/>
          <p:nvPr/>
        </p:nvSpPr>
        <p:spPr>
          <a:xfrm>
            <a:off x="1839389" y="-139058"/>
            <a:ext cx="8513222"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a:t>
            </a:r>
            <a:r>
              <a:rPr lang="en-US" sz="2800" b="1" u="sng" dirty="0">
                <a:solidFill>
                  <a:srgbClr val="0070C0"/>
                </a:solidFill>
              </a:rPr>
              <a:t>  -  the function “main”</a:t>
            </a:r>
            <a:endParaRPr lang="en-US" sz="2800" b="1" u="sng" dirty="0">
              <a:solidFill>
                <a:srgbClr val="FF0000"/>
              </a:solidFill>
            </a:endParaRPr>
          </a:p>
          <a:p>
            <a:pPr algn="ctr"/>
            <a:endParaRPr lang="en-US" sz="2000" b="1" u="sng" dirty="0">
              <a:solidFill>
                <a:srgbClr val="FF0000"/>
              </a:solidFill>
            </a:endParaRPr>
          </a:p>
        </p:txBody>
      </p:sp>
    </p:spTree>
    <p:extLst>
      <p:ext uri="{BB962C8B-B14F-4D97-AF65-F5344CB8AC3E}">
        <p14:creationId xmlns:p14="http://schemas.microsoft.com/office/powerpoint/2010/main" val="620785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19</a:t>
            </a:fld>
            <a:endParaRPr lang="he-IL" sz="1600" dirty="0"/>
          </a:p>
        </p:txBody>
      </p:sp>
      <p:sp>
        <p:nvSpPr>
          <p:cNvPr id="2" name="Google Shape;60;p14">
            <a:extLst>
              <a:ext uri="{FF2B5EF4-FFF2-40B4-BE49-F238E27FC236}">
                <a16:creationId xmlns:a16="http://schemas.microsoft.com/office/drawing/2014/main" id="{3E792CA4-FA6B-80B1-C586-300421198DF9}"/>
              </a:ext>
            </a:extLst>
          </p:cNvPr>
          <p:cNvSpPr txBox="1"/>
          <p:nvPr/>
        </p:nvSpPr>
        <p:spPr>
          <a:xfrm>
            <a:off x="1751841" y="-125571"/>
            <a:ext cx="8899946"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MP2.1 – the input images we are going to test – </a:t>
            </a:r>
            <a:r>
              <a:rPr lang="en-US" sz="2800" b="1" u="sng" dirty="0">
                <a:solidFill>
                  <a:srgbClr val="FF0000"/>
                </a:solidFill>
              </a:rPr>
              <a:t>part 1</a:t>
            </a:r>
          </a:p>
          <a:p>
            <a:pPr algn="ctr"/>
            <a:endParaRPr lang="en-US" sz="2000" b="1" u="sng" dirty="0">
              <a:solidFill>
                <a:srgbClr val="FF0000"/>
              </a:solidFill>
            </a:endParaRPr>
          </a:p>
        </p:txBody>
      </p:sp>
      <p:pic>
        <p:nvPicPr>
          <p:cNvPr id="5" name="Picture 4">
            <a:extLst>
              <a:ext uri="{FF2B5EF4-FFF2-40B4-BE49-F238E27FC236}">
                <a16:creationId xmlns:a16="http://schemas.microsoft.com/office/drawing/2014/main" id="{4B1E248B-EF60-1462-511F-8BEF1AF4B93B}"/>
              </a:ext>
            </a:extLst>
          </p:cNvPr>
          <p:cNvPicPr>
            <a:picLocks noChangeAspect="1"/>
          </p:cNvPicPr>
          <p:nvPr/>
        </p:nvPicPr>
        <p:blipFill rotWithShape="1">
          <a:blip r:embed="rId2"/>
          <a:srcRect l="802"/>
          <a:stretch/>
        </p:blipFill>
        <p:spPr>
          <a:xfrm>
            <a:off x="160505" y="424789"/>
            <a:ext cx="9560670" cy="1279005"/>
          </a:xfrm>
          <a:prstGeom prst="rect">
            <a:avLst/>
          </a:prstGeom>
        </p:spPr>
      </p:pic>
      <p:pic>
        <p:nvPicPr>
          <p:cNvPr id="7" name="Picture 6">
            <a:extLst>
              <a:ext uri="{FF2B5EF4-FFF2-40B4-BE49-F238E27FC236}">
                <a16:creationId xmlns:a16="http://schemas.microsoft.com/office/drawing/2014/main" id="{1EB8E7F7-2D61-1E14-CBC2-9D3E66FD9670}"/>
              </a:ext>
            </a:extLst>
          </p:cNvPr>
          <p:cNvPicPr>
            <a:picLocks noChangeAspect="1"/>
          </p:cNvPicPr>
          <p:nvPr/>
        </p:nvPicPr>
        <p:blipFill rotWithShape="1">
          <a:blip r:embed="rId3"/>
          <a:srcRect l="751" t="14751" r="561" b="14815"/>
          <a:stretch/>
        </p:blipFill>
        <p:spPr>
          <a:xfrm>
            <a:off x="160505" y="1691160"/>
            <a:ext cx="10857688" cy="279639"/>
          </a:xfrm>
          <a:prstGeom prst="rect">
            <a:avLst/>
          </a:prstGeom>
        </p:spPr>
      </p:pic>
      <p:pic>
        <p:nvPicPr>
          <p:cNvPr id="9" name="Picture 8" descr="A black and white circular pattern&#10;&#10;Description automatically generated">
            <a:extLst>
              <a:ext uri="{FF2B5EF4-FFF2-40B4-BE49-F238E27FC236}">
                <a16:creationId xmlns:a16="http://schemas.microsoft.com/office/drawing/2014/main" id="{9F6792F2-0862-8C7A-C140-65D2FE805A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5998" y="2286000"/>
            <a:ext cx="6096000" cy="4572000"/>
          </a:xfrm>
          <a:prstGeom prst="rect">
            <a:avLst/>
          </a:prstGeom>
          <a:ln>
            <a:solidFill>
              <a:schemeClr val="tx1"/>
            </a:solidFill>
          </a:ln>
        </p:spPr>
      </p:pic>
      <p:pic>
        <p:nvPicPr>
          <p:cNvPr id="11" name="Picture 10" descr="A pyramid of numbers and text&#10;&#10;Description automatically generated">
            <a:extLst>
              <a:ext uri="{FF2B5EF4-FFF2-40B4-BE49-F238E27FC236}">
                <a16:creationId xmlns:a16="http://schemas.microsoft.com/office/drawing/2014/main" id="{FD66F3FD-1053-2B78-1D3F-1B238EEA97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2286000"/>
            <a:ext cx="6096000" cy="4572000"/>
          </a:xfrm>
          <a:prstGeom prst="rect">
            <a:avLst/>
          </a:prstGeom>
          <a:ln>
            <a:solidFill>
              <a:schemeClr val="tx1"/>
            </a:solidFill>
          </a:ln>
        </p:spPr>
      </p:pic>
      <p:sp>
        <p:nvSpPr>
          <p:cNvPr id="12" name="Rectangle 11">
            <a:extLst>
              <a:ext uri="{FF2B5EF4-FFF2-40B4-BE49-F238E27FC236}">
                <a16:creationId xmlns:a16="http://schemas.microsoft.com/office/drawing/2014/main" id="{B1079CB3-284A-2ACD-BACD-1CFCA5CC46F0}"/>
              </a:ext>
            </a:extLst>
          </p:cNvPr>
          <p:cNvSpPr/>
          <p:nvPr/>
        </p:nvSpPr>
        <p:spPr>
          <a:xfrm>
            <a:off x="2217906" y="2052536"/>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Tim1.bmp</a:t>
            </a:r>
            <a:endParaRPr lang="he-IL" dirty="0"/>
          </a:p>
        </p:txBody>
      </p:sp>
      <p:sp>
        <p:nvSpPr>
          <p:cNvPr id="13" name="Rectangle 12">
            <a:extLst>
              <a:ext uri="{FF2B5EF4-FFF2-40B4-BE49-F238E27FC236}">
                <a16:creationId xmlns:a16="http://schemas.microsoft.com/office/drawing/2014/main" id="{A9369ED8-1DEA-6EAE-4E00-C4449CE88C62}"/>
              </a:ext>
            </a:extLst>
          </p:cNvPr>
          <p:cNvSpPr/>
          <p:nvPr/>
        </p:nvSpPr>
        <p:spPr>
          <a:xfrm>
            <a:off x="8664101" y="2011667"/>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Tim2.bmp</a:t>
            </a:r>
            <a:endParaRPr lang="he-IL" dirty="0"/>
          </a:p>
        </p:txBody>
      </p:sp>
    </p:spTree>
    <p:extLst>
      <p:ext uri="{BB962C8B-B14F-4D97-AF65-F5344CB8AC3E}">
        <p14:creationId xmlns:p14="http://schemas.microsoft.com/office/powerpoint/2010/main" val="3685991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E8907C-329D-F1A9-6A67-C76AB5E3C4F3}"/>
              </a:ext>
            </a:extLst>
          </p:cNvPr>
          <p:cNvSpPr txBox="1"/>
          <p:nvPr/>
        </p:nvSpPr>
        <p:spPr>
          <a:xfrm>
            <a:off x="1751841" y="-125571"/>
            <a:ext cx="8899946"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MP2.1 – the input images we are going to test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4D62CD5F-91EE-4E4D-1B4F-5DBFF190E326}"/>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20</a:t>
            </a:fld>
            <a:endParaRPr lang="he-IL" sz="1600" dirty="0"/>
          </a:p>
        </p:txBody>
      </p:sp>
      <p:pic>
        <p:nvPicPr>
          <p:cNvPr id="6" name="Picture 5" descr="A pyramid of numbers and text&#10;&#10;Description automatically generated">
            <a:extLst>
              <a:ext uri="{FF2B5EF4-FFF2-40B4-BE49-F238E27FC236}">
                <a16:creationId xmlns:a16="http://schemas.microsoft.com/office/drawing/2014/main" id="{004BB99D-0661-6468-3BA1-C8DAEBFDC9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254868"/>
            <a:ext cx="6096000" cy="4572000"/>
          </a:xfrm>
          <a:prstGeom prst="rect">
            <a:avLst/>
          </a:prstGeom>
          <a:ln>
            <a:solidFill>
              <a:schemeClr val="tx1"/>
            </a:solidFill>
          </a:ln>
        </p:spPr>
      </p:pic>
      <p:sp>
        <p:nvSpPr>
          <p:cNvPr id="7" name="Rectangle 6">
            <a:extLst>
              <a:ext uri="{FF2B5EF4-FFF2-40B4-BE49-F238E27FC236}">
                <a16:creationId xmlns:a16="http://schemas.microsoft.com/office/drawing/2014/main" id="{25558A1D-3D90-FCB5-2575-70C2EB5197A9}"/>
              </a:ext>
            </a:extLst>
          </p:cNvPr>
          <p:cNvSpPr/>
          <p:nvPr/>
        </p:nvSpPr>
        <p:spPr>
          <a:xfrm>
            <a:off x="2469204" y="914400"/>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Tim1.bmp</a:t>
            </a:r>
            <a:endParaRPr lang="he-IL" dirty="0"/>
          </a:p>
        </p:txBody>
      </p:sp>
      <p:sp>
        <p:nvSpPr>
          <p:cNvPr id="8" name="Arrow: Right 7">
            <a:extLst>
              <a:ext uri="{FF2B5EF4-FFF2-40B4-BE49-F238E27FC236}">
                <a16:creationId xmlns:a16="http://schemas.microsoft.com/office/drawing/2014/main" id="{482AFD11-5E86-E31B-68B6-66BFA2A96E5B}"/>
              </a:ext>
            </a:extLst>
          </p:cNvPr>
          <p:cNvSpPr/>
          <p:nvPr/>
        </p:nvSpPr>
        <p:spPr>
          <a:xfrm>
            <a:off x="6274340" y="3151762"/>
            <a:ext cx="1682886" cy="7587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0" name="Picture 9">
            <a:extLst>
              <a:ext uri="{FF2B5EF4-FFF2-40B4-BE49-F238E27FC236}">
                <a16:creationId xmlns:a16="http://schemas.microsoft.com/office/drawing/2014/main" id="{98373603-DF91-4DD5-0433-0F0C34C4D8A7}"/>
              </a:ext>
            </a:extLst>
          </p:cNvPr>
          <p:cNvPicPr>
            <a:picLocks noChangeAspect="1"/>
          </p:cNvPicPr>
          <p:nvPr/>
        </p:nvPicPr>
        <p:blipFill>
          <a:blip r:embed="rId3"/>
          <a:stretch>
            <a:fillRect/>
          </a:stretch>
        </p:blipFill>
        <p:spPr>
          <a:xfrm>
            <a:off x="6201814" y="599990"/>
            <a:ext cx="2443061" cy="2163854"/>
          </a:xfrm>
          <a:prstGeom prst="rect">
            <a:avLst/>
          </a:prstGeom>
        </p:spPr>
      </p:pic>
      <p:sp>
        <p:nvSpPr>
          <p:cNvPr id="11" name="Rectangle 10">
            <a:extLst>
              <a:ext uri="{FF2B5EF4-FFF2-40B4-BE49-F238E27FC236}">
                <a16:creationId xmlns:a16="http://schemas.microsoft.com/office/drawing/2014/main" id="{D65FD6DE-E0C6-EB58-678F-F1E3ABE6639E}"/>
              </a:ext>
            </a:extLst>
          </p:cNvPr>
          <p:cNvSpPr/>
          <p:nvPr/>
        </p:nvSpPr>
        <p:spPr>
          <a:xfrm>
            <a:off x="8151778" y="2874523"/>
            <a:ext cx="3608962" cy="133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Tim1.bmp is comprised of repeated text 12 times. </a:t>
            </a:r>
          </a:p>
          <a:p>
            <a:pPr algn="ctr"/>
            <a:r>
              <a:rPr lang="en-US" dirty="0"/>
              <a:t>The font size of the text is declining from 33 to 5 in jumps of 2/3.    </a:t>
            </a:r>
            <a:endParaRPr lang="he-IL" dirty="0"/>
          </a:p>
        </p:txBody>
      </p:sp>
      <p:sp>
        <p:nvSpPr>
          <p:cNvPr id="12" name="Rectangle 11">
            <a:extLst>
              <a:ext uri="{FF2B5EF4-FFF2-40B4-BE49-F238E27FC236}">
                <a16:creationId xmlns:a16="http://schemas.microsoft.com/office/drawing/2014/main" id="{4368584E-1CBF-D4EC-A7B3-534BDC47A9C4}"/>
              </a:ext>
            </a:extLst>
          </p:cNvPr>
          <p:cNvSpPr/>
          <p:nvPr/>
        </p:nvSpPr>
        <p:spPr>
          <a:xfrm>
            <a:off x="7500027" y="5205932"/>
            <a:ext cx="2768934" cy="12256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Regarding Tim2.bmp – it is a modification of the result of assignment 13 to be in size 640x480</a:t>
            </a:r>
            <a:endParaRPr lang="he-IL" dirty="0"/>
          </a:p>
        </p:txBody>
      </p:sp>
      <p:sp>
        <p:nvSpPr>
          <p:cNvPr id="13" name="Oval 12">
            <a:extLst>
              <a:ext uri="{FF2B5EF4-FFF2-40B4-BE49-F238E27FC236}">
                <a16:creationId xmlns:a16="http://schemas.microsoft.com/office/drawing/2014/main" id="{2CDB2C5C-1371-FE0F-9834-DC3BF3497836}"/>
              </a:ext>
            </a:extLst>
          </p:cNvPr>
          <p:cNvSpPr/>
          <p:nvPr/>
        </p:nvSpPr>
        <p:spPr>
          <a:xfrm>
            <a:off x="7295742" y="865167"/>
            <a:ext cx="817123" cy="31128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Oval 13">
            <a:extLst>
              <a:ext uri="{FF2B5EF4-FFF2-40B4-BE49-F238E27FC236}">
                <a16:creationId xmlns:a16="http://schemas.microsoft.com/office/drawing/2014/main" id="{7D000405-1BD4-5B2F-4798-C710CCA2C981}"/>
              </a:ext>
            </a:extLst>
          </p:cNvPr>
          <p:cNvSpPr/>
          <p:nvPr/>
        </p:nvSpPr>
        <p:spPr>
          <a:xfrm>
            <a:off x="7295739" y="1583826"/>
            <a:ext cx="350201" cy="31128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Picture 15">
            <a:extLst>
              <a:ext uri="{FF2B5EF4-FFF2-40B4-BE49-F238E27FC236}">
                <a16:creationId xmlns:a16="http://schemas.microsoft.com/office/drawing/2014/main" id="{68861F00-50EE-A74C-D967-EDDDAEE5FEA0}"/>
              </a:ext>
            </a:extLst>
          </p:cNvPr>
          <p:cNvPicPr>
            <a:picLocks noChangeAspect="1"/>
          </p:cNvPicPr>
          <p:nvPr/>
        </p:nvPicPr>
        <p:blipFill>
          <a:blip r:embed="rId4"/>
          <a:stretch>
            <a:fillRect/>
          </a:stretch>
        </p:blipFill>
        <p:spPr>
          <a:xfrm>
            <a:off x="10307874" y="4995153"/>
            <a:ext cx="1809750" cy="1695450"/>
          </a:xfrm>
          <a:prstGeom prst="rect">
            <a:avLst/>
          </a:prstGeom>
        </p:spPr>
      </p:pic>
    </p:spTree>
    <p:extLst>
      <p:ext uri="{BB962C8B-B14F-4D97-AF65-F5344CB8AC3E}">
        <p14:creationId xmlns:p14="http://schemas.microsoft.com/office/powerpoint/2010/main" val="39356101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6343F3AD-37A5-D49D-52F6-CDEF7369075D}"/>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1</a:t>
            </a:r>
          </a:p>
          <a:p>
            <a:pPr algn="ctr"/>
            <a:endParaRPr lang="en-US" sz="2000" b="1" u="sng" dirty="0">
              <a:solidFill>
                <a:srgbClr val="FF0000"/>
              </a:solidFill>
            </a:endParaRPr>
          </a:p>
        </p:txBody>
      </p:sp>
      <p:sp>
        <p:nvSpPr>
          <p:cNvPr id="7" name="Rectangle 6">
            <a:extLst>
              <a:ext uri="{FF2B5EF4-FFF2-40B4-BE49-F238E27FC236}">
                <a16:creationId xmlns:a16="http://schemas.microsoft.com/office/drawing/2014/main" id="{F9A8BFF4-B08B-CCF0-E2CC-924C6CDA1CF7}"/>
              </a:ext>
            </a:extLst>
          </p:cNvPr>
          <p:cNvSpPr/>
          <p:nvPr/>
        </p:nvSpPr>
        <p:spPr>
          <a:xfrm>
            <a:off x="9552562" y="1235693"/>
            <a:ext cx="2639438" cy="30933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relevant part of the main function. The functions that being used in that part is the </a:t>
            </a:r>
            <a:r>
              <a:rPr lang="en-US" b="1" dirty="0"/>
              <a:t>PrepareGaussianFilter </a:t>
            </a:r>
            <a:r>
              <a:rPr lang="en-US" dirty="0"/>
              <a:t>and the </a:t>
            </a:r>
            <a:r>
              <a:rPr lang="en-US" b="1" dirty="0"/>
              <a:t>DoGaussianFiltration </a:t>
            </a:r>
            <a:r>
              <a:rPr lang="en-US" dirty="0"/>
              <a:t> which is a convolution filtering that uses the separability feature of the gaussian  </a:t>
            </a:r>
            <a:endParaRPr lang="he-IL" b="1" dirty="0"/>
          </a:p>
        </p:txBody>
      </p:sp>
      <p:sp>
        <p:nvSpPr>
          <p:cNvPr id="8" name="Rectangle 7">
            <a:extLst>
              <a:ext uri="{FF2B5EF4-FFF2-40B4-BE49-F238E27FC236}">
                <a16:creationId xmlns:a16="http://schemas.microsoft.com/office/drawing/2014/main" id="{AC82DC80-7236-73A4-A176-04DFF78D96D2}"/>
              </a:ext>
            </a:extLst>
          </p:cNvPr>
          <p:cNvSpPr/>
          <p:nvPr/>
        </p:nvSpPr>
        <p:spPr>
          <a:xfrm>
            <a:off x="9385116" y="4617344"/>
            <a:ext cx="2806884" cy="8657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 the first part the filter size is 5 and in the second part the filter size is 7.</a:t>
            </a:r>
            <a:endParaRPr lang="he-IL" dirty="0"/>
          </a:p>
        </p:txBody>
      </p:sp>
      <p:sp>
        <p:nvSpPr>
          <p:cNvPr id="9" name="Slide Number Placeholder 5">
            <a:extLst>
              <a:ext uri="{FF2B5EF4-FFF2-40B4-BE49-F238E27FC236}">
                <a16:creationId xmlns:a16="http://schemas.microsoft.com/office/drawing/2014/main" id="{7FABBAE8-AF50-7F6C-809C-3DB979B1ADF5}"/>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21</a:t>
            </a:fld>
            <a:endParaRPr lang="he-IL" sz="1600" dirty="0"/>
          </a:p>
        </p:txBody>
      </p:sp>
    </p:spTree>
    <p:extLst>
      <p:ext uri="{BB962C8B-B14F-4D97-AF65-F5344CB8AC3E}">
        <p14:creationId xmlns:p14="http://schemas.microsoft.com/office/powerpoint/2010/main" val="1058174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C32C4CDF-1DA9-05EB-F512-7F6E6ECFE53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1</a:t>
            </a:r>
          </a:p>
          <a:p>
            <a:pPr algn="ctr"/>
            <a:endParaRPr lang="en-US" sz="2000" b="1" u="sng" dirty="0">
              <a:solidFill>
                <a:srgbClr val="FF0000"/>
              </a:solidFill>
            </a:endParaRPr>
          </a:p>
        </p:txBody>
      </p:sp>
      <p:sp>
        <p:nvSpPr>
          <p:cNvPr id="10" name="TextBox 9">
            <a:extLst>
              <a:ext uri="{FF2B5EF4-FFF2-40B4-BE49-F238E27FC236}">
                <a16:creationId xmlns:a16="http://schemas.microsoft.com/office/drawing/2014/main" id="{00018E65-370C-979A-0BAD-A909E1827F69}"/>
              </a:ext>
            </a:extLst>
          </p:cNvPr>
          <p:cNvSpPr txBox="1"/>
          <p:nvPr/>
        </p:nvSpPr>
        <p:spPr>
          <a:xfrm>
            <a:off x="0" y="997244"/>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a:t>
            </a:r>
            <a:r>
              <a:rPr lang="en-US" dirty="0"/>
              <a:t>.bmp</a:t>
            </a:r>
            <a:endParaRPr lang="he-IL" dirty="0"/>
          </a:p>
        </p:txBody>
      </p:sp>
      <p:sp>
        <p:nvSpPr>
          <p:cNvPr id="13" name="TextBox 12">
            <a:extLst>
              <a:ext uri="{FF2B5EF4-FFF2-40B4-BE49-F238E27FC236}">
                <a16:creationId xmlns:a16="http://schemas.microsoft.com/office/drawing/2014/main" id="{A00934A6-C648-B9AD-1B37-71428655848F}"/>
              </a:ext>
            </a:extLst>
          </p:cNvPr>
          <p:cNvSpPr txBox="1"/>
          <p:nvPr/>
        </p:nvSpPr>
        <p:spPr>
          <a:xfrm>
            <a:off x="10287809" y="1009403"/>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Tim1LPF7c</a:t>
            </a:r>
            <a:r>
              <a:rPr lang="en-US" dirty="0"/>
              <a:t>.bmp</a:t>
            </a:r>
            <a:endParaRPr lang="he-IL" dirty="0"/>
          </a:p>
        </p:txBody>
      </p:sp>
      <p:sp>
        <p:nvSpPr>
          <p:cNvPr id="14" name="Rectangle 13">
            <a:extLst>
              <a:ext uri="{FF2B5EF4-FFF2-40B4-BE49-F238E27FC236}">
                <a16:creationId xmlns:a16="http://schemas.microsoft.com/office/drawing/2014/main" id="{4C0AD0BF-4516-2B83-85C5-72BC218FF78C}"/>
              </a:ext>
            </a:extLst>
          </p:cNvPr>
          <p:cNvSpPr/>
          <p:nvPr/>
        </p:nvSpPr>
        <p:spPr>
          <a:xfrm>
            <a:off x="1654512" y="6235430"/>
            <a:ext cx="9007813"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As one can see-both of the images stands for the demand that : after the blurring</a:t>
            </a:r>
          </a:p>
          <a:p>
            <a:pPr algn="ctr"/>
            <a:r>
              <a:rPr lang="en-US" dirty="0"/>
              <a:t>at least 2 lines will be hardly readable and 3 lines unreadable</a:t>
            </a:r>
            <a:endParaRPr lang="he-IL" dirty="0"/>
          </a:p>
        </p:txBody>
      </p:sp>
      <p:sp>
        <p:nvSpPr>
          <p:cNvPr id="16" name="Slide Number Placeholder 5">
            <a:extLst>
              <a:ext uri="{FF2B5EF4-FFF2-40B4-BE49-F238E27FC236}">
                <a16:creationId xmlns:a16="http://schemas.microsoft.com/office/drawing/2014/main" id="{857569A6-690F-B62B-5DCD-EAFCD40D688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22</a:t>
            </a:fld>
            <a:endParaRPr lang="he-IL" sz="1600" dirty="0"/>
          </a:p>
        </p:txBody>
      </p:sp>
      <p:pic>
        <p:nvPicPr>
          <p:cNvPr id="18" name="Picture 17" descr="A number of numbers and letters&#10;&#10;Description automatically generated with medium confidence">
            <a:extLst>
              <a:ext uri="{FF2B5EF4-FFF2-40B4-BE49-F238E27FC236}">
                <a16:creationId xmlns:a16="http://schemas.microsoft.com/office/drawing/2014/main" id="{69C993BD-3DC0-3448-DF3D-372676074E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81" y="1434829"/>
            <a:ext cx="6096000" cy="4572000"/>
          </a:xfrm>
          <a:prstGeom prst="rect">
            <a:avLst/>
          </a:prstGeom>
        </p:spPr>
      </p:pic>
      <p:pic>
        <p:nvPicPr>
          <p:cNvPr id="22" name="Picture 21" descr="A number of numbers and letters&#10;&#10;Description automatically generated with medium confidence">
            <a:extLst>
              <a:ext uri="{FF2B5EF4-FFF2-40B4-BE49-F238E27FC236}">
                <a16:creationId xmlns:a16="http://schemas.microsoft.com/office/drawing/2014/main" id="{8B031E4A-ED38-23F9-DFB5-C263E8412A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4519" y="1434829"/>
            <a:ext cx="6096000" cy="4572000"/>
          </a:xfrm>
          <a:prstGeom prst="rect">
            <a:avLst/>
          </a:prstGeom>
        </p:spPr>
      </p:pic>
      <p:sp>
        <p:nvSpPr>
          <p:cNvPr id="24" name="TextBox 23">
            <a:extLst>
              <a:ext uri="{FF2B5EF4-FFF2-40B4-BE49-F238E27FC236}">
                <a16:creationId xmlns:a16="http://schemas.microsoft.com/office/drawing/2014/main" id="{B4DF8841-AB0C-EC83-BD57-CA6C09DD450E}"/>
              </a:ext>
            </a:extLst>
          </p:cNvPr>
          <p:cNvSpPr txBox="1"/>
          <p:nvPr/>
        </p:nvSpPr>
        <p:spPr>
          <a:xfrm>
            <a:off x="2521085" y="997244"/>
            <a:ext cx="73914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filter gives different results in the different kernels sizes (different offset)</a:t>
            </a:r>
            <a:endParaRPr lang="he-IL" dirty="0"/>
          </a:p>
        </p:txBody>
      </p:sp>
    </p:spTree>
    <p:extLst>
      <p:ext uri="{BB962C8B-B14F-4D97-AF65-F5344CB8AC3E}">
        <p14:creationId xmlns:p14="http://schemas.microsoft.com/office/powerpoint/2010/main" val="12717602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C32C4CDF-1DA9-05EB-F512-7F6E6ECFE53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2</a:t>
            </a:r>
          </a:p>
          <a:p>
            <a:pPr algn="ctr"/>
            <a:endParaRPr lang="en-US" sz="2000" b="1" u="sng" dirty="0">
              <a:solidFill>
                <a:srgbClr val="FF0000"/>
              </a:solidFill>
            </a:endParaRPr>
          </a:p>
        </p:txBody>
      </p:sp>
      <p:sp>
        <p:nvSpPr>
          <p:cNvPr id="7" name="TextBox 6">
            <a:extLst>
              <a:ext uri="{FF2B5EF4-FFF2-40B4-BE49-F238E27FC236}">
                <a16:creationId xmlns:a16="http://schemas.microsoft.com/office/drawing/2014/main" id="{F984B994-2FA2-AA85-B76F-553FD939ACCF}"/>
              </a:ext>
            </a:extLst>
          </p:cNvPr>
          <p:cNvSpPr txBox="1"/>
          <p:nvPr/>
        </p:nvSpPr>
        <p:spPr>
          <a:xfrm>
            <a:off x="0" y="1036472"/>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a:t>
            </a:r>
            <a:r>
              <a:rPr lang="en-US" dirty="0"/>
              <a:t>.bmp</a:t>
            </a:r>
            <a:endParaRPr lang="he-IL" dirty="0"/>
          </a:p>
        </p:txBody>
      </p:sp>
      <p:sp>
        <p:nvSpPr>
          <p:cNvPr id="9" name="TextBox 8">
            <a:extLst>
              <a:ext uri="{FF2B5EF4-FFF2-40B4-BE49-F238E27FC236}">
                <a16:creationId xmlns:a16="http://schemas.microsoft.com/office/drawing/2014/main" id="{89265F67-5DD9-A06C-F5BB-A48A12A249C5}"/>
              </a:ext>
            </a:extLst>
          </p:cNvPr>
          <p:cNvSpPr txBox="1"/>
          <p:nvPr/>
        </p:nvSpPr>
        <p:spPr>
          <a:xfrm>
            <a:off x="10287810" y="1085174"/>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Tim2LPF7c</a:t>
            </a:r>
            <a:r>
              <a:rPr lang="en-US" dirty="0"/>
              <a:t>.bmp</a:t>
            </a:r>
            <a:endParaRPr lang="he-IL" dirty="0"/>
          </a:p>
        </p:txBody>
      </p:sp>
      <p:sp>
        <p:nvSpPr>
          <p:cNvPr id="10" name="Rectangle 9">
            <a:extLst>
              <a:ext uri="{FF2B5EF4-FFF2-40B4-BE49-F238E27FC236}">
                <a16:creationId xmlns:a16="http://schemas.microsoft.com/office/drawing/2014/main" id="{3B5779B5-7FEC-6F81-8D89-87887993D27E}"/>
              </a:ext>
            </a:extLst>
          </p:cNvPr>
          <p:cNvSpPr/>
          <p:nvPr/>
        </p:nvSpPr>
        <p:spPr>
          <a:xfrm>
            <a:off x="2791838" y="6235430"/>
            <a:ext cx="5894962"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say that the filter gives different results in the different kernels sizes (same offset)</a:t>
            </a:r>
            <a:endParaRPr lang="he-IL" dirty="0"/>
          </a:p>
        </p:txBody>
      </p:sp>
      <p:sp>
        <p:nvSpPr>
          <p:cNvPr id="12" name="Slide Number Placeholder 5">
            <a:extLst>
              <a:ext uri="{FF2B5EF4-FFF2-40B4-BE49-F238E27FC236}">
                <a16:creationId xmlns:a16="http://schemas.microsoft.com/office/drawing/2014/main" id="{9C296919-B4C7-4537-A545-82760057F5EE}"/>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23</a:t>
            </a:fld>
            <a:endParaRPr lang="he-IL" sz="1600" dirty="0"/>
          </a:p>
        </p:txBody>
      </p:sp>
      <p:pic>
        <p:nvPicPr>
          <p:cNvPr id="14" name="Picture 13" descr="A black and white circular pattern&#10;&#10;Description automatically generated">
            <a:extLst>
              <a:ext uri="{FF2B5EF4-FFF2-40B4-BE49-F238E27FC236}">
                <a16:creationId xmlns:a16="http://schemas.microsoft.com/office/drawing/2014/main" id="{0FBD827D-6308-8A3E-6787-A2AAEB690B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434829"/>
            <a:ext cx="6096000" cy="4572000"/>
          </a:xfrm>
          <a:prstGeom prst="rect">
            <a:avLst/>
          </a:prstGeom>
        </p:spPr>
      </p:pic>
      <p:pic>
        <p:nvPicPr>
          <p:cNvPr id="16" name="Picture 15" descr="A black and white circular pattern&#10;&#10;Description automatically generated">
            <a:extLst>
              <a:ext uri="{FF2B5EF4-FFF2-40B4-BE49-F238E27FC236}">
                <a16:creationId xmlns:a16="http://schemas.microsoft.com/office/drawing/2014/main" id="{55E91682-134C-87DB-8D13-5944A27A90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434829"/>
            <a:ext cx="6096000" cy="4572000"/>
          </a:xfrm>
          <a:prstGeom prst="rect">
            <a:avLst/>
          </a:prstGeom>
        </p:spPr>
      </p:pic>
      <p:sp>
        <p:nvSpPr>
          <p:cNvPr id="17" name="TextBox 16">
            <a:extLst>
              <a:ext uri="{FF2B5EF4-FFF2-40B4-BE49-F238E27FC236}">
                <a16:creationId xmlns:a16="http://schemas.microsoft.com/office/drawing/2014/main" id="{4E057B82-DBAD-CBA3-919A-F64A6AF7F1DA}"/>
              </a:ext>
            </a:extLst>
          </p:cNvPr>
          <p:cNvSpPr txBox="1"/>
          <p:nvPr/>
        </p:nvSpPr>
        <p:spPr>
          <a:xfrm>
            <a:off x="2540540" y="1021562"/>
            <a:ext cx="73914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filter gives different results in the different kernels sizes (different offset)</a:t>
            </a:r>
            <a:endParaRPr lang="he-IL" dirty="0"/>
          </a:p>
        </p:txBody>
      </p:sp>
    </p:spTree>
    <p:extLst>
      <p:ext uri="{BB962C8B-B14F-4D97-AF65-F5344CB8AC3E}">
        <p14:creationId xmlns:p14="http://schemas.microsoft.com/office/powerpoint/2010/main" val="6057534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8AC27D95-47F5-3C7E-179C-DEABE87A3E5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MP2.3 – blurring of the images using one size of gaussians filters using FFT  (FD)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3DC8BC20-7BCD-7444-7472-CF821A396C3B}"/>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24</a:t>
            </a:fld>
            <a:endParaRPr lang="he-IL" sz="1600" dirty="0"/>
          </a:p>
        </p:txBody>
      </p:sp>
      <p:pic>
        <p:nvPicPr>
          <p:cNvPr id="7" name="Picture 6">
            <a:extLst>
              <a:ext uri="{FF2B5EF4-FFF2-40B4-BE49-F238E27FC236}">
                <a16:creationId xmlns:a16="http://schemas.microsoft.com/office/drawing/2014/main" id="{86101AFA-E73A-601D-BC66-2336476A6253}"/>
              </a:ext>
            </a:extLst>
          </p:cNvPr>
          <p:cNvPicPr>
            <a:picLocks noChangeAspect="1"/>
          </p:cNvPicPr>
          <p:nvPr/>
        </p:nvPicPr>
        <p:blipFill>
          <a:blip r:embed="rId2"/>
          <a:stretch>
            <a:fillRect/>
          </a:stretch>
        </p:blipFill>
        <p:spPr>
          <a:xfrm>
            <a:off x="387890" y="1679377"/>
            <a:ext cx="11372850" cy="2276475"/>
          </a:xfrm>
          <a:prstGeom prst="rect">
            <a:avLst/>
          </a:prstGeom>
        </p:spPr>
      </p:pic>
      <p:pic>
        <p:nvPicPr>
          <p:cNvPr id="9" name="Picture 8">
            <a:extLst>
              <a:ext uri="{FF2B5EF4-FFF2-40B4-BE49-F238E27FC236}">
                <a16:creationId xmlns:a16="http://schemas.microsoft.com/office/drawing/2014/main" id="{D1DCDED3-2762-B206-C2A6-41CB9CBA15CD}"/>
              </a:ext>
            </a:extLst>
          </p:cNvPr>
          <p:cNvPicPr>
            <a:picLocks noChangeAspect="1"/>
          </p:cNvPicPr>
          <p:nvPr/>
        </p:nvPicPr>
        <p:blipFill>
          <a:blip r:embed="rId3"/>
          <a:stretch>
            <a:fillRect/>
          </a:stretch>
        </p:blipFill>
        <p:spPr>
          <a:xfrm>
            <a:off x="387890" y="4119568"/>
            <a:ext cx="11351165" cy="1752121"/>
          </a:xfrm>
          <a:prstGeom prst="rect">
            <a:avLst/>
          </a:prstGeom>
        </p:spPr>
      </p:pic>
      <p:pic>
        <p:nvPicPr>
          <p:cNvPr id="11" name="Picture 10">
            <a:extLst>
              <a:ext uri="{FF2B5EF4-FFF2-40B4-BE49-F238E27FC236}">
                <a16:creationId xmlns:a16="http://schemas.microsoft.com/office/drawing/2014/main" id="{0CD8F5AA-EB0A-D859-DD6A-DD0877C38266}"/>
              </a:ext>
            </a:extLst>
          </p:cNvPr>
          <p:cNvPicPr>
            <a:picLocks noChangeAspect="1"/>
          </p:cNvPicPr>
          <p:nvPr/>
        </p:nvPicPr>
        <p:blipFill rotWithShape="1">
          <a:blip r:embed="rId4"/>
          <a:srcRect t="9351" r="1693"/>
          <a:stretch/>
        </p:blipFill>
        <p:spPr>
          <a:xfrm>
            <a:off x="103204" y="986311"/>
            <a:ext cx="11985592" cy="660064"/>
          </a:xfrm>
          <a:prstGeom prst="rect">
            <a:avLst/>
          </a:prstGeom>
        </p:spPr>
      </p:pic>
      <p:sp>
        <p:nvSpPr>
          <p:cNvPr id="14" name="Rectangle 13">
            <a:extLst>
              <a:ext uri="{FF2B5EF4-FFF2-40B4-BE49-F238E27FC236}">
                <a16:creationId xmlns:a16="http://schemas.microsoft.com/office/drawing/2014/main" id="{2D782865-820A-51E9-750D-4ABA1FC3EFA4}"/>
              </a:ext>
            </a:extLst>
          </p:cNvPr>
          <p:cNvSpPr/>
          <p:nvPr/>
        </p:nvSpPr>
        <p:spPr>
          <a:xfrm>
            <a:off x="4053191" y="6118698"/>
            <a:ext cx="4085617" cy="52529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solidFill>
                  <a:srgbClr val="FF0000"/>
                </a:solidFill>
              </a:rPr>
              <a:t>להוסיף את תמונת הגדרת ה-</a:t>
            </a:r>
            <a:r>
              <a:rPr lang="en-US" dirty="0">
                <a:solidFill>
                  <a:srgbClr val="FF0000"/>
                </a:solidFill>
              </a:rPr>
              <a:t>filter_size_1</a:t>
            </a:r>
            <a:endParaRPr lang="he-IL" dirty="0">
              <a:solidFill>
                <a:srgbClr val="FF0000"/>
              </a:solidFill>
            </a:endParaRPr>
          </a:p>
        </p:txBody>
      </p:sp>
    </p:spTree>
    <p:extLst>
      <p:ext uri="{BB962C8B-B14F-4D97-AF65-F5344CB8AC3E}">
        <p14:creationId xmlns:p14="http://schemas.microsoft.com/office/powerpoint/2010/main" val="3763398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8AC27D95-47F5-3C7E-179C-DEABE87A3E5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MP2.3 – blurring of the images using one size of gaussians filters using FFT  (FD)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3DC8BC20-7BCD-7444-7472-CF821A396C3B}"/>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25</a:t>
            </a:fld>
            <a:endParaRPr lang="he-IL" sz="1600" dirty="0"/>
          </a:p>
        </p:txBody>
      </p:sp>
      <p:sp>
        <p:nvSpPr>
          <p:cNvPr id="10" name="TextBox 9">
            <a:extLst>
              <a:ext uri="{FF2B5EF4-FFF2-40B4-BE49-F238E27FC236}">
                <a16:creationId xmlns:a16="http://schemas.microsoft.com/office/drawing/2014/main" id="{ECAE5072-A5ED-0D44-9470-1D338B9C85B2}"/>
              </a:ext>
            </a:extLst>
          </p:cNvPr>
          <p:cNvSpPr txBox="1"/>
          <p:nvPr/>
        </p:nvSpPr>
        <p:spPr>
          <a:xfrm>
            <a:off x="2064696" y="929311"/>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a:t>
            </a:r>
            <a:r>
              <a:rPr lang="en-US" dirty="0"/>
              <a:t>F.bmp</a:t>
            </a:r>
            <a:endParaRPr lang="he-IL" dirty="0"/>
          </a:p>
        </p:txBody>
      </p:sp>
      <p:sp>
        <p:nvSpPr>
          <p:cNvPr id="11" name="TextBox 10">
            <a:extLst>
              <a:ext uri="{FF2B5EF4-FFF2-40B4-BE49-F238E27FC236}">
                <a16:creationId xmlns:a16="http://schemas.microsoft.com/office/drawing/2014/main" id="{77CFB7B8-975B-FB6F-4433-7A537384CB61}"/>
              </a:ext>
            </a:extLst>
          </p:cNvPr>
          <p:cNvSpPr txBox="1"/>
          <p:nvPr/>
        </p:nvSpPr>
        <p:spPr>
          <a:xfrm>
            <a:off x="8203658" y="929311"/>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a:t>
            </a:r>
            <a:r>
              <a:rPr lang="en-US" dirty="0"/>
              <a:t>F.bmp</a:t>
            </a:r>
            <a:endParaRPr lang="he-IL" dirty="0"/>
          </a:p>
        </p:txBody>
      </p:sp>
      <p:sp>
        <p:nvSpPr>
          <p:cNvPr id="12" name="Rectangle 11">
            <a:extLst>
              <a:ext uri="{FF2B5EF4-FFF2-40B4-BE49-F238E27FC236}">
                <a16:creationId xmlns:a16="http://schemas.microsoft.com/office/drawing/2014/main" id="{FFF091BB-3849-F1F7-5698-B11742B852DD}"/>
              </a:ext>
            </a:extLst>
          </p:cNvPr>
          <p:cNvSpPr/>
          <p:nvPr/>
        </p:nvSpPr>
        <p:spPr>
          <a:xfrm>
            <a:off x="3540867" y="6114281"/>
            <a:ext cx="4756825"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say that : …</a:t>
            </a:r>
            <a:endParaRPr lang="he-IL" dirty="0"/>
          </a:p>
        </p:txBody>
      </p:sp>
      <p:sp>
        <p:nvSpPr>
          <p:cNvPr id="13" name="Rectangle 12">
            <a:extLst>
              <a:ext uri="{FF2B5EF4-FFF2-40B4-BE49-F238E27FC236}">
                <a16:creationId xmlns:a16="http://schemas.microsoft.com/office/drawing/2014/main" id="{22DC6C6A-E7AB-2278-F9AC-F66092E48AD8}"/>
              </a:ext>
            </a:extLst>
          </p:cNvPr>
          <p:cNvSpPr/>
          <p:nvPr/>
        </p:nvSpPr>
        <p:spPr>
          <a:xfrm>
            <a:off x="8467115" y="6158056"/>
            <a:ext cx="3599233" cy="622570"/>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
        <p:nvSpPr>
          <p:cNvPr id="14" name="Rectangle 13">
            <a:extLst>
              <a:ext uri="{FF2B5EF4-FFF2-40B4-BE49-F238E27FC236}">
                <a16:creationId xmlns:a16="http://schemas.microsoft.com/office/drawing/2014/main" id="{E3645DDA-9152-333A-1954-B2453EFF639C}"/>
              </a:ext>
            </a:extLst>
          </p:cNvPr>
          <p:cNvSpPr/>
          <p:nvPr/>
        </p:nvSpPr>
        <p:spPr>
          <a:xfrm>
            <a:off x="0" y="5928690"/>
            <a:ext cx="3968886" cy="11870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t>כרגע 4 שורות בלתי ניתנות לקריאה/שקשה מאוד לקרוא אותן – האם זה בסדר או להגדיל עוד את המסנן?</a:t>
            </a:r>
          </a:p>
        </p:txBody>
      </p:sp>
      <p:sp>
        <p:nvSpPr>
          <p:cNvPr id="19" name="Rectangle 18">
            <a:extLst>
              <a:ext uri="{FF2B5EF4-FFF2-40B4-BE49-F238E27FC236}">
                <a16:creationId xmlns:a16="http://schemas.microsoft.com/office/drawing/2014/main" id="{65A29079-7065-5BE1-69CB-B6BF02B6BAA8}"/>
              </a:ext>
            </a:extLst>
          </p:cNvPr>
          <p:cNvSpPr/>
          <p:nvPr/>
        </p:nvSpPr>
        <p:spPr>
          <a:xfrm>
            <a:off x="5153635" y="929311"/>
            <a:ext cx="1904190" cy="318484"/>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solidFill>
                  <a:srgbClr val="FF0000"/>
                </a:solidFill>
              </a:rPr>
              <a:t>Filter size of 1</a:t>
            </a:r>
            <a:endParaRPr lang="he-IL" dirty="0">
              <a:solidFill>
                <a:srgbClr val="FF0000"/>
              </a:solidFill>
            </a:endParaRPr>
          </a:p>
        </p:txBody>
      </p:sp>
      <p:pic>
        <p:nvPicPr>
          <p:cNvPr id="21" name="Picture 20" descr="A number of numbers and text&#10;&#10;Description automatically generated with medium confidence">
            <a:extLst>
              <a:ext uri="{FF2B5EF4-FFF2-40B4-BE49-F238E27FC236}">
                <a16:creationId xmlns:a16="http://schemas.microsoft.com/office/drawing/2014/main" id="{1D067B97-5E06-F3DF-9DD5-C886BCB67A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30" y="1298643"/>
            <a:ext cx="6096000" cy="4572000"/>
          </a:xfrm>
          <a:prstGeom prst="rect">
            <a:avLst/>
          </a:prstGeom>
          <a:ln>
            <a:solidFill>
              <a:schemeClr val="tx1"/>
            </a:solidFill>
          </a:ln>
        </p:spPr>
      </p:pic>
      <p:pic>
        <p:nvPicPr>
          <p:cNvPr id="23" name="Picture 22" descr="A black and white circular object&#10;&#10;Description automatically generated">
            <a:extLst>
              <a:ext uri="{FF2B5EF4-FFF2-40B4-BE49-F238E27FC236}">
                <a16:creationId xmlns:a16="http://schemas.microsoft.com/office/drawing/2014/main" id="{14F4366C-5F37-C2ED-3097-478E0A9277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5597" y="1298643"/>
            <a:ext cx="6096000" cy="4572000"/>
          </a:xfrm>
          <a:prstGeom prst="rect">
            <a:avLst/>
          </a:prstGeom>
          <a:ln>
            <a:solidFill>
              <a:schemeClr val="tx1"/>
            </a:solidFill>
          </a:ln>
        </p:spPr>
      </p:pic>
      <p:sp>
        <p:nvSpPr>
          <p:cNvPr id="25" name="Oval 24">
            <a:extLst>
              <a:ext uri="{FF2B5EF4-FFF2-40B4-BE49-F238E27FC236}">
                <a16:creationId xmlns:a16="http://schemas.microsoft.com/office/drawing/2014/main" id="{3B594D9A-FB20-3A7D-19D0-F4927A799767}"/>
              </a:ext>
            </a:extLst>
          </p:cNvPr>
          <p:cNvSpPr/>
          <p:nvPr/>
        </p:nvSpPr>
        <p:spPr>
          <a:xfrm>
            <a:off x="127677" y="67310"/>
            <a:ext cx="1819073" cy="1429966"/>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solidFill>
                  <a:srgbClr val="FF0000"/>
                </a:solidFill>
              </a:rPr>
              <a:t>למצוא </a:t>
            </a:r>
            <a:r>
              <a:rPr lang="en-US" dirty="0" err="1">
                <a:solidFill>
                  <a:srgbClr val="FF0000"/>
                </a:solidFill>
              </a:rPr>
              <a:t>filtersize</a:t>
            </a:r>
            <a:r>
              <a:rPr lang="he-IL" dirty="0">
                <a:solidFill>
                  <a:srgbClr val="FF0000"/>
                </a:solidFill>
              </a:rPr>
              <a:t> אופטימלי שיענה על הדרישות</a:t>
            </a:r>
          </a:p>
        </p:txBody>
      </p:sp>
    </p:spTree>
    <p:extLst>
      <p:ext uri="{BB962C8B-B14F-4D97-AF65-F5344CB8AC3E}">
        <p14:creationId xmlns:p14="http://schemas.microsoft.com/office/powerpoint/2010/main" val="4190539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A4E97ECD-B057-BE28-DF4A-C1FDF8F94807}"/>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A6B18491-BDE4-91F2-9B9D-5052DC6A33B2}"/>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26</a:t>
            </a:fld>
            <a:endParaRPr lang="he-IL" sz="1600" dirty="0"/>
          </a:p>
        </p:txBody>
      </p:sp>
      <p:sp>
        <p:nvSpPr>
          <p:cNvPr id="9" name="TextBox 8">
            <a:extLst>
              <a:ext uri="{FF2B5EF4-FFF2-40B4-BE49-F238E27FC236}">
                <a16:creationId xmlns:a16="http://schemas.microsoft.com/office/drawing/2014/main" id="{9F98F1ED-DDC7-AB95-D333-C335FEAC4568}"/>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Tim1LPF5cHFEF1c.bmp</a:t>
            </a:r>
          </a:p>
        </p:txBody>
      </p:sp>
      <p:sp>
        <p:nvSpPr>
          <p:cNvPr id="13" name="TextBox 12">
            <a:extLst>
              <a:ext uri="{FF2B5EF4-FFF2-40B4-BE49-F238E27FC236}">
                <a16:creationId xmlns:a16="http://schemas.microsoft.com/office/drawing/2014/main" id="{5A409036-9BD3-0D10-AB98-86215B75DDF6}"/>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Tim1LPF7cHFEF1c.bmp</a:t>
            </a:r>
            <a:endParaRPr lang="he-IL" dirty="0"/>
          </a:p>
        </p:txBody>
      </p:sp>
      <p:sp>
        <p:nvSpPr>
          <p:cNvPr id="17" name="TextBox 16">
            <a:extLst>
              <a:ext uri="{FF2B5EF4-FFF2-40B4-BE49-F238E27FC236}">
                <a16:creationId xmlns:a16="http://schemas.microsoft.com/office/drawing/2014/main" id="{C6A1B6C2-07BB-34F9-0830-A5E34895E112}"/>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kernel_1</a:t>
            </a:r>
            <a:endParaRPr lang="he-IL" dirty="0"/>
          </a:p>
        </p:txBody>
      </p:sp>
      <p:sp>
        <p:nvSpPr>
          <p:cNvPr id="21" name="TextBox 20">
            <a:extLst>
              <a:ext uri="{FF2B5EF4-FFF2-40B4-BE49-F238E27FC236}">
                <a16:creationId xmlns:a16="http://schemas.microsoft.com/office/drawing/2014/main" id="{E269FAD5-D630-3D68-974C-D0E81ABE577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kernel_1</a:t>
            </a:r>
            <a:endParaRPr lang="he-IL" dirty="0"/>
          </a:p>
        </p:txBody>
      </p:sp>
      <p:pic>
        <p:nvPicPr>
          <p:cNvPr id="23" name="Picture 22" descr="A number of numbers and letters&#10;&#10;Description automatically generated with medium confidence">
            <a:extLst>
              <a:ext uri="{FF2B5EF4-FFF2-40B4-BE49-F238E27FC236}">
                <a16:creationId xmlns:a16="http://schemas.microsoft.com/office/drawing/2014/main" id="{43321543-F4BA-13E8-9909-B7D8805F02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pic>
        <p:nvPicPr>
          <p:cNvPr id="25" name="Picture 24" descr="A number of numbers and letters&#10;&#10;Description automatically generated with medium confidence">
            <a:extLst>
              <a:ext uri="{FF2B5EF4-FFF2-40B4-BE49-F238E27FC236}">
                <a16:creationId xmlns:a16="http://schemas.microsoft.com/office/drawing/2014/main" id="{98347DBE-3025-57F1-4900-1A8AE99BA4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80978"/>
            <a:ext cx="6096000" cy="4572000"/>
          </a:xfrm>
          <a:prstGeom prst="rect">
            <a:avLst/>
          </a:prstGeom>
        </p:spPr>
      </p:pic>
      <p:sp>
        <p:nvSpPr>
          <p:cNvPr id="26" name="Oval 25">
            <a:extLst>
              <a:ext uri="{FF2B5EF4-FFF2-40B4-BE49-F238E27FC236}">
                <a16:creationId xmlns:a16="http://schemas.microsoft.com/office/drawing/2014/main" id="{148D882A-EE8A-34FA-1191-65ADDE4FFD91}"/>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2456453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27</a:t>
            </a:fld>
            <a:endParaRPr lang="he-IL" sz="1600" dirty="0"/>
          </a:p>
        </p:txBody>
      </p:sp>
      <p:sp>
        <p:nvSpPr>
          <p:cNvPr id="10" name="TextBox 9">
            <a:extLst>
              <a:ext uri="{FF2B5EF4-FFF2-40B4-BE49-F238E27FC236}">
                <a16:creationId xmlns:a16="http://schemas.microsoft.com/office/drawing/2014/main" id="{E247944C-D526-DD6B-BEB7-6AB5A6C0815B}"/>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Tim1LPF5cHFEF2c.bmp</a:t>
            </a:r>
          </a:p>
        </p:txBody>
      </p:sp>
      <p:sp>
        <p:nvSpPr>
          <p:cNvPr id="11" name="TextBox 10">
            <a:extLst>
              <a:ext uri="{FF2B5EF4-FFF2-40B4-BE49-F238E27FC236}">
                <a16:creationId xmlns:a16="http://schemas.microsoft.com/office/drawing/2014/main" id="{CE7EB4CB-C076-A769-C299-E741F3C3ADC3}"/>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Tim1LPF7cHFEF2c.bmp</a:t>
            </a:r>
            <a:endParaRPr lang="he-IL" dirty="0"/>
          </a:p>
        </p:txBody>
      </p:sp>
      <p:sp>
        <p:nvSpPr>
          <p:cNvPr id="12" name="TextBox 11">
            <a:extLst>
              <a:ext uri="{FF2B5EF4-FFF2-40B4-BE49-F238E27FC236}">
                <a16:creationId xmlns:a16="http://schemas.microsoft.com/office/drawing/2014/main" id="{F6A725A7-3B9E-B9C2-4317-17025785DB6C}"/>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kernel_2</a:t>
            </a:r>
            <a:endParaRPr lang="he-IL" dirty="0"/>
          </a:p>
        </p:txBody>
      </p:sp>
      <p:sp>
        <p:nvSpPr>
          <p:cNvPr id="13" name="TextBox 12">
            <a:extLst>
              <a:ext uri="{FF2B5EF4-FFF2-40B4-BE49-F238E27FC236}">
                <a16:creationId xmlns:a16="http://schemas.microsoft.com/office/drawing/2014/main" id="{0CBF5C52-3133-10A3-654F-B7A031824359}"/>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kernel_2</a:t>
            </a:r>
            <a:endParaRPr lang="he-IL" dirty="0"/>
          </a:p>
        </p:txBody>
      </p:sp>
      <p:pic>
        <p:nvPicPr>
          <p:cNvPr id="15" name="Picture 14" descr="A number of numbers and text&#10;&#10;Description automatically generated with medium confidence">
            <a:extLst>
              <a:ext uri="{FF2B5EF4-FFF2-40B4-BE49-F238E27FC236}">
                <a16:creationId xmlns:a16="http://schemas.microsoft.com/office/drawing/2014/main" id="{7AB25274-32F6-3DDA-94E2-8F9D78ECD0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pic>
        <p:nvPicPr>
          <p:cNvPr id="17" name="Picture 16" descr="A number of numbers and letters&#10;&#10;Description automatically generated with medium confidence">
            <a:extLst>
              <a:ext uri="{FF2B5EF4-FFF2-40B4-BE49-F238E27FC236}">
                <a16:creationId xmlns:a16="http://schemas.microsoft.com/office/drawing/2014/main" id="{54C9BD9E-FDF8-E7BB-862D-4044987A30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8" name="Oval 17">
            <a:extLst>
              <a:ext uri="{FF2B5EF4-FFF2-40B4-BE49-F238E27FC236}">
                <a16:creationId xmlns:a16="http://schemas.microsoft.com/office/drawing/2014/main" id="{A6A5E551-AC4A-EB32-8380-EF923401AAD6}"/>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2279638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3</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28</a:t>
            </a:fld>
            <a:endParaRPr lang="he-IL" sz="1600" dirty="0"/>
          </a:p>
        </p:txBody>
      </p:sp>
      <p:sp>
        <p:nvSpPr>
          <p:cNvPr id="8" name="TextBox 7">
            <a:extLst>
              <a:ext uri="{FF2B5EF4-FFF2-40B4-BE49-F238E27FC236}">
                <a16:creationId xmlns:a16="http://schemas.microsoft.com/office/drawing/2014/main" id="{39C03041-5A09-9E1F-60D4-BC7F8F36E21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Tim1LPF5cHFEF3c.bmp</a:t>
            </a:r>
          </a:p>
        </p:txBody>
      </p:sp>
      <p:sp>
        <p:nvSpPr>
          <p:cNvPr id="9" name="TextBox 8">
            <a:extLst>
              <a:ext uri="{FF2B5EF4-FFF2-40B4-BE49-F238E27FC236}">
                <a16:creationId xmlns:a16="http://schemas.microsoft.com/office/drawing/2014/main" id="{474111DD-5972-CD6F-432F-10A61AAF4313}"/>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Tim1LPF7cHFEF3c.bmp</a:t>
            </a:r>
            <a:endParaRPr lang="he-IL" dirty="0"/>
          </a:p>
        </p:txBody>
      </p:sp>
      <p:sp>
        <p:nvSpPr>
          <p:cNvPr id="10" name="TextBox 9">
            <a:extLst>
              <a:ext uri="{FF2B5EF4-FFF2-40B4-BE49-F238E27FC236}">
                <a16:creationId xmlns:a16="http://schemas.microsoft.com/office/drawing/2014/main" id="{C60EEEC5-2624-347A-F77D-0B95E0343A90}"/>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kernel_3</a:t>
            </a:r>
            <a:endParaRPr lang="he-IL" dirty="0"/>
          </a:p>
        </p:txBody>
      </p:sp>
      <p:sp>
        <p:nvSpPr>
          <p:cNvPr id="11" name="TextBox 10">
            <a:extLst>
              <a:ext uri="{FF2B5EF4-FFF2-40B4-BE49-F238E27FC236}">
                <a16:creationId xmlns:a16="http://schemas.microsoft.com/office/drawing/2014/main" id="{83957F0F-9C07-D912-0F93-DBA6967F4F10}"/>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kernel_3</a:t>
            </a:r>
            <a:endParaRPr lang="he-IL" dirty="0"/>
          </a:p>
        </p:txBody>
      </p:sp>
      <p:pic>
        <p:nvPicPr>
          <p:cNvPr id="13" name="Picture 12" descr="A number of numbers and letters&#10;&#10;Description automatically generated with medium confidence">
            <a:extLst>
              <a:ext uri="{FF2B5EF4-FFF2-40B4-BE49-F238E27FC236}">
                <a16:creationId xmlns:a16="http://schemas.microsoft.com/office/drawing/2014/main" id="{02FA442F-8B0F-1DB2-ECAA-1FFFC2F59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5601" y="2285999"/>
            <a:ext cx="6096000" cy="4572000"/>
          </a:xfrm>
          <a:prstGeom prst="rect">
            <a:avLst/>
          </a:prstGeom>
        </p:spPr>
      </p:pic>
      <p:pic>
        <p:nvPicPr>
          <p:cNvPr id="15" name="Picture 14" descr="A number of numbers and letters&#10;&#10;Description automatically generated with medium confidence">
            <a:extLst>
              <a:ext uri="{FF2B5EF4-FFF2-40B4-BE49-F238E27FC236}">
                <a16:creationId xmlns:a16="http://schemas.microsoft.com/office/drawing/2014/main" id="{9AF92B15-33A4-D5BF-3A12-A2B92BE633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85998"/>
            <a:ext cx="6096000" cy="4572000"/>
          </a:xfrm>
          <a:prstGeom prst="rect">
            <a:avLst/>
          </a:prstGeom>
        </p:spPr>
      </p:pic>
      <p:sp>
        <p:nvSpPr>
          <p:cNvPr id="16" name="Oval 15">
            <a:extLst>
              <a:ext uri="{FF2B5EF4-FFF2-40B4-BE49-F238E27FC236}">
                <a16:creationId xmlns:a16="http://schemas.microsoft.com/office/drawing/2014/main" id="{42FCE476-1ACB-9614-68AE-C9071AA29C43}"/>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3608396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4</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29</a:t>
            </a:fld>
            <a:endParaRPr lang="he-IL" sz="1600" dirty="0"/>
          </a:p>
        </p:txBody>
      </p:sp>
      <p:sp>
        <p:nvSpPr>
          <p:cNvPr id="8" name="TextBox 7">
            <a:extLst>
              <a:ext uri="{FF2B5EF4-FFF2-40B4-BE49-F238E27FC236}">
                <a16:creationId xmlns:a16="http://schemas.microsoft.com/office/drawing/2014/main" id="{AE97446F-71D6-D4F8-094D-47320A8917BE}"/>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Tim1LPF5cHFEF4c.bmp</a:t>
            </a:r>
          </a:p>
        </p:txBody>
      </p:sp>
      <p:sp>
        <p:nvSpPr>
          <p:cNvPr id="9" name="TextBox 8">
            <a:extLst>
              <a:ext uri="{FF2B5EF4-FFF2-40B4-BE49-F238E27FC236}">
                <a16:creationId xmlns:a16="http://schemas.microsoft.com/office/drawing/2014/main" id="{F3E817F5-E727-C445-7010-24873CB070D4}"/>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Tim1LPF7cHFEF4c.bmp</a:t>
            </a:r>
            <a:endParaRPr lang="he-IL" dirty="0"/>
          </a:p>
        </p:txBody>
      </p:sp>
      <p:sp>
        <p:nvSpPr>
          <p:cNvPr id="10" name="TextBox 9">
            <a:extLst>
              <a:ext uri="{FF2B5EF4-FFF2-40B4-BE49-F238E27FC236}">
                <a16:creationId xmlns:a16="http://schemas.microsoft.com/office/drawing/2014/main" id="{BF4DE957-91B0-ACE0-34A5-7C1AFE3D3EF4}"/>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kernel_4</a:t>
            </a:r>
            <a:endParaRPr lang="he-IL" dirty="0"/>
          </a:p>
        </p:txBody>
      </p:sp>
      <p:sp>
        <p:nvSpPr>
          <p:cNvPr id="11" name="TextBox 10">
            <a:extLst>
              <a:ext uri="{FF2B5EF4-FFF2-40B4-BE49-F238E27FC236}">
                <a16:creationId xmlns:a16="http://schemas.microsoft.com/office/drawing/2014/main" id="{6E380718-0EDB-D38B-4F60-FC289902C2F6}"/>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kernel_4</a:t>
            </a:r>
            <a:endParaRPr lang="he-IL" dirty="0"/>
          </a:p>
        </p:txBody>
      </p:sp>
      <p:pic>
        <p:nvPicPr>
          <p:cNvPr id="13" name="Picture 12" descr="A number and numbers on a grey background&#10;&#10;Description automatically generated">
            <a:extLst>
              <a:ext uri="{FF2B5EF4-FFF2-40B4-BE49-F238E27FC236}">
                <a16:creationId xmlns:a16="http://schemas.microsoft.com/office/drawing/2014/main" id="{2DC7ABB9-34EA-80DF-760D-3FE976CF3B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1"/>
            <a:ext cx="6096000" cy="4572000"/>
          </a:xfrm>
          <a:prstGeom prst="rect">
            <a:avLst/>
          </a:prstGeom>
        </p:spPr>
      </p:pic>
      <p:pic>
        <p:nvPicPr>
          <p:cNvPr id="15" name="Picture 14" descr="A number of numbers and letters&#10;&#10;Description automatically generated with medium confidence">
            <a:extLst>
              <a:ext uri="{FF2B5EF4-FFF2-40B4-BE49-F238E27FC236}">
                <a16:creationId xmlns:a16="http://schemas.microsoft.com/office/drawing/2014/main" id="{E00347F0-D2DC-2817-ADA0-9A7702DB80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86001"/>
            <a:ext cx="6096000" cy="4572000"/>
          </a:xfrm>
          <a:prstGeom prst="rect">
            <a:avLst/>
          </a:prstGeom>
        </p:spPr>
      </p:pic>
      <p:sp>
        <p:nvSpPr>
          <p:cNvPr id="16" name="Oval 15">
            <a:extLst>
              <a:ext uri="{FF2B5EF4-FFF2-40B4-BE49-F238E27FC236}">
                <a16:creationId xmlns:a16="http://schemas.microsoft.com/office/drawing/2014/main" id="{135117EE-4434-44F4-2306-CB90FE3D55AA}"/>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39715804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5</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30</a:t>
            </a:fld>
            <a:endParaRPr lang="he-IL" sz="1600" dirty="0"/>
          </a:p>
        </p:txBody>
      </p:sp>
      <p:sp>
        <p:nvSpPr>
          <p:cNvPr id="8" name="TextBox 7">
            <a:extLst>
              <a:ext uri="{FF2B5EF4-FFF2-40B4-BE49-F238E27FC236}">
                <a16:creationId xmlns:a16="http://schemas.microsoft.com/office/drawing/2014/main" id="{F04CD41B-3295-4689-7B25-52BBF696B0B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Tim2LPF5cHFEF1c.bmp</a:t>
            </a:r>
          </a:p>
        </p:txBody>
      </p:sp>
      <p:sp>
        <p:nvSpPr>
          <p:cNvPr id="9" name="TextBox 8">
            <a:extLst>
              <a:ext uri="{FF2B5EF4-FFF2-40B4-BE49-F238E27FC236}">
                <a16:creationId xmlns:a16="http://schemas.microsoft.com/office/drawing/2014/main" id="{D9E86E37-8D1C-C6AA-A29E-C741883078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Tim2LPF7cHFEF1c.bmp</a:t>
            </a:r>
            <a:endParaRPr lang="he-IL" dirty="0"/>
          </a:p>
        </p:txBody>
      </p:sp>
      <p:sp>
        <p:nvSpPr>
          <p:cNvPr id="10" name="TextBox 9">
            <a:extLst>
              <a:ext uri="{FF2B5EF4-FFF2-40B4-BE49-F238E27FC236}">
                <a16:creationId xmlns:a16="http://schemas.microsoft.com/office/drawing/2014/main" id="{06B60774-EBAB-40E4-9CBB-5C541A7AB27E}"/>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kernel_1</a:t>
            </a:r>
            <a:endParaRPr lang="he-IL" dirty="0"/>
          </a:p>
        </p:txBody>
      </p:sp>
      <p:sp>
        <p:nvSpPr>
          <p:cNvPr id="11" name="TextBox 10">
            <a:extLst>
              <a:ext uri="{FF2B5EF4-FFF2-40B4-BE49-F238E27FC236}">
                <a16:creationId xmlns:a16="http://schemas.microsoft.com/office/drawing/2014/main" id="{400F5BBC-CD42-75CC-3BAB-B6D5FC12588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kernel_1</a:t>
            </a:r>
            <a:endParaRPr lang="he-IL" dirty="0"/>
          </a:p>
        </p:txBody>
      </p:sp>
      <p:pic>
        <p:nvPicPr>
          <p:cNvPr id="13" name="Picture 12" descr="A black and white circular pattern&#10;&#10;Description automatically generated">
            <a:extLst>
              <a:ext uri="{FF2B5EF4-FFF2-40B4-BE49-F238E27FC236}">
                <a16:creationId xmlns:a16="http://schemas.microsoft.com/office/drawing/2014/main" id="{11FD849B-AC68-E545-60BC-0AC5E38178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59" y="2286000"/>
            <a:ext cx="6096000" cy="4572000"/>
          </a:xfrm>
          <a:prstGeom prst="rect">
            <a:avLst/>
          </a:prstGeom>
        </p:spPr>
      </p:pic>
      <p:pic>
        <p:nvPicPr>
          <p:cNvPr id="15" name="Picture 14" descr="A black and white circular pattern&#10;&#10;Description automatically generated">
            <a:extLst>
              <a:ext uri="{FF2B5EF4-FFF2-40B4-BE49-F238E27FC236}">
                <a16:creationId xmlns:a16="http://schemas.microsoft.com/office/drawing/2014/main" id="{61E79D80-FB56-6074-1A7C-80C9539D2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6" name="Oval 15">
            <a:extLst>
              <a:ext uri="{FF2B5EF4-FFF2-40B4-BE49-F238E27FC236}">
                <a16:creationId xmlns:a16="http://schemas.microsoft.com/office/drawing/2014/main" id="{18FB7B27-A86A-8DFC-E3E0-62E3572F4DD1}"/>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494372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5</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31</a:t>
            </a:fld>
            <a:endParaRPr lang="he-IL" sz="1600" dirty="0"/>
          </a:p>
        </p:txBody>
      </p:sp>
      <p:sp>
        <p:nvSpPr>
          <p:cNvPr id="8" name="TextBox 7">
            <a:extLst>
              <a:ext uri="{FF2B5EF4-FFF2-40B4-BE49-F238E27FC236}">
                <a16:creationId xmlns:a16="http://schemas.microsoft.com/office/drawing/2014/main" id="{F04CD41B-3295-4689-7B25-52BBF696B0B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Tim2LPF5cHFEF2c.bmp</a:t>
            </a:r>
          </a:p>
        </p:txBody>
      </p:sp>
      <p:sp>
        <p:nvSpPr>
          <p:cNvPr id="9" name="TextBox 8">
            <a:extLst>
              <a:ext uri="{FF2B5EF4-FFF2-40B4-BE49-F238E27FC236}">
                <a16:creationId xmlns:a16="http://schemas.microsoft.com/office/drawing/2014/main" id="{D9E86E37-8D1C-C6AA-A29E-C741883078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Tim2LPF7cHFEF2c.bmp</a:t>
            </a:r>
            <a:endParaRPr lang="he-IL" dirty="0"/>
          </a:p>
        </p:txBody>
      </p:sp>
      <p:sp>
        <p:nvSpPr>
          <p:cNvPr id="10" name="TextBox 9">
            <a:extLst>
              <a:ext uri="{FF2B5EF4-FFF2-40B4-BE49-F238E27FC236}">
                <a16:creationId xmlns:a16="http://schemas.microsoft.com/office/drawing/2014/main" id="{06B60774-EBAB-40E4-9CBB-5C541A7AB27E}"/>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kernel_2</a:t>
            </a:r>
            <a:endParaRPr lang="he-IL" dirty="0"/>
          </a:p>
        </p:txBody>
      </p:sp>
      <p:sp>
        <p:nvSpPr>
          <p:cNvPr id="11" name="TextBox 10">
            <a:extLst>
              <a:ext uri="{FF2B5EF4-FFF2-40B4-BE49-F238E27FC236}">
                <a16:creationId xmlns:a16="http://schemas.microsoft.com/office/drawing/2014/main" id="{400F5BBC-CD42-75CC-3BAB-B6D5FC12588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kernel_2</a:t>
            </a:r>
            <a:endParaRPr lang="he-IL" dirty="0"/>
          </a:p>
        </p:txBody>
      </p:sp>
      <p:pic>
        <p:nvPicPr>
          <p:cNvPr id="15" name="Picture 14" descr="A black and white circular pattern&#10;&#10;Description automatically generated">
            <a:extLst>
              <a:ext uri="{FF2B5EF4-FFF2-40B4-BE49-F238E27FC236}">
                <a16:creationId xmlns:a16="http://schemas.microsoft.com/office/drawing/2014/main" id="{9DF0ADA2-5F35-0D55-3FB5-E15E2F0638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71409"/>
            <a:ext cx="6096000" cy="4572000"/>
          </a:xfrm>
          <a:prstGeom prst="rect">
            <a:avLst/>
          </a:prstGeom>
        </p:spPr>
      </p:pic>
      <p:pic>
        <p:nvPicPr>
          <p:cNvPr id="17" name="Picture 16" descr="A black circle with a black center&#10;&#10;Description automatically generated">
            <a:extLst>
              <a:ext uri="{FF2B5EF4-FFF2-40B4-BE49-F238E27FC236}">
                <a16:creationId xmlns:a16="http://schemas.microsoft.com/office/drawing/2014/main" id="{FEF1776F-0223-1F5F-8EBD-8934CD10A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71409"/>
            <a:ext cx="6096000" cy="4572000"/>
          </a:xfrm>
          <a:prstGeom prst="rect">
            <a:avLst/>
          </a:prstGeom>
        </p:spPr>
      </p:pic>
      <p:sp>
        <p:nvSpPr>
          <p:cNvPr id="18" name="Oval 17">
            <a:extLst>
              <a:ext uri="{FF2B5EF4-FFF2-40B4-BE49-F238E27FC236}">
                <a16:creationId xmlns:a16="http://schemas.microsoft.com/office/drawing/2014/main" id="{84246875-AFE7-5ECF-3B94-BA6FF28BEAA7}"/>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990431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6</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32</a:t>
            </a:fld>
            <a:endParaRPr lang="he-IL" sz="1600" dirty="0"/>
          </a:p>
        </p:txBody>
      </p:sp>
      <p:sp>
        <p:nvSpPr>
          <p:cNvPr id="10" name="TextBox 9">
            <a:extLst>
              <a:ext uri="{FF2B5EF4-FFF2-40B4-BE49-F238E27FC236}">
                <a16:creationId xmlns:a16="http://schemas.microsoft.com/office/drawing/2014/main" id="{916BFBE6-0EE9-5580-3814-A06055458E59}"/>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Tim2LPF5cHFEF3c.bmp</a:t>
            </a:r>
          </a:p>
        </p:txBody>
      </p:sp>
      <p:sp>
        <p:nvSpPr>
          <p:cNvPr id="11" name="TextBox 10">
            <a:extLst>
              <a:ext uri="{FF2B5EF4-FFF2-40B4-BE49-F238E27FC236}">
                <a16:creationId xmlns:a16="http://schemas.microsoft.com/office/drawing/2014/main" id="{9CD21830-B42F-520A-9E85-11E6A56AE12F}"/>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Tim2LPF7cHFEF3c.bmp</a:t>
            </a:r>
            <a:endParaRPr lang="he-IL" dirty="0"/>
          </a:p>
        </p:txBody>
      </p:sp>
      <p:sp>
        <p:nvSpPr>
          <p:cNvPr id="12" name="TextBox 11">
            <a:extLst>
              <a:ext uri="{FF2B5EF4-FFF2-40B4-BE49-F238E27FC236}">
                <a16:creationId xmlns:a16="http://schemas.microsoft.com/office/drawing/2014/main" id="{C24CEB1F-B0B1-0364-856E-239B9A0FF0F6}"/>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kernel_3</a:t>
            </a:r>
            <a:endParaRPr lang="he-IL" dirty="0"/>
          </a:p>
        </p:txBody>
      </p:sp>
      <p:sp>
        <p:nvSpPr>
          <p:cNvPr id="13" name="TextBox 12">
            <a:extLst>
              <a:ext uri="{FF2B5EF4-FFF2-40B4-BE49-F238E27FC236}">
                <a16:creationId xmlns:a16="http://schemas.microsoft.com/office/drawing/2014/main" id="{AA2707AC-E76D-23AA-1943-35C76C785CE2}"/>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kernel_3</a:t>
            </a:r>
            <a:endParaRPr lang="he-IL" dirty="0"/>
          </a:p>
        </p:txBody>
      </p:sp>
      <p:pic>
        <p:nvPicPr>
          <p:cNvPr id="15" name="Picture 14" descr="A black circle with a black center&#10;&#10;Description automatically generated">
            <a:extLst>
              <a:ext uri="{FF2B5EF4-FFF2-40B4-BE49-F238E27FC236}">
                <a16:creationId xmlns:a16="http://schemas.microsoft.com/office/drawing/2014/main" id="{EA055176-DC5E-AFE6-CBCB-FCDB97CF4B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2285999"/>
            <a:ext cx="6096000" cy="4572000"/>
          </a:xfrm>
          <a:prstGeom prst="rect">
            <a:avLst/>
          </a:prstGeom>
        </p:spPr>
      </p:pic>
      <p:pic>
        <p:nvPicPr>
          <p:cNvPr id="17" name="Picture 16" descr="A black and white circular pattern&#10;&#10;Description automatically generated">
            <a:extLst>
              <a:ext uri="{FF2B5EF4-FFF2-40B4-BE49-F238E27FC236}">
                <a16:creationId xmlns:a16="http://schemas.microsoft.com/office/drawing/2014/main" id="{3AA41077-10CB-8B58-AA68-041E26EA2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sp>
        <p:nvSpPr>
          <p:cNvPr id="18" name="Oval 17">
            <a:extLst>
              <a:ext uri="{FF2B5EF4-FFF2-40B4-BE49-F238E27FC236}">
                <a16:creationId xmlns:a16="http://schemas.microsoft.com/office/drawing/2014/main" id="{67C65546-2525-8BFD-19BE-989E28446ED2}"/>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28836834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7</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33</a:t>
            </a:fld>
            <a:endParaRPr lang="he-IL" sz="1600" dirty="0"/>
          </a:p>
        </p:txBody>
      </p:sp>
      <p:sp>
        <p:nvSpPr>
          <p:cNvPr id="8" name="TextBox 7">
            <a:extLst>
              <a:ext uri="{FF2B5EF4-FFF2-40B4-BE49-F238E27FC236}">
                <a16:creationId xmlns:a16="http://schemas.microsoft.com/office/drawing/2014/main" id="{9F7270B3-08AB-C7C2-4DB5-DFBD5CDA80D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Tim2LPF5cHFEF4c.bmp</a:t>
            </a:r>
          </a:p>
        </p:txBody>
      </p:sp>
      <p:sp>
        <p:nvSpPr>
          <p:cNvPr id="9" name="TextBox 8">
            <a:extLst>
              <a:ext uri="{FF2B5EF4-FFF2-40B4-BE49-F238E27FC236}">
                <a16:creationId xmlns:a16="http://schemas.microsoft.com/office/drawing/2014/main" id="{25705E85-1C0F-DD49-16F6-F3D08510A3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Tim2LPF7cHFEF4c.bmp</a:t>
            </a:r>
            <a:endParaRPr lang="he-IL" dirty="0"/>
          </a:p>
        </p:txBody>
      </p:sp>
      <p:sp>
        <p:nvSpPr>
          <p:cNvPr id="10" name="TextBox 9">
            <a:extLst>
              <a:ext uri="{FF2B5EF4-FFF2-40B4-BE49-F238E27FC236}">
                <a16:creationId xmlns:a16="http://schemas.microsoft.com/office/drawing/2014/main" id="{C6AA2FFB-B323-82BE-359B-DBC01498965F}"/>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kernel_4</a:t>
            </a:r>
            <a:endParaRPr lang="he-IL" dirty="0"/>
          </a:p>
        </p:txBody>
      </p:sp>
      <p:sp>
        <p:nvSpPr>
          <p:cNvPr id="11" name="TextBox 10">
            <a:extLst>
              <a:ext uri="{FF2B5EF4-FFF2-40B4-BE49-F238E27FC236}">
                <a16:creationId xmlns:a16="http://schemas.microsoft.com/office/drawing/2014/main" id="{458AE6C6-632F-8320-1FB9-7584BEBEC0C6}"/>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kernel_4</a:t>
            </a:r>
            <a:endParaRPr lang="he-IL" dirty="0"/>
          </a:p>
        </p:txBody>
      </p:sp>
      <p:pic>
        <p:nvPicPr>
          <p:cNvPr id="13" name="Picture 12" descr="A black and white circular pattern&#10;&#10;Description automatically generated">
            <a:extLst>
              <a:ext uri="{FF2B5EF4-FFF2-40B4-BE49-F238E27FC236}">
                <a16:creationId xmlns:a16="http://schemas.microsoft.com/office/drawing/2014/main" id="{D659F719-9EB8-FBFE-E290-828D3EF73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13" y="2286000"/>
            <a:ext cx="6096000" cy="4572000"/>
          </a:xfrm>
          <a:prstGeom prst="rect">
            <a:avLst/>
          </a:prstGeom>
        </p:spPr>
      </p:pic>
      <p:pic>
        <p:nvPicPr>
          <p:cNvPr id="15" name="Picture 14" descr="A black and white circular pattern&#10;&#10;Description automatically generated">
            <a:extLst>
              <a:ext uri="{FF2B5EF4-FFF2-40B4-BE49-F238E27FC236}">
                <a16:creationId xmlns:a16="http://schemas.microsoft.com/office/drawing/2014/main" id="{6A2D79E2-8067-2755-DC1B-ABA6A07A94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6" name="Oval 15">
            <a:extLst>
              <a:ext uri="{FF2B5EF4-FFF2-40B4-BE49-F238E27FC236}">
                <a16:creationId xmlns:a16="http://schemas.microsoft.com/office/drawing/2014/main" id="{583E5903-9299-DE48-86F1-133517240316}"/>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2557980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8</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34</a:t>
            </a:fld>
            <a:endParaRPr lang="he-IL" sz="1600" dirty="0"/>
          </a:p>
        </p:txBody>
      </p:sp>
      <p:sp>
        <p:nvSpPr>
          <p:cNvPr id="2" name="Rectangle 1">
            <a:extLst>
              <a:ext uri="{FF2B5EF4-FFF2-40B4-BE49-F238E27FC236}">
                <a16:creationId xmlns:a16="http://schemas.microsoft.com/office/drawing/2014/main" id="{D88529C0-7469-6368-7A89-990D87AEB444}"/>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pic>
        <p:nvPicPr>
          <p:cNvPr id="6" name="Picture 5">
            <a:extLst>
              <a:ext uri="{FF2B5EF4-FFF2-40B4-BE49-F238E27FC236}">
                <a16:creationId xmlns:a16="http://schemas.microsoft.com/office/drawing/2014/main" id="{A95A3182-6D70-27BF-9FF2-D71A30B41E88}"/>
              </a:ext>
            </a:extLst>
          </p:cNvPr>
          <p:cNvPicPr>
            <a:picLocks noChangeAspect="1"/>
          </p:cNvPicPr>
          <p:nvPr/>
        </p:nvPicPr>
        <p:blipFill>
          <a:blip r:embed="rId2"/>
          <a:stretch>
            <a:fillRect/>
          </a:stretch>
        </p:blipFill>
        <p:spPr>
          <a:xfrm>
            <a:off x="0" y="1820795"/>
            <a:ext cx="8496300" cy="1990725"/>
          </a:xfrm>
          <a:prstGeom prst="rect">
            <a:avLst/>
          </a:prstGeom>
        </p:spPr>
      </p:pic>
      <p:sp>
        <p:nvSpPr>
          <p:cNvPr id="8" name="TextBox 7">
            <a:extLst>
              <a:ext uri="{FF2B5EF4-FFF2-40B4-BE49-F238E27FC236}">
                <a16:creationId xmlns:a16="http://schemas.microsoft.com/office/drawing/2014/main" id="{087CD5EC-C57C-56C4-9681-944FAED1A08E}"/>
              </a:ext>
            </a:extLst>
          </p:cNvPr>
          <p:cNvSpPr txBox="1"/>
          <p:nvPr/>
        </p:nvSpPr>
        <p:spPr>
          <a:xfrm>
            <a:off x="153209" y="4110574"/>
            <a:ext cx="6743701"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kernel emphasizes the center pixel heavily compared to its neighbors. The negative values around the edges help to subtract the surrounding pixels’ influence, which sharpens the transition at the edges, effectively highlighting details and edges.</a:t>
            </a:r>
            <a:endParaRPr lang="he-IL" dirty="0"/>
          </a:p>
        </p:txBody>
      </p:sp>
      <p:sp>
        <p:nvSpPr>
          <p:cNvPr id="10" name="TextBox 9">
            <a:extLst>
              <a:ext uri="{FF2B5EF4-FFF2-40B4-BE49-F238E27FC236}">
                <a16:creationId xmlns:a16="http://schemas.microsoft.com/office/drawing/2014/main" id="{738A900F-675D-709C-91D7-1A24E6F87EA1}"/>
              </a:ext>
            </a:extLst>
          </p:cNvPr>
          <p:cNvSpPr txBox="1"/>
          <p:nvPr/>
        </p:nvSpPr>
        <p:spPr>
          <a:xfrm>
            <a:off x="153208" y="5525709"/>
            <a:ext cx="7677557"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When applied to a blurred image, Kernel 1 will enhance the high-frequency details like edges and textures, making them more pronounced.</a:t>
            </a:r>
            <a:endParaRPr lang="he-IL" dirty="0"/>
          </a:p>
        </p:txBody>
      </p:sp>
    </p:spTree>
    <p:extLst>
      <p:ext uri="{BB962C8B-B14F-4D97-AF65-F5344CB8AC3E}">
        <p14:creationId xmlns:p14="http://schemas.microsoft.com/office/powerpoint/2010/main" val="8971921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9</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35</a:t>
            </a:fld>
            <a:endParaRPr lang="he-IL" sz="1600" dirty="0"/>
          </a:p>
        </p:txBody>
      </p:sp>
      <p:pic>
        <p:nvPicPr>
          <p:cNvPr id="3" name="Picture 2">
            <a:extLst>
              <a:ext uri="{FF2B5EF4-FFF2-40B4-BE49-F238E27FC236}">
                <a16:creationId xmlns:a16="http://schemas.microsoft.com/office/drawing/2014/main" id="{3ED90198-009F-20C1-1148-B55EB6D77252}"/>
              </a:ext>
            </a:extLst>
          </p:cNvPr>
          <p:cNvPicPr>
            <a:picLocks noChangeAspect="1"/>
          </p:cNvPicPr>
          <p:nvPr/>
        </p:nvPicPr>
        <p:blipFill>
          <a:blip r:embed="rId2"/>
          <a:stretch>
            <a:fillRect/>
          </a:stretch>
        </p:blipFill>
        <p:spPr>
          <a:xfrm>
            <a:off x="0" y="1405039"/>
            <a:ext cx="8829675" cy="1771650"/>
          </a:xfrm>
          <a:prstGeom prst="rect">
            <a:avLst/>
          </a:prstGeom>
        </p:spPr>
      </p:pic>
      <p:sp>
        <p:nvSpPr>
          <p:cNvPr id="6" name="Rectangle 5">
            <a:extLst>
              <a:ext uri="{FF2B5EF4-FFF2-40B4-BE49-F238E27FC236}">
                <a16:creationId xmlns:a16="http://schemas.microsoft.com/office/drawing/2014/main" id="{866246C0-3AF6-1CEC-48D8-964A28878924}"/>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1609395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10</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36</a:t>
            </a:fld>
            <a:endParaRPr lang="he-IL" sz="1600" dirty="0"/>
          </a:p>
        </p:txBody>
      </p:sp>
      <p:pic>
        <p:nvPicPr>
          <p:cNvPr id="3" name="Picture 2">
            <a:extLst>
              <a:ext uri="{FF2B5EF4-FFF2-40B4-BE49-F238E27FC236}">
                <a16:creationId xmlns:a16="http://schemas.microsoft.com/office/drawing/2014/main" id="{627E1C78-E60F-EBCD-77F3-F0924BD720AA}"/>
              </a:ext>
            </a:extLst>
          </p:cNvPr>
          <p:cNvPicPr>
            <a:picLocks noChangeAspect="1"/>
          </p:cNvPicPr>
          <p:nvPr/>
        </p:nvPicPr>
        <p:blipFill>
          <a:blip r:embed="rId2"/>
          <a:stretch>
            <a:fillRect/>
          </a:stretch>
        </p:blipFill>
        <p:spPr>
          <a:xfrm>
            <a:off x="0" y="1382847"/>
            <a:ext cx="8724900" cy="1971675"/>
          </a:xfrm>
          <a:prstGeom prst="rect">
            <a:avLst/>
          </a:prstGeom>
        </p:spPr>
      </p:pic>
      <p:sp>
        <p:nvSpPr>
          <p:cNvPr id="6" name="Rectangle 5">
            <a:extLst>
              <a:ext uri="{FF2B5EF4-FFF2-40B4-BE49-F238E27FC236}">
                <a16:creationId xmlns:a16="http://schemas.microsoft.com/office/drawing/2014/main" id="{7E3CF717-565B-F0F0-F639-E5F5C429EA10}"/>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2374102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37</a:t>
            </a:fld>
            <a:endParaRPr lang="he-IL" sz="1600" dirty="0"/>
          </a:p>
        </p:txBody>
      </p:sp>
      <p:pic>
        <p:nvPicPr>
          <p:cNvPr id="7" name="Picture 6">
            <a:extLst>
              <a:ext uri="{FF2B5EF4-FFF2-40B4-BE49-F238E27FC236}">
                <a16:creationId xmlns:a16="http://schemas.microsoft.com/office/drawing/2014/main" id="{C7A49728-1D00-4BB0-EF29-B2BC2505DF2A}"/>
              </a:ext>
            </a:extLst>
          </p:cNvPr>
          <p:cNvPicPr>
            <a:picLocks noChangeAspect="1"/>
          </p:cNvPicPr>
          <p:nvPr/>
        </p:nvPicPr>
        <p:blipFill>
          <a:blip r:embed="rId2"/>
          <a:stretch>
            <a:fillRect/>
          </a:stretch>
        </p:blipFill>
        <p:spPr>
          <a:xfrm>
            <a:off x="0" y="1628775"/>
            <a:ext cx="8867775" cy="1800225"/>
          </a:xfrm>
          <a:prstGeom prst="rect">
            <a:avLst/>
          </a:prstGeom>
        </p:spPr>
      </p:pic>
      <p:sp>
        <p:nvSpPr>
          <p:cNvPr id="8" name="Rectangle 7">
            <a:extLst>
              <a:ext uri="{FF2B5EF4-FFF2-40B4-BE49-F238E27FC236}">
                <a16:creationId xmlns:a16="http://schemas.microsoft.com/office/drawing/2014/main" id="{7026CBEA-7D31-7674-D55E-27ED9BE9017D}"/>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4074857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9B76B4D-532F-8AE3-DF36-70B3AC6CAF88}"/>
              </a:ext>
            </a:extLst>
          </p:cNvPr>
          <p:cNvPicPr>
            <a:picLocks noChangeAspect="1"/>
          </p:cNvPicPr>
          <p:nvPr/>
        </p:nvPicPr>
        <p:blipFill>
          <a:blip r:embed="rId2"/>
          <a:stretch>
            <a:fillRect/>
          </a:stretch>
        </p:blipFill>
        <p:spPr>
          <a:xfrm>
            <a:off x="1" y="900499"/>
            <a:ext cx="11157626" cy="5957500"/>
          </a:xfrm>
          <a:prstGeom prst="rect">
            <a:avLst/>
          </a:prstGeom>
        </p:spPr>
      </p:pic>
      <p:sp>
        <p:nvSpPr>
          <p:cNvPr id="6" name="Google Shape;60;p14">
            <a:extLst>
              <a:ext uri="{FF2B5EF4-FFF2-40B4-BE49-F238E27FC236}">
                <a16:creationId xmlns:a16="http://schemas.microsoft.com/office/drawing/2014/main" id="{38C3A168-C588-C557-1CBF-5D4677290E2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12</a:t>
            </a:r>
          </a:p>
          <a:p>
            <a:pPr algn="ctr"/>
            <a:endParaRPr lang="en-US" sz="2000" b="1" u="sng" dirty="0">
              <a:solidFill>
                <a:srgbClr val="FF0000"/>
              </a:solidFill>
            </a:endParaRPr>
          </a:p>
        </p:txBody>
      </p:sp>
    </p:spTree>
    <p:extLst>
      <p:ext uri="{BB962C8B-B14F-4D97-AF65-F5344CB8AC3E}">
        <p14:creationId xmlns:p14="http://schemas.microsoft.com/office/powerpoint/2010/main" val="13705957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60;p14">
            <a:extLst>
              <a:ext uri="{FF2B5EF4-FFF2-40B4-BE49-F238E27FC236}">
                <a16:creationId xmlns:a16="http://schemas.microsoft.com/office/drawing/2014/main" id="{38C3A168-C588-C557-1CBF-5D4677290E2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12</a:t>
            </a:r>
          </a:p>
          <a:p>
            <a:pPr algn="ctr"/>
            <a:endParaRPr lang="en-US" sz="2000" b="1" u="sng" dirty="0">
              <a:solidFill>
                <a:srgbClr val="FF0000"/>
              </a:solidFill>
            </a:endParaRPr>
          </a:p>
        </p:txBody>
      </p:sp>
      <p:pic>
        <p:nvPicPr>
          <p:cNvPr id="3" name="Picture 2">
            <a:extLst>
              <a:ext uri="{FF2B5EF4-FFF2-40B4-BE49-F238E27FC236}">
                <a16:creationId xmlns:a16="http://schemas.microsoft.com/office/drawing/2014/main" id="{39E4AE42-09BA-831A-88D8-6EB37C5E3BD0}"/>
              </a:ext>
            </a:extLst>
          </p:cNvPr>
          <p:cNvPicPr>
            <a:picLocks noChangeAspect="1"/>
          </p:cNvPicPr>
          <p:nvPr/>
        </p:nvPicPr>
        <p:blipFill>
          <a:blip r:embed="rId2"/>
          <a:stretch>
            <a:fillRect/>
          </a:stretch>
        </p:blipFill>
        <p:spPr>
          <a:xfrm>
            <a:off x="0" y="955305"/>
            <a:ext cx="11021438" cy="5902695"/>
          </a:xfrm>
          <a:prstGeom prst="rect">
            <a:avLst/>
          </a:prstGeom>
        </p:spPr>
      </p:pic>
    </p:spTree>
    <p:extLst>
      <p:ext uri="{BB962C8B-B14F-4D97-AF65-F5344CB8AC3E}">
        <p14:creationId xmlns:p14="http://schemas.microsoft.com/office/powerpoint/2010/main" val="38117617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MP2.5 – restoration of the blurred images created using FFT using one “enhancing HPF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40</a:t>
            </a:fld>
            <a:endParaRPr lang="he-IL" sz="1600" dirty="0"/>
          </a:p>
        </p:txBody>
      </p:sp>
      <p:pic>
        <p:nvPicPr>
          <p:cNvPr id="2" name="Picture 1" descr="A number of numbers and text&#10;&#10;Description automatically generated with medium confidence">
            <a:extLst>
              <a:ext uri="{FF2B5EF4-FFF2-40B4-BE49-F238E27FC236}">
                <a16:creationId xmlns:a16="http://schemas.microsoft.com/office/drawing/2014/main" id="{10FBD685-BC0B-147A-8BBE-B190E5137F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10442"/>
            <a:ext cx="6096000" cy="4572000"/>
          </a:xfrm>
          <a:prstGeom prst="rect">
            <a:avLst/>
          </a:prstGeom>
          <a:ln>
            <a:solidFill>
              <a:schemeClr val="tx1"/>
            </a:solidFill>
          </a:ln>
        </p:spPr>
      </p:pic>
      <p:sp>
        <p:nvSpPr>
          <p:cNvPr id="3" name="TextBox 2">
            <a:extLst>
              <a:ext uri="{FF2B5EF4-FFF2-40B4-BE49-F238E27FC236}">
                <a16:creationId xmlns:a16="http://schemas.microsoft.com/office/drawing/2014/main" id="{A9326506-EC29-FA92-001D-7AC8C0D3F51C}"/>
              </a:ext>
            </a:extLst>
          </p:cNvPr>
          <p:cNvSpPr txBox="1"/>
          <p:nvPr/>
        </p:nvSpPr>
        <p:spPr>
          <a:xfrm>
            <a:off x="836579" y="1047209"/>
            <a:ext cx="4883285"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a:t>
            </a:r>
            <a:r>
              <a:rPr lang="en-US" dirty="0"/>
              <a:t>F.bmp – the blurred image through FFT</a:t>
            </a:r>
            <a:endParaRPr lang="he-IL" dirty="0"/>
          </a:p>
        </p:txBody>
      </p:sp>
      <p:sp>
        <p:nvSpPr>
          <p:cNvPr id="8" name="Arrow: Curved Up 7">
            <a:extLst>
              <a:ext uri="{FF2B5EF4-FFF2-40B4-BE49-F238E27FC236}">
                <a16:creationId xmlns:a16="http://schemas.microsoft.com/office/drawing/2014/main" id="{45D88FBB-0A76-8A48-7381-4AD6944D7A56}"/>
              </a:ext>
            </a:extLst>
          </p:cNvPr>
          <p:cNvSpPr/>
          <p:nvPr/>
        </p:nvSpPr>
        <p:spPr>
          <a:xfrm>
            <a:off x="5612860" y="6176343"/>
            <a:ext cx="1536970" cy="593387"/>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25617708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MP2.5 – restoration of the blurred images created using FFT using one “enhancing HPF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41</a:t>
            </a:fld>
            <a:endParaRPr lang="he-IL" sz="1600" dirty="0"/>
          </a:p>
        </p:txBody>
      </p:sp>
      <p:sp>
        <p:nvSpPr>
          <p:cNvPr id="3" name="TextBox 2">
            <a:extLst>
              <a:ext uri="{FF2B5EF4-FFF2-40B4-BE49-F238E27FC236}">
                <a16:creationId xmlns:a16="http://schemas.microsoft.com/office/drawing/2014/main" id="{A9326506-EC29-FA92-001D-7AC8C0D3F51C}"/>
              </a:ext>
            </a:extLst>
          </p:cNvPr>
          <p:cNvSpPr txBox="1"/>
          <p:nvPr/>
        </p:nvSpPr>
        <p:spPr>
          <a:xfrm>
            <a:off x="836579" y="1047209"/>
            <a:ext cx="4883285"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a:t>
            </a:r>
            <a:r>
              <a:rPr lang="en-US" dirty="0"/>
              <a:t>2</a:t>
            </a:r>
            <a:r>
              <a:rPr lang="he-IL" dirty="0"/>
              <a:t>LPF</a:t>
            </a:r>
            <a:r>
              <a:rPr lang="en-US" dirty="0"/>
              <a:t>F.bmp – the blurred image through FFT</a:t>
            </a:r>
            <a:endParaRPr lang="he-IL" dirty="0"/>
          </a:p>
        </p:txBody>
      </p:sp>
      <p:sp>
        <p:nvSpPr>
          <p:cNvPr id="8" name="Arrow: Curved Up 7">
            <a:extLst>
              <a:ext uri="{FF2B5EF4-FFF2-40B4-BE49-F238E27FC236}">
                <a16:creationId xmlns:a16="http://schemas.microsoft.com/office/drawing/2014/main" id="{45D88FBB-0A76-8A48-7381-4AD6944D7A56}"/>
              </a:ext>
            </a:extLst>
          </p:cNvPr>
          <p:cNvSpPr/>
          <p:nvPr/>
        </p:nvSpPr>
        <p:spPr>
          <a:xfrm>
            <a:off x="5612860" y="6176343"/>
            <a:ext cx="1536970" cy="593387"/>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pic>
        <p:nvPicPr>
          <p:cNvPr id="7" name="Picture 6" descr="A black and white circular object&#10;&#10;Description automatically generated">
            <a:extLst>
              <a:ext uri="{FF2B5EF4-FFF2-40B4-BE49-F238E27FC236}">
                <a16:creationId xmlns:a16="http://schemas.microsoft.com/office/drawing/2014/main" id="{A0B00207-836B-531A-87B8-B9CF02CC20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10441"/>
            <a:ext cx="6096000" cy="4572000"/>
          </a:xfrm>
          <a:prstGeom prst="rect">
            <a:avLst/>
          </a:prstGeom>
        </p:spPr>
      </p:pic>
    </p:spTree>
    <p:extLst>
      <p:ext uri="{BB962C8B-B14F-4D97-AF65-F5344CB8AC3E}">
        <p14:creationId xmlns:p14="http://schemas.microsoft.com/office/powerpoint/2010/main" val="36720308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2972</TotalTime>
  <Words>2734</Words>
  <Application>Microsoft Office PowerPoint</Application>
  <PresentationFormat>Widescreen</PresentationFormat>
  <Paragraphs>224</Paragraphs>
  <Slides>41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omri pony</cp:lastModifiedBy>
  <cp:revision>34</cp:revision>
  <dcterms:created xsi:type="dcterms:W3CDTF">2024-08-21T11:57:32Z</dcterms:created>
  <dcterms:modified xsi:type="dcterms:W3CDTF">2024-08-27T06:22:39Z</dcterms:modified>
</cp:coreProperties>
</file>