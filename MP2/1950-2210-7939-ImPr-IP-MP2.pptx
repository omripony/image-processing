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7" r:id="rId2"/>
    <p:sldId id="258" r:id="rId3"/>
    <p:sldId id="259" r:id="rId4"/>
    <p:sldId id="260" r:id="rId5"/>
    <p:sldId id="288" r:id="rId6"/>
    <p:sldId id="289" r:id="rId7"/>
    <p:sldId id="261" r:id="rId8"/>
    <p:sldId id="262" r:id="rId9"/>
    <p:sldId id="263" r:id="rId10"/>
    <p:sldId id="264" r:id="rId11"/>
    <p:sldId id="266" r:id="rId12"/>
    <p:sldId id="268" r:id="rId13"/>
    <p:sldId id="270" r:id="rId14"/>
    <p:sldId id="318" r:id="rId15"/>
    <p:sldId id="269" r:id="rId16"/>
    <p:sldId id="271" r:id="rId17"/>
    <p:sldId id="319" r:id="rId18"/>
    <p:sldId id="321" r:id="rId19"/>
    <p:sldId id="322" r:id="rId20"/>
    <p:sldId id="272" r:id="rId21"/>
    <p:sldId id="320" r:id="rId22"/>
    <p:sldId id="323" r:id="rId23"/>
    <p:sldId id="273" r:id="rId24"/>
    <p:sldId id="290" r:id="rId25"/>
    <p:sldId id="291" r:id="rId26"/>
    <p:sldId id="324" r:id="rId27"/>
    <p:sldId id="292" r:id="rId28"/>
    <p:sldId id="293" r:id="rId29"/>
    <p:sldId id="294" r:id="rId30"/>
    <p:sldId id="295" r:id="rId31"/>
    <p:sldId id="325" r:id="rId32"/>
    <p:sldId id="296" r:id="rId33"/>
    <p:sldId id="297" r:id="rId34"/>
    <p:sldId id="298" r:id="rId35"/>
    <p:sldId id="299" r:id="rId36"/>
    <p:sldId id="300" r:id="rId37"/>
    <p:sldId id="301" r:id="rId38"/>
    <p:sldId id="326" r:id="rId39"/>
    <p:sldId id="304" r:id="rId40"/>
    <p:sldId id="310" r:id="rId41"/>
    <p:sldId id="327" r:id="rId42"/>
    <p:sldId id="308" r:id="rId43"/>
    <p:sldId id="309" r:id="rId44"/>
    <p:sldId id="313" r:id="rId45"/>
    <p:sldId id="328" r:id="rId46"/>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E687A6BE-6B40-4876-A71E-964C5C1B790A}" type="datetimeFigureOut">
              <a:rPr lang="he-IL" smtClean="0"/>
              <a:t>י"ב/אלול/תשפ"ד</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4163BB08-072F-4A32-B43D-B380A3784E1F}" type="slidenum">
              <a:rPr lang="he-IL" smtClean="0"/>
              <a:t>‹#›</a:t>
            </a:fld>
            <a:endParaRPr lang="he-IL"/>
          </a:p>
        </p:txBody>
      </p:sp>
    </p:spTree>
    <p:extLst>
      <p:ext uri="{BB962C8B-B14F-4D97-AF65-F5344CB8AC3E}">
        <p14:creationId xmlns:p14="http://schemas.microsoft.com/office/powerpoint/2010/main" val="428207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4163BB08-072F-4A32-B43D-B380A3784E1F}" type="slidenum">
              <a:rPr lang="he-IL" smtClean="0"/>
              <a:t>3</a:t>
            </a:fld>
            <a:endParaRPr lang="he-IL"/>
          </a:p>
        </p:txBody>
      </p:sp>
    </p:spTree>
    <p:extLst>
      <p:ext uri="{BB962C8B-B14F-4D97-AF65-F5344CB8AC3E}">
        <p14:creationId xmlns:p14="http://schemas.microsoft.com/office/powerpoint/2010/main" val="3450904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4163BB08-072F-4A32-B43D-B380A3784E1F}" type="slidenum">
              <a:rPr lang="he-IL" smtClean="0"/>
              <a:t>5</a:t>
            </a:fld>
            <a:endParaRPr lang="he-IL"/>
          </a:p>
        </p:txBody>
      </p:sp>
    </p:spTree>
    <p:extLst>
      <p:ext uri="{BB962C8B-B14F-4D97-AF65-F5344CB8AC3E}">
        <p14:creationId xmlns:p14="http://schemas.microsoft.com/office/powerpoint/2010/main" val="39864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4163BB08-072F-4A32-B43D-B380A3784E1F}" type="slidenum">
              <a:rPr lang="he-IL" smtClean="0"/>
              <a:t>9</a:t>
            </a:fld>
            <a:endParaRPr lang="he-IL"/>
          </a:p>
        </p:txBody>
      </p:sp>
    </p:spTree>
    <p:extLst>
      <p:ext uri="{BB962C8B-B14F-4D97-AF65-F5344CB8AC3E}">
        <p14:creationId xmlns:p14="http://schemas.microsoft.com/office/powerpoint/2010/main" val="11846516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4163BB08-072F-4A32-B43D-B380A3784E1F}" type="slidenum">
              <a:rPr lang="he-IL" smtClean="0"/>
              <a:t>11</a:t>
            </a:fld>
            <a:endParaRPr lang="he-IL"/>
          </a:p>
        </p:txBody>
      </p:sp>
    </p:spTree>
    <p:extLst>
      <p:ext uri="{BB962C8B-B14F-4D97-AF65-F5344CB8AC3E}">
        <p14:creationId xmlns:p14="http://schemas.microsoft.com/office/powerpoint/2010/main" val="8525497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4163BB08-072F-4A32-B43D-B380A3784E1F}" type="slidenum">
              <a:rPr lang="he-IL" smtClean="0"/>
              <a:t>18</a:t>
            </a:fld>
            <a:endParaRPr lang="he-IL"/>
          </a:p>
        </p:txBody>
      </p:sp>
    </p:spTree>
    <p:extLst>
      <p:ext uri="{BB962C8B-B14F-4D97-AF65-F5344CB8AC3E}">
        <p14:creationId xmlns:p14="http://schemas.microsoft.com/office/powerpoint/2010/main" val="4087348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4163BB08-072F-4A32-B43D-B380A3784E1F}" type="slidenum">
              <a:rPr lang="he-IL" smtClean="0"/>
              <a:t>28</a:t>
            </a:fld>
            <a:endParaRPr lang="he-IL"/>
          </a:p>
        </p:txBody>
      </p:sp>
    </p:spTree>
    <p:extLst>
      <p:ext uri="{BB962C8B-B14F-4D97-AF65-F5344CB8AC3E}">
        <p14:creationId xmlns:p14="http://schemas.microsoft.com/office/powerpoint/2010/main" val="1360974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4163BB08-072F-4A32-B43D-B380A3784E1F}" type="slidenum">
              <a:rPr lang="he-IL" smtClean="0"/>
              <a:t>30</a:t>
            </a:fld>
            <a:endParaRPr lang="he-IL"/>
          </a:p>
        </p:txBody>
      </p:sp>
    </p:spTree>
    <p:extLst>
      <p:ext uri="{BB962C8B-B14F-4D97-AF65-F5344CB8AC3E}">
        <p14:creationId xmlns:p14="http://schemas.microsoft.com/office/powerpoint/2010/main" val="3725104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26FF2-8D14-F99C-D58F-717A4E9845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DDC57680-4C6F-E747-2BDF-8590B41E54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D147D3ED-9530-B34D-9562-34E1A8A87C0E}"/>
              </a:ext>
            </a:extLst>
          </p:cNvPr>
          <p:cNvSpPr>
            <a:spLocks noGrp="1"/>
          </p:cNvSpPr>
          <p:nvPr>
            <p:ph type="dt" sz="half" idx="10"/>
          </p:nvPr>
        </p:nvSpPr>
        <p:spPr/>
        <p:txBody>
          <a:bodyPr/>
          <a:lstStyle/>
          <a:p>
            <a:fld id="{65D837E2-37D5-4833-9345-4D93E085864D}" type="datetimeFigureOut">
              <a:rPr lang="he-IL" smtClean="0"/>
              <a:t>י"ב/אלול/תשפ"ד</a:t>
            </a:fld>
            <a:endParaRPr lang="he-IL"/>
          </a:p>
        </p:txBody>
      </p:sp>
      <p:sp>
        <p:nvSpPr>
          <p:cNvPr id="5" name="Footer Placeholder 4">
            <a:extLst>
              <a:ext uri="{FF2B5EF4-FFF2-40B4-BE49-F238E27FC236}">
                <a16:creationId xmlns:a16="http://schemas.microsoft.com/office/drawing/2014/main" id="{A4EE62B1-CCE0-D4C1-477A-2F7540C99A2D}"/>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1DF73B8B-3958-F4EA-2519-77C95235D287}"/>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2971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2E1A5-49D9-41EB-A79F-DA16EBDDFD46}"/>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9C71FA8F-FA0A-B244-0C9C-E196FE763E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C860A2DD-4915-F5A0-3242-BD8F3427D000}"/>
              </a:ext>
            </a:extLst>
          </p:cNvPr>
          <p:cNvSpPr>
            <a:spLocks noGrp="1"/>
          </p:cNvSpPr>
          <p:nvPr>
            <p:ph type="dt" sz="half" idx="10"/>
          </p:nvPr>
        </p:nvSpPr>
        <p:spPr/>
        <p:txBody>
          <a:bodyPr/>
          <a:lstStyle/>
          <a:p>
            <a:fld id="{65D837E2-37D5-4833-9345-4D93E085864D}" type="datetimeFigureOut">
              <a:rPr lang="he-IL" smtClean="0"/>
              <a:t>י"ב/אלול/תשפ"ד</a:t>
            </a:fld>
            <a:endParaRPr lang="he-IL"/>
          </a:p>
        </p:txBody>
      </p:sp>
      <p:sp>
        <p:nvSpPr>
          <p:cNvPr id="5" name="Footer Placeholder 4">
            <a:extLst>
              <a:ext uri="{FF2B5EF4-FFF2-40B4-BE49-F238E27FC236}">
                <a16:creationId xmlns:a16="http://schemas.microsoft.com/office/drawing/2014/main" id="{635F7590-7F70-50A3-F326-D9FAFD5B4987}"/>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6C94C236-30FC-7FAD-2435-84043BB88BDB}"/>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3160350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DE4A1-4FF8-5740-5CF1-0833969FEF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001AE398-F7B2-5EE4-8ECF-E2D8306980E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A7F804-01D5-A924-1FBB-0D59240D53D1}"/>
              </a:ext>
            </a:extLst>
          </p:cNvPr>
          <p:cNvSpPr>
            <a:spLocks noGrp="1"/>
          </p:cNvSpPr>
          <p:nvPr>
            <p:ph type="dt" sz="half" idx="10"/>
          </p:nvPr>
        </p:nvSpPr>
        <p:spPr/>
        <p:txBody>
          <a:bodyPr/>
          <a:lstStyle/>
          <a:p>
            <a:fld id="{65D837E2-37D5-4833-9345-4D93E085864D}" type="datetimeFigureOut">
              <a:rPr lang="he-IL" smtClean="0"/>
              <a:t>י"ב/אלול/תשפ"ד</a:t>
            </a:fld>
            <a:endParaRPr lang="he-IL"/>
          </a:p>
        </p:txBody>
      </p:sp>
      <p:sp>
        <p:nvSpPr>
          <p:cNvPr id="5" name="Footer Placeholder 4">
            <a:extLst>
              <a:ext uri="{FF2B5EF4-FFF2-40B4-BE49-F238E27FC236}">
                <a16:creationId xmlns:a16="http://schemas.microsoft.com/office/drawing/2014/main" id="{ACC949D2-7FD3-ACE3-408F-D40BC23AA2B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7BCE0599-5AF5-935E-C506-F7961BF79030}"/>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3494220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E82C5-CD86-584C-DE57-631798958BDF}"/>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19480EA4-E2DB-9CA1-192F-ED36A5E160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AEF6AD8F-029C-B90E-6A8D-66716A9F91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9C2C5F17-BA1D-0623-A7FC-BCF8E34E2959}"/>
              </a:ext>
            </a:extLst>
          </p:cNvPr>
          <p:cNvSpPr>
            <a:spLocks noGrp="1"/>
          </p:cNvSpPr>
          <p:nvPr>
            <p:ph type="dt" sz="half" idx="10"/>
          </p:nvPr>
        </p:nvSpPr>
        <p:spPr/>
        <p:txBody>
          <a:bodyPr/>
          <a:lstStyle/>
          <a:p>
            <a:fld id="{65D837E2-37D5-4833-9345-4D93E085864D}" type="datetimeFigureOut">
              <a:rPr lang="he-IL" smtClean="0"/>
              <a:t>י"ב/אלול/תשפ"ד</a:t>
            </a:fld>
            <a:endParaRPr lang="he-IL"/>
          </a:p>
        </p:txBody>
      </p:sp>
      <p:sp>
        <p:nvSpPr>
          <p:cNvPr id="6" name="Footer Placeholder 5">
            <a:extLst>
              <a:ext uri="{FF2B5EF4-FFF2-40B4-BE49-F238E27FC236}">
                <a16:creationId xmlns:a16="http://schemas.microsoft.com/office/drawing/2014/main" id="{56E86B00-FE9B-6F48-D394-F57CA3CFCAF2}"/>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0115EEB3-8BC0-306A-405C-8D19049F17FE}"/>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983808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A0307-08AA-4771-3889-D6A00DEF1905}"/>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3FF60422-8AF7-4553-A185-3E8DDC489D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96D6A0-CC8C-4CBF-2306-A0F19865A0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28D7841F-9996-1C5D-C683-23E12A7301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AB1BEB-943F-0A13-1285-D27C6E74B7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F91462BD-B39C-0419-6541-CD4C2D02E65F}"/>
              </a:ext>
            </a:extLst>
          </p:cNvPr>
          <p:cNvSpPr>
            <a:spLocks noGrp="1"/>
          </p:cNvSpPr>
          <p:nvPr>
            <p:ph type="dt" sz="half" idx="10"/>
          </p:nvPr>
        </p:nvSpPr>
        <p:spPr/>
        <p:txBody>
          <a:bodyPr/>
          <a:lstStyle/>
          <a:p>
            <a:fld id="{65D837E2-37D5-4833-9345-4D93E085864D}" type="datetimeFigureOut">
              <a:rPr lang="he-IL" smtClean="0"/>
              <a:t>י"ב/אלול/תשפ"ד</a:t>
            </a:fld>
            <a:endParaRPr lang="he-IL"/>
          </a:p>
        </p:txBody>
      </p:sp>
      <p:sp>
        <p:nvSpPr>
          <p:cNvPr id="8" name="Footer Placeholder 7">
            <a:extLst>
              <a:ext uri="{FF2B5EF4-FFF2-40B4-BE49-F238E27FC236}">
                <a16:creationId xmlns:a16="http://schemas.microsoft.com/office/drawing/2014/main" id="{228DD70C-4D8B-3B2B-AC64-B1361A8099CD}"/>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DE14C33E-5AFE-8F81-8C5A-5CB09E18F7A3}"/>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3689450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AA66A-AB61-5E96-92DD-C7A08869AC5D}"/>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0A727257-5FB4-5023-3B78-B1B1BE2474BB}"/>
              </a:ext>
            </a:extLst>
          </p:cNvPr>
          <p:cNvSpPr>
            <a:spLocks noGrp="1"/>
          </p:cNvSpPr>
          <p:nvPr>
            <p:ph type="dt" sz="half" idx="10"/>
          </p:nvPr>
        </p:nvSpPr>
        <p:spPr/>
        <p:txBody>
          <a:bodyPr/>
          <a:lstStyle/>
          <a:p>
            <a:fld id="{65D837E2-37D5-4833-9345-4D93E085864D}" type="datetimeFigureOut">
              <a:rPr lang="he-IL" smtClean="0"/>
              <a:t>י"ב/אלול/תשפ"ד</a:t>
            </a:fld>
            <a:endParaRPr lang="he-IL"/>
          </a:p>
        </p:txBody>
      </p:sp>
      <p:sp>
        <p:nvSpPr>
          <p:cNvPr id="4" name="Footer Placeholder 3">
            <a:extLst>
              <a:ext uri="{FF2B5EF4-FFF2-40B4-BE49-F238E27FC236}">
                <a16:creationId xmlns:a16="http://schemas.microsoft.com/office/drawing/2014/main" id="{A70828C7-D99A-94FB-912B-6C2A292EFC7B}"/>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A9719A4D-3AE8-9522-0F70-A790ADEE1C96}"/>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1771451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2F6D2A-BDB6-7FC4-76D1-A80D4CB94857}"/>
              </a:ext>
            </a:extLst>
          </p:cNvPr>
          <p:cNvSpPr>
            <a:spLocks noGrp="1"/>
          </p:cNvSpPr>
          <p:nvPr>
            <p:ph type="dt" sz="half" idx="10"/>
          </p:nvPr>
        </p:nvSpPr>
        <p:spPr/>
        <p:txBody>
          <a:bodyPr/>
          <a:lstStyle/>
          <a:p>
            <a:fld id="{65D837E2-37D5-4833-9345-4D93E085864D}" type="datetimeFigureOut">
              <a:rPr lang="he-IL" smtClean="0"/>
              <a:t>י"ב/אלול/תשפ"ד</a:t>
            </a:fld>
            <a:endParaRPr lang="he-IL"/>
          </a:p>
        </p:txBody>
      </p:sp>
      <p:sp>
        <p:nvSpPr>
          <p:cNvPr id="3" name="Footer Placeholder 2">
            <a:extLst>
              <a:ext uri="{FF2B5EF4-FFF2-40B4-BE49-F238E27FC236}">
                <a16:creationId xmlns:a16="http://schemas.microsoft.com/office/drawing/2014/main" id="{DF8A1A6C-F074-D970-2450-0E1FDA9BBBCB}"/>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E61688E3-E8D2-DAEC-FA30-CF49AF493C13}"/>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4152324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EB787-B2EF-8F1D-27D1-C95E55DB79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9252263F-CA78-4885-BCF8-BD978E6E71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4C803C21-04CD-0817-23E9-F4CA539482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B1B864-6AFF-4E99-2348-6DE71F3E73BC}"/>
              </a:ext>
            </a:extLst>
          </p:cNvPr>
          <p:cNvSpPr>
            <a:spLocks noGrp="1"/>
          </p:cNvSpPr>
          <p:nvPr>
            <p:ph type="dt" sz="half" idx="10"/>
          </p:nvPr>
        </p:nvSpPr>
        <p:spPr/>
        <p:txBody>
          <a:bodyPr/>
          <a:lstStyle/>
          <a:p>
            <a:fld id="{65D837E2-37D5-4833-9345-4D93E085864D}" type="datetimeFigureOut">
              <a:rPr lang="he-IL" smtClean="0"/>
              <a:t>י"ב/אלול/תשפ"ד</a:t>
            </a:fld>
            <a:endParaRPr lang="he-IL"/>
          </a:p>
        </p:txBody>
      </p:sp>
      <p:sp>
        <p:nvSpPr>
          <p:cNvPr id="6" name="Footer Placeholder 5">
            <a:extLst>
              <a:ext uri="{FF2B5EF4-FFF2-40B4-BE49-F238E27FC236}">
                <a16:creationId xmlns:a16="http://schemas.microsoft.com/office/drawing/2014/main" id="{2D7A018A-0709-4077-5284-24785BFB82FC}"/>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F6F27777-E42C-6467-78E0-6B33DE26D984}"/>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224654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E0663-4F4D-5AE7-4917-C4A4435616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BD94AD4A-5A97-527A-94FE-425C0DC067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8ADD5137-97D5-5110-513F-6DECF5E6EC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28E252-0737-6BE1-F68A-E6339B96E212}"/>
              </a:ext>
            </a:extLst>
          </p:cNvPr>
          <p:cNvSpPr>
            <a:spLocks noGrp="1"/>
          </p:cNvSpPr>
          <p:nvPr>
            <p:ph type="dt" sz="half" idx="10"/>
          </p:nvPr>
        </p:nvSpPr>
        <p:spPr/>
        <p:txBody>
          <a:bodyPr/>
          <a:lstStyle/>
          <a:p>
            <a:fld id="{65D837E2-37D5-4833-9345-4D93E085864D}" type="datetimeFigureOut">
              <a:rPr lang="he-IL" smtClean="0"/>
              <a:t>י"ב/אלול/תשפ"ד</a:t>
            </a:fld>
            <a:endParaRPr lang="he-IL"/>
          </a:p>
        </p:txBody>
      </p:sp>
      <p:sp>
        <p:nvSpPr>
          <p:cNvPr id="6" name="Footer Placeholder 5">
            <a:extLst>
              <a:ext uri="{FF2B5EF4-FFF2-40B4-BE49-F238E27FC236}">
                <a16:creationId xmlns:a16="http://schemas.microsoft.com/office/drawing/2014/main" id="{13DE43ED-0126-D0FC-9298-D4035A4E8BA2}"/>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614D6086-3337-3385-A06F-977936F95FB7}"/>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3739524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6D61C-C682-0D7D-2D3B-034F1A2156DD}"/>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196E05F0-8426-30CE-DD23-AE5389C6FB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AC7AB35D-A822-329B-05F2-5FADCAF4F604}"/>
              </a:ext>
            </a:extLst>
          </p:cNvPr>
          <p:cNvSpPr>
            <a:spLocks noGrp="1"/>
          </p:cNvSpPr>
          <p:nvPr>
            <p:ph type="dt" sz="half" idx="10"/>
          </p:nvPr>
        </p:nvSpPr>
        <p:spPr/>
        <p:txBody>
          <a:bodyPr/>
          <a:lstStyle/>
          <a:p>
            <a:fld id="{65D837E2-37D5-4833-9345-4D93E085864D}" type="datetimeFigureOut">
              <a:rPr lang="he-IL" smtClean="0"/>
              <a:t>י"ב/אלול/תשפ"ד</a:t>
            </a:fld>
            <a:endParaRPr lang="he-IL"/>
          </a:p>
        </p:txBody>
      </p:sp>
      <p:sp>
        <p:nvSpPr>
          <p:cNvPr id="5" name="Footer Placeholder 4">
            <a:extLst>
              <a:ext uri="{FF2B5EF4-FFF2-40B4-BE49-F238E27FC236}">
                <a16:creationId xmlns:a16="http://schemas.microsoft.com/office/drawing/2014/main" id="{C5C3F99E-FE0C-C22C-3F74-46EF94178C2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DA61744F-C536-8045-19B7-7836EF9D066E}"/>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3009842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0FEEBA-D611-918C-67E5-7DFDEDCA12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763F4CB8-5C1C-11BE-8890-2E80A91E18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F27490B6-4EAD-9CD8-8407-5A4802CFE232}"/>
              </a:ext>
            </a:extLst>
          </p:cNvPr>
          <p:cNvSpPr>
            <a:spLocks noGrp="1"/>
          </p:cNvSpPr>
          <p:nvPr>
            <p:ph type="dt" sz="half" idx="10"/>
          </p:nvPr>
        </p:nvSpPr>
        <p:spPr/>
        <p:txBody>
          <a:bodyPr/>
          <a:lstStyle/>
          <a:p>
            <a:fld id="{65D837E2-37D5-4833-9345-4D93E085864D}" type="datetimeFigureOut">
              <a:rPr lang="he-IL" smtClean="0"/>
              <a:t>י"ב/אלול/תשפ"ד</a:t>
            </a:fld>
            <a:endParaRPr lang="he-IL"/>
          </a:p>
        </p:txBody>
      </p:sp>
      <p:sp>
        <p:nvSpPr>
          <p:cNvPr id="5" name="Footer Placeholder 4">
            <a:extLst>
              <a:ext uri="{FF2B5EF4-FFF2-40B4-BE49-F238E27FC236}">
                <a16:creationId xmlns:a16="http://schemas.microsoft.com/office/drawing/2014/main" id="{BD18B7A9-FD1B-953C-3013-3DD5530CF0AC}"/>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744F8676-C247-CF9A-8156-56BF624BE7C8}"/>
              </a:ext>
            </a:extLst>
          </p:cNvPr>
          <p:cNvSpPr>
            <a:spLocks noGrp="1"/>
          </p:cNvSpPr>
          <p:nvPr>
            <p:ph type="sldNum" sz="quarter" idx="12"/>
          </p:nvPr>
        </p:nvSpPr>
        <p:spPr/>
        <p:txBody>
          <a:bodyPr/>
          <a:lstStyle/>
          <a:p>
            <a:fld id="{3C59F542-7798-4398-84FF-BFF3125C04BE}" type="slidenum">
              <a:rPr lang="he-IL" smtClean="0"/>
              <a:t>‹#›</a:t>
            </a:fld>
            <a:endParaRPr lang="he-IL"/>
          </a:p>
        </p:txBody>
      </p:sp>
    </p:spTree>
    <p:extLst>
      <p:ext uri="{BB962C8B-B14F-4D97-AF65-F5344CB8AC3E}">
        <p14:creationId xmlns:p14="http://schemas.microsoft.com/office/powerpoint/2010/main" val="1201504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953A77-B665-E4DF-B8A0-A283DB083C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a:extLst>
              <a:ext uri="{FF2B5EF4-FFF2-40B4-BE49-F238E27FC236}">
                <a16:creationId xmlns:a16="http://schemas.microsoft.com/office/drawing/2014/main" id="{498950DA-8335-4AA3-B28B-D318B128C6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9D3E7BCE-12FF-E19A-77F8-7D08FB8255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D837E2-37D5-4833-9345-4D93E085864D}" type="datetimeFigureOut">
              <a:rPr lang="he-IL" smtClean="0"/>
              <a:t>י"ב/אלול/תשפ"ד</a:t>
            </a:fld>
            <a:endParaRPr lang="he-IL"/>
          </a:p>
        </p:txBody>
      </p:sp>
      <p:sp>
        <p:nvSpPr>
          <p:cNvPr id="5" name="Footer Placeholder 4">
            <a:extLst>
              <a:ext uri="{FF2B5EF4-FFF2-40B4-BE49-F238E27FC236}">
                <a16:creationId xmlns:a16="http://schemas.microsoft.com/office/drawing/2014/main" id="{0CCD66EF-45F8-EF43-317B-E6911180E0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e-IL"/>
          </a:p>
        </p:txBody>
      </p:sp>
      <p:sp>
        <p:nvSpPr>
          <p:cNvPr id="6" name="Slide Number Placeholder 5">
            <a:extLst>
              <a:ext uri="{FF2B5EF4-FFF2-40B4-BE49-F238E27FC236}">
                <a16:creationId xmlns:a16="http://schemas.microsoft.com/office/drawing/2014/main" id="{136033FB-FDA9-AF14-8116-08B629A72B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59F542-7798-4398-84FF-BFF3125C04BE}" type="slidenum">
              <a:rPr lang="he-IL" smtClean="0"/>
              <a:t>‹#›</a:t>
            </a:fld>
            <a:endParaRPr lang="he-IL"/>
          </a:p>
        </p:txBody>
      </p:sp>
    </p:spTree>
    <p:extLst>
      <p:ext uri="{BB962C8B-B14F-4D97-AF65-F5344CB8AC3E}">
        <p14:creationId xmlns:p14="http://schemas.microsoft.com/office/powerpoint/2010/main" val="1261555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3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89040994-C98F-94F7-5C25-8286D3B11EAF}"/>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1</a:t>
            </a:fld>
            <a:endParaRPr lang="he-IL" sz="1600" dirty="0"/>
          </a:p>
        </p:txBody>
      </p:sp>
      <p:graphicFrame>
        <p:nvGraphicFramePr>
          <p:cNvPr id="2" name="Table 1">
            <a:extLst>
              <a:ext uri="{FF2B5EF4-FFF2-40B4-BE49-F238E27FC236}">
                <a16:creationId xmlns:a16="http://schemas.microsoft.com/office/drawing/2014/main" id="{67320C74-0170-4209-911A-2E86279BDFC0}"/>
              </a:ext>
            </a:extLst>
          </p:cNvPr>
          <p:cNvGraphicFramePr>
            <a:graphicFrameLocks noGrp="1"/>
          </p:cNvGraphicFramePr>
          <p:nvPr/>
        </p:nvGraphicFramePr>
        <p:xfrm>
          <a:off x="505838" y="1443044"/>
          <a:ext cx="11373254" cy="5249585"/>
        </p:xfrm>
        <a:graphic>
          <a:graphicData uri="http://schemas.openxmlformats.org/drawingml/2006/table">
            <a:tbl>
              <a:tblPr rtl="1" firstRow="1" bandRow="1">
                <a:tableStyleId>{5940675A-B579-460E-94D1-54222C63F5DA}</a:tableStyleId>
              </a:tblPr>
              <a:tblGrid>
                <a:gridCol w="5839221">
                  <a:extLst>
                    <a:ext uri="{9D8B030D-6E8A-4147-A177-3AD203B41FA5}">
                      <a16:colId xmlns:a16="http://schemas.microsoft.com/office/drawing/2014/main" val="20000"/>
                    </a:ext>
                  </a:extLst>
                </a:gridCol>
                <a:gridCol w="1852689">
                  <a:extLst>
                    <a:ext uri="{9D8B030D-6E8A-4147-A177-3AD203B41FA5}">
                      <a16:colId xmlns:a16="http://schemas.microsoft.com/office/drawing/2014/main" val="20001"/>
                    </a:ext>
                  </a:extLst>
                </a:gridCol>
                <a:gridCol w="1945424">
                  <a:extLst>
                    <a:ext uri="{9D8B030D-6E8A-4147-A177-3AD203B41FA5}">
                      <a16:colId xmlns:a16="http://schemas.microsoft.com/office/drawing/2014/main" val="20002"/>
                    </a:ext>
                  </a:extLst>
                </a:gridCol>
                <a:gridCol w="1735920">
                  <a:extLst>
                    <a:ext uri="{9D8B030D-6E8A-4147-A177-3AD203B41FA5}">
                      <a16:colId xmlns:a16="http://schemas.microsoft.com/office/drawing/2014/main" val="20003"/>
                    </a:ext>
                  </a:extLst>
                </a:gridCol>
              </a:tblGrid>
              <a:tr h="379379">
                <a:tc>
                  <a:txBody>
                    <a:bodyPr/>
                    <a:lstStyle/>
                    <a:p>
                      <a:pPr algn="ctr" rtl="0"/>
                      <a:r>
                        <a:rPr lang="en-US" dirty="0"/>
                        <a:t>Photo of the student </a:t>
                      </a:r>
                      <a:endParaRPr lang="he-IL" dirty="0"/>
                    </a:p>
                  </a:txBody>
                  <a:tcPr/>
                </a:tc>
                <a:tc>
                  <a:txBody>
                    <a:bodyPr/>
                    <a:lstStyle/>
                    <a:p>
                      <a:pPr algn="l" rtl="0"/>
                      <a:r>
                        <a:rPr lang="en-US" dirty="0"/>
                        <a:t>Shorten Name</a:t>
                      </a:r>
                      <a:endParaRPr lang="he-IL" dirty="0"/>
                    </a:p>
                  </a:txBody>
                  <a:tcPr/>
                </a:tc>
                <a:tc>
                  <a:txBody>
                    <a:bodyPr/>
                    <a:lstStyle/>
                    <a:p>
                      <a:pPr algn="l" rtl="0"/>
                      <a:r>
                        <a:rPr lang="en-US" dirty="0"/>
                        <a:t>ID (4 last digits)</a:t>
                      </a:r>
                      <a:endParaRPr lang="he-IL" dirty="0"/>
                    </a:p>
                  </a:txBody>
                  <a:tcPr/>
                </a:tc>
                <a:tc>
                  <a:txBody>
                    <a:bodyPr/>
                    <a:lstStyle/>
                    <a:p>
                      <a:pPr algn="l" rtl="0"/>
                      <a:endParaRPr lang="he-IL" dirty="0"/>
                    </a:p>
                  </a:txBody>
                  <a:tcPr/>
                </a:tc>
                <a:extLst>
                  <a:ext uri="{0D108BD9-81ED-4DB2-BD59-A6C34878D82A}">
                    <a16:rowId xmlns:a16="http://schemas.microsoft.com/office/drawing/2014/main" val="10000"/>
                  </a:ext>
                </a:extLst>
              </a:tr>
              <a:tr h="1857983">
                <a:tc>
                  <a:txBody>
                    <a:bodyPr/>
                    <a:lstStyle/>
                    <a:p>
                      <a:pPr algn="l" rtl="0"/>
                      <a:endParaRPr lang="en-US" dirty="0"/>
                    </a:p>
                    <a:p>
                      <a:pPr algn="l" rtl="0"/>
                      <a:endParaRPr lang="en-US" dirty="0"/>
                    </a:p>
                    <a:p>
                      <a:pPr algn="l" rtl="0"/>
                      <a:endParaRPr lang="he-IL" dirty="0"/>
                    </a:p>
                  </a:txBody>
                  <a:tcPr/>
                </a:tc>
                <a:tc>
                  <a:txBody>
                    <a:bodyPr/>
                    <a:lstStyle/>
                    <a:p>
                      <a:pPr algn="l" rtl="0"/>
                      <a:r>
                        <a:rPr lang="en-US" dirty="0">
                          <a:solidFill>
                            <a:srgbClr val="FF0000"/>
                          </a:solidFill>
                        </a:rPr>
                        <a:t>shienfeld</a:t>
                      </a:r>
                      <a:endParaRPr lang="he-IL" dirty="0">
                        <a:solidFill>
                          <a:srgbClr val="FF0000"/>
                        </a:solidFill>
                      </a:endParaRPr>
                    </a:p>
                  </a:txBody>
                  <a:tcPr/>
                </a:tc>
                <a:tc>
                  <a:txBody>
                    <a:bodyPr/>
                    <a:lstStyle/>
                    <a:p>
                      <a:pPr algn="l" rtl="0"/>
                      <a:r>
                        <a:rPr lang="en-US" b="1" dirty="0">
                          <a:solidFill>
                            <a:srgbClr val="FF0000"/>
                          </a:solidFill>
                        </a:rPr>
                        <a:t>1950</a:t>
                      </a:r>
                      <a:endParaRPr lang="he-IL" b="1" dirty="0">
                        <a:solidFill>
                          <a:srgbClr val="FF0000"/>
                        </a:solidFill>
                      </a:endParaRPr>
                    </a:p>
                  </a:txBody>
                  <a:tcPr/>
                </a:tc>
                <a:tc>
                  <a:txBody>
                    <a:bodyPr/>
                    <a:lstStyle/>
                    <a:p>
                      <a:pPr algn="l" rtl="0"/>
                      <a:r>
                        <a:rPr lang="en-US" dirty="0"/>
                        <a:t>Student #1</a:t>
                      </a:r>
                      <a:endParaRPr lang="he-IL" dirty="0"/>
                    </a:p>
                  </a:txBody>
                  <a:tcPr/>
                </a:tc>
                <a:extLst>
                  <a:ext uri="{0D108BD9-81ED-4DB2-BD59-A6C34878D82A}">
                    <a16:rowId xmlns:a16="http://schemas.microsoft.com/office/drawing/2014/main" val="10001"/>
                  </a:ext>
                </a:extLst>
              </a:tr>
              <a:tr h="1381328">
                <a:tc>
                  <a:txBody>
                    <a:bodyPr/>
                    <a:lstStyle/>
                    <a:p>
                      <a:pPr algn="l" rtl="0"/>
                      <a:endParaRPr lang="en-US" dirty="0"/>
                    </a:p>
                    <a:p>
                      <a:pPr algn="l" rtl="0"/>
                      <a:endParaRPr lang="he-IL" dirty="0"/>
                    </a:p>
                  </a:txBody>
                  <a:tcPr/>
                </a:tc>
                <a:tc>
                  <a:txBody>
                    <a:bodyPr/>
                    <a:lstStyle/>
                    <a:p>
                      <a:pPr algn="l" rtl="0"/>
                      <a:r>
                        <a:rPr lang="en-US" dirty="0">
                          <a:solidFill>
                            <a:srgbClr val="FF0000"/>
                          </a:solidFill>
                        </a:rPr>
                        <a:t>pony</a:t>
                      </a:r>
                      <a:endParaRPr lang="he-IL" dirty="0">
                        <a:solidFill>
                          <a:srgbClr val="FF0000"/>
                        </a:solidFill>
                      </a:endParaRPr>
                    </a:p>
                  </a:txBody>
                  <a:tcPr/>
                </a:tc>
                <a:tc>
                  <a:txBody>
                    <a:bodyPr/>
                    <a:lstStyle/>
                    <a:p>
                      <a:pPr algn="l" rtl="0"/>
                      <a:r>
                        <a:rPr lang="en-US" b="1" dirty="0">
                          <a:solidFill>
                            <a:srgbClr val="FF0000"/>
                          </a:solidFill>
                        </a:rPr>
                        <a:t>2210</a:t>
                      </a:r>
                      <a:endParaRPr lang="he-IL" b="1" dirty="0">
                        <a:solidFill>
                          <a:srgbClr val="FF0000"/>
                        </a:solidFill>
                      </a:endParaRPr>
                    </a:p>
                  </a:txBody>
                  <a:tcPr/>
                </a:tc>
                <a:tc>
                  <a:txBody>
                    <a:bodyPr/>
                    <a:lstStyle/>
                    <a:p>
                      <a:pPr algn="l" rtl="0"/>
                      <a:r>
                        <a:rPr lang="en-US" dirty="0"/>
                        <a:t>Student #2</a:t>
                      </a:r>
                      <a:endParaRPr lang="he-IL" dirty="0"/>
                    </a:p>
                  </a:txBody>
                  <a:tcPr/>
                </a:tc>
                <a:extLst>
                  <a:ext uri="{0D108BD9-81ED-4DB2-BD59-A6C34878D82A}">
                    <a16:rowId xmlns:a16="http://schemas.microsoft.com/office/drawing/2014/main" val="10002"/>
                  </a:ext>
                </a:extLst>
              </a:tr>
              <a:tr h="1630895">
                <a:tc>
                  <a:txBody>
                    <a:bodyPr/>
                    <a:lstStyle/>
                    <a:p>
                      <a:pPr algn="l" rtl="0"/>
                      <a:endParaRPr lang="he-IL" dirty="0"/>
                    </a:p>
                  </a:txBody>
                  <a:tcPr/>
                </a:tc>
                <a:tc>
                  <a:txBody>
                    <a:bodyPr/>
                    <a:lstStyle/>
                    <a:p>
                      <a:pPr algn="l" rtl="0"/>
                      <a:r>
                        <a:rPr lang="en-US" dirty="0">
                          <a:solidFill>
                            <a:srgbClr val="FF0000"/>
                          </a:solidFill>
                        </a:rPr>
                        <a:t>akimov</a:t>
                      </a:r>
                      <a:endParaRPr lang="he-IL" dirty="0">
                        <a:solidFill>
                          <a:srgbClr val="FF0000"/>
                        </a:solidFill>
                      </a:endParaRPr>
                    </a:p>
                  </a:txBody>
                  <a:tcPr/>
                </a:tc>
                <a:tc>
                  <a:txBody>
                    <a:bodyPr/>
                    <a:lstStyle/>
                    <a:p>
                      <a:pPr algn="l" rtl="0"/>
                      <a:r>
                        <a:rPr lang="en-US" b="1" dirty="0">
                          <a:solidFill>
                            <a:srgbClr val="FF0000"/>
                          </a:solidFill>
                        </a:rPr>
                        <a:t>7939</a:t>
                      </a:r>
                      <a:endParaRPr lang="he-IL" b="1" dirty="0">
                        <a:solidFill>
                          <a:srgbClr val="FF0000"/>
                        </a:solidFill>
                      </a:endParaRPr>
                    </a:p>
                  </a:txBody>
                  <a:tcPr/>
                </a:tc>
                <a:tc>
                  <a:txBody>
                    <a:bodyPr/>
                    <a:lstStyle/>
                    <a:p>
                      <a:pPr algn="l" rtl="0"/>
                      <a:r>
                        <a:rPr lang="en-US" dirty="0"/>
                        <a:t>Student #3</a:t>
                      </a:r>
                      <a:endParaRPr lang="he-IL" dirty="0"/>
                    </a:p>
                  </a:txBody>
                  <a:tcPr/>
                </a:tc>
                <a:extLst>
                  <a:ext uri="{0D108BD9-81ED-4DB2-BD59-A6C34878D82A}">
                    <a16:rowId xmlns:a16="http://schemas.microsoft.com/office/drawing/2014/main" val="10003"/>
                  </a:ext>
                </a:extLst>
              </a:tr>
            </a:tbl>
          </a:graphicData>
        </a:graphic>
      </p:graphicFrame>
      <p:pic>
        <p:nvPicPr>
          <p:cNvPr id="8" name="Picture 7" descr="A person in a uniform&#10;&#10;Description automatically generated">
            <a:extLst>
              <a:ext uri="{FF2B5EF4-FFF2-40B4-BE49-F238E27FC236}">
                <a16:creationId xmlns:a16="http://schemas.microsoft.com/office/drawing/2014/main" id="{838ECAA4-F6D6-5E3A-5583-2F9291A3A117}"/>
              </a:ext>
            </a:extLst>
          </p:cNvPr>
          <p:cNvPicPr>
            <a:picLocks noChangeAspect="1"/>
          </p:cNvPicPr>
          <p:nvPr/>
        </p:nvPicPr>
        <p:blipFill>
          <a:blip r:embed="rId2"/>
          <a:stretch>
            <a:fillRect/>
          </a:stretch>
        </p:blipFill>
        <p:spPr>
          <a:xfrm>
            <a:off x="6095999" y="4626893"/>
            <a:ext cx="1462391" cy="2065735"/>
          </a:xfrm>
          <a:prstGeom prst="rect">
            <a:avLst/>
          </a:prstGeom>
        </p:spPr>
      </p:pic>
      <p:pic>
        <p:nvPicPr>
          <p:cNvPr id="9" name="Picture 8">
            <a:extLst>
              <a:ext uri="{FF2B5EF4-FFF2-40B4-BE49-F238E27FC236}">
                <a16:creationId xmlns:a16="http://schemas.microsoft.com/office/drawing/2014/main" id="{4EBBE035-C93B-E94B-34FB-B9C3495FD497}"/>
              </a:ext>
            </a:extLst>
          </p:cNvPr>
          <p:cNvPicPr>
            <a:picLocks noChangeAspect="1"/>
          </p:cNvPicPr>
          <p:nvPr/>
        </p:nvPicPr>
        <p:blipFill>
          <a:blip r:embed="rId3"/>
          <a:stretch>
            <a:fillRect/>
          </a:stretch>
        </p:blipFill>
        <p:spPr>
          <a:xfrm>
            <a:off x="6095999" y="1608294"/>
            <a:ext cx="1550593" cy="2065735"/>
          </a:xfrm>
          <a:prstGeom prst="rect">
            <a:avLst/>
          </a:prstGeom>
        </p:spPr>
      </p:pic>
      <p:sp>
        <p:nvSpPr>
          <p:cNvPr id="14" name="Google Shape;55;p13">
            <a:extLst>
              <a:ext uri="{FF2B5EF4-FFF2-40B4-BE49-F238E27FC236}">
                <a16:creationId xmlns:a16="http://schemas.microsoft.com/office/drawing/2014/main" id="{4866D37C-A415-8616-52D0-7A47A0869F94}"/>
              </a:ext>
            </a:extLst>
          </p:cNvPr>
          <p:cNvSpPr txBox="1"/>
          <p:nvPr/>
        </p:nvSpPr>
        <p:spPr>
          <a:xfrm>
            <a:off x="2227435" y="-49285"/>
            <a:ext cx="7288042" cy="1409429"/>
          </a:xfrm>
          <a:prstGeom prst="rect">
            <a:avLst/>
          </a:prstGeom>
          <a:noFill/>
          <a:ln>
            <a:noFill/>
          </a:ln>
        </p:spPr>
        <p:txBody>
          <a:bodyPr spcFirstLastPara="1" wrap="square" lIns="121900" tIns="121900" rIns="121900" bIns="121900" anchor="t" anchorCtr="0">
            <a:noAutofit/>
          </a:bodyPr>
          <a:lstStyle/>
          <a:p>
            <a:pPr algn="ctr"/>
            <a:r>
              <a:rPr lang="en" sz="2800" b="1" u="sng" dirty="0">
                <a:solidFill>
                  <a:srgbClr val="0070C0"/>
                </a:solidFill>
              </a:rPr>
              <a:t>Course: Image Processing 31651</a:t>
            </a:r>
            <a:br>
              <a:rPr lang="en" sz="2800" b="1" u="sng" dirty="0">
                <a:solidFill>
                  <a:srgbClr val="0070C0"/>
                </a:solidFill>
              </a:rPr>
            </a:br>
            <a:r>
              <a:rPr lang="en" sz="2800" b="1" u="sng" dirty="0">
                <a:solidFill>
                  <a:srgbClr val="0070C0"/>
                </a:solidFill>
              </a:rPr>
              <a:t>Micro Project 2 (MP2) : </a:t>
            </a:r>
            <a:r>
              <a:rPr lang="en-US" sz="2800" b="1" u="sng" dirty="0">
                <a:solidFill>
                  <a:srgbClr val="0070C0"/>
                </a:solidFill>
              </a:rPr>
              <a:t>Usage of Filtration</a:t>
            </a:r>
            <a:endParaRPr lang="en-US" sz="2800" b="1" u="sng" dirty="0">
              <a:solidFill>
                <a:srgbClr val="FF0000"/>
              </a:solidFill>
            </a:endParaRPr>
          </a:p>
          <a:p>
            <a:pPr algn="ctr"/>
            <a:r>
              <a:rPr lang="en-US" sz="2533" b="1" u="sng" dirty="0">
                <a:solidFill>
                  <a:srgbClr val="00B050"/>
                </a:solidFill>
              </a:rPr>
              <a:t>Date of submission : 15/09/2024</a:t>
            </a:r>
            <a:endParaRPr sz="2533" b="1" u="sng" dirty="0">
              <a:solidFill>
                <a:srgbClr val="00B050"/>
              </a:solidFill>
            </a:endParaRPr>
          </a:p>
        </p:txBody>
      </p:sp>
      <p:pic>
        <p:nvPicPr>
          <p:cNvPr id="4" name="Picture 3" descr="A person taking a selfie in front of a building&#10;&#10;Description automatically generated">
            <a:extLst>
              <a:ext uri="{FF2B5EF4-FFF2-40B4-BE49-F238E27FC236}">
                <a16:creationId xmlns:a16="http://schemas.microsoft.com/office/drawing/2014/main" id="{00285330-5EA4-017A-44A0-51C3C73C45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8481750" y="3497546"/>
            <a:ext cx="2067455" cy="1550592"/>
          </a:xfrm>
          <a:prstGeom prst="rect">
            <a:avLst/>
          </a:prstGeom>
        </p:spPr>
      </p:pic>
    </p:spTree>
    <p:extLst>
      <p:ext uri="{BB962C8B-B14F-4D97-AF65-F5344CB8AC3E}">
        <p14:creationId xmlns:p14="http://schemas.microsoft.com/office/powerpoint/2010/main" val="2832771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56392972-A889-3803-4C29-56F22A5793E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2</a:t>
            </a:fld>
            <a:endParaRPr lang="he-IL" sz="1600" dirty="0"/>
          </a:p>
        </p:txBody>
      </p:sp>
      <p:sp>
        <p:nvSpPr>
          <p:cNvPr id="5" name="Google Shape;60;p14">
            <a:extLst>
              <a:ext uri="{FF2B5EF4-FFF2-40B4-BE49-F238E27FC236}">
                <a16:creationId xmlns:a16="http://schemas.microsoft.com/office/drawing/2014/main" id="{63855DA2-D8CF-89D9-A572-8C80B7AD36BA}"/>
              </a:ext>
            </a:extLst>
          </p:cNvPr>
          <p:cNvSpPr txBox="1"/>
          <p:nvPr/>
        </p:nvSpPr>
        <p:spPr>
          <a:xfrm>
            <a:off x="705661" y="0"/>
            <a:ext cx="10780678" cy="639031"/>
          </a:xfrm>
          <a:prstGeom prst="rect">
            <a:avLst/>
          </a:prstGeom>
          <a:noFill/>
          <a:ln>
            <a:noFill/>
          </a:ln>
        </p:spPr>
        <p:txBody>
          <a:bodyPr spcFirstLastPara="1" wrap="square" lIns="121900" tIns="121900" rIns="121900" bIns="121900" anchor="t" anchorCtr="0">
            <a:noAutofit/>
          </a:bodyPr>
          <a:lstStyle/>
          <a:p>
            <a:pPr algn="ctr"/>
            <a:r>
              <a:rPr lang="en" sz="2800" b="1" u="sng" dirty="0">
                <a:solidFill>
                  <a:srgbClr val="0070C0"/>
                </a:solidFill>
              </a:rPr>
              <a:t>Micro Project 2 (MP2) : </a:t>
            </a:r>
            <a:r>
              <a:rPr lang="en-US" sz="2800" b="1" u="sng" dirty="0">
                <a:solidFill>
                  <a:srgbClr val="0070C0"/>
                </a:solidFill>
              </a:rPr>
              <a:t>Usage of Filtration – </a:t>
            </a:r>
            <a:r>
              <a:rPr lang="en-US" sz="2800" b="1" u="sng" dirty="0">
                <a:solidFill>
                  <a:srgbClr val="FF0000"/>
                </a:solidFill>
              </a:rPr>
              <a:t>the given task: (part 1)</a:t>
            </a:r>
          </a:p>
        </p:txBody>
      </p:sp>
      <p:pic>
        <p:nvPicPr>
          <p:cNvPr id="7" name="Picture 6">
            <a:extLst>
              <a:ext uri="{FF2B5EF4-FFF2-40B4-BE49-F238E27FC236}">
                <a16:creationId xmlns:a16="http://schemas.microsoft.com/office/drawing/2014/main" id="{EF8C263D-29AC-92A1-CA0D-FC3C0E937AC5}"/>
              </a:ext>
            </a:extLst>
          </p:cNvPr>
          <p:cNvPicPr>
            <a:picLocks noChangeAspect="1"/>
          </p:cNvPicPr>
          <p:nvPr/>
        </p:nvPicPr>
        <p:blipFill>
          <a:blip r:embed="rId2"/>
          <a:stretch>
            <a:fillRect/>
          </a:stretch>
        </p:blipFill>
        <p:spPr>
          <a:xfrm>
            <a:off x="715382" y="639031"/>
            <a:ext cx="11163712" cy="5943600"/>
          </a:xfrm>
          <a:prstGeom prst="rect">
            <a:avLst/>
          </a:prstGeom>
        </p:spPr>
      </p:pic>
    </p:spTree>
    <p:extLst>
      <p:ext uri="{BB962C8B-B14F-4D97-AF65-F5344CB8AC3E}">
        <p14:creationId xmlns:p14="http://schemas.microsoft.com/office/powerpoint/2010/main" val="1999186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56392972-A889-3803-4C29-56F22A5793E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3</a:t>
            </a:fld>
            <a:endParaRPr lang="he-IL" sz="1600" dirty="0"/>
          </a:p>
        </p:txBody>
      </p:sp>
      <p:sp>
        <p:nvSpPr>
          <p:cNvPr id="5" name="Google Shape;60;p14">
            <a:extLst>
              <a:ext uri="{FF2B5EF4-FFF2-40B4-BE49-F238E27FC236}">
                <a16:creationId xmlns:a16="http://schemas.microsoft.com/office/drawing/2014/main" id="{63855DA2-D8CF-89D9-A572-8C80B7AD36BA}"/>
              </a:ext>
            </a:extLst>
          </p:cNvPr>
          <p:cNvSpPr txBox="1"/>
          <p:nvPr/>
        </p:nvSpPr>
        <p:spPr>
          <a:xfrm>
            <a:off x="627839" y="-89099"/>
            <a:ext cx="10780678" cy="677942"/>
          </a:xfrm>
          <a:prstGeom prst="rect">
            <a:avLst/>
          </a:prstGeom>
          <a:noFill/>
          <a:ln>
            <a:noFill/>
          </a:ln>
        </p:spPr>
        <p:txBody>
          <a:bodyPr spcFirstLastPara="1" wrap="square" lIns="121900" tIns="121900" rIns="121900" bIns="121900" anchor="t" anchorCtr="0">
            <a:noAutofit/>
          </a:bodyPr>
          <a:lstStyle/>
          <a:p>
            <a:pPr algn="ctr"/>
            <a:r>
              <a:rPr lang="en" sz="2800" b="1" u="sng" dirty="0">
                <a:solidFill>
                  <a:srgbClr val="0070C0"/>
                </a:solidFill>
              </a:rPr>
              <a:t>Micro Project 2 (MP2) : </a:t>
            </a:r>
            <a:r>
              <a:rPr lang="en-US" sz="2800" b="1" u="sng" dirty="0">
                <a:solidFill>
                  <a:srgbClr val="0070C0"/>
                </a:solidFill>
              </a:rPr>
              <a:t>Usage of Filtration – </a:t>
            </a:r>
            <a:r>
              <a:rPr lang="en-US" sz="2800" b="1" u="sng" dirty="0">
                <a:solidFill>
                  <a:srgbClr val="FF0000"/>
                </a:solidFill>
              </a:rPr>
              <a:t>the given task: (part 2)</a:t>
            </a:r>
          </a:p>
          <a:p>
            <a:pPr algn="ctr"/>
            <a:endParaRPr sz="2000" b="1" u="sng" dirty="0">
              <a:solidFill>
                <a:srgbClr val="FF0000"/>
              </a:solidFill>
            </a:endParaRPr>
          </a:p>
        </p:txBody>
      </p:sp>
      <p:pic>
        <p:nvPicPr>
          <p:cNvPr id="3" name="Picture 2">
            <a:extLst>
              <a:ext uri="{FF2B5EF4-FFF2-40B4-BE49-F238E27FC236}">
                <a16:creationId xmlns:a16="http://schemas.microsoft.com/office/drawing/2014/main" id="{36AEA71F-BEAD-F867-1C7A-6449236EA8C5}"/>
              </a:ext>
            </a:extLst>
          </p:cNvPr>
          <p:cNvPicPr>
            <a:picLocks noChangeAspect="1"/>
          </p:cNvPicPr>
          <p:nvPr/>
        </p:nvPicPr>
        <p:blipFill>
          <a:blip r:embed="rId3"/>
          <a:stretch>
            <a:fillRect/>
          </a:stretch>
        </p:blipFill>
        <p:spPr>
          <a:xfrm>
            <a:off x="101687" y="588843"/>
            <a:ext cx="11988625" cy="5070566"/>
          </a:xfrm>
          <a:prstGeom prst="rect">
            <a:avLst/>
          </a:prstGeom>
        </p:spPr>
      </p:pic>
      <p:sp>
        <p:nvSpPr>
          <p:cNvPr id="9" name="Rectangle 8">
            <a:extLst>
              <a:ext uri="{FF2B5EF4-FFF2-40B4-BE49-F238E27FC236}">
                <a16:creationId xmlns:a16="http://schemas.microsoft.com/office/drawing/2014/main" id="{FD4E7FE2-94FA-BF8B-88FC-096CF77A5E9C}"/>
              </a:ext>
            </a:extLst>
          </p:cNvPr>
          <p:cNvSpPr/>
          <p:nvPr/>
        </p:nvSpPr>
        <p:spPr>
          <a:xfrm>
            <a:off x="359923" y="5659409"/>
            <a:ext cx="11429999" cy="10234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Pay attention </a:t>
            </a:r>
            <a:r>
              <a:rPr lang="en-US" b="1" dirty="0"/>
              <a:t>: that presentation is ordered in the following order : first introductory part where we present and explain the functions we used in the project – stand alone way (every function independently from the main flow) – and then the formal results for  1-7 sub tasks. They will be marked MP2.#</a:t>
            </a:r>
            <a:endParaRPr lang="he-IL" b="1" dirty="0"/>
          </a:p>
        </p:txBody>
      </p:sp>
    </p:spTree>
    <p:extLst>
      <p:ext uri="{BB962C8B-B14F-4D97-AF65-F5344CB8AC3E}">
        <p14:creationId xmlns:p14="http://schemas.microsoft.com/office/powerpoint/2010/main" val="1976009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F6D6A8-8CBB-5DB9-3563-A0F4A8EAEE6D}"/>
              </a:ext>
            </a:extLst>
          </p:cNvPr>
          <p:cNvPicPr>
            <a:picLocks noChangeAspect="1"/>
          </p:cNvPicPr>
          <p:nvPr/>
        </p:nvPicPr>
        <p:blipFill>
          <a:blip r:embed="rId2"/>
          <a:stretch>
            <a:fillRect/>
          </a:stretch>
        </p:blipFill>
        <p:spPr>
          <a:xfrm>
            <a:off x="0" y="1204840"/>
            <a:ext cx="11381362" cy="5653160"/>
          </a:xfrm>
          <a:prstGeom prst="rect">
            <a:avLst/>
          </a:prstGeom>
        </p:spPr>
      </p:pic>
      <p:sp>
        <p:nvSpPr>
          <p:cNvPr id="4" name="Slide Number Placeholder 5">
            <a:extLst>
              <a:ext uri="{FF2B5EF4-FFF2-40B4-BE49-F238E27FC236}">
                <a16:creationId xmlns:a16="http://schemas.microsoft.com/office/drawing/2014/main" id="{46B1201B-612F-818D-3CB8-26D258948D8E}"/>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4</a:t>
            </a:fld>
            <a:endParaRPr lang="he-IL" sz="1600" dirty="0"/>
          </a:p>
        </p:txBody>
      </p:sp>
      <p:sp>
        <p:nvSpPr>
          <p:cNvPr id="7" name="Google Shape;60;p14">
            <a:extLst>
              <a:ext uri="{FF2B5EF4-FFF2-40B4-BE49-F238E27FC236}">
                <a16:creationId xmlns:a16="http://schemas.microsoft.com/office/drawing/2014/main" id="{C3D73FD8-5C27-9947-3A04-B330DAA94871}"/>
              </a:ext>
            </a:extLst>
          </p:cNvPr>
          <p:cNvSpPr txBox="1"/>
          <p:nvPr/>
        </p:nvSpPr>
        <p:spPr>
          <a:xfrm>
            <a:off x="2" y="-158690"/>
            <a:ext cx="11879094" cy="432435"/>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1.1 </a:t>
            </a:r>
            <a:r>
              <a:rPr lang="en-US" sz="2800" b="1" u="sng" dirty="0">
                <a:solidFill>
                  <a:srgbClr val="0070C0"/>
                </a:solidFill>
              </a:rPr>
              <a:t>-  the function “DoFiltationByConvolution”</a:t>
            </a:r>
            <a:endParaRPr lang="en-US" sz="2800" b="1" u="sng" dirty="0">
              <a:solidFill>
                <a:srgbClr val="FF0000"/>
              </a:solidFill>
            </a:endParaRPr>
          </a:p>
          <a:p>
            <a:pPr algn="ctr"/>
            <a:endParaRPr sz="2000" b="1" u="sng" dirty="0">
              <a:solidFill>
                <a:srgbClr val="FF0000"/>
              </a:solidFill>
            </a:endParaRPr>
          </a:p>
        </p:txBody>
      </p:sp>
      <p:sp>
        <p:nvSpPr>
          <p:cNvPr id="10" name="TextBox 9">
            <a:extLst>
              <a:ext uri="{FF2B5EF4-FFF2-40B4-BE49-F238E27FC236}">
                <a16:creationId xmlns:a16="http://schemas.microsoft.com/office/drawing/2014/main" id="{0E19B9D4-6B44-E45F-C4E1-2C9CCE02B2B8}"/>
              </a:ext>
            </a:extLst>
          </p:cNvPr>
          <p:cNvSpPr txBox="1"/>
          <p:nvPr/>
        </p:nvSpPr>
        <p:spPr>
          <a:xfrm>
            <a:off x="1245141" y="492639"/>
            <a:ext cx="9251004" cy="64633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That function applies a convolution operation between a given image (src) and a filter kernel (filter) to produce a filtered image (dest)</a:t>
            </a:r>
            <a:endParaRPr lang="he-IL" dirty="0"/>
          </a:p>
        </p:txBody>
      </p:sp>
      <p:sp>
        <p:nvSpPr>
          <p:cNvPr id="26" name="Rectangle 25">
            <a:extLst>
              <a:ext uri="{FF2B5EF4-FFF2-40B4-BE49-F238E27FC236}">
                <a16:creationId xmlns:a16="http://schemas.microsoft.com/office/drawing/2014/main" id="{CABF3704-2B15-4E80-D6AD-925D011F74E2}"/>
              </a:ext>
            </a:extLst>
          </p:cNvPr>
          <p:cNvSpPr/>
          <p:nvPr/>
        </p:nvSpPr>
        <p:spPr>
          <a:xfrm>
            <a:off x="9299643" y="2070065"/>
            <a:ext cx="2892357" cy="17509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Due to the nature of the function (nested loops) we prefer to explain it step by step in a big space- hence the explanation will be in the next slide!</a:t>
            </a:r>
            <a:endParaRPr lang="he-IL" dirty="0"/>
          </a:p>
        </p:txBody>
      </p:sp>
    </p:spTree>
    <p:extLst>
      <p:ext uri="{BB962C8B-B14F-4D97-AF65-F5344CB8AC3E}">
        <p14:creationId xmlns:p14="http://schemas.microsoft.com/office/powerpoint/2010/main" val="1029255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92A56310-3EF6-7A8A-4C29-73DB34688C36}"/>
              </a:ext>
            </a:extLst>
          </p:cNvPr>
          <p:cNvSpPr txBox="1"/>
          <p:nvPr/>
        </p:nvSpPr>
        <p:spPr>
          <a:xfrm>
            <a:off x="69715" y="-52696"/>
            <a:ext cx="11804513" cy="485161"/>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1.2 </a:t>
            </a:r>
            <a:r>
              <a:rPr lang="en-US" sz="2800" b="1" u="sng" dirty="0">
                <a:solidFill>
                  <a:srgbClr val="0070C0"/>
                </a:solidFill>
              </a:rPr>
              <a:t>-  the function “DoFiltationByConvolution”</a:t>
            </a:r>
            <a:endParaRPr lang="en-US" sz="2800" b="1" u="sng" dirty="0">
              <a:solidFill>
                <a:srgbClr val="FF0000"/>
              </a:solidFill>
            </a:endParaRPr>
          </a:p>
          <a:p>
            <a:pPr algn="ctr"/>
            <a:endParaRPr sz="2000" b="1" u="sng" dirty="0">
              <a:solidFill>
                <a:srgbClr val="FF0000"/>
              </a:solidFill>
            </a:endParaRPr>
          </a:p>
        </p:txBody>
      </p:sp>
      <p:sp>
        <p:nvSpPr>
          <p:cNvPr id="5" name="Slide Number Placeholder 5">
            <a:extLst>
              <a:ext uri="{FF2B5EF4-FFF2-40B4-BE49-F238E27FC236}">
                <a16:creationId xmlns:a16="http://schemas.microsoft.com/office/drawing/2014/main" id="{8D4B18A7-8A47-A075-B223-8415C853F68D}"/>
              </a:ext>
            </a:extLst>
          </p:cNvPr>
          <p:cNvSpPr txBox="1">
            <a:spLocks/>
          </p:cNvSpPr>
          <p:nvPr/>
        </p:nvSpPr>
        <p:spPr>
          <a:xfrm>
            <a:off x="11879094" y="174318"/>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5</a:t>
            </a:fld>
            <a:endParaRPr lang="he-IL" sz="1600" dirty="0"/>
          </a:p>
        </p:txBody>
      </p:sp>
      <p:sp>
        <p:nvSpPr>
          <p:cNvPr id="10" name="Rectangle 9">
            <a:extLst>
              <a:ext uri="{FF2B5EF4-FFF2-40B4-BE49-F238E27FC236}">
                <a16:creationId xmlns:a16="http://schemas.microsoft.com/office/drawing/2014/main" id="{AC2DFB3A-4CD3-9AF1-BA46-568DFA7D9D40}"/>
              </a:ext>
            </a:extLst>
          </p:cNvPr>
          <p:cNvSpPr/>
          <p:nvPr/>
        </p:nvSpPr>
        <p:spPr>
          <a:xfrm>
            <a:off x="8492247" y="564894"/>
            <a:ext cx="3699753" cy="9418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en-US" dirty="0"/>
              <a:t>First , calculates the filter half size through the filter size – we do it for determining the "radius" of the filter</a:t>
            </a:r>
            <a:endParaRPr lang="he-IL" dirty="0"/>
          </a:p>
        </p:txBody>
      </p:sp>
      <p:sp>
        <p:nvSpPr>
          <p:cNvPr id="11" name="Arrow: Down 10">
            <a:extLst>
              <a:ext uri="{FF2B5EF4-FFF2-40B4-BE49-F238E27FC236}">
                <a16:creationId xmlns:a16="http://schemas.microsoft.com/office/drawing/2014/main" id="{8F9C206F-B00B-4C3B-6729-17BB982CD825}"/>
              </a:ext>
            </a:extLst>
          </p:cNvPr>
          <p:cNvSpPr/>
          <p:nvPr/>
        </p:nvSpPr>
        <p:spPr>
          <a:xfrm>
            <a:off x="4986237" y="1065450"/>
            <a:ext cx="344521" cy="108324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7" name="TextBox 16">
            <a:extLst>
              <a:ext uri="{FF2B5EF4-FFF2-40B4-BE49-F238E27FC236}">
                <a16:creationId xmlns:a16="http://schemas.microsoft.com/office/drawing/2014/main" id="{43F0B5F8-4A83-EB16-051B-C09FB6672792}"/>
              </a:ext>
            </a:extLst>
          </p:cNvPr>
          <p:cNvSpPr txBox="1"/>
          <p:nvPr/>
        </p:nvSpPr>
        <p:spPr>
          <a:xfrm>
            <a:off x="191308" y="6209265"/>
            <a:ext cx="11809379" cy="646331"/>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For each pixel at position (row, column), the function calculates the convolution sum (summa) by multiplying each element of the filter kernel with the corresponding pixel in the src image. The sum is accumulated for the entire kernel.</a:t>
            </a:r>
            <a:endParaRPr lang="he-IL" dirty="0"/>
          </a:p>
        </p:txBody>
      </p:sp>
      <p:pic>
        <p:nvPicPr>
          <p:cNvPr id="3" name="Picture 2">
            <a:extLst>
              <a:ext uri="{FF2B5EF4-FFF2-40B4-BE49-F238E27FC236}">
                <a16:creationId xmlns:a16="http://schemas.microsoft.com/office/drawing/2014/main" id="{CA047110-2315-38DC-C8EF-D2A600CF764E}"/>
              </a:ext>
            </a:extLst>
          </p:cNvPr>
          <p:cNvPicPr>
            <a:picLocks noChangeAspect="1"/>
          </p:cNvPicPr>
          <p:nvPr/>
        </p:nvPicPr>
        <p:blipFill>
          <a:blip r:embed="rId3"/>
          <a:stretch>
            <a:fillRect/>
          </a:stretch>
        </p:blipFill>
        <p:spPr>
          <a:xfrm>
            <a:off x="-13985" y="3330473"/>
            <a:ext cx="12024602" cy="2878792"/>
          </a:xfrm>
          <a:prstGeom prst="rect">
            <a:avLst/>
          </a:prstGeom>
        </p:spPr>
      </p:pic>
      <p:pic>
        <p:nvPicPr>
          <p:cNvPr id="12" name="Picture 11">
            <a:extLst>
              <a:ext uri="{FF2B5EF4-FFF2-40B4-BE49-F238E27FC236}">
                <a16:creationId xmlns:a16="http://schemas.microsoft.com/office/drawing/2014/main" id="{8B63696E-DEF1-FD75-7E77-6556CB8E3C6D}"/>
              </a:ext>
            </a:extLst>
          </p:cNvPr>
          <p:cNvPicPr>
            <a:picLocks noChangeAspect="1"/>
          </p:cNvPicPr>
          <p:nvPr/>
        </p:nvPicPr>
        <p:blipFill>
          <a:blip r:embed="rId4"/>
          <a:stretch>
            <a:fillRect/>
          </a:stretch>
        </p:blipFill>
        <p:spPr>
          <a:xfrm>
            <a:off x="-4053" y="593683"/>
            <a:ext cx="8496300" cy="476250"/>
          </a:xfrm>
          <a:prstGeom prst="rect">
            <a:avLst/>
          </a:prstGeom>
        </p:spPr>
      </p:pic>
      <p:sp>
        <p:nvSpPr>
          <p:cNvPr id="16" name="TextBox 15">
            <a:extLst>
              <a:ext uri="{FF2B5EF4-FFF2-40B4-BE49-F238E27FC236}">
                <a16:creationId xmlns:a16="http://schemas.microsoft.com/office/drawing/2014/main" id="{BBE765FE-66D5-2865-ABEB-5B82E7A8D442}"/>
              </a:ext>
            </a:extLst>
          </p:cNvPr>
          <p:cNvSpPr txBox="1"/>
          <p:nvPr/>
        </p:nvSpPr>
        <p:spPr>
          <a:xfrm>
            <a:off x="-4053" y="2144208"/>
            <a:ext cx="12004741" cy="369332"/>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Then we use 4 nested loops – the two first loops are Iterating Over Each Pixel in the Source Image (Excluding Borders)</a:t>
            </a:r>
            <a:endParaRPr lang="he-IL" dirty="0"/>
          </a:p>
        </p:txBody>
      </p:sp>
      <p:sp>
        <p:nvSpPr>
          <p:cNvPr id="18" name="Rectangle 17">
            <a:extLst>
              <a:ext uri="{FF2B5EF4-FFF2-40B4-BE49-F238E27FC236}">
                <a16:creationId xmlns:a16="http://schemas.microsoft.com/office/drawing/2014/main" id="{6151F3A1-D3B1-05E6-A737-0B092262E4F6}"/>
              </a:ext>
            </a:extLst>
          </p:cNvPr>
          <p:cNvSpPr/>
          <p:nvPr/>
        </p:nvSpPr>
        <p:spPr>
          <a:xfrm>
            <a:off x="-4053" y="2513540"/>
            <a:ext cx="12004741" cy="423493"/>
          </a:xfrm>
          <a:prstGeom prst="rect">
            <a:avLst/>
          </a:prstGeom>
        </p:spPr>
        <p:style>
          <a:lnRef idx="0">
            <a:schemeClr val="accent5"/>
          </a:lnRef>
          <a:fillRef idx="3">
            <a:schemeClr val="accent5"/>
          </a:fillRef>
          <a:effectRef idx="3">
            <a:schemeClr val="accent5"/>
          </a:effectRef>
          <a:fontRef idx="minor">
            <a:schemeClr val="lt1"/>
          </a:fontRef>
        </p:style>
        <p:txBody>
          <a:bodyPr rtlCol="1" anchor="ctr"/>
          <a:lstStyle/>
          <a:p>
            <a:pPr algn="ctr"/>
            <a:r>
              <a:rPr lang="en-US" dirty="0"/>
              <a:t>Then declare a variable to accumulates the weighted sum of neighboring pixel values based on the filter coefficients.</a:t>
            </a:r>
            <a:endParaRPr lang="he-IL" dirty="0"/>
          </a:p>
        </p:txBody>
      </p:sp>
      <p:sp>
        <p:nvSpPr>
          <p:cNvPr id="19" name="Rectangle 18">
            <a:extLst>
              <a:ext uri="{FF2B5EF4-FFF2-40B4-BE49-F238E27FC236}">
                <a16:creationId xmlns:a16="http://schemas.microsoft.com/office/drawing/2014/main" id="{23D57FFA-C8A1-535C-1D44-F493D0166B29}"/>
              </a:ext>
            </a:extLst>
          </p:cNvPr>
          <p:cNvSpPr/>
          <p:nvPr/>
        </p:nvSpPr>
        <p:spPr>
          <a:xfrm>
            <a:off x="-4054" y="2910419"/>
            <a:ext cx="12004741" cy="423493"/>
          </a:xfrm>
          <a:prstGeom prst="rect">
            <a:avLst/>
          </a:prstGeom>
        </p:spPr>
        <p:style>
          <a:lnRef idx="0">
            <a:schemeClr val="accent3"/>
          </a:lnRef>
          <a:fillRef idx="3">
            <a:schemeClr val="accent3"/>
          </a:fillRef>
          <a:effectRef idx="3">
            <a:schemeClr val="accent3"/>
          </a:effectRef>
          <a:fontRef idx="minor">
            <a:schemeClr val="lt1"/>
          </a:fontRef>
        </p:style>
        <p:txBody>
          <a:bodyPr rtlCol="1" anchor="ctr"/>
          <a:lstStyle/>
          <a:p>
            <a:pPr algn="ctr"/>
            <a:r>
              <a:rPr lang="en-US" dirty="0"/>
              <a:t>Then , in the two last for loops , applying the Convolution Filter – the results are being added </a:t>
            </a:r>
            <a:endParaRPr lang="he-IL" dirty="0"/>
          </a:p>
        </p:txBody>
      </p:sp>
    </p:spTree>
    <p:extLst>
      <p:ext uri="{BB962C8B-B14F-4D97-AF65-F5344CB8AC3E}">
        <p14:creationId xmlns:p14="http://schemas.microsoft.com/office/powerpoint/2010/main" val="1696341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31CDA8B3-4F44-5D40-494F-495CF47A075E}"/>
              </a:ext>
            </a:extLst>
          </p:cNvPr>
          <p:cNvSpPr txBox="1"/>
          <p:nvPr/>
        </p:nvSpPr>
        <p:spPr>
          <a:xfrm>
            <a:off x="97277" y="-52696"/>
            <a:ext cx="11776951" cy="485161"/>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1.3 </a:t>
            </a:r>
            <a:r>
              <a:rPr lang="en-US" sz="2800" b="1" u="sng" dirty="0">
                <a:solidFill>
                  <a:srgbClr val="0070C0"/>
                </a:solidFill>
              </a:rPr>
              <a:t>-  the function “DoFiltationByConvolution”</a:t>
            </a:r>
            <a:endParaRPr lang="en-US" sz="2800" b="1" u="sng" dirty="0">
              <a:solidFill>
                <a:srgbClr val="FF0000"/>
              </a:solidFill>
            </a:endParaRPr>
          </a:p>
          <a:p>
            <a:pPr algn="ctr"/>
            <a:endParaRPr sz="2000" b="1" u="sng" dirty="0">
              <a:solidFill>
                <a:srgbClr val="FF0000"/>
              </a:solidFill>
            </a:endParaRPr>
          </a:p>
        </p:txBody>
      </p:sp>
      <p:sp>
        <p:nvSpPr>
          <p:cNvPr id="5" name="Slide Number Placeholder 5">
            <a:extLst>
              <a:ext uri="{FF2B5EF4-FFF2-40B4-BE49-F238E27FC236}">
                <a16:creationId xmlns:a16="http://schemas.microsoft.com/office/drawing/2014/main" id="{4FEDB50C-F45F-913F-98FB-BE2993EA3FFC}"/>
              </a:ext>
            </a:extLst>
          </p:cNvPr>
          <p:cNvSpPr txBox="1">
            <a:spLocks/>
          </p:cNvSpPr>
          <p:nvPr/>
        </p:nvSpPr>
        <p:spPr>
          <a:xfrm>
            <a:off x="11879094" y="174318"/>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6</a:t>
            </a:fld>
            <a:endParaRPr lang="he-IL" sz="1600" dirty="0"/>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358D7305-B76B-1FFA-B150-2853C3C64F36}"/>
                  </a:ext>
                </a:extLst>
              </p:cNvPr>
              <p:cNvSpPr/>
              <p:nvPr/>
            </p:nvSpPr>
            <p:spPr>
              <a:xfrm>
                <a:off x="0" y="5328309"/>
                <a:ext cx="4348264" cy="977389"/>
              </a:xfrm>
              <a:prstGeom prst="rect">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14:m>
                  <m:oMathPara xmlns:m="http://schemas.openxmlformats.org/officeDocument/2006/math">
                    <m:oMathParaPr>
                      <m:jc m:val="centerGroup"/>
                    </m:oMathParaPr>
                    <m:oMath xmlns:m="http://schemas.openxmlformats.org/officeDocument/2006/math">
                      <m:sSup>
                        <m:sSupPr>
                          <m:ctrlPr>
                            <a:rPr lang="en-US" b="0" i="1" smtClean="0">
                              <a:solidFill>
                                <a:srgbClr val="FFFF00"/>
                              </a:solidFill>
                              <a:latin typeface="Cambria Math" panose="02040503050406030204" pitchFamily="18" charset="0"/>
                            </a:rPr>
                          </m:ctrlPr>
                        </m:sSupPr>
                        <m:e>
                          <m:r>
                            <a:rPr lang="en-US" b="0" i="1" smtClean="0">
                              <a:solidFill>
                                <a:srgbClr val="FFFF00"/>
                              </a:solidFill>
                              <a:latin typeface="Cambria Math" panose="02040503050406030204" pitchFamily="18" charset="0"/>
                            </a:rPr>
                            <m:t>𝐼</m:t>
                          </m:r>
                        </m:e>
                        <m:sup>
                          <m:r>
                            <a:rPr lang="en-US" b="0" i="1" smtClean="0">
                              <a:solidFill>
                                <a:srgbClr val="FFFF00"/>
                              </a:solidFill>
                              <a:latin typeface="Cambria Math" panose="02040503050406030204" pitchFamily="18" charset="0"/>
                            </a:rPr>
                            <m:t>′</m:t>
                          </m:r>
                        </m:sup>
                      </m:sSup>
                      <m:d>
                        <m:dPr>
                          <m:ctrlPr>
                            <a:rPr lang="en-US" b="0" i="1" smtClean="0">
                              <a:solidFill>
                                <a:srgbClr val="FFFF00"/>
                              </a:solidFill>
                              <a:latin typeface="Cambria Math" panose="02040503050406030204" pitchFamily="18" charset="0"/>
                            </a:rPr>
                          </m:ctrlPr>
                        </m:dPr>
                        <m:e>
                          <m:r>
                            <a:rPr lang="en-US" b="0" i="1" smtClean="0">
                              <a:solidFill>
                                <a:srgbClr val="FFFF00"/>
                              </a:solidFill>
                              <a:latin typeface="Cambria Math" panose="02040503050406030204" pitchFamily="18" charset="0"/>
                            </a:rPr>
                            <m:t>𝑥</m:t>
                          </m:r>
                          <m:r>
                            <a:rPr lang="en-US" b="0" i="1" smtClean="0">
                              <a:solidFill>
                                <a:srgbClr val="FFFF00"/>
                              </a:solidFill>
                              <a:latin typeface="Cambria Math" panose="02040503050406030204" pitchFamily="18" charset="0"/>
                            </a:rPr>
                            <m:t>,</m:t>
                          </m:r>
                          <m:r>
                            <a:rPr lang="en-US" b="0" i="1" smtClean="0">
                              <a:solidFill>
                                <a:srgbClr val="FFFF00"/>
                              </a:solidFill>
                              <a:latin typeface="Cambria Math" panose="02040503050406030204" pitchFamily="18" charset="0"/>
                            </a:rPr>
                            <m:t>𝑦</m:t>
                          </m:r>
                        </m:e>
                      </m:d>
                      <m:r>
                        <a:rPr lang="en-US" b="0" i="1" smtClean="0">
                          <a:solidFill>
                            <a:srgbClr val="FFFF00"/>
                          </a:solidFill>
                          <a:latin typeface="Cambria Math" panose="02040503050406030204" pitchFamily="18" charset="0"/>
                        </a:rPr>
                        <m:t>=</m:t>
                      </m:r>
                      <m:nary>
                        <m:naryPr>
                          <m:chr m:val="∑"/>
                          <m:ctrlPr>
                            <a:rPr lang="en-US" b="0" i="1" smtClean="0">
                              <a:solidFill>
                                <a:srgbClr val="FFFF00"/>
                              </a:solidFill>
                              <a:latin typeface="Cambria Math" panose="02040503050406030204" pitchFamily="18" charset="0"/>
                            </a:rPr>
                          </m:ctrlPr>
                        </m:naryPr>
                        <m:sub>
                          <m:r>
                            <m:rPr>
                              <m:brk m:alnAt="23"/>
                            </m:rPr>
                            <a:rPr lang="en-US" b="0" i="1" smtClean="0">
                              <a:solidFill>
                                <a:srgbClr val="FFFF00"/>
                              </a:solidFill>
                              <a:latin typeface="Cambria Math" panose="02040503050406030204" pitchFamily="18" charset="0"/>
                            </a:rPr>
                            <m:t>𝑖</m:t>
                          </m:r>
                          <m:r>
                            <a:rPr lang="en-US" b="0" i="1" smtClean="0">
                              <a:solidFill>
                                <a:srgbClr val="FFFF00"/>
                              </a:solidFill>
                              <a:latin typeface="Cambria Math" panose="02040503050406030204" pitchFamily="18" charset="0"/>
                            </a:rPr>
                            <m:t>=−</m:t>
                          </m:r>
                          <m:r>
                            <a:rPr lang="en-US" b="0" i="1" smtClean="0">
                              <a:solidFill>
                                <a:srgbClr val="FFFF00"/>
                              </a:solidFill>
                              <a:latin typeface="Cambria Math" panose="02040503050406030204" pitchFamily="18" charset="0"/>
                            </a:rPr>
                            <m:t>𝑚</m:t>
                          </m:r>
                        </m:sub>
                        <m:sup>
                          <m:r>
                            <a:rPr lang="en-US" b="0" i="1" smtClean="0">
                              <a:solidFill>
                                <a:srgbClr val="FFFF00"/>
                              </a:solidFill>
                              <a:latin typeface="Cambria Math" panose="02040503050406030204" pitchFamily="18" charset="0"/>
                            </a:rPr>
                            <m:t>𝑚</m:t>
                          </m:r>
                        </m:sup>
                        <m:e>
                          <m:nary>
                            <m:naryPr>
                              <m:chr m:val="∑"/>
                              <m:ctrlPr>
                                <a:rPr lang="en-US" b="0" i="1" smtClean="0">
                                  <a:solidFill>
                                    <a:srgbClr val="FFFF00"/>
                                  </a:solidFill>
                                  <a:latin typeface="Cambria Math" panose="02040503050406030204" pitchFamily="18" charset="0"/>
                                </a:rPr>
                              </m:ctrlPr>
                            </m:naryPr>
                            <m:sub>
                              <m:r>
                                <m:rPr>
                                  <m:brk m:alnAt="23"/>
                                </m:rPr>
                                <a:rPr lang="en-US" b="0" i="1" smtClean="0">
                                  <a:solidFill>
                                    <a:srgbClr val="FFFF00"/>
                                  </a:solidFill>
                                  <a:latin typeface="Cambria Math" panose="02040503050406030204" pitchFamily="18" charset="0"/>
                                </a:rPr>
                                <m:t>𝑗</m:t>
                              </m:r>
                              <m:r>
                                <a:rPr lang="en-US" b="0" i="1" smtClean="0">
                                  <a:solidFill>
                                    <a:srgbClr val="FFFF00"/>
                                  </a:solidFill>
                                  <a:latin typeface="Cambria Math" panose="02040503050406030204" pitchFamily="18" charset="0"/>
                                </a:rPr>
                                <m:t>=−</m:t>
                              </m:r>
                              <m:r>
                                <a:rPr lang="en-US" b="0" i="1" smtClean="0">
                                  <a:solidFill>
                                    <a:srgbClr val="FFFF00"/>
                                  </a:solidFill>
                                  <a:latin typeface="Cambria Math" panose="02040503050406030204" pitchFamily="18" charset="0"/>
                                </a:rPr>
                                <m:t>𝑛</m:t>
                              </m:r>
                            </m:sub>
                            <m:sup>
                              <m:r>
                                <a:rPr lang="en-US" b="0" i="1" smtClean="0">
                                  <a:solidFill>
                                    <a:srgbClr val="FFFF00"/>
                                  </a:solidFill>
                                  <a:latin typeface="Cambria Math" panose="02040503050406030204" pitchFamily="18" charset="0"/>
                                </a:rPr>
                                <m:t>𝑛</m:t>
                              </m:r>
                            </m:sup>
                            <m:e>
                              <m:r>
                                <a:rPr lang="en-US" b="0" i="1" smtClean="0">
                                  <a:solidFill>
                                    <a:srgbClr val="FFFF00"/>
                                  </a:solidFill>
                                  <a:latin typeface="Cambria Math" panose="02040503050406030204" pitchFamily="18" charset="0"/>
                                </a:rPr>
                                <m:t>𝐾</m:t>
                              </m:r>
                              <m:d>
                                <m:dPr>
                                  <m:ctrlPr>
                                    <a:rPr lang="en-US" b="0" i="1" smtClean="0">
                                      <a:solidFill>
                                        <a:srgbClr val="FFFF00"/>
                                      </a:solidFill>
                                      <a:latin typeface="Cambria Math" panose="02040503050406030204" pitchFamily="18" charset="0"/>
                                    </a:rPr>
                                  </m:ctrlPr>
                                </m:dPr>
                                <m:e>
                                  <m:r>
                                    <a:rPr lang="en-US" b="0" i="1" smtClean="0">
                                      <a:solidFill>
                                        <a:srgbClr val="FFFF00"/>
                                      </a:solidFill>
                                      <a:latin typeface="Cambria Math" panose="02040503050406030204" pitchFamily="18" charset="0"/>
                                    </a:rPr>
                                    <m:t>𝑖</m:t>
                                  </m:r>
                                  <m:r>
                                    <a:rPr lang="en-US" b="0" i="1" smtClean="0">
                                      <a:solidFill>
                                        <a:srgbClr val="FFFF00"/>
                                      </a:solidFill>
                                      <a:latin typeface="Cambria Math" panose="02040503050406030204" pitchFamily="18" charset="0"/>
                                    </a:rPr>
                                    <m:t>,</m:t>
                                  </m:r>
                                  <m:r>
                                    <a:rPr lang="en-US" b="0" i="1" smtClean="0">
                                      <a:solidFill>
                                        <a:srgbClr val="FFFF00"/>
                                      </a:solidFill>
                                      <a:latin typeface="Cambria Math" panose="02040503050406030204" pitchFamily="18" charset="0"/>
                                    </a:rPr>
                                    <m:t>𝑗</m:t>
                                  </m:r>
                                </m:e>
                              </m:d>
                              <m:r>
                                <a:rPr lang="en-US" b="0" i="1" smtClean="0">
                                  <a:solidFill>
                                    <a:srgbClr val="FFFF00"/>
                                  </a:solidFill>
                                  <a:latin typeface="Cambria Math" panose="02040503050406030204" pitchFamily="18" charset="0"/>
                                </a:rPr>
                                <m:t>∗</m:t>
                              </m:r>
                              <m:r>
                                <a:rPr lang="en-US" b="0" i="1" smtClean="0">
                                  <a:solidFill>
                                    <a:srgbClr val="FFFF00"/>
                                  </a:solidFill>
                                  <a:latin typeface="Cambria Math" panose="02040503050406030204" pitchFamily="18" charset="0"/>
                                </a:rPr>
                                <m:t>𝐼</m:t>
                              </m:r>
                              <m:r>
                                <a:rPr lang="en-US" b="0" i="1" smtClean="0">
                                  <a:solidFill>
                                    <a:srgbClr val="FFFF00"/>
                                  </a:solidFill>
                                  <a:latin typeface="Cambria Math" panose="02040503050406030204" pitchFamily="18" charset="0"/>
                                </a:rPr>
                                <m:t>(</m:t>
                              </m:r>
                              <m:r>
                                <a:rPr lang="en-US" b="0" i="1" smtClean="0">
                                  <a:solidFill>
                                    <a:srgbClr val="FFFF00"/>
                                  </a:solidFill>
                                  <a:latin typeface="Cambria Math" panose="02040503050406030204" pitchFamily="18" charset="0"/>
                                </a:rPr>
                                <m:t>𝑥</m:t>
                              </m:r>
                              <m:r>
                                <a:rPr lang="en-US" b="0" i="1" smtClean="0">
                                  <a:solidFill>
                                    <a:srgbClr val="FFFF00"/>
                                  </a:solidFill>
                                  <a:latin typeface="Cambria Math" panose="02040503050406030204" pitchFamily="18" charset="0"/>
                                </a:rPr>
                                <m:t>+</m:t>
                              </m:r>
                              <m:r>
                                <a:rPr lang="en-US" b="0" i="1" smtClean="0">
                                  <a:solidFill>
                                    <a:srgbClr val="FFFF00"/>
                                  </a:solidFill>
                                  <a:latin typeface="Cambria Math" panose="02040503050406030204" pitchFamily="18" charset="0"/>
                                </a:rPr>
                                <m:t>𝑖</m:t>
                              </m:r>
                              <m:r>
                                <a:rPr lang="en-US" b="0" i="1" smtClean="0">
                                  <a:solidFill>
                                    <a:srgbClr val="FFFF00"/>
                                  </a:solidFill>
                                  <a:latin typeface="Cambria Math" panose="02040503050406030204" pitchFamily="18" charset="0"/>
                                </a:rPr>
                                <m:t>,</m:t>
                              </m:r>
                              <m:r>
                                <a:rPr lang="en-US" b="0" i="1" smtClean="0">
                                  <a:solidFill>
                                    <a:srgbClr val="FFFF00"/>
                                  </a:solidFill>
                                  <a:latin typeface="Cambria Math" panose="02040503050406030204" pitchFamily="18" charset="0"/>
                                </a:rPr>
                                <m:t>𝑦</m:t>
                              </m:r>
                              <m:r>
                                <a:rPr lang="en-US" b="0" i="1" smtClean="0">
                                  <a:solidFill>
                                    <a:srgbClr val="FFFF00"/>
                                  </a:solidFill>
                                  <a:latin typeface="Cambria Math" panose="02040503050406030204" pitchFamily="18" charset="0"/>
                                </a:rPr>
                                <m:t>+</m:t>
                              </m:r>
                              <m:r>
                                <a:rPr lang="en-US" b="0" i="1" smtClean="0">
                                  <a:solidFill>
                                    <a:srgbClr val="FFFF00"/>
                                  </a:solidFill>
                                  <a:latin typeface="Cambria Math" panose="02040503050406030204" pitchFamily="18" charset="0"/>
                                </a:rPr>
                                <m:t>𝑗</m:t>
                              </m:r>
                              <m:r>
                                <a:rPr lang="en-US" b="0" i="1" smtClean="0">
                                  <a:solidFill>
                                    <a:srgbClr val="FFFF00"/>
                                  </a:solidFill>
                                  <a:latin typeface="Cambria Math" panose="02040503050406030204" pitchFamily="18" charset="0"/>
                                </a:rPr>
                                <m:t>)</m:t>
                              </m:r>
                            </m:e>
                          </m:nary>
                        </m:e>
                      </m:nary>
                    </m:oMath>
                  </m:oMathPara>
                </a14:m>
                <a:endParaRPr lang="he-IL" dirty="0">
                  <a:solidFill>
                    <a:srgbClr val="FFFF00"/>
                  </a:solidFill>
                </a:endParaRPr>
              </a:p>
            </p:txBody>
          </p:sp>
        </mc:Choice>
        <mc:Fallback xmlns="">
          <p:sp>
            <p:nvSpPr>
              <p:cNvPr id="14" name="Rectangle 13">
                <a:extLst>
                  <a:ext uri="{FF2B5EF4-FFF2-40B4-BE49-F238E27FC236}">
                    <a16:creationId xmlns:a16="http://schemas.microsoft.com/office/drawing/2014/main" id="{358D7305-B76B-1FFA-B150-2853C3C64F36}"/>
                  </a:ext>
                </a:extLst>
              </p:cNvPr>
              <p:cNvSpPr>
                <a:spLocks noRot="1" noChangeAspect="1" noMove="1" noResize="1" noEditPoints="1" noAdjustHandles="1" noChangeArrowheads="1" noChangeShapeType="1" noTextEdit="1"/>
              </p:cNvSpPr>
              <p:nvPr/>
            </p:nvSpPr>
            <p:spPr>
              <a:xfrm>
                <a:off x="0" y="5328309"/>
                <a:ext cx="4348264" cy="977389"/>
              </a:xfrm>
              <a:prstGeom prst="rect">
                <a:avLst/>
              </a:prstGeom>
              <a:blipFill>
                <a:blip r:embed="rId3"/>
                <a:stretch>
                  <a:fillRect/>
                </a:stretch>
              </a:blipFill>
              <a:ln>
                <a:solidFill>
                  <a:srgbClr val="FF0000"/>
                </a:solidFill>
              </a:ln>
            </p:spPr>
            <p:txBody>
              <a:bodyPr/>
              <a:lstStyle/>
              <a:p>
                <a:r>
                  <a:rPr lang="he-IL">
                    <a:noFill/>
                  </a:rPr>
                  <a:t> </a:t>
                </a:r>
              </a:p>
            </p:txBody>
          </p:sp>
        </mc:Fallback>
      </mc:AlternateContent>
      <p:sp>
        <p:nvSpPr>
          <p:cNvPr id="15" name="Arrow: Right 14">
            <a:extLst>
              <a:ext uri="{FF2B5EF4-FFF2-40B4-BE49-F238E27FC236}">
                <a16:creationId xmlns:a16="http://schemas.microsoft.com/office/drawing/2014/main" id="{D3D68F93-0AEB-1DF7-1710-98642E84A024}"/>
              </a:ext>
            </a:extLst>
          </p:cNvPr>
          <p:cNvSpPr/>
          <p:nvPr/>
        </p:nvSpPr>
        <p:spPr>
          <a:xfrm>
            <a:off x="4416357" y="5573949"/>
            <a:ext cx="856034" cy="5252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7C5D18D-B523-E639-C9BC-6071483DDF14}"/>
                  </a:ext>
                </a:extLst>
              </p:cNvPr>
              <p:cNvSpPr txBox="1"/>
              <p:nvPr/>
            </p:nvSpPr>
            <p:spPr>
              <a:xfrm>
                <a:off x="5272391" y="5007848"/>
                <a:ext cx="6919609" cy="1200329"/>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14:m>
                  <m:oMath xmlns:m="http://schemas.openxmlformats.org/officeDocument/2006/math">
                    <m:r>
                      <a:rPr lang="en-US" i="1" dirty="0" smtClean="0">
                        <a:latin typeface="Cambria Math" panose="02040503050406030204" pitchFamily="18" charset="0"/>
                      </a:rPr>
                      <m:t>𝐼</m:t>
                    </m:r>
                    <m:r>
                      <a:rPr lang="en-US" i="1" dirty="0" smtClean="0">
                        <a:latin typeface="Cambria Math" panose="02040503050406030204" pitchFamily="18" charset="0"/>
                      </a:rPr>
                      <m:t>(</m:t>
                    </m:r>
                    <m:r>
                      <a:rPr lang="en-US" i="1" dirty="0" err="1">
                        <a:latin typeface="Cambria Math" panose="02040503050406030204" pitchFamily="18" charset="0"/>
                      </a:rPr>
                      <m:t>𝑥</m:t>
                    </m:r>
                    <m:r>
                      <a:rPr lang="en-US" i="1" dirty="0" err="1">
                        <a:latin typeface="Cambria Math" panose="02040503050406030204" pitchFamily="18" charset="0"/>
                      </a:rPr>
                      <m:t>,</m:t>
                    </m:r>
                    <m:r>
                      <a:rPr lang="en-US" i="1" dirty="0" err="1">
                        <a:latin typeface="Cambria Math" panose="02040503050406030204" pitchFamily="18" charset="0"/>
                      </a:rPr>
                      <m:t>𝑦</m:t>
                    </m:r>
                    <m:r>
                      <a:rPr lang="en-US" i="1" dirty="0">
                        <a:latin typeface="Cambria Math" panose="02040503050406030204" pitchFamily="18" charset="0"/>
                      </a:rPr>
                      <m:t>) </m:t>
                    </m:r>
                  </m:oMath>
                </a14:m>
                <a:r>
                  <a:rPr lang="en-US" dirty="0"/>
                  <a:t>is the intensity of the pixel at position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𝑦</m:t>
                    </m:r>
                    <m:r>
                      <a:rPr lang="en-US" i="1" dirty="0" smtClean="0">
                        <a:latin typeface="Cambria Math" panose="02040503050406030204" pitchFamily="18" charset="0"/>
                      </a:rPr>
                      <m:t>) </m:t>
                    </m:r>
                  </m:oMath>
                </a14:m>
                <a:r>
                  <a:rPr lang="en-US" dirty="0"/>
                  <a:t>in the src image.</a:t>
                </a:r>
              </a:p>
              <a:p>
                <a14:m>
                  <m:oMath xmlns:m="http://schemas.openxmlformats.org/officeDocument/2006/math">
                    <m:r>
                      <a:rPr lang="en-US" i="1" dirty="0" smtClean="0">
                        <a:latin typeface="Cambria Math" panose="02040503050406030204" pitchFamily="18" charset="0"/>
                      </a:rPr>
                      <m:t>𝐾</m:t>
                    </m:r>
                    <m:r>
                      <a:rPr lang="en-US" i="1" dirty="0" smtClean="0">
                        <a:latin typeface="Cambria Math" panose="02040503050406030204" pitchFamily="18" charset="0"/>
                      </a:rPr>
                      <m:t>(</m:t>
                    </m:r>
                    <m:r>
                      <a:rPr lang="en-US" i="1" dirty="0" err="1" smtClean="0">
                        <a:latin typeface="Cambria Math" panose="02040503050406030204" pitchFamily="18" charset="0"/>
                      </a:rPr>
                      <m:t>𝑖</m:t>
                    </m:r>
                    <m:r>
                      <a:rPr lang="en-US" i="1" dirty="0" err="1" smtClean="0">
                        <a:latin typeface="Cambria Math" panose="02040503050406030204" pitchFamily="18" charset="0"/>
                      </a:rPr>
                      <m:t>,</m:t>
                    </m:r>
                    <m:r>
                      <a:rPr lang="en-US" i="1" dirty="0" err="1" smtClean="0">
                        <a:latin typeface="Cambria Math" panose="02040503050406030204" pitchFamily="18" charset="0"/>
                      </a:rPr>
                      <m:t>𝑗</m:t>
                    </m:r>
                    <m:r>
                      <a:rPr lang="en-US" i="1" dirty="0" smtClean="0">
                        <a:latin typeface="Cambria Math" panose="02040503050406030204" pitchFamily="18" charset="0"/>
                      </a:rPr>
                      <m:t>) </m:t>
                    </m:r>
                  </m:oMath>
                </a14:m>
                <a:r>
                  <a:rPr lang="en-US" dirty="0"/>
                  <a:t>is the value of the filter kernel at position </a:t>
                </a:r>
                <a14:m>
                  <m:oMath xmlns:m="http://schemas.openxmlformats.org/officeDocument/2006/math">
                    <m:d>
                      <m:dPr>
                        <m:ctrlPr>
                          <a:rPr lang="en-US" i="1" dirty="0" smtClean="0">
                            <a:latin typeface="Cambria Math" panose="02040503050406030204" pitchFamily="18" charset="0"/>
                          </a:rPr>
                        </m:ctrlPr>
                      </m:dPr>
                      <m:e>
                        <m:r>
                          <a:rPr lang="en-US" i="1" dirty="0" err="1" smtClean="0">
                            <a:latin typeface="Cambria Math" panose="02040503050406030204" pitchFamily="18" charset="0"/>
                          </a:rPr>
                          <m:t>𝑖</m:t>
                        </m:r>
                        <m:r>
                          <a:rPr lang="en-US" i="1" dirty="0" err="1" smtClean="0">
                            <a:latin typeface="Cambria Math" panose="02040503050406030204" pitchFamily="18" charset="0"/>
                          </a:rPr>
                          <m:t>,</m:t>
                        </m:r>
                        <m:r>
                          <a:rPr lang="en-US" i="1" dirty="0" err="1" smtClean="0">
                            <a:latin typeface="Cambria Math" panose="02040503050406030204" pitchFamily="18" charset="0"/>
                          </a:rPr>
                          <m:t>𝑗</m:t>
                        </m:r>
                      </m:e>
                    </m:d>
                    <m:r>
                      <a:rPr lang="en-US" b="0" i="1" dirty="0" smtClean="0">
                        <a:latin typeface="Cambria Math" panose="02040503050406030204" pitchFamily="18" charset="0"/>
                      </a:rPr>
                      <m:t>.</m:t>
                    </m:r>
                  </m:oMath>
                </a14:m>
                <a:endParaRPr lang="en-US" b="0" i="1" dirty="0">
                  <a:latin typeface="Cambria Math" panose="02040503050406030204" pitchFamily="18" charset="0"/>
                </a:endParaRPr>
              </a:p>
              <a:p>
                <a14:m>
                  <m:oMath xmlns:m="http://schemas.openxmlformats.org/officeDocument/2006/math">
                    <m:r>
                      <a:rPr lang="en-US" i="1" dirty="0" smtClean="0">
                        <a:latin typeface="Cambria Math" panose="02040503050406030204" pitchFamily="18" charset="0"/>
                      </a:rPr>
                      <m:t>𝐼</m:t>
                    </m:r>
                    <m:r>
                      <a:rPr lang="en-US" i="1" dirty="0" smtClean="0">
                        <a:latin typeface="Cambria Math" panose="02040503050406030204" pitchFamily="18" charset="0"/>
                      </a:rPr>
                      <m:t>′</m:t>
                    </m:r>
                    <m:r>
                      <a:rPr lang="en-US" i="1" dirty="0" smtClean="0">
                        <a:latin typeface="Cambria Math" panose="02040503050406030204" pitchFamily="18" charset="0"/>
                      </a:rPr>
                      <m:t>(</m:t>
                    </m:r>
                    <m:r>
                      <a:rPr lang="en-US" i="1" dirty="0" err="1" smtClean="0">
                        <a:latin typeface="Cambria Math" panose="02040503050406030204" pitchFamily="18" charset="0"/>
                      </a:rPr>
                      <m:t>𝑥</m:t>
                    </m:r>
                    <m:r>
                      <a:rPr lang="en-US" i="1" dirty="0" err="1" smtClean="0">
                        <a:latin typeface="Cambria Math" panose="02040503050406030204" pitchFamily="18" charset="0"/>
                      </a:rPr>
                      <m:t>,</m:t>
                    </m:r>
                    <m:r>
                      <a:rPr lang="en-US" i="1" dirty="0" err="1" smtClean="0">
                        <a:latin typeface="Cambria Math" panose="02040503050406030204" pitchFamily="18" charset="0"/>
                      </a:rPr>
                      <m:t>𝑦</m:t>
                    </m:r>
                    <m:r>
                      <a:rPr lang="en-US" i="1" dirty="0" smtClean="0">
                        <a:latin typeface="Cambria Math" panose="02040503050406030204" pitchFamily="18" charset="0"/>
                      </a:rPr>
                      <m:t>) </m:t>
                    </m:r>
                  </m:oMath>
                </a14:m>
                <a:r>
                  <a:rPr lang="en-US" dirty="0"/>
                  <a:t>is the intensity of the pixel at position </a:t>
                </a:r>
                <a14:m>
                  <m:oMath xmlns:m="http://schemas.openxmlformats.org/officeDocument/2006/math">
                    <m:d>
                      <m:dPr>
                        <m:ctrlPr>
                          <a:rPr lang="en-US" i="1" dirty="0" smtClean="0">
                            <a:latin typeface="Cambria Math" panose="02040503050406030204" pitchFamily="18" charset="0"/>
                          </a:rPr>
                        </m:ctrlPr>
                      </m:dPr>
                      <m:e>
                        <m:r>
                          <a:rPr lang="en-US" i="1" dirty="0" err="1" smtClean="0">
                            <a:latin typeface="Cambria Math" panose="02040503050406030204" pitchFamily="18" charset="0"/>
                          </a:rPr>
                          <m:t>𝑥</m:t>
                        </m:r>
                        <m:r>
                          <a:rPr lang="en-US" i="1" dirty="0" err="1" smtClean="0">
                            <a:latin typeface="Cambria Math" panose="02040503050406030204" pitchFamily="18" charset="0"/>
                          </a:rPr>
                          <m:t>,</m:t>
                        </m:r>
                        <m:r>
                          <a:rPr lang="en-US" i="1" dirty="0" err="1" smtClean="0">
                            <a:latin typeface="Cambria Math" panose="02040503050406030204" pitchFamily="18" charset="0"/>
                          </a:rPr>
                          <m:t>𝑦</m:t>
                        </m:r>
                      </m:e>
                    </m:d>
                  </m:oMath>
                </a14:m>
                <a:r>
                  <a:rPr lang="en-US" dirty="0"/>
                  <a:t> in the dest image.</a:t>
                </a:r>
                <a:endParaRPr lang="en-US" i="1" dirty="0">
                  <a:latin typeface="Cambria Math" panose="02040503050406030204" pitchFamily="18" charset="0"/>
                </a:endParaRPr>
              </a:p>
              <a:p>
                <a14:m>
                  <m:oMath xmlns:m="http://schemas.openxmlformats.org/officeDocument/2006/math">
                    <m:r>
                      <a:rPr lang="en-US" i="1" dirty="0" smtClean="0">
                        <a:latin typeface="Cambria Math" panose="02040503050406030204" pitchFamily="18" charset="0"/>
                      </a:rPr>
                      <m:t>𝑚</m:t>
                    </m:r>
                  </m:oMath>
                </a14:m>
                <a:r>
                  <a:rPr lang="en-US" dirty="0"/>
                  <a:t> and </a:t>
                </a:r>
                <a14:m>
                  <m:oMath xmlns:m="http://schemas.openxmlformats.org/officeDocument/2006/math">
                    <m:r>
                      <a:rPr lang="en-US" i="1" dirty="0" smtClean="0">
                        <a:latin typeface="Cambria Math" panose="02040503050406030204" pitchFamily="18" charset="0"/>
                      </a:rPr>
                      <m:t>𝑛</m:t>
                    </m:r>
                  </m:oMath>
                </a14:m>
                <a:r>
                  <a:rPr lang="en-US" dirty="0"/>
                  <a:t> are the half-width and half-height of the kernel, respectively</a:t>
                </a:r>
                <a14:m>
                  <m:oMath xmlns:m="http://schemas.openxmlformats.org/officeDocument/2006/math">
                    <m:r>
                      <a:rPr lang="en-US" i="1" dirty="0" smtClean="0">
                        <a:latin typeface="Cambria Math" panose="02040503050406030204" pitchFamily="18" charset="0"/>
                      </a:rPr>
                      <m:t> </m:t>
                    </m:r>
                  </m:oMath>
                </a14:m>
                <a:endParaRPr lang="he-IL" dirty="0"/>
              </a:p>
            </p:txBody>
          </p:sp>
        </mc:Choice>
        <mc:Fallback xmlns="">
          <p:sp>
            <p:nvSpPr>
              <p:cNvPr id="17" name="TextBox 16">
                <a:extLst>
                  <a:ext uri="{FF2B5EF4-FFF2-40B4-BE49-F238E27FC236}">
                    <a16:creationId xmlns:a16="http://schemas.microsoft.com/office/drawing/2014/main" id="{67C5D18D-B523-E639-C9BC-6071483DDF14}"/>
                  </a:ext>
                </a:extLst>
              </p:cNvPr>
              <p:cNvSpPr txBox="1">
                <a:spLocks noRot="1" noChangeAspect="1" noMove="1" noResize="1" noEditPoints="1" noAdjustHandles="1" noChangeArrowheads="1" noChangeShapeType="1" noTextEdit="1"/>
              </p:cNvSpPr>
              <p:nvPr/>
            </p:nvSpPr>
            <p:spPr>
              <a:xfrm>
                <a:off x="5272391" y="5007848"/>
                <a:ext cx="6919609" cy="1200329"/>
              </a:xfrm>
              <a:prstGeom prst="rect">
                <a:avLst/>
              </a:prstGeom>
              <a:blipFill>
                <a:blip r:embed="rId4"/>
                <a:stretch>
                  <a:fillRect/>
                </a:stretch>
              </a:blipFill>
            </p:spPr>
            <p:txBody>
              <a:bodyPr/>
              <a:lstStyle/>
              <a:p>
                <a:r>
                  <a:rPr lang="he-IL">
                    <a:noFill/>
                  </a:rPr>
                  <a:t> </a:t>
                </a:r>
              </a:p>
            </p:txBody>
          </p:sp>
        </mc:Fallback>
      </mc:AlternateContent>
      <p:sp>
        <p:nvSpPr>
          <p:cNvPr id="18" name="Rectangle 17">
            <a:extLst>
              <a:ext uri="{FF2B5EF4-FFF2-40B4-BE49-F238E27FC236}">
                <a16:creationId xmlns:a16="http://schemas.microsoft.com/office/drawing/2014/main" id="{C37EB940-56A5-4CD8-FBFF-B8430A25F27B}"/>
              </a:ext>
            </a:extLst>
          </p:cNvPr>
          <p:cNvSpPr/>
          <p:nvPr/>
        </p:nvSpPr>
        <p:spPr>
          <a:xfrm>
            <a:off x="0" y="4864037"/>
            <a:ext cx="4348263" cy="4303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Short remainder of 2D convolution:</a:t>
            </a:r>
            <a:endParaRPr lang="he-IL" dirty="0"/>
          </a:p>
        </p:txBody>
      </p:sp>
      <p:sp>
        <p:nvSpPr>
          <p:cNvPr id="19" name="Rectangle 18">
            <a:extLst>
              <a:ext uri="{FF2B5EF4-FFF2-40B4-BE49-F238E27FC236}">
                <a16:creationId xmlns:a16="http://schemas.microsoft.com/office/drawing/2014/main" id="{6E6433CE-1A0B-CF38-F710-C4862C75EF75}"/>
              </a:ext>
            </a:extLst>
          </p:cNvPr>
          <p:cNvSpPr/>
          <p:nvPr/>
        </p:nvSpPr>
        <p:spPr>
          <a:xfrm>
            <a:off x="0" y="6339641"/>
            <a:ext cx="6828818" cy="5183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The 2D convolution is a dimensional expansion to the well known 1D convolution as we studies in digital signal processing Couse</a:t>
            </a:r>
            <a:endParaRPr lang="he-IL" dirty="0"/>
          </a:p>
        </p:txBody>
      </p:sp>
      <p:pic>
        <p:nvPicPr>
          <p:cNvPr id="8" name="Picture 7">
            <a:extLst>
              <a:ext uri="{FF2B5EF4-FFF2-40B4-BE49-F238E27FC236}">
                <a16:creationId xmlns:a16="http://schemas.microsoft.com/office/drawing/2014/main" id="{9F5CD8F7-7184-3429-E026-555405C57383}"/>
              </a:ext>
            </a:extLst>
          </p:cNvPr>
          <p:cNvPicPr>
            <a:picLocks noChangeAspect="1"/>
          </p:cNvPicPr>
          <p:nvPr/>
        </p:nvPicPr>
        <p:blipFill>
          <a:blip r:embed="rId5"/>
          <a:stretch>
            <a:fillRect/>
          </a:stretch>
        </p:blipFill>
        <p:spPr>
          <a:xfrm>
            <a:off x="0" y="2281656"/>
            <a:ext cx="8950576" cy="1482650"/>
          </a:xfrm>
          <a:prstGeom prst="rect">
            <a:avLst/>
          </a:prstGeom>
        </p:spPr>
      </p:pic>
      <p:sp>
        <p:nvSpPr>
          <p:cNvPr id="12" name="TextBox 11">
            <a:extLst>
              <a:ext uri="{FF2B5EF4-FFF2-40B4-BE49-F238E27FC236}">
                <a16:creationId xmlns:a16="http://schemas.microsoft.com/office/drawing/2014/main" id="{252993BC-0DB3-649F-9C42-A8BF0F0C377D}"/>
              </a:ext>
            </a:extLst>
          </p:cNvPr>
          <p:cNvSpPr txBox="1"/>
          <p:nvPr/>
        </p:nvSpPr>
        <p:spPr>
          <a:xfrm>
            <a:off x="0" y="630099"/>
            <a:ext cx="8950576" cy="1477328"/>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 next is clipping the Result to the Valid Pixel Range (0-255). </a:t>
            </a:r>
          </a:p>
          <a:p>
            <a:r>
              <a:rPr lang="en-US" dirty="0"/>
              <a:t>The purpose: Ensures that the resulting pixel value stays within the valid grayscale range.</a:t>
            </a:r>
          </a:p>
          <a:p>
            <a:endParaRPr lang="en-US" dirty="0"/>
          </a:p>
          <a:p>
            <a:r>
              <a:rPr lang="en-US" dirty="0"/>
              <a:t>If summa is less than 0.0, it is set to 0.0.If summa is greater than 255.0, it is set to 255.0.Otherwise, summa remains unchanged.</a:t>
            </a:r>
            <a:endParaRPr lang="he-IL" dirty="0"/>
          </a:p>
        </p:txBody>
      </p:sp>
      <p:sp>
        <p:nvSpPr>
          <p:cNvPr id="21" name="TextBox 20">
            <a:extLst>
              <a:ext uri="{FF2B5EF4-FFF2-40B4-BE49-F238E27FC236}">
                <a16:creationId xmlns:a16="http://schemas.microsoft.com/office/drawing/2014/main" id="{5CFAC14C-4801-5867-7C85-C56CCA9F5347}"/>
              </a:ext>
            </a:extLst>
          </p:cNvPr>
          <p:cNvSpPr txBox="1"/>
          <p:nvPr/>
        </p:nvSpPr>
        <p:spPr>
          <a:xfrm>
            <a:off x="1568586" y="3843811"/>
            <a:ext cx="6191654" cy="369332"/>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Finally : assign the Computed Value to the Destination Image</a:t>
            </a:r>
            <a:endParaRPr lang="he-IL" dirty="0"/>
          </a:p>
        </p:txBody>
      </p:sp>
    </p:spTree>
    <p:extLst>
      <p:ext uri="{BB962C8B-B14F-4D97-AF65-F5344CB8AC3E}">
        <p14:creationId xmlns:p14="http://schemas.microsoft.com/office/powerpoint/2010/main" val="4186383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31ECFB-D290-0744-545A-0ED9E2975883}"/>
              </a:ext>
            </a:extLst>
          </p:cNvPr>
          <p:cNvPicPr>
            <a:picLocks noChangeAspect="1"/>
          </p:cNvPicPr>
          <p:nvPr/>
        </p:nvPicPr>
        <p:blipFill>
          <a:blip r:embed="rId2"/>
          <a:stretch>
            <a:fillRect/>
          </a:stretch>
        </p:blipFill>
        <p:spPr>
          <a:xfrm>
            <a:off x="0" y="1507850"/>
            <a:ext cx="12192000" cy="5048250"/>
          </a:xfrm>
          <a:prstGeom prst="rect">
            <a:avLst/>
          </a:prstGeom>
        </p:spPr>
      </p:pic>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7</a:t>
            </a:fld>
            <a:endParaRPr lang="he-IL" sz="1600" dirty="0"/>
          </a:p>
        </p:txBody>
      </p:sp>
      <p:sp>
        <p:nvSpPr>
          <p:cNvPr id="8" name="Google Shape;60;p14">
            <a:extLst>
              <a:ext uri="{FF2B5EF4-FFF2-40B4-BE49-F238E27FC236}">
                <a16:creationId xmlns:a16="http://schemas.microsoft.com/office/drawing/2014/main" id="{D374BE6E-485B-7DC6-C0F0-DB1128681F30}"/>
              </a:ext>
            </a:extLst>
          </p:cNvPr>
          <p:cNvSpPr txBox="1"/>
          <p:nvPr/>
        </p:nvSpPr>
        <p:spPr>
          <a:xfrm>
            <a:off x="1686534" y="-25210"/>
            <a:ext cx="8818932" cy="457645"/>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2</a:t>
            </a:r>
            <a:r>
              <a:rPr lang="en-US" sz="2800" b="1" u="sng" dirty="0">
                <a:solidFill>
                  <a:srgbClr val="0070C0"/>
                </a:solidFill>
              </a:rPr>
              <a:t> -  the function “Convert”</a:t>
            </a:r>
            <a:endParaRPr lang="en-US" sz="2800" b="1" u="sng" dirty="0">
              <a:solidFill>
                <a:srgbClr val="FF0000"/>
              </a:solidFill>
            </a:endParaRPr>
          </a:p>
          <a:p>
            <a:pPr algn="ctr"/>
            <a:endParaRPr sz="2000" b="1" u="sng" dirty="0">
              <a:solidFill>
                <a:srgbClr val="FF0000"/>
              </a:solidFill>
            </a:endParaRPr>
          </a:p>
        </p:txBody>
      </p:sp>
      <p:sp>
        <p:nvSpPr>
          <p:cNvPr id="3" name="TextBox 2">
            <a:extLst>
              <a:ext uri="{FF2B5EF4-FFF2-40B4-BE49-F238E27FC236}">
                <a16:creationId xmlns:a16="http://schemas.microsoft.com/office/drawing/2014/main" id="{EFE0B83D-08E6-FFA2-68C7-D500E1598503}"/>
              </a:ext>
            </a:extLst>
          </p:cNvPr>
          <p:cNvSpPr txBox="1"/>
          <p:nvPr/>
        </p:nvSpPr>
        <p:spPr>
          <a:xfrm>
            <a:off x="2057805" y="660932"/>
            <a:ext cx="8818932" cy="646331"/>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Convert function scales and normalizes the floating-point image data (</a:t>
            </a:r>
            <a:r>
              <a:rPr lang="en-US" b="1" dirty="0"/>
              <a:t>floatImage</a:t>
            </a:r>
            <a:r>
              <a:rPr lang="en-US" dirty="0"/>
              <a:t>) into the 0-255 range, which is suitable for 8-bit grayscale images.</a:t>
            </a:r>
            <a:endParaRPr lang="he-IL" dirty="0"/>
          </a:p>
        </p:txBody>
      </p:sp>
      <p:sp>
        <p:nvSpPr>
          <p:cNvPr id="6" name="TextBox 5">
            <a:extLst>
              <a:ext uri="{FF2B5EF4-FFF2-40B4-BE49-F238E27FC236}">
                <a16:creationId xmlns:a16="http://schemas.microsoft.com/office/drawing/2014/main" id="{8F29092D-3F28-DC31-C43F-FCF398FE0E8F}"/>
              </a:ext>
            </a:extLst>
          </p:cNvPr>
          <p:cNvSpPr txBox="1"/>
          <p:nvPr/>
        </p:nvSpPr>
        <p:spPr>
          <a:xfrm>
            <a:off x="5956570" y="2546363"/>
            <a:ext cx="4779523" cy="923330"/>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The function calculates two factors, c and b, which are used to linearly transform the values in floatImage to the desired 0-255 range.</a:t>
            </a:r>
            <a:endParaRPr lang="he-IL" dirty="0"/>
          </a:p>
        </p:txBody>
      </p:sp>
      <p:sp>
        <p:nvSpPr>
          <p:cNvPr id="9" name="Right Brace 8">
            <a:extLst>
              <a:ext uri="{FF2B5EF4-FFF2-40B4-BE49-F238E27FC236}">
                <a16:creationId xmlns:a16="http://schemas.microsoft.com/office/drawing/2014/main" id="{944F7E88-BD7B-6793-55CD-D0A982510F94}"/>
              </a:ext>
            </a:extLst>
          </p:cNvPr>
          <p:cNvSpPr/>
          <p:nvPr/>
        </p:nvSpPr>
        <p:spPr>
          <a:xfrm>
            <a:off x="4893013" y="2120630"/>
            <a:ext cx="982493" cy="2120630"/>
          </a:xfrm>
          <a:prstGeom prst="rightBrace">
            <a:avLst/>
          </a:prstGeom>
        </p:spPr>
        <p:style>
          <a:lnRef idx="3">
            <a:schemeClr val="accent4"/>
          </a:lnRef>
          <a:fillRef idx="0">
            <a:schemeClr val="accent4"/>
          </a:fillRef>
          <a:effectRef idx="2">
            <a:schemeClr val="accent4"/>
          </a:effectRef>
          <a:fontRef idx="minor">
            <a:schemeClr val="tx1"/>
          </a:fontRef>
        </p:style>
        <p:txBody>
          <a:bodyPr rtlCol="1" anchor="ctr"/>
          <a:lstStyle/>
          <a:p>
            <a:pPr algn="ctr"/>
            <a:endParaRPr lang="he-IL"/>
          </a:p>
        </p:txBody>
      </p:sp>
      <p:sp>
        <p:nvSpPr>
          <p:cNvPr id="13" name="TextBox 12">
            <a:extLst>
              <a:ext uri="{FF2B5EF4-FFF2-40B4-BE49-F238E27FC236}">
                <a16:creationId xmlns:a16="http://schemas.microsoft.com/office/drawing/2014/main" id="{37C8A720-D113-11C1-470A-2B1592DB4A3D}"/>
              </a:ext>
            </a:extLst>
          </p:cNvPr>
          <p:cNvSpPr txBox="1"/>
          <p:nvPr/>
        </p:nvSpPr>
        <p:spPr>
          <a:xfrm>
            <a:off x="7953983" y="3570310"/>
            <a:ext cx="4215319"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 function then iterates over every pixel in the </a:t>
            </a:r>
            <a:r>
              <a:rPr lang="en-US" b="1" dirty="0"/>
              <a:t>floatImage</a:t>
            </a:r>
            <a:r>
              <a:rPr lang="en-US" dirty="0"/>
              <a:t>, applying the linear transformation defined by c and b.</a:t>
            </a:r>
            <a:endParaRPr lang="he-IL" dirty="0"/>
          </a:p>
        </p:txBody>
      </p:sp>
      <p:sp>
        <p:nvSpPr>
          <p:cNvPr id="15" name="TextBox 14">
            <a:extLst>
              <a:ext uri="{FF2B5EF4-FFF2-40B4-BE49-F238E27FC236}">
                <a16:creationId xmlns:a16="http://schemas.microsoft.com/office/drawing/2014/main" id="{CF2C0F5B-3261-69E2-A6CE-C03A95E49FD4}"/>
              </a:ext>
            </a:extLst>
          </p:cNvPr>
          <p:cNvSpPr txBox="1"/>
          <p:nvPr/>
        </p:nvSpPr>
        <p:spPr>
          <a:xfrm>
            <a:off x="8346331" y="4480295"/>
            <a:ext cx="3822970" cy="1200329"/>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For each pixel, the formula used is temp = c * (*ptrToFloatImage++) + b. This calculates the new pixel value in the normalized range.</a:t>
            </a:r>
            <a:endParaRPr lang="he-IL" dirty="0"/>
          </a:p>
        </p:txBody>
      </p:sp>
      <p:sp>
        <p:nvSpPr>
          <p:cNvPr id="19" name="TextBox 18">
            <a:extLst>
              <a:ext uri="{FF2B5EF4-FFF2-40B4-BE49-F238E27FC236}">
                <a16:creationId xmlns:a16="http://schemas.microsoft.com/office/drawing/2014/main" id="{DA34CFFA-4903-72E9-D59C-9B2ABBA5769F}"/>
              </a:ext>
            </a:extLst>
          </p:cNvPr>
          <p:cNvSpPr txBox="1"/>
          <p:nvPr/>
        </p:nvSpPr>
        <p:spPr>
          <a:xfrm>
            <a:off x="6874213" y="5676345"/>
            <a:ext cx="5295089" cy="92333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value is then clamped to ensure it stays within the 0-255 range. If temp is less than 0, it is set to 0; if greater than 255, it is set to 255.</a:t>
            </a:r>
            <a:endParaRPr lang="he-IL" dirty="0"/>
          </a:p>
        </p:txBody>
      </p:sp>
    </p:spTree>
    <p:extLst>
      <p:ext uri="{BB962C8B-B14F-4D97-AF65-F5344CB8AC3E}">
        <p14:creationId xmlns:p14="http://schemas.microsoft.com/office/powerpoint/2010/main" val="557901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34306A5-1D52-26A3-5812-CB6890D20EE7}"/>
              </a:ext>
            </a:extLst>
          </p:cNvPr>
          <p:cNvPicPr>
            <a:picLocks noChangeAspect="1"/>
          </p:cNvPicPr>
          <p:nvPr/>
        </p:nvPicPr>
        <p:blipFill>
          <a:blip r:embed="rId2"/>
          <a:stretch>
            <a:fillRect/>
          </a:stretch>
        </p:blipFill>
        <p:spPr>
          <a:xfrm>
            <a:off x="0" y="1527086"/>
            <a:ext cx="11115675" cy="3667125"/>
          </a:xfrm>
          <a:prstGeom prst="rect">
            <a:avLst/>
          </a:prstGeom>
        </p:spPr>
      </p:pic>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8</a:t>
            </a:fld>
            <a:endParaRPr lang="he-IL" sz="1600" dirty="0"/>
          </a:p>
        </p:txBody>
      </p:sp>
      <p:sp>
        <p:nvSpPr>
          <p:cNvPr id="2" name="Google Shape;60;p14">
            <a:extLst>
              <a:ext uri="{FF2B5EF4-FFF2-40B4-BE49-F238E27FC236}">
                <a16:creationId xmlns:a16="http://schemas.microsoft.com/office/drawing/2014/main" id="{0CEE3D3E-64E2-4130-C682-EDFFAB77E832}"/>
              </a:ext>
            </a:extLst>
          </p:cNvPr>
          <p:cNvSpPr txBox="1"/>
          <p:nvPr/>
        </p:nvSpPr>
        <p:spPr>
          <a:xfrm>
            <a:off x="1128611" y="-83188"/>
            <a:ext cx="9934778" cy="700952"/>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3</a:t>
            </a:r>
            <a:r>
              <a:rPr lang="en-US" sz="2800" b="1" u="sng" dirty="0">
                <a:solidFill>
                  <a:srgbClr val="0070C0"/>
                </a:solidFill>
              </a:rPr>
              <a:t> -  the function “OptimalConvert”</a:t>
            </a:r>
            <a:endParaRPr lang="en-US" sz="2800" b="1" u="sng" dirty="0">
              <a:solidFill>
                <a:srgbClr val="FF0000"/>
              </a:solidFill>
            </a:endParaRPr>
          </a:p>
          <a:p>
            <a:pPr algn="ctr"/>
            <a:endParaRPr lang="en-US" sz="2000" b="1" u="sng" dirty="0">
              <a:solidFill>
                <a:srgbClr val="FF0000"/>
              </a:solidFill>
            </a:endParaRPr>
          </a:p>
        </p:txBody>
      </p:sp>
      <p:sp>
        <p:nvSpPr>
          <p:cNvPr id="5" name="TextBox 4">
            <a:extLst>
              <a:ext uri="{FF2B5EF4-FFF2-40B4-BE49-F238E27FC236}">
                <a16:creationId xmlns:a16="http://schemas.microsoft.com/office/drawing/2014/main" id="{50B68CDB-CDC5-3A7F-3894-71A52ABE86F1}"/>
              </a:ext>
            </a:extLst>
          </p:cNvPr>
          <p:cNvSpPr txBox="1"/>
          <p:nvPr/>
        </p:nvSpPr>
        <p:spPr>
          <a:xfrm>
            <a:off x="558940" y="6227689"/>
            <a:ext cx="10801746"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This conversion is crucial because, after various operations in the frequency domain, the pixel values might not be in a range that can be directly displayed or interpreted.</a:t>
            </a:r>
            <a:endParaRPr lang="he-IL" dirty="0"/>
          </a:p>
        </p:txBody>
      </p:sp>
      <p:sp>
        <p:nvSpPr>
          <p:cNvPr id="8" name="TextBox 7">
            <a:extLst>
              <a:ext uri="{FF2B5EF4-FFF2-40B4-BE49-F238E27FC236}">
                <a16:creationId xmlns:a16="http://schemas.microsoft.com/office/drawing/2014/main" id="{C9126E77-5391-19F2-3A94-9E472E56A3E8}"/>
              </a:ext>
            </a:extLst>
          </p:cNvPr>
          <p:cNvSpPr txBox="1"/>
          <p:nvPr/>
        </p:nvSpPr>
        <p:spPr>
          <a:xfrm>
            <a:off x="413435" y="710097"/>
            <a:ext cx="11622112"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t>That function is designed to take an image represented in the frequency domain (stored in a floating-point array </a:t>
            </a:r>
            <a:r>
              <a:rPr lang="en-US" b="1" u="sng" dirty="0">
                <a:solidFill>
                  <a:srgbClr val="FFFF00"/>
                </a:solidFill>
              </a:rPr>
              <a:t>floatImage</a:t>
            </a:r>
            <a:r>
              <a:rPr lang="en-US" b="1" dirty="0"/>
              <a:t>) and convert it into a grayscale image represented as an 8-bit unsigned char array (</a:t>
            </a:r>
            <a:r>
              <a:rPr lang="en-US" b="1" u="sng" dirty="0">
                <a:solidFill>
                  <a:srgbClr val="FFFF00"/>
                </a:solidFill>
              </a:rPr>
              <a:t>byteOriginal</a:t>
            </a:r>
            <a:r>
              <a:rPr lang="en-US" b="1" dirty="0"/>
              <a:t>). </a:t>
            </a:r>
            <a:endParaRPr lang="he-IL" b="1" dirty="0"/>
          </a:p>
        </p:txBody>
      </p:sp>
      <p:sp>
        <p:nvSpPr>
          <p:cNvPr id="10" name="TextBox 9">
            <a:extLst>
              <a:ext uri="{FF2B5EF4-FFF2-40B4-BE49-F238E27FC236}">
                <a16:creationId xmlns:a16="http://schemas.microsoft.com/office/drawing/2014/main" id="{AB5FA884-3C3D-7ECE-01B1-FC1FE2A332C4}"/>
              </a:ext>
            </a:extLst>
          </p:cNvPr>
          <p:cNvSpPr txBox="1"/>
          <p:nvPr/>
        </p:nvSpPr>
        <p:spPr>
          <a:xfrm>
            <a:off x="9013216" y="2095777"/>
            <a:ext cx="3106366" cy="2862322"/>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The function scans through the </a:t>
            </a:r>
            <a:r>
              <a:rPr lang="en-US" b="1" dirty="0"/>
              <a:t>floatImage</a:t>
            </a:r>
            <a:r>
              <a:rPr lang="en-US" dirty="0"/>
              <a:t> to find the minimum (</a:t>
            </a:r>
            <a:r>
              <a:rPr lang="en-US" b="1" dirty="0"/>
              <a:t>MinVal</a:t>
            </a:r>
            <a:r>
              <a:rPr lang="en-US" dirty="0"/>
              <a:t>) and maximum (</a:t>
            </a:r>
            <a:r>
              <a:rPr lang="en-US" b="1" dirty="0"/>
              <a:t>MaxVal</a:t>
            </a:r>
            <a:r>
              <a:rPr lang="en-US" dirty="0"/>
              <a:t>) values. This step is crucial because the pixel values after FFT and subsequent operations might span a wide range and normalizing them is necessary for visualization.</a:t>
            </a:r>
            <a:endParaRPr lang="he-IL" dirty="0"/>
          </a:p>
        </p:txBody>
      </p:sp>
      <p:sp>
        <p:nvSpPr>
          <p:cNvPr id="13" name="TextBox 12">
            <a:extLst>
              <a:ext uri="{FF2B5EF4-FFF2-40B4-BE49-F238E27FC236}">
                <a16:creationId xmlns:a16="http://schemas.microsoft.com/office/drawing/2014/main" id="{E6A9B489-6EFE-C579-B838-55B502600D1C}"/>
              </a:ext>
            </a:extLst>
          </p:cNvPr>
          <p:cNvSpPr txBox="1"/>
          <p:nvPr/>
        </p:nvSpPr>
        <p:spPr>
          <a:xfrm>
            <a:off x="6527260" y="5024353"/>
            <a:ext cx="5592322" cy="1200329"/>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The function then calls Convert, passing the MinVal and </a:t>
            </a:r>
            <a:r>
              <a:rPr lang="en-US" u="sng" dirty="0"/>
              <a:t>MaxVal</a:t>
            </a:r>
            <a:r>
              <a:rPr lang="en-US" dirty="0"/>
              <a:t> it found. The Convert function normalizes the values in floatImage so that they fit within the 0-255 range, which is suitable for a grayscale image.</a:t>
            </a:r>
            <a:endParaRPr lang="he-IL" dirty="0"/>
          </a:p>
        </p:txBody>
      </p:sp>
    </p:spTree>
    <p:extLst>
      <p:ext uri="{BB962C8B-B14F-4D97-AF65-F5344CB8AC3E}">
        <p14:creationId xmlns:p14="http://schemas.microsoft.com/office/powerpoint/2010/main" val="2354416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DE3CEBB-6B40-7007-6D3B-C8CD01D08CFC}"/>
              </a:ext>
            </a:extLst>
          </p:cNvPr>
          <p:cNvPicPr>
            <a:picLocks noChangeAspect="1"/>
          </p:cNvPicPr>
          <p:nvPr/>
        </p:nvPicPr>
        <p:blipFill>
          <a:blip r:embed="rId3"/>
          <a:stretch>
            <a:fillRect/>
          </a:stretch>
        </p:blipFill>
        <p:spPr>
          <a:xfrm>
            <a:off x="-1" y="1527044"/>
            <a:ext cx="12192000" cy="3566901"/>
          </a:xfrm>
          <a:prstGeom prst="rect">
            <a:avLst/>
          </a:prstGeom>
        </p:spPr>
      </p:pic>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879094" y="67310"/>
            <a:ext cx="312906"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9</a:t>
            </a:fld>
            <a:endParaRPr lang="he-IL" sz="1600" dirty="0"/>
          </a:p>
        </p:txBody>
      </p:sp>
      <p:sp>
        <p:nvSpPr>
          <p:cNvPr id="2" name="Google Shape;60;p14">
            <a:extLst>
              <a:ext uri="{FF2B5EF4-FFF2-40B4-BE49-F238E27FC236}">
                <a16:creationId xmlns:a16="http://schemas.microsoft.com/office/drawing/2014/main" id="{4B013A23-FBDD-8A01-99CB-50ECF229E8C7}"/>
              </a:ext>
            </a:extLst>
          </p:cNvPr>
          <p:cNvSpPr txBox="1"/>
          <p:nvPr/>
        </p:nvSpPr>
        <p:spPr>
          <a:xfrm>
            <a:off x="1595741" y="-97837"/>
            <a:ext cx="9000518" cy="730020"/>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4</a:t>
            </a:r>
            <a:r>
              <a:rPr lang="en-US" sz="2800" b="1" u="sng" dirty="0">
                <a:solidFill>
                  <a:srgbClr val="0070C0"/>
                </a:solidFill>
              </a:rPr>
              <a:t> -  the function “DoFFT”</a:t>
            </a:r>
            <a:endParaRPr lang="en-US" sz="2800" b="1" u="sng" dirty="0">
              <a:solidFill>
                <a:srgbClr val="FF0000"/>
              </a:solidFill>
            </a:endParaRPr>
          </a:p>
          <a:p>
            <a:pPr algn="ctr"/>
            <a:endParaRPr lang="en-US" sz="2000" b="1" u="sng" dirty="0">
              <a:solidFill>
                <a:srgbClr val="FF0000"/>
              </a:solidFill>
            </a:endParaRPr>
          </a:p>
        </p:txBody>
      </p:sp>
      <p:sp>
        <p:nvSpPr>
          <p:cNvPr id="5" name="TextBox 4">
            <a:extLst>
              <a:ext uri="{FF2B5EF4-FFF2-40B4-BE49-F238E27FC236}">
                <a16:creationId xmlns:a16="http://schemas.microsoft.com/office/drawing/2014/main" id="{896F4351-449A-07D0-6A4A-9EF6448EA445}"/>
              </a:ext>
            </a:extLst>
          </p:cNvPr>
          <p:cNvSpPr txBox="1"/>
          <p:nvPr/>
        </p:nvSpPr>
        <p:spPr>
          <a:xfrm>
            <a:off x="2005721" y="518475"/>
            <a:ext cx="8180557" cy="923330"/>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b="1" dirty="0"/>
              <a:t>The DoFFT function converts an image between the spatial domain and the frequency domain. In the frequency domain, the image data is represented by two components: the real part (imageRe) and the imaginary part (imageIm).</a:t>
            </a:r>
            <a:endParaRPr lang="he-IL" b="1" dirty="0"/>
          </a:p>
        </p:txBody>
      </p:sp>
      <p:sp>
        <p:nvSpPr>
          <p:cNvPr id="8" name="TextBox 7">
            <a:extLst>
              <a:ext uri="{FF2B5EF4-FFF2-40B4-BE49-F238E27FC236}">
                <a16:creationId xmlns:a16="http://schemas.microsoft.com/office/drawing/2014/main" id="{63544AC4-326F-97EE-5E89-B5084350A522}"/>
              </a:ext>
            </a:extLst>
          </p:cNvPr>
          <p:cNvSpPr txBox="1"/>
          <p:nvPr/>
        </p:nvSpPr>
        <p:spPr>
          <a:xfrm>
            <a:off x="5826869" y="2459184"/>
            <a:ext cx="5673656" cy="1477328"/>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The core of the DoFFT function is the call to PrimeFFTn, which is a specialized FFT function provided in the </a:t>
            </a:r>
            <a:r>
              <a:rPr lang="en-US" b="1" dirty="0"/>
              <a:t>PrimeFFTn.h</a:t>
            </a:r>
            <a:r>
              <a:rPr lang="en-US" dirty="0"/>
              <a:t> library (was given to use in the website of the course). This function performs the actual FFT calculation based on the provided parameters:</a:t>
            </a:r>
            <a:endParaRPr lang="he-IL" dirty="0"/>
          </a:p>
        </p:txBody>
      </p:sp>
      <p:sp>
        <p:nvSpPr>
          <p:cNvPr id="10" name="TextBox 9">
            <a:extLst>
              <a:ext uri="{FF2B5EF4-FFF2-40B4-BE49-F238E27FC236}">
                <a16:creationId xmlns:a16="http://schemas.microsoft.com/office/drawing/2014/main" id="{F3C3D15A-83F7-9374-E8EC-88B76C150C6F}"/>
              </a:ext>
            </a:extLst>
          </p:cNvPr>
          <p:cNvSpPr txBox="1"/>
          <p:nvPr/>
        </p:nvSpPr>
        <p:spPr>
          <a:xfrm>
            <a:off x="4293952" y="4998064"/>
            <a:ext cx="6104106"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2 indicates that the FFT is being performed on a 2D array.</a:t>
            </a:r>
            <a:endParaRPr lang="he-IL" dirty="0"/>
          </a:p>
        </p:txBody>
      </p:sp>
      <p:sp>
        <p:nvSpPr>
          <p:cNvPr id="12" name="TextBox 11">
            <a:extLst>
              <a:ext uri="{FF2B5EF4-FFF2-40B4-BE49-F238E27FC236}">
                <a16:creationId xmlns:a16="http://schemas.microsoft.com/office/drawing/2014/main" id="{F224AAF8-F809-00F3-7EDD-FDA3D06FFF19}"/>
              </a:ext>
            </a:extLst>
          </p:cNvPr>
          <p:cNvSpPr txBox="1"/>
          <p:nvPr/>
        </p:nvSpPr>
        <p:spPr>
          <a:xfrm>
            <a:off x="4293952" y="5374034"/>
            <a:ext cx="6104106"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arrayOfDimensions specifies the dimensions of the array.</a:t>
            </a:r>
            <a:endParaRPr lang="he-IL" dirty="0"/>
          </a:p>
        </p:txBody>
      </p:sp>
      <p:sp>
        <p:nvSpPr>
          <p:cNvPr id="14" name="TextBox 13">
            <a:extLst>
              <a:ext uri="{FF2B5EF4-FFF2-40B4-BE49-F238E27FC236}">
                <a16:creationId xmlns:a16="http://schemas.microsoft.com/office/drawing/2014/main" id="{90E322AC-96B6-1EF2-E4BF-096A655BB368}"/>
              </a:ext>
            </a:extLst>
          </p:cNvPr>
          <p:cNvSpPr txBox="1"/>
          <p:nvPr/>
        </p:nvSpPr>
        <p:spPr>
          <a:xfrm>
            <a:off x="4293952" y="5765335"/>
            <a:ext cx="7906154"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t>ptrToRe</a:t>
            </a:r>
            <a:r>
              <a:rPr lang="en-US" dirty="0"/>
              <a:t> and </a:t>
            </a:r>
            <a:r>
              <a:rPr lang="en-US" b="1" dirty="0"/>
              <a:t>ptrToIm</a:t>
            </a:r>
            <a:r>
              <a:rPr lang="en-US" dirty="0"/>
              <a:t> point to the real and imaginary parts of the image data.</a:t>
            </a:r>
            <a:endParaRPr lang="he-IL" dirty="0"/>
          </a:p>
        </p:txBody>
      </p:sp>
      <p:sp>
        <p:nvSpPr>
          <p:cNvPr id="16" name="TextBox 15">
            <a:extLst>
              <a:ext uri="{FF2B5EF4-FFF2-40B4-BE49-F238E27FC236}">
                <a16:creationId xmlns:a16="http://schemas.microsoft.com/office/drawing/2014/main" id="{0E64F659-BB82-F50F-C0F2-A29222144C01}"/>
              </a:ext>
            </a:extLst>
          </p:cNvPr>
          <p:cNvSpPr txBox="1"/>
          <p:nvPr/>
        </p:nvSpPr>
        <p:spPr>
          <a:xfrm>
            <a:off x="4293952" y="6163274"/>
            <a:ext cx="6104106"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exponentSign determines the direction of the FFT.</a:t>
            </a:r>
            <a:endParaRPr lang="he-IL" dirty="0"/>
          </a:p>
        </p:txBody>
      </p:sp>
      <p:sp>
        <p:nvSpPr>
          <p:cNvPr id="18" name="TextBox 17">
            <a:extLst>
              <a:ext uri="{FF2B5EF4-FFF2-40B4-BE49-F238E27FC236}">
                <a16:creationId xmlns:a16="http://schemas.microsoft.com/office/drawing/2014/main" id="{D32660D1-C094-BCAF-D0C8-8F85A64523D1}"/>
              </a:ext>
            </a:extLst>
          </p:cNvPr>
          <p:cNvSpPr txBox="1"/>
          <p:nvPr/>
        </p:nvSpPr>
        <p:spPr>
          <a:xfrm>
            <a:off x="4293952" y="6488668"/>
            <a:ext cx="6104106"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normalizationScalingType controls how the result is scaled.</a:t>
            </a:r>
            <a:endParaRPr lang="he-IL" dirty="0"/>
          </a:p>
        </p:txBody>
      </p:sp>
      <p:sp>
        <p:nvSpPr>
          <p:cNvPr id="22" name="Right Brace 21">
            <a:extLst>
              <a:ext uri="{FF2B5EF4-FFF2-40B4-BE49-F238E27FC236}">
                <a16:creationId xmlns:a16="http://schemas.microsoft.com/office/drawing/2014/main" id="{1A76A20C-F8A8-D4E2-F0FD-B2930740526C}"/>
              </a:ext>
            </a:extLst>
          </p:cNvPr>
          <p:cNvSpPr/>
          <p:nvPr/>
        </p:nvSpPr>
        <p:spPr>
          <a:xfrm>
            <a:off x="3871609" y="3628417"/>
            <a:ext cx="330740" cy="1235413"/>
          </a:xfrm>
          <a:prstGeom prst="rightBrace">
            <a:avLst/>
          </a:prstGeom>
        </p:spPr>
        <p:style>
          <a:lnRef idx="3">
            <a:schemeClr val="accent2"/>
          </a:lnRef>
          <a:fillRef idx="0">
            <a:schemeClr val="accent2"/>
          </a:fillRef>
          <a:effectRef idx="2">
            <a:schemeClr val="accent2"/>
          </a:effectRef>
          <a:fontRef idx="minor">
            <a:schemeClr val="tx1"/>
          </a:fontRef>
        </p:style>
        <p:txBody>
          <a:bodyPr rtlCol="1" anchor="ctr"/>
          <a:lstStyle/>
          <a:p>
            <a:pPr algn="ctr"/>
            <a:endParaRPr lang="he-IL"/>
          </a:p>
        </p:txBody>
      </p:sp>
      <p:sp>
        <p:nvSpPr>
          <p:cNvPr id="23" name="Arrow: Bent 22">
            <a:extLst>
              <a:ext uri="{FF2B5EF4-FFF2-40B4-BE49-F238E27FC236}">
                <a16:creationId xmlns:a16="http://schemas.microsoft.com/office/drawing/2014/main" id="{223F0DDF-99CD-330A-3C35-2979253655AA}"/>
              </a:ext>
            </a:extLst>
          </p:cNvPr>
          <p:cNvSpPr/>
          <p:nvPr/>
        </p:nvSpPr>
        <p:spPr>
          <a:xfrm rot="5400000">
            <a:off x="5353829" y="3042528"/>
            <a:ext cx="878936" cy="2998690"/>
          </a:xfrm>
          <a:prstGeom prst="bentArrow">
            <a:avLst/>
          </a:prstGeom>
        </p:spPr>
        <p:style>
          <a:lnRef idx="0">
            <a:schemeClr val="accent2"/>
          </a:lnRef>
          <a:fillRef idx="3">
            <a:schemeClr val="accent2"/>
          </a:fillRef>
          <a:effectRef idx="3">
            <a:schemeClr val="accent2"/>
          </a:effectRef>
          <a:fontRef idx="minor">
            <a:schemeClr val="lt1"/>
          </a:fontRef>
        </p:style>
        <p:txBody>
          <a:bodyPr rtlCol="1" anchor="ctr"/>
          <a:lstStyle/>
          <a:p>
            <a:pPr algn="ctr"/>
            <a:endParaRPr lang="he-IL">
              <a:solidFill>
                <a:schemeClr val="tx1"/>
              </a:solidFill>
            </a:endParaRPr>
          </a:p>
        </p:txBody>
      </p:sp>
    </p:spTree>
    <p:extLst>
      <p:ext uri="{BB962C8B-B14F-4D97-AF65-F5344CB8AC3E}">
        <p14:creationId xmlns:p14="http://schemas.microsoft.com/office/powerpoint/2010/main" val="3901909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AA87722-CE5B-AC07-EB9D-97BEEAE34133}"/>
              </a:ext>
            </a:extLst>
          </p:cNvPr>
          <p:cNvPicPr>
            <a:picLocks noChangeAspect="1"/>
          </p:cNvPicPr>
          <p:nvPr/>
        </p:nvPicPr>
        <p:blipFill>
          <a:blip r:embed="rId2"/>
          <a:stretch>
            <a:fillRect/>
          </a:stretch>
        </p:blipFill>
        <p:spPr>
          <a:xfrm>
            <a:off x="0" y="1373727"/>
            <a:ext cx="8315325" cy="4314825"/>
          </a:xfrm>
          <a:prstGeom prst="rect">
            <a:avLst/>
          </a:prstGeom>
        </p:spPr>
      </p:pic>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780197" y="67310"/>
            <a:ext cx="411804"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10</a:t>
            </a:fld>
            <a:endParaRPr lang="he-IL" sz="1600" dirty="0"/>
          </a:p>
        </p:txBody>
      </p:sp>
      <p:sp>
        <p:nvSpPr>
          <p:cNvPr id="2" name="Google Shape;60;p14">
            <a:extLst>
              <a:ext uri="{FF2B5EF4-FFF2-40B4-BE49-F238E27FC236}">
                <a16:creationId xmlns:a16="http://schemas.microsoft.com/office/drawing/2014/main" id="{ED7D8677-CD8F-7153-E0F5-1CD1A24739EF}"/>
              </a:ext>
            </a:extLst>
          </p:cNvPr>
          <p:cNvSpPr txBox="1"/>
          <p:nvPr/>
        </p:nvSpPr>
        <p:spPr>
          <a:xfrm>
            <a:off x="1323164" y="-49141"/>
            <a:ext cx="9545672" cy="632858"/>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5</a:t>
            </a:r>
            <a:r>
              <a:rPr lang="en-US" sz="2800" b="1" u="sng" dirty="0">
                <a:solidFill>
                  <a:srgbClr val="0070C0"/>
                </a:solidFill>
              </a:rPr>
              <a:t> -  the function “ShiftHalfSize”</a:t>
            </a:r>
            <a:endParaRPr lang="en-US" sz="2800" b="1" u="sng" dirty="0">
              <a:solidFill>
                <a:srgbClr val="FF0000"/>
              </a:solidFill>
            </a:endParaRPr>
          </a:p>
          <a:p>
            <a:pPr algn="ctr"/>
            <a:endParaRPr lang="en-US" sz="2000" b="1" u="sng" dirty="0">
              <a:solidFill>
                <a:srgbClr val="FF0000"/>
              </a:solidFill>
            </a:endParaRPr>
          </a:p>
        </p:txBody>
      </p:sp>
      <p:sp>
        <p:nvSpPr>
          <p:cNvPr id="5" name="TextBox 4">
            <a:extLst>
              <a:ext uri="{FF2B5EF4-FFF2-40B4-BE49-F238E27FC236}">
                <a16:creationId xmlns:a16="http://schemas.microsoft.com/office/drawing/2014/main" id="{ECE60067-974F-0836-3C09-BC47C51A3B25}"/>
              </a:ext>
            </a:extLst>
          </p:cNvPr>
          <p:cNvSpPr txBox="1"/>
          <p:nvPr/>
        </p:nvSpPr>
        <p:spPr>
          <a:xfrm>
            <a:off x="2068749" y="571779"/>
            <a:ext cx="8054502" cy="64633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b="1" dirty="0"/>
              <a:t>That function shifts the quadrants of the image so that the zero frequency component (also known as the DC component) is centered.</a:t>
            </a:r>
            <a:endParaRPr lang="he-IL" b="1" dirty="0"/>
          </a:p>
        </p:txBody>
      </p:sp>
      <p:sp>
        <p:nvSpPr>
          <p:cNvPr id="8" name="TextBox 7">
            <a:extLst>
              <a:ext uri="{FF2B5EF4-FFF2-40B4-BE49-F238E27FC236}">
                <a16:creationId xmlns:a16="http://schemas.microsoft.com/office/drawing/2014/main" id="{BEE9B264-31DE-8C28-41C8-BDFF55BAD68B}"/>
              </a:ext>
            </a:extLst>
          </p:cNvPr>
          <p:cNvSpPr txBox="1"/>
          <p:nvPr/>
        </p:nvSpPr>
        <p:spPr>
          <a:xfrm>
            <a:off x="1787052" y="6132048"/>
            <a:ext cx="8617895" cy="369332"/>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The </a:t>
            </a:r>
            <a:r>
              <a:rPr lang="en-US" b="1" dirty="0"/>
              <a:t>ShiftHalfSize</a:t>
            </a:r>
            <a:r>
              <a:rPr lang="en-US" dirty="0"/>
              <a:t> function is conceptually similar to the fftshift function in MATLAB.</a:t>
            </a:r>
            <a:endParaRPr lang="he-IL" dirty="0"/>
          </a:p>
        </p:txBody>
      </p:sp>
      <p:sp>
        <p:nvSpPr>
          <p:cNvPr id="11" name="TextBox 10">
            <a:extLst>
              <a:ext uri="{FF2B5EF4-FFF2-40B4-BE49-F238E27FC236}">
                <a16:creationId xmlns:a16="http://schemas.microsoft.com/office/drawing/2014/main" id="{10481AC8-DBF5-F14E-59ED-0E1FEE21959B}"/>
              </a:ext>
            </a:extLst>
          </p:cNvPr>
          <p:cNvSpPr txBox="1"/>
          <p:nvPr/>
        </p:nvSpPr>
        <p:spPr>
          <a:xfrm>
            <a:off x="7023371" y="3069475"/>
            <a:ext cx="5030822"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It rearranges the output of the FFT such that the low frequencies are centered, which is often more intuitive for analysis and visualization.</a:t>
            </a:r>
            <a:endParaRPr lang="he-IL" dirty="0"/>
          </a:p>
        </p:txBody>
      </p:sp>
    </p:spTree>
    <p:extLst>
      <p:ext uri="{BB962C8B-B14F-4D97-AF65-F5344CB8AC3E}">
        <p14:creationId xmlns:p14="http://schemas.microsoft.com/office/powerpoint/2010/main" val="1658420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767069D-BC79-091F-751B-340267168F9D}"/>
              </a:ext>
            </a:extLst>
          </p:cNvPr>
          <p:cNvPicPr>
            <a:picLocks noChangeAspect="1"/>
          </p:cNvPicPr>
          <p:nvPr/>
        </p:nvPicPr>
        <p:blipFill>
          <a:blip r:embed="rId3"/>
          <a:stretch>
            <a:fillRect/>
          </a:stretch>
        </p:blipFill>
        <p:spPr>
          <a:xfrm>
            <a:off x="0" y="1925990"/>
            <a:ext cx="12192000" cy="2750011"/>
          </a:xfrm>
          <a:prstGeom prst="rect">
            <a:avLst/>
          </a:prstGeom>
        </p:spPr>
      </p:pic>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780196" y="67310"/>
            <a:ext cx="411804"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11</a:t>
            </a:fld>
            <a:endParaRPr lang="he-IL" sz="1600" dirty="0"/>
          </a:p>
        </p:txBody>
      </p:sp>
      <p:sp>
        <p:nvSpPr>
          <p:cNvPr id="2" name="Google Shape;60;p14">
            <a:extLst>
              <a:ext uri="{FF2B5EF4-FFF2-40B4-BE49-F238E27FC236}">
                <a16:creationId xmlns:a16="http://schemas.microsoft.com/office/drawing/2014/main" id="{EC55AB99-CE04-D96C-343A-261D27A1411E}"/>
              </a:ext>
            </a:extLst>
          </p:cNvPr>
          <p:cNvSpPr txBox="1"/>
          <p:nvPr/>
        </p:nvSpPr>
        <p:spPr>
          <a:xfrm>
            <a:off x="1060517" y="-44393"/>
            <a:ext cx="10070965" cy="676692"/>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6</a:t>
            </a:r>
            <a:r>
              <a:rPr lang="en-US" sz="2800" b="1" u="sng" dirty="0">
                <a:solidFill>
                  <a:srgbClr val="0070C0"/>
                </a:solidFill>
              </a:rPr>
              <a:t> -  the function “DoFiltrationInFD”</a:t>
            </a:r>
            <a:endParaRPr lang="en-US" sz="2800" b="1" u="sng" dirty="0">
              <a:solidFill>
                <a:srgbClr val="FF0000"/>
              </a:solidFill>
            </a:endParaRPr>
          </a:p>
          <a:p>
            <a:pPr algn="ctr"/>
            <a:endParaRPr lang="en-US" sz="2000" b="1" u="sng" dirty="0">
              <a:solidFill>
                <a:srgbClr val="FF0000"/>
              </a:solidFill>
            </a:endParaRPr>
          </a:p>
        </p:txBody>
      </p:sp>
      <p:sp>
        <p:nvSpPr>
          <p:cNvPr id="5" name="TextBox 4">
            <a:extLst>
              <a:ext uri="{FF2B5EF4-FFF2-40B4-BE49-F238E27FC236}">
                <a16:creationId xmlns:a16="http://schemas.microsoft.com/office/drawing/2014/main" id="{24763AD0-5A15-1C2A-6018-AD1C248E94E4}"/>
              </a:ext>
            </a:extLst>
          </p:cNvPr>
          <p:cNvSpPr txBox="1"/>
          <p:nvPr/>
        </p:nvSpPr>
        <p:spPr>
          <a:xfrm>
            <a:off x="1947962" y="889334"/>
            <a:ext cx="9015109" cy="646331"/>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b="1" dirty="0"/>
              <a:t>The primary purpose of DoFiltrationInFD is to apply a filter (stored in floatFilter) to an image that has already been transformed into the frequency domain. </a:t>
            </a:r>
            <a:endParaRPr lang="he-IL" b="1" dirty="0"/>
          </a:p>
        </p:txBody>
      </p:sp>
      <p:sp>
        <p:nvSpPr>
          <p:cNvPr id="8" name="TextBox 7">
            <a:extLst>
              <a:ext uri="{FF2B5EF4-FFF2-40B4-BE49-F238E27FC236}">
                <a16:creationId xmlns:a16="http://schemas.microsoft.com/office/drawing/2014/main" id="{10BC7102-9186-8C4B-9635-EDF886FDAFE3}"/>
              </a:ext>
            </a:extLst>
          </p:cNvPr>
          <p:cNvSpPr txBox="1"/>
          <p:nvPr/>
        </p:nvSpPr>
        <p:spPr>
          <a:xfrm>
            <a:off x="8385242" y="2696066"/>
            <a:ext cx="3367392" cy="1754326"/>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The filtering is done by element-wise multiplication of the frequency domain representation of the image (stored in </a:t>
            </a:r>
            <a:r>
              <a:rPr lang="en-US" b="1" dirty="0"/>
              <a:t>floatRe</a:t>
            </a:r>
            <a:r>
              <a:rPr lang="en-US" dirty="0"/>
              <a:t> and </a:t>
            </a:r>
            <a:r>
              <a:rPr lang="en-US" b="1" dirty="0"/>
              <a:t>floatIm</a:t>
            </a:r>
            <a:r>
              <a:rPr lang="en-US" dirty="0"/>
              <a:t> arrays) with the filter.</a:t>
            </a:r>
            <a:endParaRPr lang="he-IL" dirty="0"/>
          </a:p>
        </p:txBody>
      </p:sp>
      <p:sp>
        <p:nvSpPr>
          <p:cNvPr id="9" name="Right Brace 8">
            <a:extLst>
              <a:ext uri="{FF2B5EF4-FFF2-40B4-BE49-F238E27FC236}">
                <a16:creationId xmlns:a16="http://schemas.microsoft.com/office/drawing/2014/main" id="{3F67C692-F5BE-1408-922D-9C55B037361D}"/>
              </a:ext>
            </a:extLst>
          </p:cNvPr>
          <p:cNvSpPr/>
          <p:nvPr/>
        </p:nvSpPr>
        <p:spPr>
          <a:xfrm>
            <a:off x="7247106" y="3162413"/>
            <a:ext cx="924128" cy="1400783"/>
          </a:xfrm>
          <a:prstGeom prst="rightBrace">
            <a:avLst/>
          </a:prstGeom>
        </p:spPr>
        <p:style>
          <a:lnRef idx="3">
            <a:schemeClr val="accent3"/>
          </a:lnRef>
          <a:fillRef idx="0">
            <a:schemeClr val="accent3"/>
          </a:fillRef>
          <a:effectRef idx="2">
            <a:schemeClr val="accent3"/>
          </a:effectRef>
          <a:fontRef idx="minor">
            <a:schemeClr val="tx1"/>
          </a:fontRef>
        </p:style>
        <p:txBody>
          <a:bodyPr rtlCol="1" anchor="ctr"/>
          <a:lstStyle/>
          <a:p>
            <a:pPr algn="ctr"/>
            <a:endParaRPr lang="he-IL"/>
          </a:p>
        </p:txBody>
      </p:sp>
      <p:sp>
        <p:nvSpPr>
          <p:cNvPr id="11" name="TextBox 10">
            <a:extLst>
              <a:ext uri="{FF2B5EF4-FFF2-40B4-BE49-F238E27FC236}">
                <a16:creationId xmlns:a16="http://schemas.microsoft.com/office/drawing/2014/main" id="{31ABC3DE-0EA4-4E5C-8F3E-E6472C7EA159}"/>
              </a:ext>
            </a:extLst>
          </p:cNvPr>
          <p:cNvSpPr txBox="1"/>
          <p:nvPr/>
        </p:nvSpPr>
        <p:spPr>
          <a:xfrm>
            <a:off x="2298158" y="4676001"/>
            <a:ext cx="6904207" cy="1200329"/>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After applying the filter in the frequency domain, the next step is to perform an inverse FFT (using </a:t>
            </a:r>
            <a:r>
              <a:rPr lang="en-US" b="1" dirty="0"/>
              <a:t>DoFFT</a:t>
            </a:r>
            <a:r>
              <a:rPr lang="en-US" dirty="0"/>
              <a:t> with a negative exponent) to transform the filtered image back into the spatial domain. </a:t>
            </a:r>
          </a:p>
          <a:p>
            <a:r>
              <a:rPr lang="en-US" dirty="0"/>
              <a:t>The result is a filtered version of the original image.</a:t>
            </a:r>
            <a:endParaRPr lang="he-IL" dirty="0"/>
          </a:p>
        </p:txBody>
      </p:sp>
    </p:spTree>
    <p:extLst>
      <p:ext uri="{BB962C8B-B14F-4D97-AF65-F5344CB8AC3E}">
        <p14:creationId xmlns:p14="http://schemas.microsoft.com/office/powerpoint/2010/main" val="1281948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721830" y="67310"/>
            <a:ext cx="47017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12</a:t>
            </a:fld>
            <a:endParaRPr lang="he-IL" sz="1600" dirty="0"/>
          </a:p>
        </p:txBody>
      </p:sp>
      <p:sp>
        <p:nvSpPr>
          <p:cNvPr id="2" name="Google Shape;60;p14">
            <a:extLst>
              <a:ext uri="{FF2B5EF4-FFF2-40B4-BE49-F238E27FC236}">
                <a16:creationId xmlns:a16="http://schemas.microsoft.com/office/drawing/2014/main" id="{3F98BB67-E151-74C1-9F9D-C1352BCFFDFA}"/>
              </a:ext>
            </a:extLst>
          </p:cNvPr>
          <p:cNvSpPr txBox="1"/>
          <p:nvPr/>
        </p:nvSpPr>
        <p:spPr>
          <a:xfrm>
            <a:off x="632297" y="-63905"/>
            <a:ext cx="10771559" cy="662156"/>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7</a:t>
            </a:r>
            <a:r>
              <a:rPr lang="en-US" sz="2800" b="1" u="sng" dirty="0">
                <a:solidFill>
                  <a:srgbClr val="0070C0"/>
                </a:solidFill>
              </a:rPr>
              <a:t> -  the function “CreateGreyGaussian”</a:t>
            </a:r>
            <a:endParaRPr lang="en-US" sz="2800" b="1" u="sng" dirty="0">
              <a:solidFill>
                <a:srgbClr val="FF0000"/>
              </a:solidFill>
            </a:endParaRPr>
          </a:p>
          <a:p>
            <a:pPr algn="ctr"/>
            <a:endParaRPr lang="en-US" sz="2000" b="1" u="sng" dirty="0">
              <a:solidFill>
                <a:srgbClr val="FF0000"/>
              </a:solidFill>
            </a:endParaRPr>
          </a:p>
        </p:txBody>
      </p:sp>
      <p:sp>
        <p:nvSpPr>
          <p:cNvPr id="5" name="TextBox 4">
            <a:extLst>
              <a:ext uri="{FF2B5EF4-FFF2-40B4-BE49-F238E27FC236}">
                <a16:creationId xmlns:a16="http://schemas.microsoft.com/office/drawing/2014/main" id="{DFBAFD30-110F-0237-C842-92B666AF3759}"/>
              </a:ext>
            </a:extLst>
          </p:cNvPr>
          <p:cNvSpPr txBox="1"/>
          <p:nvPr/>
        </p:nvSpPr>
        <p:spPr>
          <a:xfrm>
            <a:off x="1084163" y="513893"/>
            <a:ext cx="9509257" cy="646331"/>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b="1" dirty="0"/>
              <a:t>The purpose of the CreateGreyGaussian function is to create a synthetic grayscale image that simulates the effect of a Gaussian function applied over a 2D plane. </a:t>
            </a:r>
          </a:p>
        </p:txBody>
      </p:sp>
      <p:sp>
        <p:nvSpPr>
          <p:cNvPr id="7" name="Rectangle 6">
            <a:extLst>
              <a:ext uri="{FF2B5EF4-FFF2-40B4-BE49-F238E27FC236}">
                <a16:creationId xmlns:a16="http://schemas.microsoft.com/office/drawing/2014/main" id="{C4F2932F-B79B-C83C-B2AA-659FEC887B8D}"/>
              </a:ext>
            </a:extLst>
          </p:cNvPr>
          <p:cNvSpPr/>
          <p:nvPr/>
        </p:nvSpPr>
        <p:spPr>
          <a:xfrm>
            <a:off x="2085316" y="5341391"/>
            <a:ext cx="5486400" cy="856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The purpose of the function is to be the basis of the blurring process using FFT – LPF gaussian blurring</a:t>
            </a:r>
            <a:endParaRPr lang="he-IL" dirty="0"/>
          </a:p>
        </p:txBody>
      </p:sp>
      <p:pic>
        <p:nvPicPr>
          <p:cNvPr id="8" name="Picture 7">
            <a:extLst>
              <a:ext uri="{FF2B5EF4-FFF2-40B4-BE49-F238E27FC236}">
                <a16:creationId xmlns:a16="http://schemas.microsoft.com/office/drawing/2014/main" id="{F5595275-1FE4-E3CA-FC13-101F34443A8C}"/>
              </a:ext>
            </a:extLst>
          </p:cNvPr>
          <p:cNvPicPr>
            <a:picLocks noChangeAspect="1"/>
          </p:cNvPicPr>
          <p:nvPr/>
        </p:nvPicPr>
        <p:blipFill>
          <a:blip r:embed="rId2"/>
          <a:stretch>
            <a:fillRect/>
          </a:stretch>
        </p:blipFill>
        <p:spPr>
          <a:xfrm>
            <a:off x="0" y="1353765"/>
            <a:ext cx="10163175" cy="3686175"/>
          </a:xfrm>
          <a:prstGeom prst="rect">
            <a:avLst/>
          </a:prstGeom>
        </p:spPr>
      </p:pic>
      <p:pic>
        <p:nvPicPr>
          <p:cNvPr id="10" name="Picture 9">
            <a:extLst>
              <a:ext uri="{FF2B5EF4-FFF2-40B4-BE49-F238E27FC236}">
                <a16:creationId xmlns:a16="http://schemas.microsoft.com/office/drawing/2014/main" id="{B993736E-3670-9220-377A-6D2612CF835A}"/>
              </a:ext>
            </a:extLst>
          </p:cNvPr>
          <p:cNvPicPr>
            <a:picLocks noChangeAspect="1"/>
          </p:cNvPicPr>
          <p:nvPr/>
        </p:nvPicPr>
        <p:blipFill>
          <a:blip r:embed="rId3"/>
          <a:stretch>
            <a:fillRect/>
          </a:stretch>
        </p:blipFill>
        <p:spPr>
          <a:xfrm>
            <a:off x="1583074" y="6264755"/>
            <a:ext cx="6490884" cy="615990"/>
          </a:xfrm>
          <a:prstGeom prst="rect">
            <a:avLst/>
          </a:prstGeom>
          <a:ln>
            <a:solidFill>
              <a:schemeClr val="accent1"/>
            </a:solidFill>
          </a:ln>
        </p:spPr>
      </p:pic>
      <p:pic>
        <p:nvPicPr>
          <p:cNvPr id="11" name="Picture 10">
            <a:extLst>
              <a:ext uri="{FF2B5EF4-FFF2-40B4-BE49-F238E27FC236}">
                <a16:creationId xmlns:a16="http://schemas.microsoft.com/office/drawing/2014/main" id="{4A6D926C-6780-700F-E9B5-C922BD25F11D}"/>
              </a:ext>
            </a:extLst>
          </p:cNvPr>
          <p:cNvPicPr>
            <a:picLocks noChangeAspect="1"/>
          </p:cNvPicPr>
          <p:nvPr/>
        </p:nvPicPr>
        <p:blipFill>
          <a:blip r:embed="rId4"/>
          <a:stretch>
            <a:fillRect/>
          </a:stretch>
        </p:blipFill>
        <p:spPr>
          <a:xfrm>
            <a:off x="8385243" y="2714829"/>
            <a:ext cx="3719208" cy="2789406"/>
          </a:xfrm>
          <a:prstGeom prst="rect">
            <a:avLst/>
          </a:prstGeom>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pic>
      <p:sp>
        <p:nvSpPr>
          <p:cNvPr id="12" name="Rectangle 11">
            <a:extLst>
              <a:ext uri="{FF2B5EF4-FFF2-40B4-BE49-F238E27FC236}">
                <a16:creationId xmlns:a16="http://schemas.microsoft.com/office/drawing/2014/main" id="{1A7FE93B-3A92-D075-F70C-F55DA315E8E2}"/>
              </a:ext>
            </a:extLst>
          </p:cNvPr>
          <p:cNvSpPr/>
          <p:nvPr/>
        </p:nvSpPr>
        <p:spPr>
          <a:xfrm>
            <a:off x="8338225" y="1800321"/>
            <a:ext cx="3813243" cy="851909"/>
          </a:xfrm>
          <a:prstGeom prst="rect">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Example of the outcome – from the work() function – with the parameters we chose for blurring</a:t>
            </a:r>
            <a:endParaRPr lang="he-IL" b="1" dirty="0">
              <a:solidFill>
                <a:srgbClr val="FFFF00"/>
              </a:solidFill>
            </a:endParaRPr>
          </a:p>
        </p:txBody>
      </p:sp>
      <p:sp>
        <p:nvSpPr>
          <p:cNvPr id="14" name="TextBox 13">
            <a:extLst>
              <a:ext uri="{FF2B5EF4-FFF2-40B4-BE49-F238E27FC236}">
                <a16:creationId xmlns:a16="http://schemas.microsoft.com/office/drawing/2014/main" id="{DD468FED-76F7-599C-1BF7-D0FF46B8FD5B}"/>
              </a:ext>
            </a:extLst>
          </p:cNvPr>
          <p:cNvSpPr txBox="1"/>
          <p:nvPr/>
        </p:nvSpPr>
        <p:spPr>
          <a:xfrm>
            <a:off x="8521429" y="5591163"/>
            <a:ext cx="3661249" cy="615990"/>
          </a:xfrm>
          <a:prstGeom prst="rect">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defPPr>
              <a:defRPr lang="he-IL"/>
            </a:defPPr>
            <a:lvl1pPr algn="ctr">
              <a:defRPr b="1">
                <a:solidFill>
                  <a:srgbClr val="FFFF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In this case the parameters are:</a:t>
            </a:r>
          </a:p>
          <a:p>
            <a:r>
              <a:rPr lang="en-US" dirty="0"/>
              <a:t> filter_size / 10.0, filter_size / 10.0</a:t>
            </a:r>
            <a:endParaRPr lang="he-IL" dirty="0"/>
          </a:p>
        </p:txBody>
      </p:sp>
    </p:spTree>
    <p:extLst>
      <p:ext uri="{BB962C8B-B14F-4D97-AF65-F5344CB8AC3E}">
        <p14:creationId xmlns:p14="http://schemas.microsoft.com/office/powerpoint/2010/main" val="672051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780196" y="-14180"/>
            <a:ext cx="411804"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13</a:t>
            </a:fld>
            <a:endParaRPr lang="he-IL" sz="1600" dirty="0"/>
          </a:p>
        </p:txBody>
      </p:sp>
      <p:sp>
        <p:nvSpPr>
          <p:cNvPr id="2" name="Google Shape;60;p14">
            <a:extLst>
              <a:ext uri="{FF2B5EF4-FFF2-40B4-BE49-F238E27FC236}">
                <a16:creationId xmlns:a16="http://schemas.microsoft.com/office/drawing/2014/main" id="{B20E565D-62D5-D3B9-C6DB-5F2DBDC70C2D}"/>
              </a:ext>
            </a:extLst>
          </p:cNvPr>
          <p:cNvSpPr txBox="1"/>
          <p:nvPr/>
        </p:nvSpPr>
        <p:spPr>
          <a:xfrm>
            <a:off x="-126459" y="-143544"/>
            <a:ext cx="11974748" cy="614882"/>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8.1</a:t>
            </a:r>
            <a:r>
              <a:rPr lang="en-US" sz="2800" b="1" u="sng" dirty="0">
                <a:solidFill>
                  <a:srgbClr val="0070C0"/>
                </a:solidFill>
              </a:rPr>
              <a:t>  -  the function “DoGaussianFiltration”</a:t>
            </a:r>
            <a:endParaRPr lang="en-US" sz="2000" b="1" u="sng" dirty="0">
              <a:solidFill>
                <a:srgbClr val="FF0000"/>
              </a:solidFill>
            </a:endParaRPr>
          </a:p>
        </p:txBody>
      </p:sp>
      <p:pic>
        <p:nvPicPr>
          <p:cNvPr id="7" name="Picture 6">
            <a:extLst>
              <a:ext uri="{FF2B5EF4-FFF2-40B4-BE49-F238E27FC236}">
                <a16:creationId xmlns:a16="http://schemas.microsoft.com/office/drawing/2014/main" id="{A33CA59E-E6A9-B71B-819A-91790B39F925}"/>
              </a:ext>
            </a:extLst>
          </p:cNvPr>
          <p:cNvPicPr>
            <a:picLocks noChangeAspect="1"/>
          </p:cNvPicPr>
          <p:nvPr/>
        </p:nvPicPr>
        <p:blipFill>
          <a:blip r:embed="rId2"/>
          <a:stretch>
            <a:fillRect/>
          </a:stretch>
        </p:blipFill>
        <p:spPr>
          <a:xfrm>
            <a:off x="0" y="471422"/>
            <a:ext cx="11887200" cy="6386578"/>
          </a:xfrm>
          <a:prstGeom prst="rect">
            <a:avLst/>
          </a:prstGeom>
        </p:spPr>
      </p:pic>
      <p:sp>
        <p:nvSpPr>
          <p:cNvPr id="5" name="TextBox 4">
            <a:extLst>
              <a:ext uri="{FF2B5EF4-FFF2-40B4-BE49-F238E27FC236}">
                <a16:creationId xmlns:a16="http://schemas.microsoft.com/office/drawing/2014/main" id="{E9F016CD-5530-3224-252F-2F4E8FE943D4}"/>
              </a:ext>
            </a:extLst>
          </p:cNvPr>
          <p:cNvSpPr txBox="1"/>
          <p:nvPr/>
        </p:nvSpPr>
        <p:spPr>
          <a:xfrm>
            <a:off x="6819089" y="839017"/>
            <a:ext cx="5372911" cy="92333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The purpose of this function is perform a linear convolution in TD between a gaussian filter (a kernel in certain filter size) and a source input image</a:t>
            </a:r>
            <a:endParaRPr lang="he-IL" dirty="0"/>
          </a:p>
        </p:txBody>
      </p:sp>
      <p:sp>
        <p:nvSpPr>
          <p:cNvPr id="20" name="Arrow: Down 19">
            <a:extLst>
              <a:ext uri="{FF2B5EF4-FFF2-40B4-BE49-F238E27FC236}">
                <a16:creationId xmlns:a16="http://schemas.microsoft.com/office/drawing/2014/main" id="{02C031B8-173A-0E3E-BEB8-FBAE49BC19E6}"/>
              </a:ext>
            </a:extLst>
          </p:cNvPr>
          <p:cNvSpPr/>
          <p:nvPr/>
        </p:nvSpPr>
        <p:spPr>
          <a:xfrm>
            <a:off x="9918969" y="1762347"/>
            <a:ext cx="379379" cy="1770209"/>
          </a:xfrm>
          <a:prstGeom prst="downArrow">
            <a:avLst/>
          </a:prstGeom>
        </p:spPr>
        <p:style>
          <a:lnRef idx="0">
            <a:schemeClr val="accent3"/>
          </a:lnRef>
          <a:fillRef idx="3">
            <a:schemeClr val="accent3"/>
          </a:fillRef>
          <a:effectRef idx="3">
            <a:schemeClr val="accent3"/>
          </a:effectRef>
          <a:fontRef idx="minor">
            <a:schemeClr val="lt1"/>
          </a:fontRef>
        </p:style>
        <p:txBody>
          <a:bodyPr rtlCol="1" anchor="ctr"/>
          <a:lstStyle/>
          <a:p>
            <a:pPr algn="ctr"/>
            <a:endParaRPr lang="he-IL"/>
          </a:p>
        </p:txBody>
      </p:sp>
      <p:sp>
        <p:nvSpPr>
          <p:cNvPr id="21" name="TextBox 20">
            <a:extLst>
              <a:ext uri="{FF2B5EF4-FFF2-40B4-BE49-F238E27FC236}">
                <a16:creationId xmlns:a16="http://schemas.microsoft.com/office/drawing/2014/main" id="{CB36048E-E1DE-8F94-B209-C0BB87615273}"/>
              </a:ext>
            </a:extLst>
          </p:cNvPr>
          <p:cNvSpPr txBox="1"/>
          <p:nvPr/>
        </p:nvSpPr>
        <p:spPr>
          <a:xfrm>
            <a:off x="8025319" y="3532598"/>
            <a:ext cx="4166681" cy="1200329"/>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Next slide we will present the main idea of the function – of how it convolve the filter with the src in an efficient way because of the gaussian filter</a:t>
            </a:r>
            <a:endParaRPr lang="he-IL" dirty="0"/>
          </a:p>
        </p:txBody>
      </p:sp>
    </p:spTree>
    <p:extLst>
      <p:ext uri="{BB962C8B-B14F-4D97-AF65-F5344CB8AC3E}">
        <p14:creationId xmlns:p14="http://schemas.microsoft.com/office/powerpoint/2010/main" val="2255344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DDC85B-6F45-9C15-5938-F58915F68486}"/>
              </a:ext>
            </a:extLst>
          </p:cNvPr>
          <p:cNvSpPr/>
          <p:nvPr/>
        </p:nvSpPr>
        <p:spPr>
          <a:xfrm>
            <a:off x="7587575" y="897484"/>
            <a:ext cx="3597613" cy="8463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a:t>Calculate the half-size of the filter to handle boundary conditions.</a:t>
            </a:r>
            <a:endParaRPr lang="he-IL"/>
          </a:p>
        </p:txBody>
      </p:sp>
      <p:sp>
        <p:nvSpPr>
          <p:cNvPr id="5" name="Arrow: Down 4">
            <a:extLst>
              <a:ext uri="{FF2B5EF4-FFF2-40B4-BE49-F238E27FC236}">
                <a16:creationId xmlns:a16="http://schemas.microsoft.com/office/drawing/2014/main" id="{858812BC-1A4A-CFC2-0128-8A5C3268261B}"/>
              </a:ext>
            </a:extLst>
          </p:cNvPr>
          <p:cNvSpPr/>
          <p:nvPr/>
        </p:nvSpPr>
        <p:spPr>
          <a:xfrm>
            <a:off x="9191828" y="1717105"/>
            <a:ext cx="389106" cy="6371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Rectangle 5">
            <a:extLst>
              <a:ext uri="{FF2B5EF4-FFF2-40B4-BE49-F238E27FC236}">
                <a16:creationId xmlns:a16="http://schemas.microsoft.com/office/drawing/2014/main" id="{C95FA19B-879E-D9EC-9943-5224F236091A}"/>
              </a:ext>
            </a:extLst>
          </p:cNvPr>
          <p:cNvSpPr/>
          <p:nvPr/>
        </p:nvSpPr>
        <p:spPr>
          <a:xfrm>
            <a:off x="7103623" y="2378914"/>
            <a:ext cx="4565516" cy="7636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Clear the temporary buffer (temp_dest) to prepare for storing intermediate results.</a:t>
            </a:r>
            <a:endParaRPr lang="he-IL" dirty="0"/>
          </a:p>
        </p:txBody>
      </p:sp>
      <p:sp>
        <p:nvSpPr>
          <p:cNvPr id="7" name="Arrow: Down 6">
            <a:extLst>
              <a:ext uri="{FF2B5EF4-FFF2-40B4-BE49-F238E27FC236}">
                <a16:creationId xmlns:a16="http://schemas.microsoft.com/office/drawing/2014/main" id="{0EE33430-C2FF-CD12-29A4-15C7268CECA6}"/>
              </a:ext>
            </a:extLst>
          </p:cNvPr>
          <p:cNvSpPr/>
          <p:nvPr/>
        </p:nvSpPr>
        <p:spPr>
          <a:xfrm>
            <a:off x="9194259" y="3151702"/>
            <a:ext cx="389106" cy="6371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TextBox 7">
            <a:extLst>
              <a:ext uri="{FF2B5EF4-FFF2-40B4-BE49-F238E27FC236}">
                <a16:creationId xmlns:a16="http://schemas.microsoft.com/office/drawing/2014/main" id="{40C7CCD3-23DB-9CB9-2520-C881112C623F}"/>
              </a:ext>
            </a:extLst>
          </p:cNvPr>
          <p:cNvSpPr txBox="1"/>
          <p:nvPr/>
        </p:nvSpPr>
        <p:spPr>
          <a:xfrm>
            <a:off x="6938254" y="3777660"/>
            <a:ext cx="4730886" cy="646331"/>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Apply the 1D Gaussian filter across each row and Store the filtered results in temp_dest.</a:t>
            </a:r>
            <a:endParaRPr lang="he-IL" dirty="0"/>
          </a:p>
        </p:txBody>
      </p:sp>
      <p:sp>
        <p:nvSpPr>
          <p:cNvPr id="9" name="Arrow: Down 8">
            <a:extLst>
              <a:ext uri="{FF2B5EF4-FFF2-40B4-BE49-F238E27FC236}">
                <a16:creationId xmlns:a16="http://schemas.microsoft.com/office/drawing/2014/main" id="{7A366528-CE7C-7D40-6BB6-C00AE3CFC33B}"/>
              </a:ext>
            </a:extLst>
          </p:cNvPr>
          <p:cNvSpPr/>
          <p:nvPr/>
        </p:nvSpPr>
        <p:spPr>
          <a:xfrm>
            <a:off x="9191828" y="4423991"/>
            <a:ext cx="389106" cy="6371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Google Shape;60;p14">
            <a:extLst>
              <a:ext uri="{FF2B5EF4-FFF2-40B4-BE49-F238E27FC236}">
                <a16:creationId xmlns:a16="http://schemas.microsoft.com/office/drawing/2014/main" id="{7F6C41B5-AD71-EB58-C1AD-2738D7457466}"/>
              </a:ext>
            </a:extLst>
          </p:cNvPr>
          <p:cNvSpPr txBox="1"/>
          <p:nvPr/>
        </p:nvSpPr>
        <p:spPr>
          <a:xfrm>
            <a:off x="108626" y="-124089"/>
            <a:ext cx="11974748" cy="614882"/>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8.2</a:t>
            </a:r>
            <a:r>
              <a:rPr lang="en-US" sz="2800" b="1" u="sng" dirty="0">
                <a:solidFill>
                  <a:srgbClr val="0070C0"/>
                </a:solidFill>
              </a:rPr>
              <a:t>  -  the function “DoGaussianFiltration”</a:t>
            </a:r>
            <a:endParaRPr lang="en-US" sz="2000" b="1" u="sng" dirty="0">
              <a:solidFill>
                <a:srgbClr val="FF0000"/>
              </a:solidFill>
            </a:endParaRPr>
          </a:p>
        </p:txBody>
      </p:sp>
      <p:sp>
        <p:nvSpPr>
          <p:cNvPr id="11" name="TextBox 10">
            <a:extLst>
              <a:ext uri="{FF2B5EF4-FFF2-40B4-BE49-F238E27FC236}">
                <a16:creationId xmlns:a16="http://schemas.microsoft.com/office/drawing/2014/main" id="{61370F56-A792-C929-A2EE-0842B3D20E86}"/>
              </a:ext>
            </a:extLst>
          </p:cNvPr>
          <p:cNvSpPr txBox="1"/>
          <p:nvPr/>
        </p:nvSpPr>
        <p:spPr>
          <a:xfrm>
            <a:off x="6938254" y="5070322"/>
            <a:ext cx="4730886" cy="1200329"/>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Apply the 1D Gaussian filter across each column using the intermediate results from temp_dest and then Store the final filtered values back into src.</a:t>
            </a:r>
            <a:endParaRPr lang="he-IL" dirty="0"/>
          </a:p>
        </p:txBody>
      </p:sp>
      <p:sp>
        <p:nvSpPr>
          <p:cNvPr id="14" name="Rectangle 13">
            <a:extLst>
              <a:ext uri="{FF2B5EF4-FFF2-40B4-BE49-F238E27FC236}">
                <a16:creationId xmlns:a16="http://schemas.microsoft.com/office/drawing/2014/main" id="{2E11D0F5-83B7-4FBD-C7BF-AD061E576F55}"/>
              </a:ext>
            </a:extLst>
          </p:cNvPr>
          <p:cNvSpPr/>
          <p:nvPr/>
        </p:nvSpPr>
        <p:spPr>
          <a:xfrm>
            <a:off x="483140" y="675154"/>
            <a:ext cx="5800927" cy="614882"/>
          </a:xfrm>
          <a:prstGeom prst="rect">
            <a:avLst/>
          </a:prstGeom>
        </p:spPr>
        <p:style>
          <a:lnRef idx="0">
            <a:schemeClr val="accent5"/>
          </a:lnRef>
          <a:fillRef idx="3">
            <a:schemeClr val="accent5"/>
          </a:fillRef>
          <a:effectRef idx="3">
            <a:schemeClr val="accent5"/>
          </a:effectRef>
          <a:fontRef idx="minor">
            <a:schemeClr val="lt1"/>
          </a:fontRef>
        </p:style>
        <p:txBody>
          <a:bodyPr rtlCol="1" anchor="ctr"/>
          <a:lstStyle/>
          <a:p>
            <a:pPr algn="ctr"/>
            <a:r>
              <a:rPr lang="en-US" dirty="0"/>
              <a:t>The function performs Gaussian filtering on a grayscale image using a separable convolution approach.</a:t>
            </a:r>
            <a:endParaRPr lang="he-IL" dirty="0"/>
          </a:p>
        </p:txBody>
      </p:sp>
      <p:sp>
        <p:nvSpPr>
          <p:cNvPr id="15" name="Arrow: Down 14">
            <a:extLst>
              <a:ext uri="{FF2B5EF4-FFF2-40B4-BE49-F238E27FC236}">
                <a16:creationId xmlns:a16="http://schemas.microsoft.com/office/drawing/2014/main" id="{C9573E5F-88BB-122A-5F45-7DBCD6C57D6D}"/>
              </a:ext>
            </a:extLst>
          </p:cNvPr>
          <p:cNvSpPr/>
          <p:nvPr/>
        </p:nvSpPr>
        <p:spPr>
          <a:xfrm>
            <a:off x="3289570" y="1291935"/>
            <a:ext cx="496111" cy="10004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7" name="TextBox 16">
            <a:extLst>
              <a:ext uri="{FF2B5EF4-FFF2-40B4-BE49-F238E27FC236}">
                <a16:creationId xmlns:a16="http://schemas.microsoft.com/office/drawing/2014/main" id="{B63518B3-3EF1-61D9-D3A8-98BF00790480}"/>
              </a:ext>
            </a:extLst>
          </p:cNvPr>
          <p:cNvSpPr txBox="1"/>
          <p:nvPr/>
        </p:nvSpPr>
        <p:spPr>
          <a:xfrm>
            <a:off x="522861" y="2299059"/>
            <a:ext cx="5800928" cy="92333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This method involves two consecutive one-dimensional (1D) convolutions—first along the x-axis (horizontal direction) and then along the y-axis (vertical direction).</a:t>
            </a:r>
            <a:endParaRPr lang="he-IL" dirty="0"/>
          </a:p>
        </p:txBody>
      </p:sp>
      <p:sp>
        <p:nvSpPr>
          <p:cNvPr id="18" name="Arrow: Down 17">
            <a:extLst>
              <a:ext uri="{FF2B5EF4-FFF2-40B4-BE49-F238E27FC236}">
                <a16:creationId xmlns:a16="http://schemas.microsoft.com/office/drawing/2014/main" id="{F92DE0B3-A10E-E1D0-5787-E5382CCADCF2}"/>
              </a:ext>
            </a:extLst>
          </p:cNvPr>
          <p:cNvSpPr/>
          <p:nvPr/>
        </p:nvSpPr>
        <p:spPr>
          <a:xfrm>
            <a:off x="3289570" y="3231006"/>
            <a:ext cx="496111" cy="10004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1BFED442-169C-5FEC-A2AD-3251C444851E}"/>
                  </a:ext>
                </a:extLst>
              </p:cNvPr>
              <p:cNvSpPr txBox="1"/>
              <p:nvPr/>
            </p:nvSpPr>
            <p:spPr>
              <a:xfrm>
                <a:off x="514754" y="4240029"/>
                <a:ext cx="5800928" cy="1200329"/>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This approach is computationally more efficient than applying a two-dimensional (2D) convolution directly:</a:t>
                </a:r>
                <a:br>
                  <a:rPr lang="en-US" dirty="0"/>
                </a:br>
                <a:r>
                  <a:rPr lang="en-US" dirty="0"/>
                  <a:t>This reduces computational complexity from </a:t>
                </a:r>
                <a14:m>
                  <m:oMath xmlns:m="http://schemas.openxmlformats.org/officeDocument/2006/math">
                    <m:r>
                      <a:rPr lang="en-US" b="0" i="1" smtClean="0">
                        <a:latin typeface="Cambria Math" panose="02040503050406030204" pitchFamily="18" charset="0"/>
                      </a:rPr>
                      <m:t>𝑜</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r>
                  <a:rPr lang="en-US" dirty="0"/>
                  <a:t> to </a:t>
                </a:r>
                <a14:m>
                  <m:oMath xmlns:m="http://schemas.openxmlformats.org/officeDocument/2006/math">
                    <m:r>
                      <a:rPr lang="en-US" b="0" i="1" smtClean="0">
                        <a:latin typeface="Cambria Math" panose="02040503050406030204" pitchFamily="18" charset="0"/>
                      </a:rPr>
                      <m:t>𝑜</m:t>
                    </m:r>
                    <m:d>
                      <m:dPr>
                        <m:ctrlPr>
                          <a:rPr lang="en-US" b="0" i="1" smtClean="0">
                            <a:latin typeface="Cambria Math" panose="02040503050406030204" pitchFamily="18" charset="0"/>
                          </a:rPr>
                        </m:ctrlPr>
                      </m:dPr>
                      <m:e>
                        <m:r>
                          <a:rPr lang="en-US" b="0" i="1" smtClean="0">
                            <a:latin typeface="Cambria Math" panose="02040503050406030204" pitchFamily="18" charset="0"/>
                          </a:rPr>
                          <m:t>2</m:t>
                        </m:r>
                        <m:r>
                          <a:rPr lang="en-US" b="0" i="1" smtClean="0">
                            <a:latin typeface="Cambria Math" panose="02040503050406030204" pitchFamily="18" charset="0"/>
                          </a:rPr>
                          <m:t>𝑛</m:t>
                        </m:r>
                      </m:e>
                    </m:d>
                  </m:oMath>
                </a14:m>
                <a:r>
                  <a:rPr lang="en-US" dirty="0"/>
                  <a:t> , where </a:t>
                </a:r>
                <a14:m>
                  <m:oMath xmlns:m="http://schemas.openxmlformats.org/officeDocument/2006/math">
                    <m:r>
                      <a:rPr lang="en-US" i="1" dirty="0" smtClean="0">
                        <a:latin typeface="Cambria Math" panose="02040503050406030204" pitchFamily="18" charset="0"/>
                      </a:rPr>
                      <m:t>𝑛</m:t>
                    </m:r>
                  </m:oMath>
                </a14:m>
                <a:r>
                  <a:rPr lang="en-US" dirty="0"/>
                  <a:t> is the filter size.</a:t>
                </a:r>
                <a:endParaRPr lang="he-IL" dirty="0"/>
              </a:p>
            </p:txBody>
          </p:sp>
        </mc:Choice>
        <mc:Fallback>
          <p:sp>
            <p:nvSpPr>
              <p:cNvPr id="20" name="TextBox 19">
                <a:extLst>
                  <a:ext uri="{FF2B5EF4-FFF2-40B4-BE49-F238E27FC236}">
                    <a16:creationId xmlns:a16="http://schemas.microsoft.com/office/drawing/2014/main" id="{1BFED442-169C-5FEC-A2AD-3251C444851E}"/>
                  </a:ext>
                </a:extLst>
              </p:cNvPr>
              <p:cNvSpPr txBox="1">
                <a:spLocks noRot="1" noChangeAspect="1" noMove="1" noResize="1" noEditPoints="1" noAdjustHandles="1" noChangeArrowheads="1" noChangeShapeType="1" noTextEdit="1"/>
              </p:cNvSpPr>
              <p:nvPr/>
            </p:nvSpPr>
            <p:spPr>
              <a:xfrm>
                <a:off x="514754" y="4240029"/>
                <a:ext cx="5800928" cy="1200329"/>
              </a:xfrm>
              <a:prstGeom prst="rect">
                <a:avLst/>
              </a:prstGeom>
              <a:blipFill>
                <a:blip r:embed="rId2"/>
                <a:stretch>
                  <a:fillRect/>
                </a:stretch>
              </a:blipFill>
            </p:spPr>
            <p:txBody>
              <a:bodyPr/>
              <a:lstStyle/>
              <a:p>
                <a:r>
                  <a:rPr lang="he-IL">
                    <a:noFill/>
                  </a:rPr>
                  <a:t> </a:t>
                </a:r>
              </a:p>
            </p:txBody>
          </p:sp>
        </mc:Fallback>
      </mc:AlternateContent>
      <p:sp>
        <p:nvSpPr>
          <p:cNvPr id="21" name="Slide Number Placeholder 5">
            <a:extLst>
              <a:ext uri="{FF2B5EF4-FFF2-40B4-BE49-F238E27FC236}">
                <a16:creationId xmlns:a16="http://schemas.microsoft.com/office/drawing/2014/main" id="{485D6BF9-99CA-A0ED-807D-EF9D7A5BE38E}"/>
              </a:ext>
            </a:extLst>
          </p:cNvPr>
          <p:cNvSpPr txBox="1">
            <a:spLocks/>
          </p:cNvSpPr>
          <p:nvPr/>
        </p:nvSpPr>
        <p:spPr>
          <a:xfrm>
            <a:off x="11780196" y="-14180"/>
            <a:ext cx="411804"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14</a:t>
            </a:fld>
            <a:endParaRPr lang="he-IL" sz="1600" dirty="0"/>
          </a:p>
        </p:txBody>
      </p:sp>
    </p:spTree>
    <p:extLst>
      <p:ext uri="{BB962C8B-B14F-4D97-AF65-F5344CB8AC3E}">
        <p14:creationId xmlns:p14="http://schemas.microsoft.com/office/powerpoint/2010/main" val="1156925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741285" y="67310"/>
            <a:ext cx="450715"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15</a:t>
            </a:fld>
            <a:endParaRPr lang="he-IL" sz="1600" dirty="0"/>
          </a:p>
        </p:txBody>
      </p:sp>
      <p:sp>
        <p:nvSpPr>
          <p:cNvPr id="2" name="Google Shape;60;p14">
            <a:extLst>
              <a:ext uri="{FF2B5EF4-FFF2-40B4-BE49-F238E27FC236}">
                <a16:creationId xmlns:a16="http://schemas.microsoft.com/office/drawing/2014/main" id="{5903F32E-636C-7097-C29C-4509CB3BA01D}"/>
              </a:ext>
            </a:extLst>
          </p:cNvPr>
          <p:cNvSpPr txBox="1"/>
          <p:nvPr/>
        </p:nvSpPr>
        <p:spPr>
          <a:xfrm>
            <a:off x="340470" y="-23915"/>
            <a:ext cx="11131482" cy="547573"/>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9</a:t>
            </a:r>
            <a:r>
              <a:rPr lang="en-US" sz="2800" b="1" u="sng" dirty="0">
                <a:solidFill>
                  <a:srgbClr val="0070C0"/>
                </a:solidFill>
              </a:rPr>
              <a:t> -  the function “CreateLowPassFilter”</a:t>
            </a:r>
            <a:endParaRPr lang="en-US" sz="2800" b="1" u="sng" dirty="0">
              <a:solidFill>
                <a:srgbClr val="FF0000"/>
              </a:solidFill>
            </a:endParaRPr>
          </a:p>
          <a:p>
            <a:pPr algn="ctr"/>
            <a:endParaRPr lang="en-US" sz="2000" b="1" u="sng" dirty="0">
              <a:solidFill>
                <a:srgbClr val="FF0000"/>
              </a:solidFill>
            </a:endParaRPr>
          </a:p>
        </p:txBody>
      </p:sp>
      <p:pic>
        <p:nvPicPr>
          <p:cNvPr id="5" name="Picture 4">
            <a:extLst>
              <a:ext uri="{FF2B5EF4-FFF2-40B4-BE49-F238E27FC236}">
                <a16:creationId xmlns:a16="http://schemas.microsoft.com/office/drawing/2014/main" id="{7D48E89C-22BF-92F2-8533-466EC5016A94}"/>
              </a:ext>
            </a:extLst>
          </p:cNvPr>
          <p:cNvPicPr>
            <a:picLocks noChangeAspect="1"/>
          </p:cNvPicPr>
          <p:nvPr/>
        </p:nvPicPr>
        <p:blipFill>
          <a:blip r:embed="rId2"/>
          <a:stretch>
            <a:fillRect/>
          </a:stretch>
        </p:blipFill>
        <p:spPr>
          <a:xfrm>
            <a:off x="0" y="957267"/>
            <a:ext cx="10632332" cy="3733324"/>
          </a:xfrm>
          <a:prstGeom prst="rect">
            <a:avLst/>
          </a:prstGeom>
        </p:spPr>
      </p:pic>
      <p:sp>
        <p:nvSpPr>
          <p:cNvPr id="8" name="TextBox 7">
            <a:extLst>
              <a:ext uri="{FF2B5EF4-FFF2-40B4-BE49-F238E27FC236}">
                <a16:creationId xmlns:a16="http://schemas.microsoft.com/office/drawing/2014/main" id="{B2B8BFDC-E244-CE25-2CE4-D56774F142DA}"/>
              </a:ext>
            </a:extLst>
          </p:cNvPr>
          <p:cNvSpPr txBox="1"/>
          <p:nvPr/>
        </p:nvSpPr>
        <p:spPr>
          <a:xfrm>
            <a:off x="706876" y="567258"/>
            <a:ext cx="10778247"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function computes a 2D </a:t>
            </a:r>
            <a:r>
              <a:rPr lang="en-US" b="1" dirty="0"/>
              <a:t>Butterworth</a:t>
            </a:r>
            <a:r>
              <a:rPr lang="en-US" dirty="0"/>
              <a:t> low-pass filter based on the provided cutoff frequency and order.</a:t>
            </a:r>
            <a:endParaRPr lang="he-IL" dirty="0"/>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7699D636-7FFD-A1A9-62F0-6EC6B73C327D}"/>
                  </a:ext>
                </a:extLst>
              </p:cNvPr>
              <p:cNvSpPr txBox="1"/>
              <p:nvPr/>
            </p:nvSpPr>
            <p:spPr>
              <a:xfrm>
                <a:off x="1622" y="5605904"/>
                <a:ext cx="4006174" cy="1232132"/>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Butterworth Low-Pass Filter Formula:</a:t>
                </a:r>
              </a:p>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𝑣</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𝐷</m:t>
                                      </m:r>
                                      <m:d>
                                        <m:dPr>
                                          <m:ctrlPr>
                                            <a:rPr lang="en-US" b="0" i="1" smtClean="0">
                                              <a:latin typeface="Cambria Math" panose="02040503050406030204" pitchFamily="18" charset="0"/>
                                            </a:rPr>
                                          </m:ctrlPr>
                                        </m:dPr>
                                        <m:e>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𝑣</m:t>
                                          </m:r>
                                        </m:e>
                                      </m:d>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0</m:t>
                                          </m:r>
                                        </m:sub>
                                      </m:sSub>
                                    </m:den>
                                  </m:f>
                                </m:e>
                              </m:d>
                            </m:e>
                            <m:sup>
                              <m:r>
                                <a:rPr lang="en-US" b="0" i="1" smtClean="0">
                                  <a:latin typeface="Cambria Math" panose="02040503050406030204" pitchFamily="18" charset="0"/>
                                </a:rPr>
                                <m:t>2</m:t>
                              </m:r>
                              <m:r>
                                <a:rPr lang="en-US" b="0" i="1" smtClean="0">
                                  <a:latin typeface="Cambria Math" panose="02040503050406030204" pitchFamily="18" charset="0"/>
                                </a:rPr>
                                <m:t>𝑛</m:t>
                              </m:r>
                            </m:sup>
                          </m:sSup>
                        </m:den>
                      </m:f>
                    </m:oMath>
                  </m:oMathPara>
                </a14:m>
                <a:endParaRPr lang="he-IL" dirty="0"/>
              </a:p>
            </p:txBody>
          </p:sp>
        </mc:Choice>
        <mc:Fallback>
          <p:sp>
            <p:nvSpPr>
              <p:cNvPr id="10" name="TextBox 9">
                <a:extLst>
                  <a:ext uri="{FF2B5EF4-FFF2-40B4-BE49-F238E27FC236}">
                    <a16:creationId xmlns:a16="http://schemas.microsoft.com/office/drawing/2014/main" id="{7699D636-7FFD-A1A9-62F0-6EC6B73C327D}"/>
                  </a:ext>
                </a:extLst>
              </p:cNvPr>
              <p:cNvSpPr txBox="1">
                <a:spLocks noRot="1" noChangeAspect="1" noMove="1" noResize="1" noEditPoints="1" noAdjustHandles="1" noChangeArrowheads="1" noChangeShapeType="1" noTextEdit="1"/>
              </p:cNvSpPr>
              <p:nvPr/>
            </p:nvSpPr>
            <p:spPr>
              <a:xfrm>
                <a:off x="1622" y="5605904"/>
                <a:ext cx="4006174" cy="1232132"/>
              </a:xfrm>
              <a:prstGeom prst="rect">
                <a:avLst/>
              </a:prstGeom>
              <a:blipFill>
                <a:blip r:embed="rId3"/>
                <a:stretch>
                  <a:fillRect/>
                </a:stretch>
              </a:blipFill>
            </p:spPr>
            <p:txBody>
              <a:bodyPr/>
              <a:lstStyle/>
              <a:p>
                <a:r>
                  <a:rPr lang="he-IL">
                    <a:noFill/>
                  </a:rPr>
                  <a:t> </a:t>
                </a:r>
              </a:p>
            </p:txBody>
          </p:sp>
        </mc:Fallback>
      </mc:AlternateContent>
      <p:sp>
        <p:nvSpPr>
          <p:cNvPr id="11" name="Arrow: Left-Right 10">
            <a:extLst>
              <a:ext uri="{FF2B5EF4-FFF2-40B4-BE49-F238E27FC236}">
                <a16:creationId xmlns:a16="http://schemas.microsoft.com/office/drawing/2014/main" id="{20E4BF3A-F871-ECB2-2ED7-543299011830}"/>
              </a:ext>
            </a:extLst>
          </p:cNvPr>
          <p:cNvSpPr/>
          <p:nvPr/>
        </p:nvSpPr>
        <p:spPr>
          <a:xfrm>
            <a:off x="4007796" y="6076150"/>
            <a:ext cx="992221" cy="497745"/>
          </a:xfrm>
          <a:prstGeom prst="leftRightArrow">
            <a:avLst/>
          </a:prstGeom>
        </p:spPr>
        <p:style>
          <a:lnRef idx="0">
            <a:schemeClr val="accent3"/>
          </a:lnRef>
          <a:fillRef idx="3">
            <a:schemeClr val="accent3"/>
          </a:fillRef>
          <a:effectRef idx="3">
            <a:schemeClr val="accent3"/>
          </a:effectRef>
          <a:fontRef idx="minor">
            <a:schemeClr val="lt1"/>
          </a:fontRef>
        </p:style>
        <p:txBody>
          <a:bodyPr rtlCol="1" anchor="ctr"/>
          <a:lstStyle/>
          <a:p>
            <a:pPr algn="ctr"/>
            <a:endParaRPr lang="he-IL"/>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57DE9EB-6F71-1A84-884E-C51D18CBC166}"/>
                  </a:ext>
                </a:extLst>
              </p:cNvPr>
              <p:cNvSpPr txBox="1"/>
              <p:nvPr/>
            </p:nvSpPr>
            <p:spPr>
              <a:xfrm>
                <a:off x="5000017" y="5665463"/>
                <a:ext cx="5142890" cy="1200329"/>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marL="342900" indent="-342900">
                  <a:buFont typeface="+mj-lt"/>
                  <a:buAutoNum type="arabicPeriod"/>
                </a:pPr>
                <a14:m>
                  <m:oMath xmlns:m="http://schemas.openxmlformats.org/officeDocument/2006/math">
                    <m:r>
                      <a:rPr lang="en-US" i="1" dirty="0" smtClean="0">
                        <a:latin typeface="Cambria Math" panose="02040503050406030204" pitchFamily="18" charset="0"/>
                      </a:rPr>
                      <m:t>𝐻</m:t>
                    </m:r>
                    <m:r>
                      <a:rPr lang="en-US" i="1" dirty="0">
                        <a:latin typeface="Cambria Math" panose="02040503050406030204" pitchFamily="18" charset="0"/>
                      </a:rPr>
                      <m:t>(</m:t>
                    </m:r>
                    <m:r>
                      <a:rPr lang="en-US" i="1" dirty="0">
                        <a:latin typeface="Cambria Math" panose="02040503050406030204" pitchFamily="18" charset="0"/>
                      </a:rPr>
                      <m:t>𝑢</m:t>
                    </m:r>
                    <m:r>
                      <a:rPr lang="en-US" i="1" dirty="0">
                        <a:latin typeface="Cambria Math" panose="02040503050406030204" pitchFamily="18" charset="0"/>
                      </a:rPr>
                      <m:t>,</m:t>
                    </m:r>
                    <m:r>
                      <a:rPr lang="en-US" i="1" dirty="0" smtClean="0">
                        <a:latin typeface="Cambria Math" panose="02040503050406030204" pitchFamily="18" charset="0"/>
                      </a:rPr>
                      <m:t>𝑣</m:t>
                    </m:r>
                    <m:r>
                      <a:rPr lang="en-US" i="1" dirty="0" smtClean="0">
                        <a:latin typeface="Cambria Math" panose="02040503050406030204" pitchFamily="18" charset="0"/>
                      </a:rPr>
                      <m:t>) </m:t>
                    </m:r>
                  </m:oMath>
                </a14:m>
                <a:r>
                  <a:rPr lang="en-US" dirty="0"/>
                  <a:t>is the filter coefficient at position (𝑢, 𝑣).</a:t>
                </a:r>
              </a:p>
              <a:p>
                <a:pPr marL="342900" indent="-342900">
                  <a:buFont typeface="+mj-lt"/>
                  <a:buAutoNum type="arabicPeriod"/>
                </a:pPr>
                <a14:m>
                  <m:oMath xmlns:m="http://schemas.openxmlformats.org/officeDocument/2006/math">
                    <m:r>
                      <a:rPr lang="en-US" i="1" dirty="0" smtClean="0">
                        <a:latin typeface="Cambria Math" panose="02040503050406030204" pitchFamily="18" charset="0"/>
                      </a:rPr>
                      <m:t>𝐷</m:t>
                    </m:r>
                    <m:r>
                      <a:rPr lang="en-US" i="1" dirty="0" smtClean="0">
                        <a:latin typeface="Cambria Math" panose="02040503050406030204" pitchFamily="18" charset="0"/>
                      </a:rPr>
                      <m:t>(</m:t>
                    </m:r>
                    <m:r>
                      <a:rPr lang="en-US" i="1" dirty="0" smtClean="0">
                        <a:latin typeface="Cambria Math" panose="02040503050406030204" pitchFamily="18" charset="0"/>
                      </a:rPr>
                      <m:t>𝑢</m:t>
                    </m:r>
                    <m:r>
                      <a:rPr lang="en-US" i="1" dirty="0" smtClean="0">
                        <a:latin typeface="Cambria Math" panose="02040503050406030204" pitchFamily="18" charset="0"/>
                      </a:rPr>
                      <m:t>,</m:t>
                    </m:r>
                    <m:r>
                      <a:rPr lang="en-US" i="1" dirty="0" smtClean="0">
                        <a:latin typeface="Cambria Math" panose="02040503050406030204" pitchFamily="18" charset="0"/>
                      </a:rPr>
                      <m:t>𝑣</m:t>
                    </m:r>
                    <m:r>
                      <a:rPr lang="en-US" i="1" dirty="0" smtClean="0">
                        <a:latin typeface="Cambria Math" panose="02040503050406030204" pitchFamily="18" charset="0"/>
                      </a:rPr>
                      <m:t>) </m:t>
                    </m:r>
                  </m:oMath>
                </a14:m>
                <a:r>
                  <a:rPr lang="en-US" dirty="0"/>
                  <a:t>is the distance from the center.</a:t>
                </a:r>
              </a:p>
              <a:p>
                <a:pPr marL="342900" indent="-342900">
                  <a:buFont typeface="+mj-lt"/>
                  <a:buAutoNum type="arabicPeriod"/>
                </a:pP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𝐷</m:t>
                        </m:r>
                      </m:e>
                      <m:sub>
                        <m:r>
                          <a:rPr lang="en-US" i="1" dirty="0" smtClean="0">
                            <a:latin typeface="Cambria Math" panose="02040503050406030204" pitchFamily="18" charset="0"/>
                          </a:rPr>
                          <m:t>0</m:t>
                        </m:r>
                      </m:sub>
                    </m:sSub>
                  </m:oMath>
                </a14:m>
                <a:r>
                  <a:rPr lang="en-US" dirty="0"/>
                  <a:t>​ is the cutoff frequency.</a:t>
                </a:r>
              </a:p>
              <a:p>
                <a:pPr marL="342900" indent="-342900">
                  <a:buFont typeface="+mj-lt"/>
                  <a:buAutoNum type="arabicPeriod"/>
                </a:pPr>
                <a14:m>
                  <m:oMath xmlns:m="http://schemas.openxmlformats.org/officeDocument/2006/math">
                    <m:r>
                      <a:rPr lang="en-US" i="1" dirty="0" smtClean="0">
                        <a:latin typeface="Cambria Math" panose="02040503050406030204" pitchFamily="18" charset="0"/>
                      </a:rPr>
                      <m:t>𝑛</m:t>
                    </m:r>
                  </m:oMath>
                </a14:m>
                <a:r>
                  <a:rPr lang="en-US" dirty="0"/>
                  <a:t> is the order of the filter.</a:t>
                </a:r>
              </a:p>
            </p:txBody>
          </p:sp>
        </mc:Choice>
        <mc:Fallback>
          <p:sp>
            <p:nvSpPr>
              <p:cNvPr id="14" name="TextBox 13">
                <a:extLst>
                  <a:ext uri="{FF2B5EF4-FFF2-40B4-BE49-F238E27FC236}">
                    <a16:creationId xmlns:a16="http://schemas.microsoft.com/office/drawing/2014/main" id="{457DE9EB-6F71-1A84-884E-C51D18CBC166}"/>
                  </a:ext>
                </a:extLst>
              </p:cNvPr>
              <p:cNvSpPr txBox="1">
                <a:spLocks noRot="1" noChangeAspect="1" noMove="1" noResize="1" noEditPoints="1" noAdjustHandles="1" noChangeArrowheads="1" noChangeShapeType="1" noTextEdit="1"/>
              </p:cNvSpPr>
              <p:nvPr/>
            </p:nvSpPr>
            <p:spPr>
              <a:xfrm>
                <a:off x="5000017" y="5665463"/>
                <a:ext cx="5142890" cy="1200329"/>
              </a:xfrm>
              <a:prstGeom prst="rect">
                <a:avLst/>
              </a:prstGeom>
              <a:blipFill>
                <a:blip r:embed="rId4"/>
                <a:stretch>
                  <a:fillRect/>
                </a:stretch>
              </a:blipFill>
            </p:spPr>
            <p:txBody>
              <a:bodyPr/>
              <a:lstStyle/>
              <a:p>
                <a:r>
                  <a:rPr lang="he-IL">
                    <a:noFill/>
                  </a:rPr>
                  <a:t> </a:t>
                </a:r>
              </a:p>
            </p:txBody>
          </p:sp>
        </mc:Fallback>
      </mc:AlternateContent>
      <p:sp>
        <p:nvSpPr>
          <p:cNvPr id="16" name="TextBox 15">
            <a:extLst>
              <a:ext uri="{FF2B5EF4-FFF2-40B4-BE49-F238E27FC236}">
                <a16:creationId xmlns:a16="http://schemas.microsoft.com/office/drawing/2014/main" id="{837B4576-0A1D-0EBA-9185-EA10BA41D466}"/>
              </a:ext>
            </a:extLst>
          </p:cNvPr>
          <p:cNvSpPr txBox="1"/>
          <p:nvPr/>
        </p:nvSpPr>
        <p:spPr>
          <a:xfrm>
            <a:off x="2184061" y="4312960"/>
            <a:ext cx="7958846" cy="1200329"/>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The Butterworth filter is known for its maximally flat magnitude response in the passband, meaning it doesn't have ripples and provides smooth attenuation.</a:t>
            </a:r>
          </a:p>
          <a:p>
            <a:r>
              <a:rPr lang="en-US" dirty="0"/>
              <a:t>By modifying the order, you can control how quickly the filter transitions from passband to stopband, allowing flexibility based on application needs.</a:t>
            </a:r>
            <a:endParaRPr lang="he-IL" dirty="0"/>
          </a:p>
        </p:txBody>
      </p:sp>
    </p:spTree>
    <p:extLst>
      <p:ext uri="{BB962C8B-B14F-4D97-AF65-F5344CB8AC3E}">
        <p14:creationId xmlns:p14="http://schemas.microsoft.com/office/powerpoint/2010/main" val="35134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775231" y="67310"/>
            <a:ext cx="416769"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16</a:t>
            </a:fld>
            <a:endParaRPr lang="he-IL" sz="1600" dirty="0"/>
          </a:p>
        </p:txBody>
      </p:sp>
      <p:sp>
        <p:nvSpPr>
          <p:cNvPr id="3" name="Google Shape;60;p14">
            <a:extLst>
              <a:ext uri="{FF2B5EF4-FFF2-40B4-BE49-F238E27FC236}">
                <a16:creationId xmlns:a16="http://schemas.microsoft.com/office/drawing/2014/main" id="{ADE42C8F-A88C-3FCB-AE6B-0F8DEBB3E82F}"/>
              </a:ext>
            </a:extLst>
          </p:cNvPr>
          <p:cNvSpPr txBox="1"/>
          <p:nvPr/>
        </p:nvSpPr>
        <p:spPr>
          <a:xfrm>
            <a:off x="1420238" y="-76956"/>
            <a:ext cx="8951828" cy="513809"/>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10.1</a:t>
            </a:r>
            <a:r>
              <a:rPr lang="en-US" sz="2800" b="1" u="sng" dirty="0">
                <a:solidFill>
                  <a:srgbClr val="0070C0"/>
                </a:solidFill>
              </a:rPr>
              <a:t>  -  the function “Work”</a:t>
            </a:r>
            <a:endParaRPr lang="en-US" sz="2800" b="1" u="sng" dirty="0">
              <a:solidFill>
                <a:srgbClr val="FF0000"/>
              </a:solidFill>
            </a:endParaRPr>
          </a:p>
          <a:p>
            <a:pPr algn="ctr"/>
            <a:endParaRPr lang="en-US" sz="2000" b="1" u="sng" dirty="0">
              <a:solidFill>
                <a:srgbClr val="FF0000"/>
              </a:solidFill>
            </a:endParaRPr>
          </a:p>
        </p:txBody>
      </p:sp>
      <p:pic>
        <p:nvPicPr>
          <p:cNvPr id="5" name="Picture 4">
            <a:extLst>
              <a:ext uri="{FF2B5EF4-FFF2-40B4-BE49-F238E27FC236}">
                <a16:creationId xmlns:a16="http://schemas.microsoft.com/office/drawing/2014/main" id="{3F5F303A-8A53-EA34-1284-417145CDA884}"/>
              </a:ext>
            </a:extLst>
          </p:cNvPr>
          <p:cNvPicPr>
            <a:picLocks noChangeAspect="1"/>
          </p:cNvPicPr>
          <p:nvPr/>
        </p:nvPicPr>
        <p:blipFill>
          <a:blip r:embed="rId2"/>
          <a:stretch>
            <a:fillRect/>
          </a:stretch>
        </p:blipFill>
        <p:spPr>
          <a:xfrm>
            <a:off x="0" y="493059"/>
            <a:ext cx="12192000" cy="6364941"/>
          </a:xfrm>
          <a:prstGeom prst="rect">
            <a:avLst/>
          </a:prstGeom>
        </p:spPr>
      </p:pic>
      <p:sp>
        <p:nvSpPr>
          <p:cNvPr id="6" name="TextBox 5">
            <a:extLst>
              <a:ext uri="{FF2B5EF4-FFF2-40B4-BE49-F238E27FC236}">
                <a16:creationId xmlns:a16="http://schemas.microsoft.com/office/drawing/2014/main" id="{3C63435F-311F-D233-9B54-AAA5AA81CFA0}"/>
              </a:ext>
            </a:extLst>
          </p:cNvPr>
          <p:cNvSpPr txBox="1"/>
          <p:nvPr/>
        </p:nvSpPr>
        <p:spPr>
          <a:xfrm>
            <a:off x="7198470" y="1872728"/>
            <a:ext cx="4993530" cy="1200329"/>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function is a comprehensive image processing routine that applies a High-Frequency Enhancing Filter (HFEF) to a grayscale image using Frequency Domain Filtering. </a:t>
            </a:r>
            <a:endParaRPr lang="he-IL" dirty="0"/>
          </a:p>
        </p:txBody>
      </p:sp>
      <p:sp>
        <p:nvSpPr>
          <p:cNvPr id="7" name="Rectangle 6">
            <a:extLst>
              <a:ext uri="{FF2B5EF4-FFF2-40B4-BE49-F238E27FC236}">
                <a16:creationId xmlns:a16="http://schemas.microsoft.com/office/drawing/2014/main" id="{7A0AAED6-41F7-4AA2-FDA9-6FE6A211C8C2}"/>
              </a:ext>
            </a:extLst>
          </p:cNvPr>
          <p:cNvSpPr/>
          <p:nvPr/>
        </p:nvSpPr>
        <p:spPr>
          <a:xfrm>
            <a:off x="7198470" y="3200400"/>
            <a:ext cx="4993530" cy="584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The work() function uses most of the functions we explained in the previews parts of MP2.0 </a:t>
            </a:r>
            <a:endParaRPr lang="he-IL" dirty="0"/>
          </a:p>
        </p:txBody>
      </p:sp>
      <p:sp>
        <p:nvSpPr>
          <p:cNvPr id="8" name="Rectangle 7">
            <a:extLst>
              <a:ext uri="{FF2B5EF4-FFF2-40B4-BE49-F238E27FC236}">
                <a16:creationId xmlns:a16="http://schemas.microsoft.com/office/drawing/2014/main" id="{AAC725D8-E749-8F6F-A9E2-E7058102B512}"/>
              </a:ext>
            </a:extLst>
          </p:cNvPr>
          <p:cNvSpPr/>
          <p:nvPr/>
        </p:nvSpPr>
        <p:spPr>
          <a:xfrm>
            <a:off x="7198470" y="3900791"/>
            <a:ext cx="4993530" cy="584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Next slide – an block diagram of the function and the rest of the code</a:t>
            </a:r>
            <a:endParaRPr lang="he-IL" dirty="0"/>
          </a:p>
        </p:txBody>
      </p:sp>
    </p:spTree>
    <p:extLst>
      <p:ext uri="{BB962C8B-B14F-4D97-AF65-F5344CB8AC3E}">
        <p14:creationId xmlns:p14="http://schemas.microsoft.com/office/powerpoint/2010/main" val="13258702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775231" y="67310"/>
            <a:ext cx="416769"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17</a:t>
            </a:fld>
            <a:endParaRPr lang="he-IL" sz="1600" dirty="0"/>
          </a:p>
        </p:txBody>
      </p:sp>
      <p:sp>
        <p:nvSpPr>
          <p:cNvPr id="3" name="Google Shape;60;p14">
            <a:extLst>
              <a:ext uri="{FF2B5EF4-FFF2-40B4-BE49-F238E27FC236}">
                <a16:creationId xmlns:a16="http://schemas.microsoft.com/office/drawing/2014/main" id="{ADE42C8F-A88C-3FCB-AE6B-0F8DEBB3E82F}"/>
              </a:ext>
            </a:extLst>
          </p:cNvPr>
          <p:cNvSpPr txBox="1"/>
          <p:nvPr/>
        </p:nvSpPr>
        <p:spPr>
          <a:xfrm>
            <a:off x="1420238" y="-153530"/>
            <a:ext cx="8951828" cy="513809"/>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10.2</a:t>
            </a:r>
            <a:r>
              <a:rPr lang="en-US" sz="2800" b="1" u="sng" dirty="0">
                <a:solidFill>
                  <a:srgbClr val="0070C0"/>
                </a:solidFill>
              </a:rPr>
              <a:t>  -  the function “Work”</a:t>
            </a:r>
            <a:endParaRPr lang="en-US" sz="2800" b="1" u="sng" dirty="0">
              <a:solidFill>
                <a:srgbClr val="FF0000"/>
              </a:solidFill>
            </a:endParaRPr>
          </a:p>
          <a:p>
            <a:pPr algn="ctr"/>
            <a:endParaRPr lang="en-US" sz="2000" b="1" u="sng" dirty="0">
              <a:solidFill>
                <a:srgbClr val="FF0000"/>
              </a:solidFill>
            </a:endParaRPr>
          </a:p>
        </p:txBody>
      </p:sp>
      <p:sp>
        <p:nvSpPr>
          <p:cNvPr id="7" name="Rectangle 6">
            <a:extLst>
              <a:ext uri="{FF2B5EF4-FFF2-40B4-BE49-F238E27FC236}">
                <a16:creationId xmlns:a16="http://schemas.microsoft.com/office/drawing/2014/main" id="{CDEA74F1-DE13-D032-F499-3C6572119E29}"/>
              </a:ext>
            </a:extLst>
          </p:cNvPr>
          <p:cNvSpPr/>
          <p:nvPr/>
        </p:nvSpPr>
        <p:spPr>
          <a:xfrm>
            <a:off x="7670159" y="583660"/>
            <a:ext cx="4105072" cy="389106"/>
          </a:xfrm>
          <a:prstGeom prst="rect">
            <a:avLst/>
          </a:prstGeom>
        </p:spPr>
        <p:style>
          <a:lnRef idx="0">
            <a:schemeClr val="accent4"/>
          </a:lnRef>
          <a:fillRef idx="3">
            <a:schemeClr val="accent4"/>
          </a:fillRef>
          <a:effectRef idx="3">
            <a:schemeClr val="accent4"/>
          </a:effectRef>
          <a:fontRef idx="minor">
            <a:schemeClr val="lt1"/>
          </a:fontRef>
        </p:style>
        <p:txBody>
          <a:bodyPr rtlCol="1" anchor="ctr"/>
          <a:lstStyle/>
          <a:p>
            <a:pPr algn="ctr"/>
            <a:r>
              <a:rPr lang="en-US" dirty="0"/>
              <a:t>Block diagram of the work() function:</a:t>
            </a:r>
            <a:endParaRPr lang="he-IL" dirty="0"/>
          </a:p>
        </p:txBody>
      </p:sp>
      <p:sp>
        <p:nvSpPr>
          <p:cNvPr id="8" name="Oval 7">
            <a:extLst>
              <a:ext uri="{FF2B5EF4-FFF2-40B4-BE49-F238E27FC236}">
                <a16:creationId xmlns:a16="http://schemas.microsoft.com/office/drawing/2014/main" id="{2149B605-A3C6-D731-E985-52C48A06D4DC}"/>
              </a:ext>
            </a:extLst>
          </p:cNvPr>
          <p:cNvSpPr/>
          <p:nvPr/>
        </p:nvSpPr>
        <p:spPr>
          <a:xfrm>
            <a:off x="9080769" y="1119573"/>
            <a:ext cx="1760706" cy="3210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start</a:t>
            </a:r>
            <a:endParaRPr lang="he-IL" dirty="0"/>
          </a:p>
        </p:txBody>
      </p:sp>
      <p:cxnSp>
        <p:nvCxnSpPr>
          <p:cNvPr id="10" name="Straight Arrow Connector 9">
            <a:extLst>
              <a:ext uri="{FF2B5EF4-FFF2-40B4-BE49-F238E27FC236}">
                <a16:creationId xmlns:a16="http://schemas.microsoft.com/office/drawing/2014/main" id="{0907A1B7-EA20-9CE4-D01B-C134BFB8EBDB}"/>
              </a:ext>
            </a:extLst>
          </p:cNvPr>
          <p:cNvCxnSpPr>
            <a:cxnSpLocks/>
            <a:stCxn id="8" idx="4"/>
          </p:cNvCxnSpPr>
          <p:nvPr/>
        </p:nvCxnSpPr>
        <p:spPr>
          <a:xfrm>
            <a:off x="9961122" y="1440585"/>
            <a:ext cx="4864" cy="54475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1004AAAC-030A-742E-E25C-F43AC9F17965}"/>
              </a:ext>
            </a:extLst>
          </p:cNvPr>
          <p:cNvSpPr/>
          <p:nvPr/>
        </p:nvSpPr>
        <p:spPr>
          <a:xfrm>
            <a:off x="8596817" y="1980472"/>
            <a:ext cx="2728607" cy="3891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Input image : ProccesIMG</a:t>
            </a:r>
            <a:endParaRPr lang="he-IL" dirty="0"/>
          </a:p>
        </p:txBody>
      </p:sp>
      <p:cxnSp>
        <p:nvCxnSpPr>
          <p:cNvPr id="12" name="Straight Arrow Connector 11">
            <a:extLst>
              <a:ext uri="{FF2B5EF4-FFF2-40B4-BE49-F238E27FC236}">
                <a16:creationId xmlns:a16="http://schemas.microsoft.com/office/drawing/2014/main" id="{B0A84DD9-7284-0930-754C-3CB8117FFA09}"/>
              </a:ext>
            </a:extLst>
          </p:cNvPr>
          <p:cNvCxnSpPr/>
          <p:nvPr/>
        </p:nvCxnSpPr>
        <p:spPr>
          <a:xfrm>
            <a:off x="9961120" y="2364715"/>
            <a:ext cx="4864" cy="54475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A639678C-9BAE-FD36-A288-3A1E89F4A06A}"/>
              </a:ext>
            </a:extLst>
          </p:cNvPr>
          <p:cNvSpPr/>
          <p:nvPr/>
        </p:nvSpPr>
        <p:spPr>
          <a:xfrm>
            <a:off x="8254522" y="2909465"/>
            <a:ext cx="3413196" cy="932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Step 1: Prepare for FFT :</a:t>
            </a:r>
          </a:p>
          <a:p>
            <a:pPr algn="ctr"/>
            <a:r>
              <a:rPr lang="en-US" dirty="0"/>
              <a:t> i) Copies ProccesIMG to </a:t>
            </a:r>
            <a:r>
              <a:rPr lang="en-US" b="1" dirty="0"/>
              <a:t>floatRe</a:t>
            </a:r>
          </a:p>
          <a:p>
            <a:pPr algn="ctr"/>
            <a:r>
              <a:rPr lang="en-US" dirty="0"/>
              <a:t>ii) Initializes </a:t>
            </a:r>
            <a:r>
              <a:rPr lang="en-US" b="1" dirty="0"/>
              <a:t>floatIm</a:t>
            </a:r>
            <a:r>
              <a:rPr lang="en-US" dirty="0"/>
              <a:t> to 0</a:t>
            </a:r>
          </a:p>
        </p:txBody>
      </p:sp>
      <p:cxnSp>
        <p:nvCxnSpPr>
          <p:cNvPr id="15" name="Straight Arrow Connector 14">
            <a:extLst>
              <a:ext uri="{FF2B5EF4-FFF2-40B4-BE49-F238E27FC236}">
                <a16:creationId xmlns:a16="http://schemas.microsoft.com/office/drawing/2014/main" id="{73502B23-A45C-9390-B238-3DCD3326C748}"/>
              </a:ext>
            </a:extLst>
          </p:cNvPr>
          <p:cNvCxnSpPr/>
          <p:nvPr/>
        </p:nvCxnSpPr>
        <p:spPr>
          <a:xfrm>
            <a:off x="9961120" y="3830163"/>
            <a:ext cx="4864" cy="54475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3D265523-1092-A4C3-002B-2C1283E1B632}"/>
              </a:ext>
            </a:extLst>
          </p:cNvPr>
          <p:cNvSpPr/>
          <p:nvPr/>
        </p:nvSpPr>
        <p:spPr>
          <a:xfrm>
            <a:off x="8362035" y="4382313"/>
            <a:ext cx="3300819" cy="932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Step 2: Centering:</a:t>
            </a:r>
          </a:p>
          <a:p>
            <a:pPr algn="ctr"/>
            <a:r>
              <a:rPr lang="en-US" dirty="0"/>
              <a:t> i) ShiftHalfSize on </a:t>
            </a:r>
            <a:r>
              <a:rPr lang="en-US" b="1" dirty="0"/>
              <a:t>floatRe</a:t>
            </a:r>
          </a:p>
          <a:p>
            <a:pPr algn="ctr"/>
            <a:r>
              <a:rPr lang="en-US" dirty="0"/>
              <a:t>ii) ShiftHalfSize on </a:t>
            </a:r>
            <a:r>
              <a:rPr lang="en-US" b="1" dirty="0"/>
              <a:t>floatIm</a:t>
            </a:r>
          </a:p>
        </p:txBody>
      </p:sp>
      <p:cxnSp>
        <p:nvCxnSpPr>
          <p:cNvPr id="17" name="Straight Arrow Connector 16">
            <a:extLst>
              <a:ext uri="{FF2B5EF4-FFF2-40B4-BE49-F238E27FC236}">
                <a16:creationId xmlns:a16="http://schemas.microsoft.com/office/drawing/2014/main" id="{9FEEB889-95D1-3C21-6204-4FEE19AAFBAC}"/>
              </a:ext>
            </a:extLst>
          </p:cNvPr>
          <p:cNvCxnSpPr/>
          <p:nvPr/>
        </p:nvCxnSpPr>
        <p:spPr>
          <a:xfrm>
            <a:off x="9999470" y="5322674"/>
            <a:ext cx="4864" cy="54475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566F446E-8E6E-7486-AEE9-99CE518CCE84}"/>
              </a:ext>
            </a:extLst>
          </p:cNvPr>
          <p:cNvSpPr/>
          <p:nvPr/>
        </p:nvSpPr>
        <p:spPr>
          <a:xfrm>
            <a:off x="8076335" y="5874824"/>
            <a:ext cx="4105072" cy="932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Step 3: Forward FFT:</a:t>
            </a:r>
          </a:p>
          <a:p>
            <a:pPr algn="ctr"/>
            <a:r>
              <a:rPr lang="en-US" dirty="0"/>
              <a:t>Arguments are: </a:t>
            </a:r>
            <a:r>
              <a:rPr lang="en-US" b="1" dirty="0"/>
              <a:t>floatRe, floatIm , </a:t>
            </a:r>
            <a:r>
              <a:rPr lang="en-US" dirty="0"/>
              <a:t>FORWARD_FFT , NORMALIZE_BY_SQRT</a:t>
            </a:r>
            <a:endParaRPr lang="en-US" b="1" dirty="0"/>
          </a:p>
        </p:txBody>
      </p:sp>
      <p:pic>
        <p:nvPicPr>
          <p:cNvPr id="34" name="Picture 33">
            <a:extLst>
              <a:ext uri="{FF2B5EF4-FFF2-40B4-BE49-F238E27FC236}">
                <a16:creationId xmlns:a16="http://schemas.microsoft.com/office/drawing/2014/main" id="{236BB2EC-6034-3C28-D431-C226E393ED67}"/>
              </a:ext>
            </a:extLst>
          </p:cNvPr>
          <p:cNvPicPr>
            <a:picLocks noChangeAspect="1"/>
          </p:cNvPicPr>
          <p:nvPr/>
        </p:nvPicPr>
        <p:blipFill>
          <a:blip r:embed="rId2"/>
          <a:stretch>
            <a:fillRect/>
          </a:stretch>
        </p:blipFill>
        <p:spPr>
          <a:xfrm>
            <a:off x="-60888" y="468105"/>
            <a:ext cx="5952175" cy="3261070"/>
          </a:xfrm>
          <a:prstGeom prst="rect">
            <a:avLst/>
          </a:prstGeom>
        </p:spPr>
      </p:pic>
      <p:cxnSp>
        <p:nvCxnSpPr>
          <p:cNvPr id="19" name="Straight Arrow Connector 18">
            <a:extLst>
              <a:ext uri="{FF2B5EF4-FFF2-40B4-BE49-F238E27FC236}">
                <a16:creationId xmlns:a16="http://schemas.microsoft.com/office/drawing/2014/main" id="{B33DFE23-3114-7271-45AE-740DF10C504B}"/>
              </a:ext>
            </a:extLst>
          </p:cNvPr>
          <p:cNvCxnSpPr>
            <a:cxnSpLocks/>
          </p:cNvCxnSpPr>
          <p:nvPr/>
        </p:nvCxnSpPr>
        <p:spPr>
          <a:xfrm flipH="1">
            <a:off x="7670159" y="6562364"/>
            <a:ext cx="401212"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2B000173-B137-22E6-1AA1-2FA2E340A6F2}"/>
              </a:ext>
            </a:extLst>
          </p:cNvPr>
          <p:cNvSpPr/>
          <p:nvPr/>
        </p:nvSpPr>
        <p:spPr>
          <a:xfrm>
            <a:off x="4543823" y="6293977"/>
            <a:ext cx="3128453" cy="513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Step 4: create gaussian LPF:</a:t>
            </a:r>
          </a:p>
        </p:txBody>
      </p:sp>
      <p:cxnSp>
        <p:nvCxnSpPr>
          <p:cNvPr id="21" name="Straight Arrow Connector 20">
            <a:extLst>
              <a:ext uri="{FF2B5EF4-FFF2-40B4-BE49-F238E27FC236}">
                <a16:creationId xmlns:a16="http://schemas.microsoft.com/office/drawing/2014/main" id="{97E6A94E-971B-DE57-5DA3-2476186915A4}"/>
              </a:ext>
            </a:extLst>
          </p:cNvPr>
          <p:cNvCxnSpPr>
            <a:cxnSpLocks/>
          </p:cNvCxnSpPr>
          <p:nvPr/>
        </p:nvCxnSpPr>
        <p:spPr>
          <a:xfrm rot="10800000">
            <a:off x="5734504" y="5749226"/>
            <a:ext cx="4864" cy="54475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DCDDD84E-342B-599A-1662-C8E7317746B4}"/>
              </a:ext>
            </a:extLst>
          </p:cNvPr>
          <p:cNvSpPr/>
          <p:nvPr/>
        </p:nvSpPr>
        <p:spPr>
          <a:xfrm>
            <a:off x="4147932" y="5235418"/>
            <a:ext cx="3128453" cy="513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Step 5: apply filter in FD</a:t>
            </a:r>
          </a:p>
        </p:txBody>
      </p:sp>
      <p:cxnSp>
        <p:nvCxnSpPr>
          <p:cNvPr id="23" name="Straight Arrow Connector 22">
            <a:extLst>
              <a:ext uri="{FF2B5EF4-FFF2-40B4-BE49-F238E27FC236}">
                <a16:creationId xmlns:a16="http://schemas.microsoft.com/office/drawing/2014/main" id="{06ABE2FB-C743-69BE-A7C7-E8EBFD247914}"/>
              </a:ext>
            </a:extLst>
          </p:cNvPr>
          <p:cNvCxnSpPr>
            <a:cxnSpLocks/>
          </p:cNvCxnSpPr>
          <p:nvPr/>
        </p:nvCxnSpPr>
        <p:spPr>
          <a:xfrm rot="5400000">
            <a:off x="4267986" y="4001990"/>
            <a:ext cx="4864" cy="54475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A3BEC3C9-8940-79E1-67BE-4464096FAB47}"/>
              </a:ext>
            </a:extLst>
          </p:cNvPr>
          <p:cNvSpPr/>
          <p:nvPr/>
        </p:nvSpPr>
        <p:spPr>
          <a:xfrm>
            <a:off x="4542793" y="3607866"/>
            <a:ext cx="2851263" cy="10761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Step 6 : inverse FFT:</a:t>
            </a:r>
          </a:p>
          <a:p>
            <a:pPr algn="ctr"/>
            <a:r>
              <a:rPr lang="en-US" dirty="0"/>
              <a:t>Arguments are: </a:t>
            </a:r>
            <a:r>
              <a:rPr lang="en-US" b="1" dirty="0"/>
              <a:t>floatRe, floatIm , </a:t>
            </a:r>
            <a:r>
              <a:rPr lang="en-US" dirty="0"/>
              <a:t>REVERSE_FFT, NORMALIZE_BY_SQRT</a:t>
            </a:r>
            <a:endParaRPr lang="en-US" b="1" dirty="0"/>
          </a:p>
        </p:txBody>
      </p:sp>
      <p:cxnSp>
        <p:nvCxnSpPr>
          <p:cNvPr id="25" name="Straight Arrow Connector 24">
            <a:extLst>
              <a:ext uri="{FF2B5EF4-FFF2-40B4-BE49-F238E27FC236}">
                <a16:creationId xmlns:a16="http://schemas.microsoft.com/office/drawing/2014/main" id="{1BCE65C9-3377-EA1B-12F8-4F9865410952}"/>
              </a:ext>
            </a:extLst>
          </p:cNvPr>
          <p:cNvCxnSpPr/>
          <p:nvPr/>
        </p:nvCxnSpPr>
        <p:spPr>
          <a:xfrm>
            <a:off x="2073003" y="4695087"/>
            <a:ext cx="4864" cy="54475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65D86437-05DC-53AB-74F0-065050739744}"/>
              </a:ext>
            </a:extLst>
          </p:cNvPr>
          <p:cNvSpPr/>
          <p:nvPr/>
        </p:nvSpPr>
        <p:spPr>
          <a:xfrm>
            <a:off x="869590" y="3791418"/>
            <a:ext cx="3128453" cy="9232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Step 7: Centering :</a:t>
            </a:r>
          </a:p>
          <a:p>
            <a:pPr algn="ctr"/>
            <a:r>
              <a:rPr lang="en-US" dirty="0"/>
              <a:t> i) ShiftHalfSize on </a:t>
            </a:r>
            <a:r>
              <a:rPr lang="en-US" b="1" dirty="0"/>
              <a:t>floatRe</a:t>
            </a:r>
          </a:p>
          <a:p>
            <a:pPr algn="ctr"/>
            <a:r>
              <a:rPr lang="en-US" dirty="0"/>
              <a:t>ii) ShiftHalfSize on </a:t>
            </a:r>
            <a:r>
              <a:rPr lang="en-US" b="1" dirty="0"/>
              <a:t>floatIm</a:t>
            </a:r>
          </a:p>
        </p:txBody>
      </p:sp>
      <p:cxnSp>
        <p:nvCxnSpPr>
          <p:cNvPr id="27" name="Straight Arrow Connector 26">
            <a:extLst>
              <a:ext uri="{FF2B5EF4-FFF2-40B4-BE49-F238E27FC236}">
                <a16:creationId xmlns:a16="http://schemas.microsoft.com/office/drawing/2014/main" id="{CDFE8A20-9628-D1CD-BA34-1E81D710871E}"/>
              </a:ext>
            </a:extLst>
          </p:cNvPr>
          <p:cNvCxnSpPr>
            <a:cxnSpLocks/>
          </p:cNvCxnSpPr>
          <p:nvPr/>
        </p:nvCxnSpPr>
        <p:spPr>
          <a:xfrm rot="10800000">
            <a:off x="5891288" y="4690667"/>
            <a:ext cx="4864" cy="54475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CFE1C9AA-BB2F-79A8-2700-FC91F290E453}"/>
              </a:ext>
            </a:extLst>
          </p:cNvPr>
          <p:cNvSpPr/>
          <p:nvPr/>
        </p:nvSpPr>
        <p:spPr>
          <a:xfrm>
            <a:off x="401710" y="5215255"/>
            <a:ext cx="3128453" cy="513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Step 8: Convert to Image Format with normalization</a:t>
            </a:r>
          </a:p>
        </p:txBody>
      </p:sp>
      <p:cxnSp>
        <p:nvCxnSpPr>
          <p:cNvPr id="29" name="Straight Arrow Connector 28">
            <a:extLst>
              <a:ext uri="{FF2B5EF4-FFF2-40B4-BE49-F238E27FC236}">
                <a16:creationId xmlns:a16="http://schemas.microsoft.com/office/drawing/2014/main" id="{3132CF07-D5DC-1293-4DE8-7E812D3560F6}"/>
              </a:ext>
            </a:extLst>
          </p:cNvPr>
          <p:cNvCxnSpPr>
            <a:cxnSpLocks/>
          </p:cNvCxnSpPr>
          <p:nvPr/>
        </p:nvCxnSpPr>
        <p:spPr>
          <a:xfrm>
            <a:off x="2071534" y="5749226"/>
            <a:ext cx="2432" cy="421688"/>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68F43261-62C5-A0A2-1926-104A630CF298}"/>
              </a:ext>
            </a:extLst>
          </p:cNvPr>
          <p:cNvSpPr/>
          <p:nvPr/>
        </p:nvSpPr>
        <p:spPr>
          <a:xfrm>
            <a:off x="0" y="6170914"/>
            <a:ext cx="4192622" cy="6483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Step 9: Update Original Image:</a:t>
            </a:r>
          </a:p>
          <a:p>
            <a:pPr algn="ctr"/>
            <a:r>
              <a:rPr lang="en-US" dirty="0"/>
              <a:t>Copies byteOriginal back to ProccesIMG</a:t>
            </a:r>
          </a:p>
        </p:txBody>
      </p:sp>
    </p:spTree>
    <p:extLst>
      <p:ext uri="{BB962C8B-B14F-4D97-AF65-F5344CB8AC3E}">
        <p14:creationId xmlns:p14="http://schemas.microsoft.com/office/powerpoint/2010/main" val="1320754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770468" y="67310"/>
            <a:ext cx="421532"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18</a:t>
            </a:fld>
            <a:endParaRPr lang="he-IL" sz="1600" dirty="0"/>
          </a:p>
        </p:txBody>
      </p:sp>
      <p:sp>
        <p:nvSpPr>
          <p:cNvPr id="2" name="Google Shape;60;p14">
            <a:extLst>
              <a:ext uri="{FF2B5EF4-FFF2-40B4-BE49-F238E27FC236}">
                <a16:creationId xmlns:a16="http://schemas.microsoft.com/office/drawing/2014/main" id="{1515AB9E-6D28-EF83-3271-40DBF6EA2014}"/>
              </a:ext>
            </a:extLst>
          </p:cNvPr>
          <p:cNvSpPr txBox="1"/>
          <p:nvPr/>
        </p:nvSpPr>
        <p:spPr>
          <a:xfrm>
            <a:off x="2491902" y="-84628"/>
            <a:ext cx="7683230" cy="1034125"/>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11.1</a:t>
            </a:r>
            <a:r>
              <a:rPr lang="en-US" sz="2800" b="1" u="sng" dirty="0">
                <a:solidFill>
                  <a:srgbClr val="0070C0"/>
                </a:solidFill>
              </a:rPr>
              <a:t>  -  the function “CreateHighFrequencyEnhancingFilter”</a:t>
            </a:r>
            <a:endParaRPr lang="en-US" sz="2800" b="1" u="sng" dirty="0">
              <a:solidFill>
                <a:srgbClr val="FF0000"/>
              </a:solidFill>
            </a:endParaRPr>
          </a:p>
          <a:p>
            <a:pPr algn="ctr"/>
            <a:endParaRPr lang="en-US" sz="2000" b="1" u="sng" dirty="0">
              <a:solidFill>
                <a:srgbClr val="FF0000"/>
              </a:solidFill>
            </a:endParaRPr>
          </a:p>
        </p:txBody>
      </p:sp>
      <p:pic>
        <p:nvPicPr>
          <p:cNvPr id="5" name="Picture 4">
            <a:extLst>
              <a:ext uri="{FF2B5EF4-FFF2-40B4-BE49-F238E27FC236}">
                <a16:creationId xmlns:a16="http://schemas.microsoft.com/office/drawing/2014/main" id="{C6BB2462-5B03-6970-2061-7F86F1BD9B52}"/>
              </a:ext>
            </a:extLst>
          </p:cNvPr>
          <p:cNvPicPr>
            <a:picLocks noChangeAspect="1"/>
          </p:cNvPicPr>
          <p:nvPr/>
        </p:nvPicPr>
        <p:blipFill>
          <a:blip r:embed="rId3"/>
          <a:stretch>
            <a:fillRect/>
          </a:stretch>
        </p:blipFill>
        <p:spPr>
          <a:xfrm>
            <a:off x="0" y="1536159"/>
            <a:ext cx="12192000" cy="2950118"/>
          </a:xfrm>
          <a:prstGeom prst="rect">
            <a:avLst/>
          </a:prstGeom>
        </p:spPr>
      </p:pic>
      <p:sp>
        <p:nvSpPr>
          <p:cNvPr id="7" name="TextBox 6">
            <a:extLst>
              <a:ext uri="{FF2B5EF4-FFF2-40B4-BE49-F238E27FC236}">
                <a16:creationId xmlns:a16="http://schemas.microsoft.com/office/drawing/2014/main" id="{763315D6-FF84-B31B-8AA3-0450F5820559}"/>
              </a:ext>
            </a:extLst>
          </p:cNvPr>
          <p:cNvSpPr txBox="1"/>
          <p:nvPr/>
        </p:nvSpPr>
        <p:spPr>
          <a:xfrm>
            <a:off x="883596" y="1058162"/>
            <a:ext cx="10886872"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b="1" dirty="0"/>
              <a:t>The function is designed to generate a High-Frequency Enhancing Filter (HFEF) in the frequency domain</a:t>
            </a:r>
            <a:endParaRPr lang="he-IL" b="1" dirty="0"/>
          </a:p>
        </p:txBody>
      </p:sp>
      <p:sp>
        <p:nvSpPr>
          <p:cNvPr id="9" name="TextBox 8">
            <a:extLst>
              <a:ext uri="{FF2B5EF4-FFF2-40B4-BE49-F238E27FC236}">
                <a16:creationId xmlns:a16="http://schemas.microsoft.com/office/drawing/2014/main" id="{01D8B07A-BF52-55B2-CAF2-27AEF270ECBE}"/>
              </a:ext>
            </a:extLst>
          </p:cNvPr>
          <p:cNvSpPr txBox="1"/>
          <p:nvPr/>
        </p:nvSpPr>
        <p:spPr>
          <a:xfrm>
            <a:off x="6491592" y="1897578"/>
            <a:ext cx="5700408"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 function begins by invoking CreateLowPassFilter, which generates a Butterworth Low-Pass Filter (LPF) and stores it in the </a:t>
            </a:r>
            <a:r>
              <a:rPr lang="en-US" b="1" dirty="0"/>
              <a:t>floatFilter</a:t>
            </a:r>
            <a:r>
              <a:rPr lang="en-US" dirty="0"/>
              <a:t> matrix.</a:t>
            </a:r>
            <a:endParaRPr lang="he-IL" dirty="0"/>
          </a:p>
        </p:txBody>
      </p:sp>
      <p:sp>
        <p:nvSpPr>
          <p:cNvPr id="11" name="TextBox 10">
            <a:extLst>
              <a:ext uri="{FF2B5EF4-FFF2-40B4-BE49-F238E27FC236}">
                <a16:creationId xmlns:a16="http://schemas.microsoft.com/office/drawing/2014/main" id="{031BC6AF-8D34-F60A-37E3-690F9127BCE4}"/>
              </a:ext>
            </a:extLst>
          </p:cNvPr>
          <p:cNvSpPr txBox="1"/>
          <p:nvPr/>
        </p:nvSpPr>
        <p:spPr>
          <a:xfrm>
            <a:off x="6491592" y="2826552"/>
            <a:ext cx="5700408" cy="646331"/>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Then , the function transforms the created LPF into High-Frequency Enhancing Filter (HFEF)</a:t>
            </a:r>
            <a:endParaRPr lang="he-IL" dirty="0"/>
          </a:p>
        </p:txBody>
      </p:sp>
      <p:sp>
        <p:nvSpPr>
          <p:cNvPr id="14" name="TextBox 13">
            <a:extLst>
              <a:ext uri="{FF2B5EF4-FFF2-40B4-BE49-F238E27FC236}">
                <a16:creationId xmlns:a16="http://schemas.microsoft.com/office/drawing/2014/main" id="{B7889CA7-DFB0-9C03-868B-67181E7599AE}"/>
              </a:ext>
            </a:extLst>
          </p:cNvPr>
          <p:cNvSpPr txBox="1"/>
          <p:nvPr/>
        </p:nvSpPr>
        <p:spPr>
          <a:xfrm>
            <a:off x="1" y="4672307"/>
            <a:ext cx="3239310" cy="2031325"/>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b="1" dirty="0">
                <a:solidFill>
                  <a:srgbClr val="FFFF00"/>
                </a:solidFill>
              </a:rPr>
              <a:t>An HPF attenuates low frequencies and allows high frequencies to pass through.</a:t>
            </a:r>
          </a:p>
          <a:p>
            <a:r>
              <a:rPr lang="en-US" b="1" dirty="0">
                <a:solidFill>
                  <a:srgbClr val="FFFF00"/>
                </a:solidFill>
              </a:rPr>
              <a:t>An HFEF amplifies high frequencies while keeping low frequencies unchanged or less amplified.</a:t>
            </a:r>
            <a:endParaRPr lang="he-IL" b="1" dirty="0">
              <a:solidFill>
                <a:srgbClr val="FFFF00"/>
              </a:solidFill>
            </a:endParaRPr>
          </a:p>
        </p:txBody>
      </p:sp>
      <mc:AlternateContent xmlns:mc="http://schemas.openxmlformats.org/markup-compatibility/2006">
        <mc:Choice xmlns:a14="http://schemas.microsoft.com/office/drawing/2010/main" Requires="a14">
          <p:sp>
            <p:nvSpPr>
              <p:cNvPr id="16" name="Rectangle 15">
                <a:extLst>
                  <a:ext uri="{FF2B5EF4-FFF2-40B4-BE49-F238E27FC236}">
                    <a16:creationId xmlns:a16="http://schemas.microsoft.com/office/drawing/2014/main" id="{8B310B45-3D5B-F951-330D-DA4A5FE9ED7D}"/>
                  </a:ext>
                </a:extLst>
              </p:cNvPr>
              <p:cNvSpPr/>
              <p:nvPr/>
            </p:nvSpPr>
            <p:spPr>
              <a:xfrm>
                <a:off x="3540867" y="4672307"/>
                <a:ext cx="7869678" cy="1324873"/>
              </a:xfrm>
              <a:prstGeom prst="rect">
                <a:avLst/>
              </a:prstGeom>
            </p:spPr>
            <p:style>
              <a:lnRef idx="0">
                <a:schemeClr val="accent5"/>
              </a:lnRef>
              <a:fillRef idx="3">
                <a:schemeClr val="accent5"/>
              </a:fillRef>
              <a:effectRef idx="3">
                <a:schemeClr val="accent5"/>
              </a:effectRef>
              <a:fontRef idx="minor">
                <a:schemeClr val="lt1"/>
              </a:fontRef>
            </p:style>
            <p:txBody>
              <a:bodyPr rtlCol="1" anchor="ctr"/>
              <a:lstStyle/>
              <a:p>
                <a:pPr algn="ctr"/>
                <a:r>
                  <a:rPr lang="en-US" dirty="0"/>
                  <a:t>The high-frequency enhancing filter can be defined mathematically as: </a:t>
                </a:r>
              </a:p>
              <a:p>
                <a:pPr algn="ctr"/>
                <a14:m>
                  <m:oMathPara xmlns:m="http://schemas.openxmlformats.org/officeDocument/2006/math">
                    <m:oMathParaPr>
                      <m:jc m:val="centerGroup"/>
                    </m:oMathParaPr>
                    <m:oMath xmlns:m="http://schemas.openxmlformats.org/officeDocument/2006/math">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𝑯</m:t>
                          </m:r>
                        </m:e>
                        <m:sub>
                          <m:r>
                            <a:rPr lang="en-US" b="1" i="1" smtClean="0">
                              <a:solidFill>
                                <a:srgbClr val="FFFF00"/>
                              </a:solidFill>
                              <a:latin typeface="Cambria Math" panose="02040503050406030204" pitchFamily="18" charset="0"/>
                            </a:rPr>
                            <m:t>𝑯𝑭𝑬𝑭</m:t>
                          </m:r>
                        </m:sub>
                      </m:sSub>
                      <m:d>
                        <m:dPr>
                          <m:ctrlPr>
                            <a:rPr lang="en-US" b="1" i="1" smtClean="0">
                              <a:solidFill>
                                <a:srgbClr val="FFFF00"/>
                              </a:solidFill>
                              <a:latin typeface="Cambria Math" panose="02040503050406030204" pitchFamily="18" charset="0"/>
                            </a:rPr>
                          </m:ctrlPr>
                        </m:dPr>
                        <m:e>
                          <m:r>
                            <a:rPr lang="en-US" b="1" i="1" smtClean="0">
                              <a:solidFill>
                                <a:srgbClr val="FFFF00"/>
                              </a:solidFill>
                              <a:latin typeface="Cambria Math" panose="02040503050406030204" pitchFamily="18" charset="0"/>
                            </a:rPr>
                            <m:t>𝒖</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𝒗</m:t>
                          </m:r>
                        </m:e>
                      </m:d>
                      <m:r>
                        <a:rPr lang="en-US" b="1" i="1" smtClean="0">
                          <a:solidFill>
                            <a:srgbClr val="FFFF00"/>
                          </a:solidFill>
                          <a:latin typeface="Cambria Math" panose="02040503050406030204" pitchFamily="18" charset="0"/>
                        </a:rPr>
                        <m:t>=</m:t>
                      </m:r>
                      <m:d>
                        <m:dPr>
                          <m:ctrlPr>
                            <a:rPr lang="en-US" b="1" i="1" smtClean="0">
                              <a:solidFill>
                                <a:srgbClr val="FFFF00"/>
                              </a:solidFill>
                              <a:latin typeface="Cambria Math" panose="02040503050406030204" pitchFamily="18" charset="0"/>
                            </a:rPr>
                          </m:ctrlPr>
                        </m:dPr>
                        <m:e>
                          <m:r>
                            <a:rPr lang="en-US" b="1" i="1" smtClean="0">
                              <a:solidFill>
                                <a:srgbClr val="FFFF00"/>
                              </a:solidFill>
                              <a:latin typeface="Cambria Math" panose="02040503050406030204" pitchFamily="18" charset="0"/>
                            </a:rPr>
                            <m:t>𝟏</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𝒂</m:t>
                          </m:r>
                        </m:e>
                      </m:d>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𝒂</m:t>
                      </m:r>
                      <m:r>
                        <a:rPr lang="en-US" b="1" i="1" smtClean="0">
                          <a:solidFill>
                            <a:srgbClr val="FFFF00"/>
                          </a:solidFill>
                          <a:latin typeface="Cambria Math" panose="02040503050406030204" pitchFamily="18" charset="0"/>
                        </a:rPr>
                        <m:t>∗</m:t>
                      </m:r>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𝑯</m:t>
                          </m:r>
                        </m:e>
                        <m:sub>
                          <m:r>
                            <a:rPr lang="en-US" b="1" i="1" smtClean="0">
                              <a:solidFill>
                                <a:srgbClr val="FFFF00"/>
                              </a:solidFill>
                              <a:latin typeface="Cambria Math" panose="02040503050406030204" pitchFamily="18" charset="0"/>
                            </a:rPr>
                            <m:t>𝑳𝑷𝑭</m:t>
                          </m:r>
                        </m:sub>
                      </m:sSub>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𝒖</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𝒗</m:t>
                      </m:r>
                      <m:r>
                        <a:rPr lang="en-US" b="1" i="1" smtClean="0">
                          <a:solidFill>
                            <a:srgbClr val="FFFF00"/>
                          </a:solidFill>
                          <a:latin typeface="Cambria Math" panose="02040503050406030204" pitchFamily="18" charset="0"/>
                        </a:rPr>
                        <m:t>)</m:t>
                      </m:r>
                    </m:oMath>
                  </m:oMathPara>
                </a14:m>
                <a:endParaRPr lang="en-US" b="1" dirty="0">
                  <a:solidFill>
                    <a:srgbClr val="FFFF00"/>
                  </a:solidFill>
                </a:endParaRPr>
              </a:p>
              <a:p>
                <a:pPr algn="ctr"/>
                <a:r>
                  <a:rPr lang="en-US" dirty="0"/>
                  <a:t>That formula leverages the LPF we easily create to ensure the filter has the desired characteristics to fulfil its purposes.  </a:t>
                </a:r>
                <a:endParaRPr lang="he-IL" dirty="0"/>
              </a:p>
            </p:txBody>
          </p:sp>
        </mc:Choice>
        <mc:Fallback>
          <p:sp>
            <p:nvSpPr>
              <p:cNvPr id="16" name="Rectangle 15">
                <a:extLst>
                  <a:ext uri="{FF2B5EF4-FFF2-40B4-BE49-F238E27FC236}">
                    <a16:creationId xmlns:a16="http://schemas.microsoft.com/office/drawing/2014/main" id="{8B310B45-3D5B-F951-330D-DA4A5FE9ED7D}"/>
                  </a:ext>
                </a:extLst>
              </p:cNvPr>
              <p:cNvSpPr>
                <a:spLocks noRot="1" noChangeAspect="1" noMove="1" noResize="1" noEditPoints="1" noAdjustHandles="1" noChangeArrowheads="1" noChangeShapeType="1" noTextEdit="1"/>
              </p:cNvSpPr>
              <p:nvPr/>
            </p:nvSpPr>
            <p:spPr>
              <a:xfrm>
                <a:off x="3540867" y="4672307"/>
                <a:ext cx="7869678" cy="1324873"/>
              </a:xfrm>
              <a:prstGeom prst="rect">
                <a:avLst/>
              </a:prstGeom>
              <a:blipFill>
                <a:blip r:embed="rId4"/>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3827992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1D5809B-3CB0-FD22-0035-230F2C306F47}"/>
              </a:ext>
            </a:extLst>
          </p:cNvPr>
          <p:cNvSpPr/>
          <p:nvPr/>
        </p:nvSpPr>
        <p:spPr>
          <a:xfrm>
            <a:off x="322634" y="1114751"/>
            <a:ext cx="11546731" cy="6066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t>The function we created use several parameters in accordance with the mathematical background of the filter</a:t>
            </a:r>
            <a:endParaRPr lang="he-IL" b="1" dirty="0"/>
          </a:p>
        </p:txBody>
      </p:sp>
      <p:sp>
        <p:nvSpPr>
          <p:cNvPr id="5" name="Google Shape;60;p14">
            <a:extLst>
              <a:ext uri="{FF2B5EF4-FFF2-40B4-BE49-F238E27FC236}">
                <a16:creationId xmlns:a16="http://schemas.microsoft.com/office/drawing/2014/main" id="{5594409D-19B7-8C77-F9AC-3354392710B5}"/>
              </a:ext>
            </a:extLst>
          </p:cNvPr>
          <p:cNvSpPr txBox="1"/>
          <p:nvPr/>
        </p:nvSpPr>
        <p:spPr>
          <a:xfrm>
            <a:off x="2491902" y="-84628"/>
            <a:ext cx="7683230" cy="1034125"/>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11.2</a:t>
            </a:r>
            <a:r>
              <a:rPr lang="en-US" sz="2800" b="1" u="sng" dirty="0">
                <a:solidFill>
                  <a:srgbClr val="0070C0"/>
                </a:solidFill>
              </a:rPr>
              <a:t>  -  the function “CreateHighFrequencyEnhancingFilter”</a:t>
            </a:r>
            <a:endParaRPr lang="en-US" sz="2800" b="1" u="sng" dirty="0">
              <a:solidFill>
                <a:srgbClr val="FF0000"/>
              </a:solidFill>
            </a:endParaRPr>
          </a:p>
          <a:p>
            <a:pPr algn="ctr"/>
            <a:endParaRPr lang="en-US" sz="2000" b="1" u="sng" dirty="0">
              <a:solidFill>
                <a:srgbClr val="FF0000"/>
              </a:solidFill>
            </a:endParaRPr>
          </a:p>
        </p:txBody>
      </p:sp>
      <p:sp>
        <p:nvSpPr>
          <p:cNvPr id="9" name="Arrow: Down 8">
            <a:extLst>
              <a:ext uri="{FF2B5EF4-FFF2-40B4-BE49-F238E27FC236}">
                <a16:creationId xmlns:a16="http://schemas.microsoft.com/office/drawing/2014/main" id="{B44DE119-520F-21E5-91F8-CE3AA2CA7564}"/>
              </a:ext>
            </a:extLst>
          </p:cNvPr>
          <p:cNvSpPr/>
          <p:nvPr/>
        </p:nvSpPr>
        <p:spPr>
          <a:xfrm>
            <a:off x="865762" y="1721448"/>
            <a:ext cx="632298" cy="113836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Rectangle 9">
            <a:extLst>
              <a:ext uri="{FF2B5EF4-FFF2-40B4-BE49-F238E27FC236}">
                <a16:creationId xmlns:a16="http://schemas.microsoft.com/office/drawing/2014/main" id="{28D5101D-2F29-62D1-B94C-54FA174ED314}"/>
              </a:ext>
            </a:extLst>
          </p:cNvPr>
          <p:cNvSpPr/>
          <p:nvPr/>
        </p:nvSpPr>
        <p:spPr>
          <a:xfrm>
            <a:off x="0" y="2859816"/>
            <a:ext cx="4056434" cy="11383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Cutoff frequency </a:t>
            </a:r>
            <a:r>
              <a:rPr lang="en-US" dirty="0"/>
              <a:t>– determines the frequency at which the filter transitions from low to high frequencies</a:t>
            </a:r>
            <a:endParaRPr lang="he-IL" dirty="0"/>
          </a:p>
        </p:txBody>
      </p:sp>
      <p:sp>
        <p:nvSpPr>
          <p:cNvPr id="14" name="Arrow: Down 13">
            <a:extLst>
              <a:ext uri="{FF2B5EF4-FFF2-40B4-BE49-F238E27FC236}">
                <a16:creationId xmlns:a16="http://schemas.microsoft.com/office/drawing/2014/main" id="{6DB6A3A6-24FD-CA25-8212-DB351F8FC827}"/>
              </a:ext>
            </a:extLst>
          </p:cNvPr>
          <p:cNvSpPr/>
          <p:nvPr/>
        </p:nvSpPr>
        <p:spPr>
          <a:xfrm>
            <a:off x="5147554" y="1721448"/>
            <a:ext cx="632298" cy="278234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Rectangle 14">
            <a:extLst>
              <a:ext uri="{FF2B5EF4-FFF2-40B4-BE49-F238E27FC236}">
                <a16:creationId xmlns:a16="http://schemas.microsoft.com/office/drawing/2014/main" id="{1F6B97B6-5E05-E9B5-738B-D2EDB14D2DB2}"/>
              </a:ext>
            </a:extLst>
          </p:cNvPr>
          <p:cNvSpPr/>
          <p:nvPr/>
        </p:nvSpPr>
        <p:spPr>
          <a:xfrm>
            <a:off x="3891064" y="4503790"/>
            <a:ext cx="3628418" cy="15699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00B050"/>
                </a:solidFill>
              </a:rPr>
              <a:t>Filter order</a:t>
            </a:r>
            <a:r>
              <a:rPr lang="en-US" dirty="0"/>
              <a:t>-controls the sharpness of the filter’s transition between low and high frequencies.</a:t>
            </a:r>
          </a:p>
          <a:p>
            <a:pPr algn="ctr"/>
            <a:r>
              <a:rPr lang="en-US" dirty="0"/>
              <a:t>The lower the order – the smoother (gradual) transition</a:t>
            </a:r>
            <a:endParaRPr lang="he-IL" dirty="0"/>
          </a:p>
        </p:txBody>
      </p:sp>
      <p:sp>
        <p:nvSpPr>
          <p:cNvPr id="16" name="Arrow: Down 15">
            <a:extLst>
              <a:ext uri="{FF2B5EF4-FFF2-40B4-BE49-F238E27FC236}">
                <a16:creationId xmlns:a16="http://schemas.microsoft.com/office/drawing/2014/main" id="{C0EED35B-5D65-68AA-E48D-EFCC26B8FD45}"/>
              </a:ext>
            </a:extLst>
          </p:cNvPr>
          <p:cNvSpPr/>
          <p:nvPr/>
        </p:nvSpPr>
        <p:spPr>
          <a:xfrm>
            <a:off x="9429346" y="1721448"/>
            <a:ext cx="632298" cy="18728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7" name="Rectangle 16">
            <a:extLst>
              <a:ext uri="{FF2B5EF4-FFF2-40B4-BE49-F238E27FC236}">
                <a16:creationId xmlns:a16="http://schemas.microsoft.com/office/drawing/2014/main" id="{BD5B33C8-334C-9488-F880-D18B26B6A217}"/>
              </a:ext>
            </a:extLst>
          </p:cNvPr>
          <p:cNvSpPr/>
          <p:nvPr/>
        </p:nvSpPr>
        <p:spPr>
          <a:xfrm>
            <a:off x="8278239" y="3594254"/>
            <a:ext cx="3913761" cy="17217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C000"/>
                </a:solidFill>
              </a:rPr>
              <a:t>Boost factor</a:t>
            </a:r>
            <a:r>
              <a:rPr lang="en-US" dirty="0"/>
              <a:t> – determines the amount by which high frequencies are amplified.</a:t>
            </a:r>
          </a:p>
          <a:p>
            <a:pPr algn="ctr"/>
            <a:r>
              <a:rPr lang="en-US" dirty="0"/>
              <a:t>The lower the boost factor , the subtle enhancement to high frequencies</a:t>
            </a:r>
            <a:endParaRPr lang="he-IL" dirty="0"/>
          </a:p>
        </p:txBody>
      </p:sp>
    </p:spTree>
    <p:extLst>
      <p:ext uri="{BB962C8B-B14F-4D97-AF65-F5344CB8AC3E}">
        <p14:creationId xmlns:p14="http://schemas.microsoft.com/office/powerpoint/2010/main" val="3015618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66A143CA-F1EF-D8E6-6FA4-0272CC6341F1}"/>
              </a:ext>
            </a:extLst>
          </p:cNvPr>
          <p:cNvPicPr>
            <a:picLocks noChangeAspect="1"/>
          </p:cNvPicPr>
          <p:nvPr/>
        </p:nvPicPr>
        <p:blipFill>
          <a:blip r:embed="rId2"/>
          <a:stretch>
            <a:fillRect/>
          </a:stretch>
        </p:blipFill>
        <p:spPr>
          <a:xfrm>
            <a:off x="0" y="432435"/>
            <a:ext cx="9246443" cy="6464470"/>
          </a:xfrm>
          <a:prstGeom prst="rect">
            <a:avLst/>
          </a:prstGeom>
        </p:spPr>
      </p:pic>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770468" y="67310"/>
            <a:ext cx="421532"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20</a:t>
            </a:fld>
            <a:endParaRPr lang="he-IL" sz="1600" dirty="0"/>
          </a:p>
        </p:txBody>
      </p:sp>
      <p:sp>
        <p:nvSpPr>
          <p:cNvPr id="2" name="Google Shape;60;p14">
            <a:extLst>
              <a:ext uri="{FF2B5EF4-FFF2-40B4-BE49-F238E27FC236}">
                <a16:creationId xmlns:a16="http://schemas.microsoft.com/office/drawing/2014/main" id="{1515AB9E-6D28-EF83-3271-40DBF6EA2014}"/>
              </a:ext>
            </a:extLst>
          </p:cNvPr>
          <p:cNvSpPr txBox="1"/>
          <p:nvPr/>
        </p:nvSpPr>
        <p:spPr>
          <a:xfrm>
            <a:off x="1566153" y="-148908"/>
            <a:ext cx="9717932" cy="432435"/>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12.1</a:t>
            </a:r>
            <a:r>
              <a:rPr lang="en-US" sz="2800" b="1" u="sng" dirty="0">
                <a:solidFill>
                  <a:srgbClr val="0070C0"/>
                </a:solidFill>
              </a:rPr>
              <a:t>  -  the function “WorkHFEF”</a:t>
            </a:r>
            <a:endParaRPr lang="en-US" sz="2800" b="1" u="sng" dirty="0">
              <a:solidFill>
                <a:srgbClr val="FF0000"/>
              </a:solidFill>
            </a:endParaRPr>
          </a:p>
          <a:p>
            <a:pPr algn="ctr"/>
            <a:endParaRPr lang="en-US" sz="2000" b="1" u="sng" dirty="0">
              <a:solidFill>
                <a:srgbClr val="FF0000"/>
              </a:solidFill>
            </a:endParaRPr>
          </a:p>
        </p:txBody>
      </p:sp>
      <p:pic>
        <p:nvPicPr>
          <p:cNvPr id="7" name="Picture 6">
            <a:extLst>
              <a:ext uri="{FF2B5EF4-FFF2-40B4-BE49-F238E27FC236}">
                <a16:creationId xmlns:a16="http://schemas.microsoft.com/office/drawing/2014/main" id="{87E7458C-BC3D-8BBB-A19A-6368188C3FDC}"/>
              </a:ext>
            </a:extLst>
          </p:cNvPr>
          <p:cNvPicPr>
            <a:picLocks noChangeAspect="1"/>
          </p:cNvPicPr>
          <p:nvPr/>
        </p:nvPicPr>
        <p:blipFill>
          <a:blip r:embed="rId3"/>
          <a:srcRect t="2627"/>
          <a:stretch/>
        </p:blipFill>
        <p:spPr>
          <a:xfrm>
            <a:off x="7655666" y="4913353"/>
            <a:ext cx="4536332" cy="1994170"/>
          </a:xfrm>
          <a:prstGeom prst="rect">
            <a:avLst/>
          </a:prstGeom>
        </p:spPr>
      </p:pic>
      <p:sp>
        <p:nvSpPr>
          <p:cNvPr id="9" name="TextBox 8">
            <a:extLst>
              <a:ext uri="{FF2B5EF4-FFF2-40B4-BE49-F238E27FC236}">
                <a16:creationId xmlns:a16="http://schemas.microsoft.com/office/drawing/2014/main" id="{58EE92F4-5795-84D8-6949-F2AEC9EE6AB7}"/>
              </a:ext>
            </a:extLst>
          </p:cNvPr>
          <p:cNvSpPr txBox="1"/>
          <p:nvPr/>
        </p:nvSpPr>
        <p:spPr>
          <a:xfrm>
            <a:off x="7198468" y="744319"/>
            <a:ext cx="4993530" cy="1200329"/>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function is a comprehensive image processing routine that applies a High-Frequency Enhancing Filter (HFEF) to a grayscale image using Frequency Domain Filtering. </a:t>
            </a:r>
            <a:endParaRPr lang="he-IL" dirty="0"/>
          </a:p>
        </p:txBody>
      </p:sp>
      <p:sp>
        <p:nvSpPr>
          <p:cNvPr id="10" name="Rectangle 9">
            <a:extLst>
              <a:ext uri="{FF2B5EF4-FFF2-40B4-BE49-F238E27FC236}">
                <a16:creationId xmlns:a16="http://schemas.microsoft.com/office/drawing/2014/main" id="{EC0C6BE2-58A7-DDAF-BE52-E0B829E0342A}"/>
              </a:ext>
            </a:extLst>
          </p:cNvPr>
          <p:cNvSpPr/>
          <p:nvPr/>
        </p:nvSpPr>
        <p:spPr>
          <a:xfrm>
            <a:off x="7354111" y="1944648"/>
            <a:ext cx="4837887" cy="17129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Pay attention : the structure of that function is very similar to the structure of the work() function – the only difference between them is step 4 which is the creation of the filter. We did not manage to combine the functions into one generic function due to lack of time  </a:t>
            </a:r>
            <a:endParaRPr lang="he-IL" dirty="0"/>
          </a:p>
        </p:txBody>
      </p:sp>
    </p:spTree>
    <p:extLst>
      <p:ext uri="{BB962C8B-B14F-4D97-AF65-F5344CB8AC3E}">
        <p14:creationId xmlns:p14="http://schemas.microsoft.com/office/powerpoint/2010/main" val="620785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770468" y="67310"/>
            <a:ext cx="421532"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21</a:t>
            </a:fld>
            <a:endParaRPr lang="he-IL" sz="1600" dirty="0"/>
          </a:p>
        </p:txBody>
      </p:sp>
      <p:sp>
        <p:nvSpPr>
          <p:cNvPr id="2" name="Google Shape;60;p14">
            <a:extLst>
              <a:ext uri="{FF2B5EF4-FFF2-40B4-BE49-F238E27FC236}">
                <a16:creationId xmlns:a16="http://schemas.microsoft.com/office/drawing/2014/main" id="{1515AB9E-6D28-EF83-3271-40DBF6EA2014}"/>
              </a:ext>
            </a:extLst>
          </p:cNvPr>
          <p:cNvSpPr txBox="1"/>
          <p:nvPr/>
        </p:nvSpPr>
        <p:spPr>
          <a:xfrm>
            <a:off x="1566153" y="-148908"/>
            <a:ext cx="9717932" cy="432435"/>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12.2</a:t>
            </a:r>
            <a:r>
              <a:rPr lang="en-US" sz="2800" b="1" u="sng" dirty="0">
                <a:solidFill>
                  <a:srgbClr val="0070C0"/>
                </a:solidFill>
              </a:rPr>
              <a:t>  -  the function “WorkHFEF”</a:t>
            </a:r>
            <a:endParaRPr lang="en-US" sz="2800" b="1" u="sng" dirty="0">
              <a:solidFill>
                <a:srgbClr val="FF0000"/>
              </a:solidFill>
            </a:endParaRPr>
          </a:p>
          <a:p>
            <a:pPr algn="ctr"/>
            <a:endParaRPr lang="en-US" sz="2000" b="1" u="sng" dirty="0">
              <a:solidFill>
                <a:srgbClr val="FF0000"/>
              </a:solidFill>
            </a:endParaRPr>
          </a:p>
        </p:txBody>
      </p:sp>
      <p:sp>
        <p:nvSpPr>
          <p:cNvPr id="3" name="Rectangle 2">
            <a:extLst>
              <a:ext uri="{FF2B5EF4-FFF2-40B4-BE49-F238E27FC236}">
                <a16:creationId xmlns:a16="http://schemas.microsoft.com/office/drawing/2014/main" id="{71F33AAD-4E72-5EFA-C87D-6762F75C287C}"/>
              </a:ext>
            </a:extLst>
          </p:cNvPr>
          <p:cNvSpPr/>
          <p:nvPr/>
        </p:nvSpPr>
        <p:spPr>
          <a:xfrm>
            <a:off x="3530584" y="527316"/>
            <a:ext cx="5150695" cy="389106"/>
          </a:xfrm>
          <a:prstGeom prst="rect">
            <a:avLst/>
          </a:prstGeom>
        </p:spPr>
        <p:style>
          <a:lnRef idx="0">
            <a:schemeClr val="accent4"/>
          </a:lnRef>
          <a:fillRef idx="3">
            <a:schemeClr val="accent4"/>
          </a:fillRef>
          <a:effectRef idx="3">
            <a:schemeClr val="accent4"/>
          </a:effectRef>
          <a:fontRef idx="minor">
            <a:schemeClr val="lt1"/>
          </a:fontRef>
        </p:style>
        <p:txBody>
          <a:bodyPr rtlCol="1" anchor="ctr"/>
          <a:lstStyle/>
          <a:p>
            <a:pPr algn="ctr"/>
            <a:r>
              <a:rPr lang="en-US" dirty="0"/>
              <a:t>Block diagram of the WorkHFEF () function:</a:t>
            </a:r>
            <a:endParaRPr lang="he-IL" dirty="0"/>
          </a:p>
        </p:txBody>
      </p:sp>
      <p:sp>
        <p:nvSpPr>
          <p:cNvPr id="5" name="Oval 4">
            <a:extLst>
              <a:ext uri="{FF2B5EF4-FFF2-40B4-BE49-F238E27FC236}">
                <a16:creationId xmlns:a16="http://schemas.microsoft.com/office/drawing/2014/main" id="{1CCD621B-48EA-3CAE-9A1D-A9F8FE4B2E6A}"/>
              </a:ext>
            </a:extLst>
          </p:cNvPr>
          <p:cNvSpPr/>
          <p:nvPr/>
        </p:nvSpPr>
        <p:spPr>
          <a:xfrm>
            <a:off x="9080769" y="1119573"/>
            <a:ext cx="1760706" cy="3210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start</a:t>
            </a:r>
            <a:endParaRPr lang="he-IL" dirty="0"/>
          </a:p>
        </p:txBody>
      </p:sp>
      <p:cxnSp>
        <p:nvCxnSpPr>
          <p:cNvPr id="6" name="Straight Arrow Connector 5">
            <a:extLst>
              <a:ext uri="{FF2B5EF4-FFF2-40B4-BE49-F238E27FC236}">
                <a16:creationId xmlns:a16="http://schemas.microsoft.com/office/drawing/2014/main" id="{0DD4B1F1-8171-EC9C-963A-8CAF2B7AEB04}"/>
              </a:ext>
            </a:extLst>
          </p:cNvPr>
          <p:cNvCxnSpPr>
            <a:cxnSpLocks/>
            <a:stCxn id="5" idx="4"/>
          </p:cNvCxnSpPr>
          <p:nvPr/>
        </p:nvCxnSpPr>
        <p:spPr>
          <a:xfrm>
            <a:off x="9961122" y="1440585"/>
            <a:ext cx="4864" cy="54475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428C9270-0875-42E2-AA3F-4076FF20CFC7}"/>
              </a:ext>
            </a:extLst>
          </p:cNvPr>
          <p:cNvSpPr/>
          <p:nvPr/>
        </p:nvSpPr>
        <p:spPr>
          <a:xfrm>
            <a:off x="8596817" y="1980472"/>
            <a:ext cx="2728607" cy="3891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Input image : ProccesIMG</a:t>
            </a:r>
            <a:endParaRPr lang="he-IL" dirty="0"/>
          </a:p>
        </p:txBody>
      </p:sp>
      <p:cxnSp>
        <p:nvCxnSpPr>
          <p:cNvPr id="8" name="Straight Arrow Connector 7">
            <a:extLst>
              <a:ext uri="{FF2B5EF4-FFF2-40B4-BE49-F238E27FC236}">
                <a16:creationId xmlns:a16="http://schemas.microsoft.com/office/drawing/2014/main" id="{086D38CF-E66B-5C2F-113A-CC5E43BED2B7}"/>
              </a:ext>
            </a:extLst>
          </p:cNvPr>
          <p:cNvCxnSpPr/>
          <p:nvPr/>
        </p:nvCxnSpPr>
        <p:spPr>
          <a:xfrm>
            <a:off x="9961120" y="2364715"/>
            <a:ext cx="4864" cy="54475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C9AB1878-1CCB-7A7B-EB4A-55CC70DCF81A}"/>
              </a:ext>
            </a:extLst>
          </p:cNvPr>
          <p:cNvSpPr/>
          <p:nvPr/>
        </p:nvSpPr>
        <p:spPr>
          <a:xfrm>
            <a:off x="8254522" y="2909465"/>
            <a:ext cx="3413196" cy="932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Step 1: Prepare for FFT :</a:t>
            </a:r>
          </a:p>
          <a:p>
            <a:pPr algn="ctr"/>
            <a:r>
              <a:rPr lang="en-US" dirty="0"/>
              <a:t> i) Copies ProccesIMG to </a:t>
            </a:r>
            <a:r>
              <a:rPr lang="en-US" b="1" dirty="0"/>
              <a:t>floatRe</a:t>
            </a:r>
          </a:p>
          <a:p>
            <a:pPr algn="ctr"/>
            <a:r>
              <a:rPr lang="en-US" dirty="0"/>
              <a:t>ii) Initializes </a:t>
            </a:r>
            <a:r>
              <a:rPr lang="en-US" b="1" dirty="0"/>
              <a:t>floatIm</a:t>
            </a:r>
            <a:r>
              <a:rPr lang="en-US" dirty="0"/>
              <a:t> to 0</a:t>
            </a:r>
          </a:p>
        </p:txBody>
      </p:sp>
      <p:cxnSp>
        <p:nvCxnSpPr>
          <p:cNvPr id="10" name="Straight Arrow Connector 9">
            <a:extLst>
              <a:ext uri="{FF2B5EF4-FFF2-40B4-BE49-F238E27FC236}">
                <a16:creationId xmlns:a16="http://schemas.microsoft.com/office/drawing/2014/main" id="{839D49A7-E532-B790-B576-E7E2C755880A}"/>
              </a:ext>
            </a:extLst>
          </p:cNvPr>
          <p:cNvCxnSpPr/>
          <p:nvPr/>
        </p:nvCxnSpPr>
        <p:spPr>
          <a:xfrm>
            <a:off x="9961120" y="3830163"/>
            <a:ext cx="4864" cy="54475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4CFD1A03-8AA2-BF7F-AD76-DB491BB87D46}"/>
              </a:ext>
            </a:extLst>
          </p:cNvPr>
          <p:cNvSpPr/>
          <p:nvPr/>
        </p:nvSpPr>
        <p:spPr>
          <a:xfrm>
            <a:off x="8362035" y="4382313"/>
            <a:ext cx="3300819" cy="932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Step 2: Centering:</a:t>
            </a:r>
          </a:p>
          <a:p>
            <a:pPr algn="ctr"/>
            <a:r>
              <a:rPr lang="en-US" dirty="0"/>
              <a:t> i) ShiftHalfSize on </a:t>
            </a:r>
            <a:r>
              <a:rPr lang="en-US" b="1" dirty="0"/>
              <a:t>floatRe</a:t>
            </a:r>
          </a:p>
          <a:p>
            <a:pPr algn="ctr"/>
            <a:r>
              <a:rPr lang="en-US" dirty="0"/>
              <a:t>ii) ShiftHalfSize on </a:t>
            </a:r>
            <a:r>
              <a:rPr lang="en-US" b="1" dirty="0"/>
              <a:t>floatIm</a:t>
            </a:r>
          </a:p>
        </p:txBody>
      </p:sp>
      <p:cxnSp>
        <p:nvCxnSpPr>
          <p:cNvPr id="12" name="Straight Arrow Connector 11">
            <a:extLst>
              <a:ext uri="{FF2B5EF4-FFF2-40B4-BE49-F238E27FC236}">
                <a16:creationId xmlns:a16="http://schemas.microsoft.com/office/drawing/2014/main" id="{C17F0E57-5579-3EF1-F93F-DBCB4AD50BE9}"/>
              </a:ext>
            </a:extLst>
          </p:cNvPr>
          <p:cNvCxnSpPr/>
          <p:nvPr/>
        </p:nvCxnSpPr>
        <p:spPr>
          <a:xfrm>
            <a:off x="9999470" y="5322674"/>
            <a:ext cx="4864" cy="54475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53EBB342-CA01-BDB1-F5CF-F316DE5C7B19}"/>
              </a:ext>
            </a:extLst>
          </p:cNvPr>
          <p:cNvSpPr/>
          <p:nvPr/>
        </p:nvSpPr>
        <p:spPr>
          <a:xfrm>
            <a:off x="8076335" y="5874824"/>
            <a:ext cx="4105072" cy="932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Step 3: Forward FFT:</a:t>
            </a:r>
          </a:p>
          <a:p>
            <a:pPr algn="ctr"/>
            <a:r>
              <a:rPr lang="en-US" dirty="0"/>
              <a:t>Arguments are: </a:t>
            </a:r>
            <a:r>
              <a:rPr lang="en-US" b="1" dirty="0"/>
              <a:t>floatRe, floatIm , </a:t>
            </a:r>
            <a:r>
              <a:rPr lang="en-US" dirty="0"/>
              <a:t>FORWARD_FFT , NORMALIZE_BY_SQRT</a:t>
            </a:r>
            <a:endParaRPr lang="en-US" b="1" dirty="0"/>
          </a:p>
        </p:txBody>
      </p:sp>
      <p:cxnSp>
        <p:nvCxnSpPr>
          <p:cNvPr id="14" name="Straight Arrow Connector 13">
            <a:extLst>
              <a:ext uri="{FF2B5EF4-FFF2-40B4-BE49-F238E27FC236}">
                <a16:creationId xmlns:a16="http://schemas.microsoft.com/office/drawing/2014/main" id="{866AC308-B172-D918-13E6-5C7DE4A5C6FC}"/>
              </a:ext>
            </a:extLst>
          </p:cNvPr>
          <p:cNvCxnSpPr>
            <a:cxnSpLocks/>
          </p:cNvCxnSpPr>
          <p:nvPr/>
        </p:nvCxnSpPr>
        <p:spPr>
          <a:xfrm flipH="1" flipV="1">
            <a:off x="7398382" y="6341304"/>
            <a:ext cx="672989" cy="15649"/>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CC20BC97-76B3-4093-4A22-281215FC7EBF}"/>
              </a:ext>
            </a:extLst>
          </p:cNvPr>
          <p:cNvSpPr/>
          <p:nvPr/>
        </p:nvSpPr>
        <p:spPr>
          <a:xfrm>
            <a:off x="4521842" y="5435594"/>
            <a:ext cx="2876540" cy="14326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Step 4: create HFEF:</a:t>
            </a:r>
          </a:p>
          <a:p>
            <a:pPr algn="ctr"/>
            <a:r>
              <a:rPr lang="en-US" b="1" dirty="0">
                <a:solidFill>
                  <a:srgbClr val="FFFF00"/>
                </a:solidFill>
              </a:rPr>
              <a:t>Create a Butterworth low pass filter and apply the mathematical formula of the HFEF using it </a:t>
            </a:r>
          </a:p>
        </p:txBody>
      </p:sp>
      <p:cxnSp>
        <p:nvCxnSpPr>
          <p:cNvPr id="16" name="Straight Arrow Connector 15">
            <a:extLst>
              <a:ext uri="{FF2B5EF4-FFF2-40B4-BE49-F238E27FC236}">
                <a16:creationId xmlns:a16="http://schemas.microsoft.com/office/drawing/2014/main" id="{E4DD1F15-991D-DE4F-8A89-5B0C6EBEEB44}"/>
              </a:ext>
            </a:extLst>
          </p:cNvPr>
          <p:cNvCxnSpPr>
            <a:cxnSpLocks/>
          </p:cNvCxnSpPr>
          <p:nvPr/>
        </p:nvCxnSpPr>
        <p:spPr>
          <a:xfrm rot="10800000">
            <a:off x="5955248" y="4890844"/>
            <a:ext cx="4864" cy="54475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4A21A5D2-6585-24BD-7A5E-C8EF3FB70F4E}"/>
              </a:ext>
            </a:extLst>
          </p:cNvPr>
          <p:cNvSpPr/>
          <p:nvPr/>
        </p:nvSpPr>
        <p:spPr>
          <a:xfrm>
            <a:off x="4391020" y="4386221"/>
            <a:ext cx="3128453" cy="513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Step 5: apply filter in FD</a:t>
            </a:r>
          </a:p>
        </p:txBody>
      </p:sp>
      <p:cxnSp>
        <p:nvCxnSpPr>
          <p:cNvPr id="18" name="Straight Arrow Connector 17">
            <a:extLst>
              <a:ext uri="{FF2B5EF4-FFF2-40B4-BE49-F238E27FC236}">
                <a16:creationId xmlns:a16="http://schemas.microsoft.com/office/drawing/2014/main" id="{68F77E45-4149-EB9D-D11B-5D77FCC7A1F5}"/>
              </a:ext>
            </a:extLst>
          </p:cNvPr>
          <p:cNvCxnSpPr>
            <a:cxnSpLocks/>
          </p:cNvCxnSpPr>
          <p:nvPr/>
        </p:nvCxnSpPr>
        <p:spPr>
          <a:xfrm flipV="1">
            <a:off x="6017944" y="2062499"/>
            <a:ext cx="0" cy="752159"/>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FA6564CF-7FB6-B174-F04B-6818EC36E639}"/>
              </a:ext>
            </a:extLst>
          </p:cNvPr>
          <p:cNvSpPr/>
          <p:nvPr/>
        </p:nvSpPr>
        <p:spPr>
          <a:xfrm>
            <a:off x="4547119" y="2807726"/>
            <a:ext cx="2851263" cy="10761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Step 6 : inverse FFT:</a:t>
            </a:r>
          </a:p>
          <a:p>
            <a:pPr algn="ctr"/>
            <a:r>
              <a:rPr lang="en-US" dirty="0"/>
              <a:t>Arguments are: </a:t>
            </a:r>
            <a:r>
              <a:rPr lang="en-US" b="1" dirty="0"/>
              <a:t>floatRe, floatIm , </a:t>
            </a:r>
            <a:r>
              <a:rPr lang="en-US" dirty="0"/>
              <a:t>REVERSE_FFT, NORMALIZE_BY_SQRT</a:t>
            </a:r>
            <a:endParaRPr lang="en-US" b="1" dirty="0"/>
          </a:p>
        </p:txBody>
      </p:sp>
      <p:cxnSp>
        <p:nvCxnSpPr>
          <p:cNvPr id="20" name="Straight Arrow Connector 19">
            <a:extLst>
              <a:ext uri="{FF2B5EF4-FFF2-40B4-BE49-F238E27FC236}">
                <a16:creationId xmlns:a16="http://schemas.microsoft.com/office/drawing/2014/main" id="{C39E5732-E565-1716-6999-8EC03D965513}"/>
              </a:ext>
            </a:extLst>
          </p:cNvPr>
          <p:cNvCxnSpPr>
            <a:cxnSpLocks/>
            <a:endCxn id="23" idx="3"/>
          </p:cNvCxnSpPr>
          <p:nvPr/>
        </p:nvCxnSpPr>
        <p:spPr>
          <a:xfrm flipH="1">
            <a:off x="3131096" y="1596488"/>
            <a:ext cx="1410610"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2B667B63-92AA-259A-75D3-96BB1D5B778D}"/>
              </a:ext>
            </a:extLst>
          </p:cNvPr>
          <p:cNvSpPr/>
          <p:nvPr/>
        </p:nvSpPr>
        <p:spPr>
          <a:xfrm>
            <a:off x="4541706" y="1134872"/>
            <a:ext cx="3128453" cy="9232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Step 7: Centering :</a:t>
            </a:r>
          </a:p>
          <a:p>
            <a:pPr algn="ctr"/>
            <a:r>
              <a:rPr lang="en-US" dirty="0"/>
              <a:t> i) ShiftHalfSize on </a:t>
            </a:r>
            <a:r>
              <a:rPr lang="en-US" b="1" dirty="0"/>
              <a:t>floatRe</a:t>
            </a:r>
          </a:p>
          <a:p>
            <a:pPr algn="ctr"/>
            <a:r>
              <a:rPr lang="en-US" dirty="0"/>
              <a:t>ii) ShiftHalfSize on </a:t>
            </a:r>
            <a:r>
              <a:rPr lang="en-US" b="1" dirty="0"/>
              <a:t>floatIm</a:t>
            </a:r>
          </a:p>
        </p:txBody>
      </p:sp>
      <p:cxnSp>
        <p:nvCxnSpPr>
          <p:cNvPr id="22" name="Straight Arrow Connector 21">
            <a:extLst>
              <a:ext uri="{FF2B5EF4-FFF2-40B4-BE49-F238E27FC236}">
                <a16:creationId xmlns:a16="http://schemas.microsoft.com/office/drawing/2014/main" id="{149533D9-A937-A495-7EC2-395A9CB4B729}"/>
              </a:ext>
            </a:extLst>
          </p:cNvPr>
          <p:cNvCxnSpPr>
            <a:cxnSpLocks/>
          </p:cNvCxnSpPr>
          <p:nvPr/>
        </p:nvCxnSpPr>
        <p:spPr>
          <a:xfrm rot="10800000">
            <a:off x="5955246" y="3892618"/>
            <a:ext cx="4864" cy="54475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D73C051A-D484-F82C-E1AC-F230AB95752C}"/>
              </a:ext>
            </a:extLst>
          </p:cNvPr>
          <p:cNvSpPr/>
          <p:nvPr/>
        </p:nvSpPr>
        <p:spPr>
          <a:xfrm>
            <a:off x="2643" y="1339583"/>
            <a:ext cx="3128453" cy="513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Step 8: Convert to Image Format with normalization</a:t>
            </a:r>
          </a:p>
        </p:txBody>
      </p:sp>
      <p:cxnSp>
        <p:nvCxnSpPr>
          <p:cNvPr id="24" name="Straight Arrow Connector 23">
            <a:extLst>
              <a:ext uri="{FF2B5EF4-FFF2-40B4-BE49-F238E27FC236}">
                <a16:creationId xmlns:a16="http://schemas.microsoft.com/office/drawing/2014/main" id="{82EFDED6-0500-D180-2311-50D40B2F9D09}"/>
              </a:ext>
            </a:extLst>
          </p:cNvPr>
          <p:cNvCxnSpPr>
            <a:cxnSpLocks/>
          </p:cNvCxnSpPr>
          <p:nvPr/>
        </p:nvCxnSpPr>
        <p:spPr>
          <a:xfrm>
            <a:off x="1576691" y="1813252"/>
            <a:ext cx="0" cy="823838"/>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2DE65890-7E21-57A1-1328-9E8E52E63B21}"/>
              </a:ext>
            </a:extLst>
          </p:cNvPr>
          <p:cNvSpPr/>
          <p:nvPr/>
        </p:nvSpPr>
        <p:spPr>
          <a:xfrm>
            <a:off x="0" y="2599902"/>
            <a:ext cx="3439071" cy="931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Step 9: Update Original Image:</a:t>
            </a:r>
          </a:p>
          <a:p>
            <a:pPr algn="ctr"/>
            <a:r>
              <a:rPr lang="en-US" dirty="0"/>
              <a:t>Copies byteOriginal back to ProccesIMG</a:t>
            </a:r>
          </a:p>
        </p:txBody>
      </p:sp>
    </p:spTree>
    <p:extLst>
      <p:ext uri="{BB962C8B-B14F-4D97-AF65-F5344CB8AC3E}">
        <p14:creationId xmlns:p14="http://schemas.microsoft.com/office/powerpoint/2010/main" val="31348451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6576A0-8A34-3B58-5FE2-C973FE918993}"/>
              </a:ext>
            </a:extLst>
          </p:cNvPr>
          <p:cNvSpPr txBox="1"/>
          <p:nvPr/>
        </p:nvSpPr>
        <p:spPr>
          <a:xfrm>
            <a:off x="15809" y="6211669"/>
            <a:ext cx="5885233"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b="1" dirty="0">
                <a:solidFill>
                  <a:srgbClr val="FFFF00"/>
                </a:solidFill>
              </a:rPr>
              <a:t>Purpose:</a:t>
            </a:r>
            <a:r>
              <a:rPr lang="en-US" dirty="0">
                <a:solidFill>
                  <a:srgbClr val="FFFF00"/>
                </a:solidFill>
              </a:rPr>
              <a:t> Prepares the image data for the Fourier Transform by separating real and imaginary components.</a:t>
            </a:r>
            <a:endParaRPr lang="he-IL" dirty="0">
              <a:solidFill>
                <a:srgbClr val="FFFF00"/>
              </a:solidFill>
            </a:endParaRPr>
          </a:p>
        </p:txBody>
      </p:sp>
      <p:sp>
        <p:nvSpPr>
          <p:cNvPr id="7" name="Slide Number Placeholder 5">
            <a:extLst>
              <a:ext uri="{FF2B5EF4-FFF2-40B4-BE49-F238E27FC236}">
                <a16:creationId xmlns:a16="http://schemas.microsoft.com/office/drawing/2014/main" id="{80C9C45E-9846-2143-257F-74F3C0DC9CBB}"/>
              </a:ext>
            </a:extLst>
          </p:cNvPr>
          <p:cNvSpPr txBox="1">
            <a:spLocks/>
          </p:cNvSpPr>
          <p:nvPr/>
        </p:nvSpPr>
        <p:spPr>
          <a:xfrm>
            <a:off x="11770468" y="67310"/>
            <a:ext cx="421532"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22</a:t>
            </a:fld>
            <a:endParaRPr lang="he-IL" sz="1600" dirty="0"/>
          </a:p>
        </p:txBody>
      </p:sp>
      <p:sp>
        <p:nvSpPr>
          <p:cNvPr id="8" name="Google Shape;60;p14">
            <a:extLst>
              <a:ext uri="{FF2B5EF4-FFF2-40B4-BE49-F238E27FC236}">
                <a16:creationId xmlns:a16="http://schemas.microsoft.com/office/drawing/2014/main" id="{62A824F5-E2CB-396D-F24A-A1E3F37783BF}"/>
              </a:ext>
            </a:extLst>
          </p:cNvPr>
          <p:cNvSpPr txBox="1"/>
          <p:nvPr/>
        </p:nvSpPr>
        <p:spPr>
          <a:xfrm>
            <a:off x="1566153" y="-148908"/>
            <a:ext cx="9717932" cy="432435"/>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MP2.0 – </a:t>
            </a:r>
            <a:r>
              <a:rPr lang="en-US" sz="2800" b="1" u="sng" dirty="0">
                <a:solidFill>
                  <a:srgbClr val="FF0000"/>
                </a:solidFill>
              </a:rPr>
              <a:t>introduction part 12.2</a:t>
            </a:r>
            <a:r>
              <a:rPr lang="en-US" sz="2800" b="1" u="sng" dirty="0">
                <a:solidFill>
                  <a:srgbClr val="0070C0"/>
                </a:solidFill>
              </a:rPr>
              <a:t>  -  the function “WorkHFEF”</a:t>
            </a:r>
            <a:endParaRPr lang="en-US" sz="2800" b="1" u="sng" dirty="0">
              <a:solidFill>
                <a:srgbClr val="FF0000"/>
              </a:solidFill>
            </a:endParaRPr>
          </a:p>
          <a:p>
            <a:pPr algn="ctr"/>
            <a:endParaRPr lang="en-US" sz="2000" b="1" u="sng" dirty="0">
              <a:solidFill>
                <a:srgbClr val="FF0000"/>
              </a:solidFill>
            </a:endParaRPr>
          </a:p>
        </p:txBody>
      </p:sp>
      <p:sp>
        <p:nvSpPr>
          <p:cNvPr id="9" name="Rectangle 8">
            <a:extLst>
              <a:ext uri="{FF2B5EF4-FFF2-40B4-BE49-F238E27FC236}">
                <a16:creationId xmlns:a16="http://schemas.microsoft.com/office/drawing/2014/main" id="{658743F1-59C8-3C8B-9C85-C1583CF53212}"/>
              </a:ext>
            </a:extLst>
          </p:cNvPr>
          <p:cNvSpPr/>
          <p:nvPr/>
        </p:nvSpPr>
        <p:spPr>
          <a:xfrm>
            <a:off x="2772383" y="594391"/>
            <a:ext cx="6094378" cy="6463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t>Some additional notes about the processes that related both to WorkHFEF() and work()</a:t>
            </a:r>
            <a:endParaRPr lang="he-IL" b="1" dirty="0"/>
          </a:p>
        </p:txBody>
      </p:sp>
      <p:pic>
        <p:nvPicPr>
          <p:cNvPr id="12" name="Picture 11">
            <a:extLst>
              <a:ext uri="{FF2B5EF4-FFF2-40B4-BE49-F238E27FC236}">
                <a16:creationId xmlns:a16="http://schemas.microsoft.com/office/drawing/2014/main" id="{9710F4FF-BB6F-BF84-37DA-E23F77030C74}"/>
              </a:ext>
            </a:extLst>
          </p:cNvPr>
          <p:cNvPicPr>
            <a:picLocks noChangeAspect="1"/>
          </p:cNvPicPr>
          <p:nvPr/>
        </p:nvPicPr>
        <p:blipFill>
          <a:blip r:embed="rId2"/>
          <a:stretch>
            <a:fillRect/>
          </a:stretch>
        </p:blipFill>
        <p:spPr>
          <a:xfrm>
            <a:off x="0" y="3934617"/>
            <a:ext cx="5781876" cy="1643023"/>
          </a:xfrm>
          <a:prstGeom prst="rect">
            <a:avLst/>
          </a:prstGeom>
        </p:spPr>
      </p:pic>
      <p:sp>
        <p:nvSpPr>
          <p:cNvPr id="13" name="Arrow: Down 12">
            <a:extLst>
              <a:ext uri="{FF2B5EF4-FFF2-40B4-BE49-F238E27FC236}">
                <a16:creationId xmlns:a16="http://schemas.microsoft.com/office/drawing/2014/main" id="{57EA8030-F4C3-356F-D672-BBB60FD64B11}"/>
              </a:ext>
            </a:extLst>
          </p:cNvPr>
          <p:cNvSpPr/>
          <p:nvPr/>
        </p:nvSpPr>
        <p:spPr>
          <a:xfrm>
            <a:off x="2530408" y="5577640"/>
            <a:ext cx="428017" cy="62014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6" name="Picture 15">
            <a:extLst>
              <a:ext uri="{FF2B5EF4-FFF2-40B4-BE49-F238E27FC236}">
                <a16:creationId xmlns:a16="http://schemas.microsoft.com/office/drawing/2014/main" id="{E77F9A1B-1CD1-5B78-5E91-6A680EE47053}"/>
              </a:ext>
            </a:extLst>
          </p:cNvPr>
          <p:cNvPicPr>
            <a:picLocks noChangeAspect="1"/>
          </p:cNvPicPr>
          <p:nvPr/>
        </p:nvPicPr>
        <p:blipFill>
          <a:blip r:embed="rId3"/>
          <a:stretch>
            <a:fillRect/>
          </a:stretch>
        </p:blipFill>
        <p:spPr>
          <a:xfrm>
            <a:off x="7751729" y="3791268"/>
            <a:ext cx="4424462" cy="874101"/>
          </a:xfrm>
          <a:prstGeom prst="rect">
            <a:avLst/>
          </a:prstGeom>
        </p:spPr>
      </p:pic>
      <p:sp>
        <p:nvSpPr>
          <p:cNvPr id="18" name="TextBox 17">
            <a:extLst>
              <a:ext uri="{FF2B5EF4-FFF2-40B4-BE49-F238E27FC236}">
                <a16:creationId xmlns:a16="http://schemas.microsoft.com/office/drawing/2014/main" id="{6FFA1433-EF82-0E02-7F84-A706FD8F86E1}"/>
              </a:ext>
            </a:extLst>
          </p:cNvPr>
          <p:cNvSpPr txBox="1"/>
          <p:nvPr/>
        </p:nvSpPr>
        <p:spPr>
          <a:xfrm>
            <a:off x="8131108" y="5103674"/>
            <a:ext cx="4045083" cy="1754326"/>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Repositions the zero-frequency (DC component) from the top-left corner to the center of the frequency domain. </a:t>
            </a:r>
          </a:p>
          <a:p>
            <a:r>
              <a:rPr lang="en-US" b="1" dirty="0">
                <a:solidFill>
                  <a:srgbClr val="FFFF00"/>
                </a:solidFill>
              </a:rPr>
              <a:t>Purpose:</a:t>
            </a:r>
            <a:r>
              <a:rPr lang="en-US" dirty="0">
                <a:solidFill>
                  <a:srgbClr val="FFFF00"/>
                </a:solidFill>
              </a:rPr>
              <a:t> Centers the frequency components, making it easier to apply frequency-based filters.</a:t>
            </a:r>
            <a:endParaRPr lang="he-IL" dirty="0">
              <a:solidFill>
                <a:srgbClr val="FFFF00"/>
              </a:solidFill>
            </a:endParaRPr>
          </a:p>
        </p:txBody>
      </p:sp>
      <p:sp>
        <p:nvSpPr>
          <p:cNvPr id="19" name="Arrow: Down 18">
            <a:extLst>
              <a:ext uri="{FF2B5EF4-FFF2-40B4-BE49-F238E27FC236}">
                <a16:creationId xmlns:a16="http://schemas.microsoft.com/office/drawing/2014/main" id="{6BFC9E83-B638-7615-368A-EB0526C2F7E6}"/>
              </a:ext>
            </a:extLst>
          </p:cNvPr>
          <p:cNvSpPr/>
          <p:nvPr/>
        </p:nvSpPr>
        <p:spPr>
          <a:xfrm>
            <a:off x="9939640" y="4675848"/>
            <a:ext cx="428017" cy="42782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0" name="Arrow: Down 19">
            <a:extLst>
              <a:ext uri="{FF2B5EF4-FFF2-40B4-BE49-F238E27FC236}">
                <a16:creationId xmlns:a16="http://schemas.microsoft.com/office/drawing/2014/main" id="{67F56659-2AD2-2B2B-F002-3DFAF6E627BC}"/>
              </a:ext>
            </a:extLst>
          </p:cNvPr>
          <p:cNvSpPr/>
          <p:nvPr/>
        </p:nvSpPr>
        <p:spPr>
          <a:xfrm>
            <a:off x="5677710" y="1254611"/>
            <a:ext cx="428017" cy="54292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2" name="Picture 21">
            <a:extLst>
              <a:ext uri="{FF2B5EF4-FFF2-40B4-BE49-F238E27FC236}">
                <a16:creationId xmlns:a16="http://schemas.microsoft.com/office/drawing/2014/main" id="{7F2EFAC1-FC9B-B893-1B6A-68FFC093D468}"/>
              </a:ext>
            </a:extLst>
          </p:cNvPr>
          <p:cNvPicPr>
            <a:picLocks noChangeAspect="1"/>
          </p:cNvPicPr>
          <p:nvPr/>
        </p:nvPicPr>
        <p:blipFill>
          <a:blip r:embed="rId4"/>
          <a:stretch>
            <a:fillRect/>
          </a:stretch>
        </p:blipFill>
        <p:spPr>
          <a:xfrm>
            <a:off x="3547152" y="1794250"/>
            <a:ext cx="4476750" cy="542925"/>
          </a:xfrm>
          <a:prstGeom prst="rect">
            <a:avLst/>
          </a:prstGeom>
        </p:spPr>
      </p:pic>
      <p:sp>
        <p:nvSpPr>
          <p:cNvPr id="24" name="TextBox 23">
            <a:extLst>
              <a:ext uri="{FF2B5EF4-FFF2-40B4-BE49-F238E27FC236}">
                <a16:creationId xmlns:a16="http://schemas.microsoft.com/office/drawing/2014/main" id="{C406EB56-BE46-123E-7B12-A4D6EAAEFE8D}"/>
              </a:ext>
            </a:extLst>
          </p:cNvPr>
          <p:cNvSpPr txBox="1"/>
          <p:nvPr/>
        </p:nvSpPr>
        <p:spPr>
          <a:xfrm>
            <a:off x="3532355" y="2359600"/>
            <a:ext cx="5334404" cy="1200329"/>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Converts the real part of the spatial domain image (floatRe) to an unsigned char format.</a:t>
            </a:r>
          </a:p>
          <a:p>
            <a:r>
              <a:rPr lang="en-US" b="1" dirty="0">
                <a:solidFill>
                  <a:srgbClr val="FFFF00"/>
                </a:solidFill>
              </a:rPr>
              <a:t>Purpose:</a:t>
            </a:r>
            <a:r>
              <a:rPr lang="en-US" dirty="0">
                <a:solidFill>
                  <a:srgbClr val="FFFF00"/>
                </a:solidFill>
              </a:rPr>
              <a:t> Maps floating-point pixel intensities to the 0-255 range suitable for image representation.</a:t>
            </a:r>
            <a:endParaRPr lang="he-IL" dirty="0">
              <a:solidFill>
                <a:srgbClr val="FFFF00"/>
              </a:solidFill>
            </a:endParaRPr>
          </a:p>
        </p:txBody>
      </p:sp>
      <p:sp>
        <p:nvSpPr>
          <p:cNvPr id="28" name="Arrow: Bent 27">
            <a:extLst>
              <a:ext uri="{FF2B5EF4-FFF2-40B4-BE49-F238E27FC236}">
                <a16:creationId xmlns:a16="http://schemas.microsoft.com/office/drawing/2014/main" id="{31A04E5B-8489-560E-AC89-19206A5C592D}"/>
              </a:ext>
            </a:extLst>
          </p:cNvPr>
          <p:cNvSpPr/>
          <p:nvPr/>
        </p:nvSpPr>
        <p:spPr>
          <a:xfrm rot="5400000">
            <a:off x="8309126" y="1279466"/>
            <a:ext cx="3092414" cy="1977145"/>
          </a:xfrm>
          <a:prstGeom prst="bentArrow">
            <a:avLst>
              <a:gd name="adj1" fmla="val 11207"/>
              <a:gd name="adj2" fmla="val 25000"/>
              <a:gd name="adj3" fmla="val 2500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
        <p:nvSpPr>
          <p:cNvPr id="29" name="Arrow: Bent 28">
            <a:extLst>
              <a:ext uri="{FF2B5EF4-FFF2-40B4-BE49-F238E27FC236}">
                <a16:creationId xmlns:a16="http://schemas.microsoft.com/office/drawing/2014/main" id="{28F5F955-BA99-5E31-391B-3237CCA32AD1}"/>
              </a:ext>
            </a:extLst>
          </p:cNvPr>
          <p:cNvSpPr/>
          <p:nvPr/>
        </p:nvSpPr>
        <p:spPr>
          <a:xfrm rot="16200000" flipH="1">
            <a:off x="150318" y="1366752"/>
            <a:ext cx="3198896" cy="1909055"/>
          </a:xfrm>
          <a:prstGeom prst="bentArrow">
            <a:avLst>
              <a:gd name="adj1" fmla="val 11207"/>
              <a:gd name="adj2" fmla="val 25000"/>
              <a:gd name="adj3" fmla="val 2500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
        <p:nvSpPr>
          <p:cNvPr id="30" name="Arrow: Curved Right 29">
            <a:extLst>
              <a:ext uri="{FF2B5EF4-FFF2-40B4-BE49-F238E27FC236}">
                <a16:creationId xmlns:a16="http://schemas.microsoft.com/office/drawing/2014/main" id="{EEE9CAAA-36CC-FCA6-DE4F-304001AA4052}"/>
              </a:ext>
            </a:extLst>
          </p:cNvPr>
          <p:cNvSpPr/>
          <p:nvPr/>
        </p:nvSpPr>
        <p:spPr>
          <a:xfrm>
            <a:off x="2845443" y="2065712"/>
            <a:ext cx="658945" cy="842318"/>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Tree>
    <p:extLst>
      <p:ext uri="{BB962C8B-B14F-4D97-AF65-F5344CB8AC3E}">
        <p14:creationId xmlns:p14="http://schemas.microsoft.com/office/powerpoint/2010/main" val="24588747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4C0D1D-DB13-EFF7-8E9D-1D5C0EEC1CC9}"/>
              </a:ext>
            </a:extLst>
          </p:cNvPr>
          <p:cNvSpPr txBox="1">
            <a:spLocks/>
          </p:cNvSpPr>
          <p:nvPr/>
        </p:nvSpPr>
        <p:spPr>
          <a:xfrm>
            <a:off x="11760740" y="67310"/>
            <a:ext cx="43126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23</a:t>
            </a:fld>
            <a:endParaRPr lang="he-IL" sz="1600" dirty="0"/>
          </a:p>
        </p:txBody>
      </p:sp>
      <p:sp>
        <p:nvSpPr>
          <p:cNvPr id="2" name="Google Shape;60;p14">
            <a:extLst>
              <a:ext uri="{FF2B5EF4-FFF2-40B4-BE49-F238E27FC236}">
                <a16:creationId xmlns:a16="http://schemas.microsoft.com/office/drawing/2014/main" id="{3E792CA4-FA6B-80B1-C586-300421198DF9}"/>
              </a:ext>
            </a:extLst>
          </p:cNvPr>
          <p:cNvSpPr txBox="1"/>
          <p:nvPr/>
        </p:nvSpPr>
        <p:spPr>
          <a:xfrm>
            <a:off x="1751841" y="-125571"/>
            <a:ext cx="8899946" cy="614882"/>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MP2.1 – the input images we are going to test – </a:t>
            </a:r>
            <a:r>
              <a:rPr lang="en-US" sz="2800" b="1" u="sng" dirty="0">
                <a:solidFill>
                  <a:srgbClr val="FF0000"/>
                </a:solidFill>
              </a:rPr>
              <a:t>part 1</a:t>
            </a:r>
          </a:p>
          <a:p>
            <a:pPr algn="ctr"/>
            <a:endParaRPr lang="en-US" sz="2000" b="1" u="sng" dirty="0">
              <a:solidFill>
                <a:srgbClr val="FF0000"/>
              </a:solidFill>
            </a:endParaRPr>
          </a:p>
        </p:txBody>
      </p:sp>
      <p:pic>
        <p:nvPicPr>
          <p:cNvPr id="5" name="Picture 4">
            <a:extLst>
              <a:ext uri="{FF2B5EF4-FFF2-40B4-BE49-F238E27FC236}">
                <a16:creationId xmlns:a16="http://schemas.microsoft.com/office/drawing/2014/main" id="{4B1E248B-EF60-1462-511F-8BEF1AF4B93B}"/>
              </a:ext>
            </a:extLst>
          </p:cNvPr>
          <p:cNvPicPr>
            <a:picLocks noChangeAspect="1"/>
          </p:cNvPicPr>
          <p:nvPr/>
        </p:nvPicPr>
        <p:blipFill rotWithShape="1">
          <a:blip r:embed="rId2"/>
          <a:srcRect l="802"/>
          <a:stretch/>
        </p:blipFill>
        <p:spPr>
          <a:xfrm>
            <a:off x="160505" y="424789"/>
            <a:ext cx="9560670" cy="1279005"/>
          </a:xfrm>
          <a:prstGeom prst="rect">
            <a:avLst/>
          </a:prstGeom>
        </p:spPr>
      </p:pic>
      <p:pic>
        <p:nvPicPr>
          <p:cNvPr id="7" name="Picture 6">
            <a:extLst>
              <a:ext uri="{FF2B5EF4-FFF2-40B4-BE49-F238E27FC236}">
                <a16:creationId xmlns:a16="http://schemas.microsoft.com/office/drawing/2014/main" id="{1EB8E7F7-2D61-1E14-CBC2-9D3E66FD9670}"/>
              </a:ext>
            </a:extLst>
          </p:cNvPr>
          <p:cNvPicPr>
            <a:picLocks noChangeAspect="1"/>
          </p:cNvPicPr>
          <p:nvPr/>
        </p:nvPicPr>
        <p:blipFill rotWithShape="1">
          <a:blip r:embed="rId3"/>
          <a:srcRect l="751" t="14751" r="561" b="14815"/>
          <a:stretch/>
        </p:blipFill>
        <p:spPr>
          <a:xfrm>
            <a:off x="160505" y="1691160"/>
            <a:ext cx="10857688" cy="279639"/>
          </a:xfrm>
          <a:prstGeom prst="rect">
            <a:avLst/>
          </a:prstGeom>
        </p:spPr>
      </p:pic>
      <p:pic>
        <p:nvPicPr>
          <p:cNvPr id="9" name="Picture 8" descr="A black and white circular pattern&#10;&#10;Description automatically generated">
            <a:extLst>
              <a:ext uri="{FF2B5EF4-FFF2-40B4-BE49-F238E27FC236}">
                <a16:creationId xmlns:a16="http://schemas.microsoft.com/office/drawing/2014/main" id="{9F6792F2-0862-8C7A-C140-65D2FE805A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5998" y="2286000"/>
            <a:ext cx="6096000" cy="4572000"/>
          </a:xfrm>
          <a:prstGeom prst="rect">
            <a:avLst/>
          </a:prstGeom>
          <a:ln>
            <a:solidFill>
              <a:schemeClr val="tx1"/>
            </a:solidFill>
          </a:ln>
        </p:spPr>
      </p:pic>
      <p:pic>
        <p:nvPicPr>
          <p:cNvPr id="11" name="Picture 10" descr="A pyramid of numbers and text&#10;&#10;Description automatically generated">
            <a:extLst>
              <a:ext uri="{FF2B5EF4-FFF2-40B4-BE49-F238E27FC236}">
                <a16:creationId xmlns:a16="http://schemas.microsoft.com/office/drawing/2014/main" id="{FD66F3FD-1053-2B78-1D3F-1B238EEA97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2286000"/>
            <a:ext cx="6096000" cy="4572000"/>
          </a:xfrm>
          <a:prstGeom prst="rect">
            <a:avLst/>
          </a:prstGeom>
          <a:ln>
            <a:solidFill>
              <a:schemeClr val="tx1"/>
            </a:solidFill>
          </a:ln>
        </p:spPr>
      </p:pic>
      <p:sp>
        <p:nvSpPr>
          <p:cNvPr id="12" name="Rectangle 11">
            <a:extLst>
              <a:ext uri="{FF2B5EF4-FFF2-40B4-BE49-F238E27FC236}">
                <a16:creationId xmlns:a16="http://schemas.microsoft.com/office/drawing/2014/main" id="{B1079CB3-284A-2ACD-BACD-1CFCA5CC46F0}"/>
              </a:ext>
            </a:extLst>
          </p:cNvPr>
          <p:cNvSpPr/>
          <p:nvPr/>
        </p:nvSpPr>
        <p:spPr>
          <a:xfrm>
            <a:off x="2217906" y="2052536"/>
            <a:ext cx="1235413" cy="2334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Tim1.bmp</a:t>
            </a:r>
            <a:endParaRPr lang="he-IL" dirty="0"/>
          </a:p>
        </p:txBody>
      </p:sp>
      <p:sp>
        <p:nvSpPr>
          <p:cNvPr id="13" name="Rectangle 12">
            <a:extLst>
              <a:ext uri="{FF2B5EF4-FFF2-40B4-BE49-F238E27FC236}">
                <a16:creationId xmlns:a16="http://schemas.microsoft.com/office/drawing/2014/main" id="{A9369ED8-1DEA-6EAE-4E00-C4449CE88C62}"/>
              </a:ext>
            </a:extLst>
          </p:cNvPr>
          <p:cNvSpPr/>
          <p:nvPr/>
        </p:nvSpPr>
        <p:spPr>
          <a:xfrm>
            <a:off x="8664101" y="2011667"/>
            <a:ext cx="1235413" cy="2334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Tim2.bmp</a:t>
            </a:r>
            <a:endParaRPr lang="he-IL" dirty="0"/>
          </a:p>
        </p:txBody>
      </p:sp>
    </p:spTree>
    <p:extLst>
      <p:ext uri="{BB962C8B-B14F-4D97-AF65-F5344CB8AC3E}">
        <p14:creationId xmlns:p14="http://schemas.microsoft.com/office/powerpoint/2010/main" val="36859912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34E8907C-329D-F1A9-6A67-C76AB5E3C4F3}"/>
              </a:ext>
            </a:extLst>
          </p:cNvPr>
          <p:cNvSpPr txBox="1"/>
          <p:nvPr/>
        </p:nvSpPr>
        <p:spPr>
          <a:xfrm>
            <a:off x="1751841" y="-125571"/>
            <a:ext cx="8899946" cy="614882"/>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MP2.1 – the input images we are going to test – </a:t>
            </a:r>
            <a:r>
              <a:rPr lang="en-US" sz="2800" b="1" u="sng" dirty="0">
                <a:solidFill>
                  <a:srgbClr val="FF0000"/>
                </a:solidFill>
              </a:rPr>
              <a:t>part 2</a:t>
            </a:r>
          </a:p>
          <a:p>
            <a:pPr algn="ctr"/>
            <a:endParaRPr lang="en-US" sz="2000" b="1" u="sng" dirty="0">
              <a:solidFill>
                <a:srgbClr val="FF0000"/>
              </a:solidFill>
            </a:endParaRPr>
          </a:p>
        </p:txBody>
      </p:sp>
      <p:sp>
        <p:nvSpPr>
          <p:cNvPr id="5" name="Slide Number Placeholder 5">
            <a:extLst>
              <a:ext uri="{FF2B5EF4-FFF2-40B4-BE49-F238E27FC236}">
                <a16:creationId xmlns:a16="http://schemas.microsoft.com/office/drawing/2014/main" id="{4D62CD5F-91EE-4E4D-1B4F-5DBFF190E326}"/>
              </a:ext>
            </a:extLst>
          </p:cNvPr>
          <p:cNvSpPr txBox="1">
            <a:spLocks/>
          </p:cNvSpPr>
          <p:nvPr/>
        </p:nvSpPr>
        <p:spPr>
          <a:xfrm>
            <a:off x="11760740" y="67310"/>
            <a:ext cx="43126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24</a:t>
            </a:fld>
            <a:endParaRPr lang="he-IL" sz="1600" dirty="0"/>
          </a:p>
        </p:txBody>
      </p:sp>
      <p:pic>
        <p:nvPicPr>
          <p:cNvPr id="6" name="Picture 5" descr="A pyramid of numbers and text&#10;&#10;Description automatically generated">
            <a:extLst>
              <a:ext uri="{FF2B5EF4-FFF2-40B4-BE49-F238E27FC236}">
                <a16:creationId xmlns:a16="http://schemas.microsoft.com/office/drawing/2014/main" id="{004BB99D-0661-6468-3BA1-C8DAEBFDC9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54868"/>
            <a:ext cx="6096000" cy="4572000"/>
          </a:xfrm>
          <a:prstGeom prst="rect">
            <a:avLst/>
          </a:prstGeom>
          <a:ln>
            <a:solidFill>
              <a:schemeClr val="tx1"/>
            </a:solidFill>
          </a:ln>
        </p:spPr>
      </p:pic>
      <p:sp>
        <p:nvSpPr>
          <p:cNvPr id="7" name="Rectangle 6">
            <a:extLst>
              <a:ext uri="{FF2B5EF4-FFF2-40B4-BE49-F238E27FC236}">
                <a16:creationId xmlns:a16="http://schemas.microsoft.com/office/drawing/2014/main" id="{25558A1D-3D90-FCB5-2575-70C2EB5197A9}"/>
              </a:ext>
            </a:extLst>
          </p:cNvPr>
          <p:cNvSpPr/>
          <p:nvPr/>
        </p:nvSpPr>
        <p:spPr>
          <a:xfrm>
            <a:off x="2469204" y="914400"/>
            <a:ext cx="1235413" cy="2334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Tim1.bmp</a:t>
            </a:r>
            <a:endParaRPr lang="he-IL" dirty="0"/>
          </a:p>
        </p:txBody>
      </p:sp>
      <p:sp>
        <p:nvSpPr>
          <p:cNvPr id="8" name="Arrow: Right 7">
            <a:extLst>
              <a:ext uri="{FF2B5EF4-FFF2-40B4-BE49-F238E27FC236}">
                <a16:creationId xmlns:a16="http://schemas.microsoft.com/office/drawing/2014/main" id="{482AFD11-5E86-E31B-68B6-66BFA2A96E5B}"/>
              </a:ext>
            </a:extLst>
          </p:cNvPr>
          <p:cNvSpPr/>
          <p:nvPr/>
        </p:nvSpPr>
        <p:spPr>
          <a:xfrm>
            <a:off x="6274340" y="3151762"/>
            <a:ext cx="1682886" cy="7587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0" name="Picture 9">
            <a:extLst>
              <a:ext uri="{FF2B5EF4-FFF2-40B4-BE49-F238E27FC236}">
                <a16:creationId xmlns:a16="http://schemas.microsoft.com/office/drawing/2014/main" id="{98373603-DF91-4DD5-0433-0F0C34C4D8A7}"/>
              </a:ext>
            </a:extLst>
          </p:cNvPr>
          <p:cNvPicPr>
            <a:picLocks noChangeAspect="1"/>
          </p:cNvPicPr>
          <p:nvPr/>
        </p:nvPicPr>
        <p:blipFill>
          <a:blip r:embed="rId3"/>
          <a:stretch>
            <a:fillRect/>
          </a:stretch>
        </p:blipFill>
        <p:spPr>
          <a:xfrm>
            <a:off x="6201814" y="599990"/>
            <a:ext cx="2443061" cy="2163854"/>
          </a:xfrm>
          <a:prstGeom prst="rect">
            <a:avLst/>
          </a:prstGeom>
        </p:spPr>
      </p:pic>
      <p:sp>
        <p:nvSpPr>
          <p:cNvPr id="11" name="Rectangle 10">
            <a:extLst>
              <a:ext uri="{FF2B5EF4-FFF2-40B4-BE49-F238E27FC236}">
                <a16:creationId xmlns:a16="http://schemas.microsoft.com/office/drawing/2014/main" id="{D65FD6DE-E0C6-EB58-678F-F1E3ABE6639E}"/>
              </a:ext>
            </a:extLst>
          </p:cNvPr>
          <p:cNvSpPr/>
          <p:nvPr/>
        </p:nvSpPr>
        <p:spPr>
          <a:xfrm>
            <a:off x="8151778" y="2874523"/>
            <a:ext cx="3608962" cy="13326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The Tim1.bmp is comprised of repeated text 12 times. </a:t>
            </a:r>
          </a:p>
          <a:p>
            <a:pPr algn="ctr"/>
            <a:r>
              <a:rPr lang="en-US" dirty="0"/>
              <a:t>The font size of the text is declining from 33 to 5 in jumps of 2/3.    </a:t>
            </a:r>
            <a:endParaRPr lang="he-IL" dirty="0"/>
          </a:p>
        </p:txBody>
      </p:sp>
      <p:sp>
        <p:nvSpPr>
          <p:cNvPr id="12" name="Rectangle 11">
            <a:extLst>
              <a:ext uri="{FF2B5EF4-FFF2-40B4-BE49-F238E27FC236}">
                <a16:creationId xmlns:a16="http://schemas.microsoft.com/office/drawing/2014/main" id="{4368584E-1CBF-D4EC-A7B3-534BDC47A9C4}"/>
              </a:ext>
            </a:extLst>
          </p:cNvPr>
          <p:cNvSpPr/>
          <p:nvPr/>
        </p:nvSpPr>
        <p:spPr>
          <a:xfrm>
            <a:off x="7500027" y="5205932"/>
            <a:ext cx="2768934" cy="12256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Regarding Tim2.bmp – it is a modification of the result of assignment 13 to be in size 640x480</a:t>
            </a:r>
            <a:endParaRPr lang="he-IL" dirty="0"/>
          </a:p>
        </p:txBody>
      </p:sp>
      <p:sp>
        <p:nvSpPr>
          <p:cNvPr id="13" name="Oval 12">
            <a:extLst>
              <a:ext uri="{FF2B5EF4-FFF2-40B4-BE49-F238E27FC236}">
                <a16:creationId xmlns:a16="http://schemas.microsoft.com/office/drawing/2014/main" id="{2CDB2C5C-1371-FE0F-9834-DC3BF3497836}"/>
              </a:ext>
            </a:extLst>
          </p:cNvPr>
          <p:cNvSpPr/>
          <p:nvPr/>
        </p:nvSpPr>
        <p:spPr>
          <a:xfrm>
            <a:off x="7295742" y="865167"/>
            <a:ext cx="817123" cy="31128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4" name="Oval 13">
            <a:extLst>
              <a:ext uri="{FF2B5EF4-FFF2-40B4-BE49-F238E27FC236}">
                <a16:creationId xmlns:a16="http://schemas.microsoft.com/office/drawing/2014/main" id="{7D000405-1BD4-5B2F-4798-C710CCA2C981}"/>
              </a:ext>
            </a:extLst>
          </p:cNvPr>
          <p:cNvSpPr/>
          <p:nvPr/>
        </p:nvSpPr>
        <p:spPr>
          <a:xfrm>
            <a:off x="7295739" y="1583826"/>
            <a:ext cx="350201" cy="31128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6" name="Picture 15">
            <a:extLst>
              <a:ext uri="{FF2B5EF4-FFF2-40B4-BE49-F238E27FC236}">
                <a16:creationId xmlns:a16="http://schemas.microsoft.com/office/drawing/2014/main" id="{68861F00-50EE-A74C-D967-EDDDAEE5FEA0}"/>
              </a:ext>
            </a:extLst>
          </p:cNvPr>
          <p:cNvPicPr>
            <a:picLocks noChangeAspect="1"/>
          </p:cNvPicPr>
          <p:nvPr/>
        </p:nvPicPr>
        <p:blipFill>
          <a:blip r:embed="rId4"/>
          <a:stretch>
            <a:fillRect/>
          </a:stretch>
        </p:blipFill>
        <p:spPr>
          <a:xfrm>
            <a:off x="10307874" y="4995153"/>
            <a:ext cx="1809750" cy="1695450"/>
          </a:xfrm>
          <a:prstGeom prst="rect">
            <a:avLst/>
          </a:prstGeom>
        </p:spPr>
      </p:pic>
    </p:spTree>
    <p:extLst>
      <p:ext uri="{BB962C8B-B14F-4D97-AF65-F5344CB8AC3E}">
        <p14:creationId xmlns:p14="http://schemas.microsoft.com/office/powerpoint/2010/main" val="39356101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6343F3AD-37A5-D49D-52F6-CDEF7369075D}"/>
              </a:ext>
            </a:extLst>
          </p:cNvPr>
          <p:cNvSpPr txBox="1"/>
          <p:nvPr/>
        </p:nvSpPr>
        <p:spPr>
          <a:xfrm>
            <a:off x="1879059" y="-135300"/>
            <a:ext cx="8558720" cy="1088609"/>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MP2.2 – blurring of the images using two sizes of fast gaussians 1D filters in convolution (TD)  - </a:t>
            </a:r>
            <a:r>
              <a:rPr lang="en-US" sz="2800" b="1" u="sng" dirty="0">
                <a:solidFill>
                  <a:srgbClr val="FF0000"/>
                </a:solidFill>
              </a:rPr>
              <a:t>part 1</a:t>
            </a:r>
          </a:p>
          <a:p>
            <a:pPr algn="ctr"/>
            <a:endParaRPr lang="en-US" sz="2000" b="1" u="sng" dirty="0">
              <a:solidFill>
                <a:srgbClr val="FF0000"/>
              </a:solidFill>
            </a:endParaRPr>
          </a:p>
        </p:txBody>
      </p:sp>
      <p:sp>
        <p:nvSpPr>
          <p:cNvPr id="7" name="Rectangle 6">
            <a:extLst>
              <a:ext uri="{FF2B5EF4-FFF2-40B4-BE49-F238E27FC236}">
                <a16:creationId xmlns:a16="http://schemas.microsoft.com/office/drawing/2014/main" id="{F9A8BFF4-B08B-CCF0-E2CC-924C6CDA1CF7}"/>
              </a:ext>
            </a:extLst>
          </p:cNvPr>
          <p:cNvSpPr/>
          <p:nvPr/>
        </p:nvSpPr>
        <p:spPr>
          <a:xfrm>
            <a:off x="29183" y="846306"/>
            <a:ext cx="7149830" cy="8108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en-US" dirty="0"/>
              <a:t>This is the relevant part of the main function. The functions that being used in that part is the </a:t>
            </a:r>
            <a:r>
              <a:rPr lang="en-US" b="1" dirty="0"/>
              <a:t>DoGaussianFiltration</a:t>
            </a:r>
            <a:r>
              <a:rPr lang="en-US" dirty="0"/>
              <a:t> which is a convolution filtering that uses the separability feature of the gaussian  </a:t>
            </a:r>
            <a:endParaRPr lang="he-IL" b="1" dirty="0"/>
          </a:p>
        </p:txBody>
      </p:sp>
      <p:sp>
        <p:nvSpPr>
          <p:cNvPr id="8" name="Rectangle 7">
            <a:extLst>
              <a:ext uri="{FF2B5EF4-FFF2-40B4-BE49-F238E27FC236}">
                <a16:creationId xmlns:a16="http://schemas.microsoft.com/office/drawing/2014/main" id="{AC82DC80-7236-73A4-A176-04DFF78D96D2}"/>
              </a:ext>
            </a:extLst>
          </p:cNvPr>
          <p:cNvSpPr/>
          <p:nvPr/>
        </p:nvSpPr>
        <p:spPr>
          <a:xfrm>
            <a:off x="29183" y="1762330"/>
            <a:ext cx="7474085" cy="4224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In the first part the filter size is 5 and in the second part the filter size is 7.</a:t>
            </a:r>
            <a:endParaRPr lang="he-IL" dirty="0"/>
          </a:p>
        </p:txBody>
      </p:sp>
      <p:sp>
        <p:nvSpPr>
          <p:cNvPr id="9" name="Slide Number Placeholder 5">
            <a:extLst>
              <a:ext uri="{FF2B5EF4-FFF2-40B4-BE49-F238E27FC236}">
                <a16:creationId xmlns:a16="http://schemas.microsoft.com/office/drawing/2014/main" id="{7FABBAE8-AF50-7F6C-809C-3DB979B1ADF5}"/>
              </a:ext>
            </a:extLst>
          </p:cNvPr>
          <p:cNvSpPr txBox="1">
            <a:spLocks/>
          </p:cNvSpPr>
          <p:nvPr/>
        </p:nvSpPr>
        <p:spPr>
          <a:xfrm>
            <a:off x="11760740" y="67310"/>
            <a:ext cx="43126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25</a:t>
            </a:fld>
            <a:endParaRPr lang="he-IL" sz="1600" dirty="0"/>
          </a:p>
        </p:txBody>
      </p:sp>
      <p:pic>
        <p:nvPicPr>
          <p:cNvPr id="3" name="Picture 2">
            <a:extLst>
              <a:ext uri="{FF2B5EF4-FFF2-40B4-BE49-F238E27FC236}">
                <a16:creationId xmlns:a16="http://schemas.microsoft.com/office/drawing/2014/main" id="{2478BE89-86DB-DA52-9653-1746545724B3}"/>
              </a:ext>
            </a:extLst>
          </p:cNvPr>
          <p:cNvPicPr>
            <a:picLocks noChangeAspect="1"/>
          </p:cNvPicPr>
          <p:nvPr/>
        </p:nvPicPr>
        <p:blipFill>
          <a:blip r:embed="rId2"/>
          <a:stretch>
            <a:fillRect/>
          </a:stretch>
        </p:blipFill>
        <p:spPr>
          <a:xfrm>
            <a:off x="0" y="2380124"/>
            <a:ext cx="12192000" cy="4477876"/>
          </a:xfrm>
          <a:prstGeom prst="rect">
            <a:avLst/>
          </a:prstGeom>
        </p:spPr>
      </p:pic>
      <p:sp>
        <p:nvSpPr>
          <p:cNvPr id="5" name="Rectangle 4">
            <a:extLst>
              <a:ext uri="{FF2B5EF4-FFF2-40B4-BE49-F238E27FC236}">
                <a16:creationId xmlns:a16="http://schemas.microsoft.com/office/drawing/2014/main" id="{86A82743-1AD8-D880-0D1A-1C7E3D75514B}"/>
              </a:ext>
            </a:extLst>
          </p:cNvPr>
          <p:cNvSpPr/>
          <p:nvPr/>
        </p:nvSpPr>
        <p:spPr>
          <a:xfrm>
            <a:off x="8025319" y="896567"/>
            <a:ext cx="4137498" cy="13602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The offsets that we provided to the given kernels to fulfil the requirements – we reached them in trial and error until we got the optimal offsets that stands for the demands</a:t>
            </a:r>
            <a:endParaRPr lang="he-IL" b="1" dirty="0">
              <a:solidFill>
                <a:srgbClr val="FFFF00"/>
              </a:solidFill>
            </a:endParaRPr>
          </a:p>
        </p:txBody>
      </p:sp>
    </p:spTree>
    <p:extLst>
      <p:ext uri="{BB962C8B-B14F-4D97-AF65-F5344CB8AC3E}">
        <p14:creationId xmlns:p14="http://schemas.microsoft.com/office/powerpoint/2010/main" val="1058174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1D02BD4F-4D79-420D-335E-03B9EA279149}"/>
              </a:ext>
            </a:extLst>
          </p:cNvPr>
          <p:cNvSpPr txBox="1"/>
          <p:nvPr/>
        </p:nvSpPr>
        <p:spPr>
          <a:xfrm>
            <a:off x="1879059" y="-135300"/>
            <a:ext cx="8558720" cy="1088609"/>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MP2.2 – blurring of the images using two sizes of fast gaussians 1D filters in convolution (TD)  - </a:t>
            </a:r>
            <a:r>
              <a:rPr lang="en-US" sz="2800" b="1" u="sng" dirty="0">
                <a:solidFill>
                  <a:srgbClr val="FF0000"/>
                </a:solidFill>
              </a:rPr>
              <a:t>part 2</a:t>
            </a:r>
          </a:p>
          <a:p>
            <a:pPr algn="ctr"/>
            <a:endParaRPr lang="en-US" sz="2000" b="1" u="sng" dirty="0">
              <a:solidFill>
                <a:srgbClr val="FF0000"/>
              </a:solidFill>
            </a:endParaRPr>
          </a:p>
        </p:txBody>
      </p:sp>
      <p:sp>
        <p:nvSpPr>
          <p:cNvPr id="5" name="Rectangle 4">
            <a:extLst>
              <a:ext uri="{FF2B5EF4-FFF2-40B4-BE49-F238E27FC236}">
                <a16:creationId xmlns:a16="http://schemas.microsoft.com/office/drawing/2014/main" id="{BADD05FF-1D4C-382F-C8EA-90BF60D34089}"/>
              </a:ext>
            </a:extLst>
          </p:cNvPr>
          <p:cNvSpPr/>
          <p:nvPr/>
        </p:nvSpPr>
        <p:spPr>
          <a:xfrm>
            <a:off x="8255474" y="1315599"/>
            <a:ext cx="2227634" cy="3891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Tim1.bmp</a:t>
            </a:r>
            <a:endParaRPr lang="he-IL" dirty="0"/>
          </a:p>
        </p:txBody>
      </p:sp>
      <p:sp>
        <p:nvSpPr>
          <p:cNvPr id="6" name="Rectangle 5">
            <a:extLst>
              <a:ext uri="{FF2B5EF4-FFF2-40B4-BE49-F238E27FC236}">
                <a16:creationId xmlns:a16="http://schemas.microsoft.com/office/drawing/2014/main" id="{BCB2ED97-1D93-16BE-D8C3-71D6BF6B1E47}"/>
              </a:ext>
            </a:extLst>
          </p:cNvPr>
          <p:cNvSpPr/>
          <p:nvPr/>
        </p:nvSpPr>
        <p:spPr>
          <a:xfrm>
            <a:off x="1757112" y="1293778"/>
            <a:ext cx="2227634" cy="3891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Tim2.bmp</a:t>
            </a:r>
            <a:endParaRPr lang="he-IL" dirty="0"/>
          </a:p>
        </p:txBody>
      </p:sp>
      <p:sp>
        <p:nvSpPr>
          <p:cNvPr id="9" name="Arrow: Down 8">
            <a:extLst>
              <a:ext uri="{FF2B5EF4-FFF2-40B4-BE49-F238E27FC236}">
                <a16:creationId xmlns:a16="http://schemas.microsoft.com/office/drawing/2014/main" id="{4915CC09-5BE9-E6B9-8ED7-005837CE0511}"/>
              </a:ext>
            </a:extLst>
          </p:cNvPr>
          <p:cNvSpPr/>
          <p:nvPr/>
        </p:nvSpPr>
        <p:spPr>
          <a:xfrm>
            <a:off x="10362924" y="1704705"/>
            <a:ext cx="160507" cy="94358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Arrow: Down 9">
            <a:extLst>
              <a:ext uri="{FF2B5EF4-FFF2-40B4-BE49-F238E27FC236}">
                <a16:creationId xmlns:a16="http://schemas.microsoft.com/office/drawing/2014/main" id="{F43BDC31-66DF-22FC-C780-B292B1097DD9}"/>
              </a:ext>
            </a:extLst>
          </p:cNvPr>
          <p:cNvSpPr/>
          <p:nvPr/>
        </p:nvSpPr>
        <p:spPr>
          <a:xfrm>
            <a:off x="3859097" y="1682884"/>
            <a:ext cx="160507" cy="94358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extBox 10">
            <a:extLst>
              <a:ext uri="{FF2B5EF4-FFF2-40B4-BE49-F238E27FC236}">
                <a16:creationId xmlns:a16="http://schemas.microsoft.com/office/drawing/2014/main" id="{2C4F62BA-1EC9-D169-3560-BE854F9229DC}"/>
              </a:ext>
            </a:extLst>
          </p:cNvPr>
          <p:cNvSpPr txBox="1"/>
          <p:nvPr/>
        </p:nvSpPr>
        <p:spPr>
          <a:xfrm>
            <a:off x="10523431" y="2045012"/>
            <a:ext cx="1113817" cy="369332"/>
          </a:xfrm>
          <a:prstGeom prst="rect">
            <a:avLst/>
          </a:prstGeom>
          <a:noFill/>
        </p:spPr>
        <p:txBody>
          <a:bodyPr wrap="square" rtlCol="1">
            <a:spAutoFit/>
          </a:bodyPr>
          <a:lstStyle/>
          <a:p>
            <a:r>
              <a:rPr lang="en-US" dirty="0"/>
              <a:t>Load into</a:t>
            </a:r>
            <a:endParaRPr lang="he-IL" dirty="0"/>
          </a:p>
        </p:txBody>
      </p:sp>
      <p:sp>
        <p:nvSpPr>
          <p:cNvPr id="12" name="TextBox 11">
            <a:extLst>
              <a:ext uri="{FF2B5EF4-FFF2-40B4-BE49-F238E27FC236}">
                <a16:creationId xmlns:a16="http://schemas.microsoft.com/office/drawing/2014/main" id="{7FE1B88B-5D61-1BED-08EE-E07B5DF65D80}"/>
              </a:ext>
            </a:extLst>
          </p:cNvPr>
          <p:cNvSpPr txBox="1"/>
          <p:nvPr/>
        </p:nvSpPr>
        <p:spPr>
          <a:xfrm>
            <a:off x="3939350" y="1945449"/>
            <a:ext cx="1135705" cy="369332"/>
          </a:xfrm>
          <a:prstGeom prst="rect">
            <a:avLst/>
          </a:prstGeom>
          <a:noFill/>
        </p:spPr>
        <p:txBody>
          <a:bodyPr wrap="square" rtlCol="1">
            <a:spAutoFit/>
          </a:bodyPr>
          <a:lstStyle/>
          <a:p>
            <a:r>
              <a:rPr lang="en-US" dirty="0"/>
              <a:t>Load into</a:t>
            </a:r>
            <a:endParaRPr lang="he-IL" dirty="0"/>
          </a:p>
        </p:txBody>
      </p:sp>
      <p:sp>
        <p:nvSpPr>
          <p:cNvPr id="13" name="Rectangle 12">
            <a:extLst>
              <a:ext uri="{FF2B5EF4-FFF2-40B4-BE49-F238E27FC236}">
                <a16:creationId xmlns:a16="http://schemas.microsoft.com/office/drawing/2014/main" id="{D409E044-94F5-EA5A-D5B1-A5AA8FE6C34E}"/>
              </a:ext>
            </a:extLst>
          </p:cNvPr>
          <p:cNvSpPr/>
          <p:nvPr/>
        </p:nvSpPr>
        <p:spPr>
          <a:xfrm>
            <a:off x="9962469" y="2648289"/>
            <a:ext cx="961415" cy="389106"/>
          </a:xfrm>
          <a:prstGeom prst="rect">
            <a:avLst/>
          </a:prstGeom>
        </p:spPr>
        <p:style>
          <a:lnRef idx="0">
            <a:schemeClr val="accent2"/>
          </a:lnRef>
          <a:fillRef idx="3">
            <a:schemeClr val="accent2"/>
          </a:fillRef>
          <a:effectRef idx="3">
            <a:schemeClr val="accent2"/>
          </a:effectRef>
          <a:fontRef idx="minor">
            <a:schemeClr val="lt1"/>
          </a:fontRef>
        </p:style>
        <p:txBody>
          <a:bodyPr rtlCol="1" anchor="ctr"/>
          <a:lstStyle/>
          <a:p>
            <a:pPr algn="ctr"/>
            <a:r>
              <a:rPr lang="en-US" dirty="0"/>
              <a:t>src1</a:t>
            </a:r>
            <a:endParaRPr lang="he-IL" dirty="0"/>
          </a:p>
        </p:txBody>
      </p:sp>
      <p:sp>
        <p:nvSpPr>
          <p:cNvPr id="14" name="Rectangle 13">
            <a:extLst>
              <a:ext uri="{FF2B5EF4-FFF2-40B4-BE49-F238E27FC236}">
                <a16:creationId xmlns:a16="http://schemas.microsoft.com/office/drawing/2014/main" id="{136A1CEF-7BDD-CC28-E480-7E2CE22C07D6}"/>
              </a:ext>
            </a:extLst>
          </p:cNvPr>
          <p:cNvSpPr/>
          <p:nvPr/>
        </p:nvSpPr>
        <p:spPr>
          <a:xfrm>
            <a:off x="3548824" y="2675024"/>
            <a:ext cx="781052" cy="389106"/>
          </a:xfrm>
          <a:prstGeom prst="rect">
            <a:avLst/>
          </a:prstGeom>
        </p:spPr>
        <p:style>
          <a:lnRef idx="0">
            <a:schemeClr val="accent3"/>
          </a:lnRef>
          <a:fillRef idx="3">
            <a:schemeClr val="accent3"/>
          </a:fillRef>
          <a:effectRef idx="3">
            <a:schemeClr val="accent3"/>
          </a:effectRef>
          <a:fontRef idx="minor">
            <a:schemeClr val="lt1"/>
          </a:fontRef>
        </p:style>
        <p:txBody>
          <a:bodyPr rtlCol="1" anchor="ctr"/>
          <a:lstStyle/>
          <a:p>
            <a:pPr algn="ctr"/>
            <a:r>
              <a:rPr lang="en-US" dirty="0"/>
              <a:t>src2</a:t>
            </a:r>
            <a:endParaRPr lang="he-IL" dirty="0"/>
          </a:p>
        </p:txBody>
      </p:sp>
      <p:sp>
        <p:nvSpPr>
          <p:cNvPr id="15" name="TextBox 14">
            <a:extLst>
              <a:ext uri="{FF2B5EF4-FFF2-40B4-BE49-F238E27FC236}">
                <a16:creationId xmlns:a16="http://schemas.microsoft.com/office/drawing/2014/main" id="{874D0687-3163-2431-2190-1EF6766F56DC}"/>
              </a:ext>
            </a:extLst>
          </p:cNvPr>
          <p:cNvSpPr txBox="1"/>
          <p:nvPr/>
        </p:nvSpPr>
        <p:spPr>
          <a:xfrm>
            <a:off x="7179152" y="1967270"/>
            <a:ext cx="1113817" cy="369332"/>
          </a:xfrm>
          <a:prstGeom prst="rect">
            <a:avLst/>
          </a:prstGeom>
          <a:noFill/>
        </p:spPr>
        <p:txBody>
          <a:bodyPr wrap="square" rtlCol="1">
            <a:spAutoFit/>
          </a:bodyPr>
          <a:lstStyle/>
          <a:p>
            <a:r>
              <a:rPr lang="en-US" dirty="0"/>
              <a:t>Load into</a:t>
            </a:r>
            <a:endParaRPr lang="he-IL" dirty="0"/>
          </a:p>
        </p:txBody>
      </p:sp>
      <p:sp>
        <p:nvSpPr>
          <p:cNvPr id="16" name="Arrow: Down 15">
            <a:extLst>
              <a:ext uri="{FF2B5EF4-FFF2-40B4-BE49-F238E27FC236}">
                <a16:creationId xmlns:a16="http://schemas.microsoft.com/office/drawing/2014/main" id="{32F7CE17-3695-E3AF-B822-43FEF47DB820}"/>
              </a:ext>
            </a:extLst>
          </p:cNvPr>
          <p:cNvSpPr/>
          <p:nvPr/>
        </p:nvSpPr>
        <p:spPr>
          <a:xfrm>
            <a:off x="8212717" y="1714592"/>
            <a:ext cx="160507" cy="94358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7" name="Rectangle 16">
            <a:extLst>
              <a:ext uri="{FF2B5EF4-FFF2-40B4-BE49-F238E27FC236}">
                <a16:creationId xmlns:a16="http://schemas.microsoft.com/office/drawing/2014/main" id="{63DCE120-9E72-F9FA-5FDF-999EB464653C}"/>
              </a:ext>
            </a:extLst>
          </p:cNvPr>
          <p:cNvSpPr/>
          <p:nvPr/>
        </p:nvSpPr>
        <p:spPr>
          <a:xfrm>
            <a:off x="7812262" y="2677951"/>
            <a:ext cx="961415" cy="389106"/>
          </a:xfrm>
          <a:prstGeom prst="rect">
            <a:avLst/>
          </a:prstGeom>
        </p:spPr>
        <p:style>
          <a:lnRef idx="0">
            <a:schemeClr val="accent2"/>
          </a:lnRef>
          <a:fillRef idx="3">
            <a:schemeClr val="accent2"/>
          </a:fillRef>
          <a:effectRef idx="3">
            <a:schemeClr val="accent2"/>
          </a:effectRef>
          <a:fontRef idx="minor">
            <a:schemeClr val="lt1"/>
          </a:fontRef>
        </p:style>
        <p:txBody>
          <a:bodyPr rtlCol="1" anchor="ctr"/>
          <a:lstStyle/>
          <a:p>
            <a:pPr algn="ctr"/>
            <a:r>
              <a:rPr lang="en-US" dirty="0"/>
              <a:t>src3</a:t>
            </a:r>
            <a:endParaRPr lang="he-IL" dirty="0"/>
          </a:p>
        </p:txBody>
      </p:sp>
      <p:sp>
        <p:nvSpPr>
          <p:cNvPr id="18" name="TextBox 17">
            <a:extLst>
              <a:ext uri="{FF2B5EF4-FFF2-40B4-BE49-F238E27FC236}">
                <a16:creationId xmlns:a16="http://schemas.microsoft.com/office/drawing/2014/main" id="{3D87C626-7C74-9543-50BE-F6C507FDAF1C}"/>
              </a:ext>
            </a:extLst>
          </p:cNvPr>
          <p:cNvSpPr txBox="1"/>
          <p:nvPr/>
        </p:nvSpPr>
        <p:spPr>
          <a:xfrm>
            <a:off x="637913" y="1955336"/>
            <a:ext cx="1135705" cy="369332"/>
          </a:xfrm>
          <a:prstGeom prst="rect">
            <a:avLst/>
          </a:prstGeom>
          <a:noFill/>
        </p:spPr>
        <p:txBody>
          <a:bodyPr wrap="square" rtlCol="1">
            <a:spAutoFit/>
          </a:bodyPr>
          <a:lstStyle/>
          <a:p>
            <a:r>
              <a:rPr lang="en-US" dirty="0"/>
              <a:t>Load into</a:t>
            </a:r>
            <a:endParaRPr lang="he-IL" dirty="0"/>
          </a:p>
        </p:txBody>
      </p:sp>
      <p:sp>
        <p:nvSpPr>
          <p:cNvPr id="19" name="Arrow: Down 18">
            <a:extLst>
              <a:ext uri="{FF2B5EF4-FFF2-40B4-BE49-F238E27FC236}">
                <a16:creationId xmlns:a16="http://schemas.microsoft.com/office/drawing/2014/main" id="{4084CA47-2D1E-0064-D07E-1FDF14A56BAE}"/>
              </a:ext>
            </a:extLst>
          </p:cNvPr>
          <p:cNvSpPr/>
          <p:nvPr/>
        </p:nvSpPr>
        <p:spPr>
          <a:xfrm>
            <a:off x="1716578" y="1692771"/>
            <a:ext cx="160507" cy="94358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0" name="Rectangle 19">
            <a:extLst>
              <a:ext uri="{FF2B5EF4-FFF2-40B4-BE49-F238E27FC236}">
                <a16:creationId xmlns:a16="http://schemas.microsoft.com/office/drawing/2014/main" id="{D29FA323-FD8D-812F-DEF9-4483894E1165}"/>
              </a:ext>
            </a:extLst>
          </p:cNvPr>
          <p:cNvSpPr/>
          <p:nvPr/>
        </p:nvSpPr>
        <p:spPr>
          <a:xfrm>
            <a:off x="1406305" y="2684911"/>
            <a:ext cx="781052" cy="389106"/>
          </a:xfrm>
          <a:prstGeom prst="rect">
            <a:avLst/>
          </a:prstGeom>
        </p:spPr>
        <p:style>
          <a:lnRef idx="0">
            <a:schemeClr val="accent3"/>
          </a:lnRef>
          <a:fillRef idx="3">
            <a:schemeClr val="accent3"/>
          </a:fillRef>
          <a:effectRef idx="3">
            <a:schemeClr val="accent3"/>
          </a:effectRef>
          <a:fontRef idx="minor">
            <a:schemeClr val="lt1"/>
          </a:fontRef>
        </p:style>
        <p:txBody>
          <a:bodyPr rtlCol="1" anchor="ctr"/>
          <a:lstStyle/>
          <a:p>
            <a:pPr algn="ctr"/>
            <a:r>
              <a:rPr lang="en-US" dirty="0"/>
              <a:t>src4</a:t>
            </a:r>
            <a:endParaRPr lang="he-IL" dirty="0"/>
          </a:p>
        </p:txBody>
      </p:sp>
      <p:sp>
        <p:nvSpPr>
          <p:cNvPr id="21" name="Arrow: Down 20">
            <a:extLst>
              <a:ext uri="{FF2B5EF4-FFF2-40B4-BE49-F238E27FC236}">
                <a16:creationId xmlns:a16="http://schemas.microsoft.com/office/drawing/2014/main" id="{82B9D809-1124-CC7D-4FBE-080936BDF49B}"/>
              </a:ext>
            </a:extLst>
          </p:cNvPr>
          <p:cNvSpPr/>
          <p:nvPr/>
        </p:nvSpPr>
        <p:spPr>
          <a:xfrm>
            <a:off x="10362922" y="3067057"/>
            <a:ext cx="160507" cy="94358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2" name="Arrow: Down 21">
            <a:extLst>
              <a:ext uri="{FF2B5EF4-FFF2-40B4-BE49-F238E27FC236}">
                <a16:creationId xmlns:a16="http://schemas.microsoft.com/office/drawing/2014/main" id="{7EFA4305-B695-F79B-B32E-F31DEFB6562E}"/>
              </a:ext>
            </a:extLst>
          </p:cNvPr>
          <p:cNvSpPr/>
          <p:nvPr/>
        </p:nvSpPr>
        <p:spPr>
          <a:xfrm>
            <a:off x="8212715" y="3085951"/>
            <a:ext cx="160507" cy="94358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3" name="Arrow: Down 22">
            <a:extLst>
              <a:ext uri="{FF2B5EF4-FFF2-40B4-BE49-F238E27FC236}">
                <a16:creationId xmlns:a16="http://schemas.microsoft.com/office/drawing/2014/main" id="{642B0538-5087-6F51-8A2F-60B49B4DE55D}"/>
              </a:ext>
            </a:extLst>
          </p:cNvPr>
          <p:cNvSpPr/>
          <p:nvPr/>
        </p:nvSpPr>
        <p:spPr>
          <a:xfrm>
            <a:off x="3859097" y="3112686"/>
            <a:ext cx="160507" cy="94358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4" name="Arrow: Down 23">
            <a:extLst>
              <a:ext uri="{FF2B5EF4-FFF2-40B4-BE49-F238E27FC236}">
                <a16:creationId xmlns:a16="http://schemas.microsoft.com/office/drawing/2014/main" id="{554D2249-A444-E7CE-B6FD-8904CA7F6685}"/>
              </a:ext>
            </a:extLst>
          </p:cNvPr>
          <p:cNvSpPr/>
          <p:nvPr/>
        </p:nvSpPr>
        <p:spPr>
          <a:xfrm>
            <a:off x="1708892" y="3122573"/>
            <a:ext cx="160507" cy="94358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5" name="Rectangle 24">
            <a:extLst>
              <a:ext uri="{FF2B5EF4-FFF2-40B4-BE49-F238E27FC236}">
                <a16:creationId xmlns:a16="http://schemas.microsoft.com/office/drawing/2014/main" id="{B85D9258-A357-5187-CCE7-A030ED31996E}"/>
              </a:ext>
            </a:extLst>
          </p:cNvPr>
          <p:cNvSpPr/>
          <p:nvPr/>
        </p:nvSpPr>
        <p:spPr>
          <a:xfrm>
            <a:off x="9564455" y="4022223"/>
            <a:ext cx="2358347" cy="912067"/>
          </a:xfrm>
          <a:prstGeom prst="rect">
            <a:avLst/>
          </a:prstGeom>
        </p:spPr>
        <p:style>
          <a:lnRef idx="0">
            <a:schemeClr val="accent6"/>
          </a:lnRef>
          <a:fillRef idx="3">
            <a:schemeClr val="accent6"/>
          </a:fillRef>
          <a:effectRef idx="3">
            <a:schemeClr val="accent6"/>
          </a:effectRef>
          <a:fontRef idx="minor">
            <a:schemeClr val="lt1"/>
          </a:fontRef>
        </p:style>
        <p:txBody>
          <a:bodyPr rtlCol="1" anchor="ctr"/>
          <a:lstStyle/>
          <a:p>
            <a:pPr algn="ctr"/>
            <a:r>
              <a:rPr lang="en-US" dirty="0"/>
              <a:t>Blurred with 5x5 gaussian LPF in TD</a:t>
            </a:r>
          </a:p>
          <a:p>
            <a:pPr algn="ctr"/>
            <a:r>
              <a:rPr lang="en-US" dirty="0"/>
              <a:t>(result stays in src1)</a:t>
            </a:r>
            <a:endParaRPr lang="he-IL" dirty="0"/>
          </a:p>
        </p:txBody>
      </p:sp>
      <p:sp>
        <p:nvSpPr>
          <p:cNvPr id="26" name="Rectangle 25">
            <a:extLst>
              <a:ext uri="{FF2B5EF4-FFF2-40B4-BE49-F238E27FC236}">
                <a16:creationId xmlns:a16="http://schemas.microsoft.com/office/drawing/2014/main" id="{80145152-40A1-954C-A4B3-0D7A6BF01D5F}"/>
              </a:ext>
            </a:extLst>
          </p:cNvPr>
          <p:cNvSpPr/>
          <p:nvPr/>
        </p:nvSpPr>
        <p:spPr>
          <a:xfrm>
            <a:off x="7088463" y="4016880"/>
            <a:ext cx="2248503" cy="980689"/>
          </a:xfrm>
          <a:prstGeom prst="rect">
            <a:avLst/>
          </a:prstGeom>
        </p:spPr>
        <p:style>
          <a:lnRef idx="0">
            <a:schemeClr val="accent4"/>
          </a:lnRef>
          <a:fillRef idx="3">
            <a:schemeClr val="accent4"/>
          </a:fillRef>
          <a:effectRef idx="3">
            <a:schemeClr val="accent4"/>
          </a:effectRef>
          <a:fontRef idx="minor">
            <a:schemeClr val="lt1"/>
          </a:fontRef>
        </p:style>
        <p:txBody>
          <a:bodyPr rtlCol="1" anchor="ctr"/>
          <a:lstStyle/>
          <a:p>
            <a:pPr algn="ctr"/>
            <a:r>
              <a:rPr lang="en-US" dirty="0"/>
              <a:t>Blurred with 7x7 gaussian LPF in TD</a:t>
            </a:r>
          </a:p>
          <a:p>
            <a:pPr algn="ctr"/>
            <a:r>
              <a:rPr lang="en-US" dirty="0"/>
              <a:t>(result stays in src2)</a:t>
            </a:r>
            <a:endParaRPr lang="he-IL" dirty="0"/>
          </a:p>
        </p:txBody>
      </p:sp>
      <p:sp>
        <p:nvSpPr>
          <p:cNvPr id="27" name="Rectangle 26">
            <a:extLst>
              <a:ext uri="{FF2B5EF4-FFF2-40B4-BE49-F238E27FC236}">
                <a16:creationId xmlns:a16="http://schemas.microsoft.com/office/drawing/2014/main" id="{2A39F6CD-B6C8-931E-861E-2012D086BED0}"/>
              </a:ext>
            </a:extLst>
          </p:cNvPr>
          <p:cNvSpPr/>
          <p:nvPr/>
        </p:nvSpPr>
        <p:spPr>
          <a:xfrm>
            <a:off x="2918558" y="4063713"/>
            <a:ext cx="2156497" cy="943584"/>
          </a:xfrm>
          <a:prstGeom prst="rect">
            <a:avLst/>
          </a:prstGeom>
        </p:spPr>
        <p:style>
          <a:lnRef idx="0">
            <a:schemeClr val="accent5"/>
          </a:lnRef>
          <a:fillRef idx="3">
            <a:schemeClr val="accent5"/>
          </a:fillRef>
          <a:effectRef idx="3">
            <a:schemeClr val="accent5"/>
          </a:effectRef>
          <a:fontRef idx="minor">
            <a:schemeClr val="lt1"/>
          </a:fontRef>
        </p:style>
        <p:txBody>
          <a:bodyPr rtlCol="1" anchor="ctr"/>
          <a:lstStyle/>
          <a:p>
            <a:pPr algn="ctr"/>
            <a:r>
              <a:rPr lang="en-US" dirty="0"/>
              <a:t>Blurred with 5x5 gaussian LPF in TD</a:t>
            </a:r>
          </a:p>
          <a:p>
            <a:pPr algn="ctr"/>
            <a:r>
              <a:rPr lang="en-US" dirty="0"/>
              <a:t>(result stays in src2)</a:t>
            </a:r>
            <a:endParaRPr lang="he-IL" dirty="0"/>
          </a:p>
        </p:txBody>
      </p:sp>
      <p:sp>
        <p:nvSpPr>
          <p:cNvPr id="28" name="Rectangle 27">
            <a:extLst>
              <a:ext uri="{FF2B5EF4-FFF2-40B4-BE49-F238E27FC236}">
                <a16:creationId xmlns:a16="http://schemas.microsoft.com/office/drawing/2014/main" id="{32C142DE-12E5-A023-F531-6E5DF2057C5B}"/>
              </a:ext>
            </a:extLst>
          </p:cNvPr>
          <p:cNvSpPr/>
          <p:nvPr/>
        </p:nvSpPr>
        <p:spPr>
          <a:xfrm>
            <a:off x="366264" y="4052945"/>
            <a:ext cx="2156497" cy="859524"/>
          </a:xfrm>
          <a:prstGeom prst="rect">
            <a:avLst/>
          </a:prstGeom>
        </p:spPr>
        <p:style>
          <a:lnRef idx="0">
            <a:schemeClr val="dk1"/>
          </a:lnRef>
          <a:fillRef idx="3">
            <a:schemeClr val="dk1"/>
          </a:fillRef>
          <a:effectRef idx="3">
            <a:schemeClr val="dk1"/>
          </a:effectRef>
          <a:fontRef idx="minor">
            <a:schemeClr val="lt1"/>
          </a:fontRef>
        </p:style>
        <p:txBody>
          <a:bodyPr rtlCol="1" anchor="ctr"/>
          <a:lstStyle/>
          <a:p>
            <a:pPr algn="ctr"/>
            <a:r>
              <a:rPr lang="en-US" dirty="0"/>
              <a:t>Blurred with 7x7 gaussian LPF in TD</a:t>
            </a:r>
          </a:p>
          <a:p>
            <a:pPr algn="ctr"/>
            <a:r>
              <a:rPr lang="en-US" dirty="0"/>
              <a:t>(result stays in src4)</a:t>
            </a:r>
            <a:endParaRPr lang="he-IL" dirty="0"/>
          </a:p>
        </p:txBody>
      </p:sp>
      <p:cxnSp>
        <p:nvCxnSpPr>
          <p:cNvPr id="30" name="Straight Connector 29">
            <a:extLst>
              <a:ext uri="{FF2B5EF4-FFF2-40B4-BE49-F238E27FC236}">
                <a16:creationId xmlns:a16="http://schemas.microsoft.com/office/drawing/2014/main" id="{C01D1116-CA1C-3DEF-C639-AE8B0A65E9D2}"/>
              </a:ext>
            </a:extLst>
          </p:cNvPr>
          <p:cNvCxnSpPr/>
          <p:nvPr/>
        </p:nvCxnSpPr>
        <p:spPr>
          <a:xfrm>
            <a:off x="5914417" y="1031132"/>
            <a:ext cx="0" cy="5029200"/>
          </a:xfrm>
          <a:prstGeom prst="line">
            <a:avLst/>
          </a:prstGeom>
        </p:spPr>
        <p:style>
          <a:lnRef idx="2">
            <a:schemeClr val="accent1"/>
          </a:lnRef>
          <a:fillRef idx="0">
            <a:schemeClr val="accent1"/>
          </a:fillRef>
          <a:effectRef idx="1">
            <a:schemeClr val="accent1"/>
          </a:effectRef>
          <a:fontRef idx="minor">
            <a:schemeClr val="tx1"/>
          </a:fontRef>
        </p:style>
      </p:cxnSp>
      <p:pic>
        <p:nvPicPr>
          <p:cNvPr id="32" name="Picture 31">
            <a:extLst>
              <a:ext uri="{FF2B5EF4-FFF2-40B4-BE49-F238E27FC236}">
                <a16:creationId xmlns:a16="http://schemas.microsoft.com/office/drawing/2014/main" id="{F7294F22-461C-1529-92C8-F79E6E525AAD}"/>
              </a:ext>
            </a:extLst>
          </p:cNvPr>
          <p:cNvPicPr>
            <a:picLocks noChangeAspect="1"/>
          </p:cNvPicPr>
          <p:nvPr/>
        </p:nvPicPr>
        <p:blipFill>
          <a:blip r:embed="rId2"/>
          <a:stretch>
            <a:fillRect/>
          </a:stretch>
        </p:blipFill>
        <p:spPr>
          <a:xfrm>
            <a:off x="-12970" y="5989649"/>
            <a:ext cx="12192000" cy="868351"/>
          </a:xfrm>
          <a:prstGeom prst="rect">
            <a:avLst/>
          </a:prstGeom>
        </p:spPr>
      </p:pic>
    </p:spTree>
    <p:extLst>
      <p:ext uri="{BB962C8B-B14F-4D97-AF65-F5344CB8AC3E}">
        <p14:creationId xmlns:p14="http://schemas.microsoft.com/office/powerpoint/2010/main" val="6012718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C32C4CDF-1DA9-05EB-F512-7F6E6ECFE532}"/>
              </a:ext>
            </a:extLst>
          </p:cNvPr>
          <p:cNvSpPr txBox="1"/>
          <p:nvPr/>
        </p:nvSpPr>
        <p:spPr>
          <a:xfrm>
            <a:off x="1879059" y="-135300"/>
            <a:ext cx="8558720" cy="1088609"/>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MP2.2 – blurring of the images using two sizes of fast gaussians 1D filters in convolution (TD)  - </a:t>
            </a:r>
            <a:r>
              <a:rPr lang="en-US" sz="2800" b="1" u="sng" dirty="0">
                <a:solidFill>
                  <a:srgbClr val="FF0000"/>
                </a:solidFill>
              </a:rPr>
              <a:t>part 1</a:t>
            </a:r>
          </a:p>
          <a:p>
            <a:pPr algn="ctr"/>
            <a:endParaRPr lang="en-US" sz="2000" b="1" u="sng" dirty="0">
              <a:solidFill>
                <a:srgbClr val="FF0000"/>
              </a:solidFill>
            </a:endParaRPr>
          </a:p>
        </p:txBody>
      </p:sp>
      <p:sp>
        <p:nvSpPr>
          <p:cNvPr id="10" name="TextBox 9">
            <a:extLst>
              <a:ext uri="{FF2B5EF4-FFF2-40B4-BE49-F238E27FC236}">
                <a16:creationId xmlns:a16="http://schemas.microsoft.com/office/drawing/2014/main" id="{00018E65-370C-979A-0BAD-A909E1827F69}"/>
              </a:ext>
            </a:extLst>
          </p:cNvPr>
          <p:cNvSpPr txBox="1"/>
          <p:nvPr/>
        </p:nvSpPr>
        <p:spPr>
          <a:xfrm>
            <a:off x="0" y="997244"/>
            <a:ext cx="1904190"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he-IL" dirty="0"/>
              <a:t>Tim1LPF5c</a:t>
            </a:r>
            <a:r>
              <a:rPr lang="en-US" dirty="0"/>
              <a:t>.bmp</a:t>
            </a:r>
            <a:endParaRPr lang="he-IL" dirty="0"/>
          </a:p>
        </p:txBody>
      </p:sp>
      <p:sp>
        <p:nvSpPr>
          <p:cNvPr id="13" name="TextBox 12">
            <a:extLst>
              <a:ext uri="{FF2B5EF4-FFF2-40B4-BE49-F238E27FC236}">
                <a16:creationId xmlns:a16="http://schemas.microsoft.com/office/drawing/2014/main" id="{A00934A6-C648-B9AD-1B37-71428655848F}"/>
              </a:ext>
            </a:extLst>
          </p:cNvPr>
          <p:cNvSpPr txBox="1"/>
          <p:nvPr/>
        </p:nvSpPr>
        <p:spPr>
          <a:xfrm>
            <a:off x="10287809" y="1009403"/>
            <a:ext cx="1904190"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he-IL" dirty="0"/>
              <a:t>Tim1LPF7c</a:t>
            </a:r>
            <a:r>
              <a:rPr lang="en-US" dirty="0"/>
              <a:t>.bmp</a:t>
            </a:r>
            <a:endParaRPr lang="he-IL" dirty="0"/>
          </a:p>
        </p:txBody>
      </p:sp>
      <p:sp>
        <p:nvSpPr>
          <p:cNvPr id="14" name="Rectangle 13">
            <a:extLst>
              <a:ext uri="{FF2B5EF4-FFF2-40B4-BE49-F238E27FC236}">
                <a16:creationId xmlns:a16="http://schemas.microsoft.com/office/drawing/2014/main" id="{4C0AD0BF-4516-2B83-85C5-72BC218FF78C}"/>
              </a:ext>
            </a:extLst>
          </p:cNvPr>
          <p:cNvSpPr/>
          <p:nvPr/>
        </p:nvSpPr>
        <p:spPr>
          <a:xfrm>
            <a:off x="156452" y="6223270"/>
            <a:ext cx="8141241" cy="6225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As one can see-both of the images stands for the demand that : after the blurring</a:t>
            </a:r>
          </a:p>
          <a:p>
            <a:pPr algn="ctr"/>
            <a:r>
              <a:rPr lang="en-US" dirty="0"/>
              <a:t>at least 2 lines will be hardly readable and 3 lines unreadable</a:t>
            </a:r>
            <a:endParaRPr lang="he-IL" dirty="0"/>
          </a:p>
        </p:txBody>
      </p:sp>
      <p:sp>
        <p:nvSpPr>
          <p:cNvPr id="16" name="Slide Number Placeholder 5">
            <a:extLst>
              <a:ext uri="{FF2B5EF4-FFF2-40B4-BE49-F238E27FC236}">
                <a16:creationId xmlns:a16="http://schemas.microsoft.com/office/drawing/2014/main" id="{857569A6-690F-B62B-5DCD-EAFCD40D6889}"/>
              </a:ext>
            </a:extLst>
          </p:cNvPr>
          <p:cNvSpPr txBox="1">
            <a:spLocks/>
          </p:cNvSpPr>
          <p:nvPr/>
        </p:nvSpPr>
        <p:spPr>
          <a:xfrm>
            <a:off x="11760740" y="67310"/>
            <a:ext cx="43126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27</a:t>
            </a:fld>
            <a:endParaRPr lang="he-IL" sz="1600" dirty="0"/>
          </a:p>
        </p:txBody>
      </p:sp>
      <p:sp>
        <p:nvSpPr>
          <p:cNvPr id="24" name="TextBox 23">
            <a:extLst>
              <a:ext uri="{FF2B5EF4-FFF2-40B4-BE49-F238E27FC236}">
                <a16:creationId xmlns:a16="http://schemas.microsoft.com/office/drawing/2014/main" id="{B4DF8841-AB0C-EC83-BD57-CA6C09DD450E}"/>
              </a:ext>
            </a:extLst>
          </p:cNvPr>
          <p:cNvSpPr txBox="1"/>
          <p:nvPr/>
        </p:nvSpPr>
        <p:spPr>
          <a:xfrm>
            <a:off x="2521085" y="997244"/>
            <a:ext cx="7391400"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filter gives different results in the different kernels sizes (different offset)</a:t>
            </a:r>
            <a:endParaRPr lang="he-IL" dirty="0"/>
          </a:p>
        </p:txBody>
      </p:sp>
      <p:pic>
        <p:nvPicPr>
          <p:cNvPr id="3" name="Picture 2" descr="A number of numbers and letters&#10;&#10;Description automatically generated with medium confidence">
            <a:extLst>
              <a:ext uri="{FF2B5EF4-FFF2-40B4-BE49-F238E27FC236}">
                <a16:creationId xmlns:a16="http://schemas.microsoft.com/office/drawing/2014/main" id="{AF8B9F38-CB6C-8BC4-6864-09F69A3E88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15003"/>
            <a:ext cx="6096000" cy="4572000"/>
          </a:xfrm>
          <a:prstGeom prst="rect">
            <a:avLst/>
          </a:prstGeom>
        </p:spPr>
      </p:pic>
      <p:pic>
        <p:nvPicPr>
          <p:cNvPr id="6" name="Picture 5" descr="A number of numbers and letters&#10;&#10;Description automatically generated with medium confidence">
            <a:extLst>
              <a:ext uri="{FF2B5EF4-FFF2-40B4-BE49-F238E27FC236}">
                <a16:creationId xmlns:a16="http://schemas.microsoft.com/office/drawing/2014/main" id="{036016CC-615C-EA6F-C4FF-524D06198D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508923"/>
            <a:ext cx="6096000" cy="4572000"/>
          </a:xfrm>
          <a:prstGeom prst="rect">
            <a:avLst/>
          </a:prstGeom>
        </p:spPr>
      </p:pic>
      <p:sp>
        <p:nvSpPr>
          <p:cNvPr id="7" name="Rectangle 6">
            <a:extLst>
              <a:ext uri="{FF2B5EF4-FFF2-40B4-BE49-F238E27FC236}">
                <a16:creationId xmlns:a16="http://schemas.microsoft.com/office/drawing/2014/main" id="{925C148E-F747-463B-15A3-6CB698A6BB61}"/>
              </a:ext>
            </a:extLst>
          </p:cNvPr>
          <p:cNvSpPr/>
          <p:nvPr/>
        </p:nvSpPr>
        <p:spPr>
          <a:xfrm>
            <a:off x="8521429" y="6223270"/>
            <a:ext cx="3103123" cy="6225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The presented images are at their original size (640x480)</a:t>
            </a:r>
            <a:endParaRPr lang="he-IL" dirty="0"/>
          </a:p>
        </p:txBody>
      </p:sp>
    </p:spTree>
    <p:extLst>
      <p:ext uri="{BB962C8B-B14F-4D97-AF65-F5344CB8AC3E}">
        <p14:creationId xmlns:p14="http://schemas.microsoft.com/office/powerpoint/2010/main" val="12717602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C32C4CDF-1DA9-05EB-F512-7F6E6ECFE532}"/>
              </a:ext>
            </a:extLst>
          </p:cNvPr>
          <p:cNvSpPr txBox="1"/>
          <p:nvPr/>
        </p:nvSpPr>
        <p:spPr>
          <a:xfrm>
            <a:off x="1879059" y="-135300"/>
            <a:ext cx="8558720" cy="1088609"/>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MP2.2 – blurring of the images using two sizes of fast gaussians 1D filters in convolution (TD)  - </a:t>
            </a:r>
            <a:r>
              <a:rPr lang="en-US" sz="2800" b="1" u="sng" dirty="0">
                <a:solidFill>
                  <a:srgbClr val="FF0000"/>
                </a:solidFill>
              </a:rPr>
              <a:t>part 2</a:t>
            </a:r>
          </a:p>
          <a:p>
            <a:pPr algn="ctr"/>
            <a:endParaRPr lang="en-US" sz="2000" b="1" u="sng" dirty="0">
              <a:solidFill>
                <a:srgbClr val="FF0000"/>
              </a:solidFill>
            </a:endParaRPr>
          </a:p>
        </p:txBody>
      </p:sp>
      <p:sp>
        <p:nvSpPr>
          <p:cNvPr id="7" name="TextBox 6">
            <a:extLst>
              <a:ext uri="{FF2B5EF4-FFF2-40B4-BE49-F238E27FC236}">
                <a16:creationId xmlns:a16="http://schemas.microsoft.com/office/drawing/2014/main" id="{F984B994-2FA2-AA85-B76F-553FD939ACCF}"/>
              </a:ext>
            </a:extLst>
          </p:cNvPr>
          <p:cNvSpPr txBox="1"/>
          <p:nvPr/>
        </p:nvSpPr>
        <p:spPr>
          <a:xfrm>
            <a:off x="0" y="1036472"/>
            <a:ext cx="1904190"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he-IL" dirty="0"/>
              <a:t>Tim2LPF5c</a:t>
            </a:r>
            <a:r>
              <a:rPr lang="en-US" dirty="0"/>
              <a:t>.bmp</a:t>
            </a:r>
            <a:endParaRPr lang="he-IL" dirty="0"/>
          </a:p>
        </p:txBody>
      </p:sp>
      <p:sp>
        <p:nvSpPr>
          <p:cNvPr id="9" name="TextBox 8">
            <a:extLst>
              <a:ext uri="{FF2B5EF4-FFF2-40B4-BE49-F238E27FC236}">
                <a16:creationId xmlns:a16="http://schemas.microsoft.com/office/drawing/2014/main" id="{89265F67-5DD9-A06C-F5BB-A48A12A249C5}"/>
              </a:ext>
            </a:extLst>
          </p:cNvPr>
          <p:cNvSpPr txBox="1"/>
          <p:nvPr/>
        </p:nvSpPr>
        <p:spPr>
          <a:xfrm>
            <a:off x="10287810" y="1085174"/>
            <a:ext cx="1904190"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he-IL" dirty="0"/>
              <a:t>Tim2LPF7c</a:t>
            </a:r>
            <a:r>
              <a:rPr lang="en-US" dirty="0"/>
              <a:t>.bmp</a:t>
            </a:r>
            <a:endParaRPr lang="he-IL" dirty="0"/>
          </a:p>
        </p:txBody>
      </p:sp>
      <p:sp>
        <p:nvSpPr>
          <p:cNvPr id="10" name="Rectangle 9">
            <a:extLst>
              <a:ext uri="{FF2B5EF4-FFF2-40B4-BE49-F238E27FC236}">
                <a16:creationId xmlns:a16="http://schemas.microsoft.com/office/drawing/2014/main" id="{3B5779B5-7FEC-6F81-8D89-87887993D27E}"/>
              </a:ext>
            </a:extLst>
          </p:cNvPr>
          <p:cNvSpPr/>
          <p:nvPr/>
        </p:nvSpPr>
        <p:spPr>
          <a:xfrm>
            <a:off x="2169268" y="6220520"/>
            <a:ext cx="7495972" cy="622570"/>
          </a:xfrm>
          <a:prstGeom prst="rect">
            <a:avLst/>
          </a:prstGeom>
        </p:spPr>
        <p:style>
          <a:lnRef idx="0">
            <a:schemeClr val="accent1"/>
          </a:lnRef>
          <a:fillRef idx="3">
            <a:schemeClr val="accent1"/>
          </a:fillRef>
          <a:effectRef idx="3">
            <a:schemeClr val="accent1"/>
          </a:effectRef>
          <a:fontRef idx="minor">
            <a:schemeClr val="lt1"/>
          </a:fontRef>
        </p:style>
        <p:txBody>
          <a:bodyPr rtlCol="1" anchor="ctr"/>
          <a:lstStyle/>
          <a:p>
            <a:pPr algn="ctr"/>
            <a:r>
              <a:rPr lang="en-US" dirty="0"/>
              <a:t>We can see that in the result of the 7x7 filter (</a:t>
            </a:r>
            <a:r>
              <a:rPr lang="he-IL" dirty="0"/>
              <a:t>Tim2LPF7c</a:t>
            </a:r>
            <a:r>
              <a:rPr lang="en-US" dirty="0"/>
              <a:t>.bmp) there is much more data loss and in both images there is no aliasing in the image</a:t>
            </a:r>
            <a:endParaRPr lang="he-IL" dirty="0"/>
          </a:p>
        </p:txBody>
      </p:sp>
      <p:sp>
        <p:nvSpPr>
          <p:cNvPr id="12" name="Slide Number Placeholder 5">
            <a:extLst>
              <a:ext uri="{FF2B5EF4-FFF2-40B4-BE49-F238E27FC236}">
                <a16:creationId xmlns:a16="http://schemas.microsoft.com/office/drawing/2014/main" id="{9C296919-B4C7-4537-A545-82760057F5EE}"/>
              </a:ext>
            </a:extLst>
          </p:cNvPr>
          <p:cNvSpPr txBox="1">
            <a:spLocks/>
          </p:cNvSpPr>
          <p:nvPr/>
        </p:nvSpPr>
        <p:spPr>
          <a:xfrm>
            <a:off x="11760740" y="67310"/>
            <a:ext cx="43126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28</a:t>
            </a:fld>
            <a:endParaRPr lang="he-IL" sz="1600" dirty="0"/>
          </a:p>
        </p:txBody>
      </p:sp>
      <p:sp>
        <p:nvSpPr>
          <p:cNvPr id="17" name="TextBox 16">
            <a:extLst>
              <a:ext uri="{FF2B5EF4-FFF2-40B4-BE49-F238E27FC236}">
                <a16:creationId xmlns:a16="http://schemas.microsoft.com/office/drawing/2014/main" id="{4E057B82-DBAD-CBA3-919A-F64A6AF7F1DA}"/>
              </a:ext>
            </a:extLst>
          </p:cNvPr>
          <p:cNvSpPr txBox="1"/>
          <p:nvPr/>
        </p:nvSpPr>
        <p:spPr>
          <a:xfrm>
            <a:off x="2345987" y="973164"/>
            <a:ext cx="7624864"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 filter gives different results in the different kernels sizes (different offset)</a:t>
            </a:r>
            <a:endParaRPr lang="he-IL" dirty="0"/>
          </a:p>
        </p:txBody>
      </p:sp>
      <p:pic>
        <p:nvPicPr>
          <p:cNvPr id="3" name="Picture 2" descr="A black and white circular pattern&#10;&#10;Description automatically generated">
            <a:extLst>
              <a:ext uri="{FF2B5EF4-FFF2-40B4-BE49-F238E27FC236}">
                <a16:creationId xmlns:a16="http://schemas.microsoft.com/office/drawing/2014/main" id="{A8E9392D-1D50-DD48-A5DF-A948C05782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522759"/>
            <a:ext cx="6096000" cy="4572000"/>
          </a:xfrm>
          <a:prstGeom prst="rect">
            <a:avLst/>
          </a:prstGeom>
        </p:spPr>
      </p:pic>
      <p:pic>
        <p:nvPicPr>
          <p:cNvPr id="6" name="Picture 5" descr="A black and white circular pattern&#10;&#10;Description automatically generated">
            <a:extLst>
              <a:ext uri="{FF2B5EF4-FFF2-40B4-BE49-F238E27FC236}">
                <a16:creationId xmlns:a16="http://schemas.microsoft.com/office/drawing/2014/main" id="{BF3DD93C-F05A-7B73-5BE9-526E487A98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531565"/>
            <a:ext cx="6096000" cy="4572000"/>
          </a:xfrm>
          <a:prstGeom prst="rect">
            <a:avLst/>
          </a:prstGeom>
        </p:spPr>
      </p:pic>
    </p:spTree>
    <p:extLst>
      <p:ext uri="{BB962C8B-B14F-4D97-AF65-F5344CB8AC3E}">
        <p14:creationId xmlns:p14="http://schemas.microsoft.com/office/powerpoint/2010/main" val="6057534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8AC27D95-47F5-3C7E-179C-DEABE87A3E52}"/>
              </a:ext>
            </a:extLst>
          </p:cNvPr>
          <p:cNvSpPr txBox="1"/>
          <p:nvPr/>
        </p:nvSpPr>
        <p:spPr>
          <a:xfrm>
            <a:off x="1879059" y="-135300"/>
            <a:ext cx="8558720" cy="1088609"/>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MP2.3 – blurring of the images using one size of gaussians filters using FFT  (FD)  - </a:t>
            </a:r>
            <a:r>
              <a:rPr lang="en-US" sz="2800" b="1" u="sng" dirty="0">
                <a:solidFill>
                  <a:srgbClr val="FF0000"/>
                </a:solidFill>
              </a:rPr>
              <a:t>part 1</a:t>
            </a:r>
          </a:p>
          <a:p>
            <a:pPr algn="ctr"/>
            <a:endParaRPr lang="en-US" sz="2000" b="1" u="sng" dirty="0">
              <a:solidFill>
                <a:srgbClr val="FF0000"/>
              </a:solidFill>
            </a:endParaRPr>
          </a:p>
        </p:txBody>
      </p:sp>
      <p:sp>
        <p:nvSpPr>
          <p:cNvPr id="5" name="Slide Number Placeholder 5">
            <a:extLst>
              <a:ext uri="{FF2B5EF4-FFF2-40B4-BE49-F238E27FC236}">
                <a16:creationId xmlns:a16="http://schemas.microsoft.com/office/drawing/2014/main" id="{3DC8BC20-7BCD-7444-7472-CF821A396C3B}"/>
              </a:ext>
            </a:extLst>
          </p:cNvPr>
          <p:cNvSpPr txBox="1">
            <a:spLocks/>
          </p:cNvSpPr>
          <p:nvPr/>
        </p:nvSpPr>
        <p:spPr>
          <a:xfrm>
            <a:off x="11760740" y="67310"/>
            <a:ext cx="43126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29</a:t>
            </a:fld>
            <a:endParaRPr lang="he-IL" sz="1600" dirty="0"/>
          </a:p>
        </p:txBody>
      </p:sp>
      <p:sp>
        <p:nvSpPr>
          <p:cNvPr id="2" name="Rectangle 1">
            <a:extLst>
              <a:ext uri="{FF2B5EF4-FFF2-40B4-BE49-F238E27FC236}">
                <a16:creationId xmlns:a16="http://schemas.microsoft.com/office/drawing/2014/main" id="{01ADFCA6-B412-3F5D-1F63-98621D43F5A4}"/>
              </a:ext>
            </a:extLst>
          </p:cNvPr>
          <p:cNvSpPr/>
          <p:nvPr/>
        </p:nvSpPr>
        <p:spPr>
          <a:xfrm>
            <a:off x="1436451" y="953309"/>
            <a:ext cx="9319098" cy="11687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en-US" dirty="0"/>
              <a:t>In MP2.3 we had to filter in FD – hence using the FFT process using the work() function to blur the input image using gaussian filter.</a:t>
            </a:r>
          </a:p>
          <a:p>
            <a:r>
              <a:rPr lang="en-US" dirty="0"/>
              <a:t>As a gaussian filter we use the known function of CreateGreyGaussian and needed to adjust its parameters for blurring at least 6 lines that will be hardly readable and unreadable</a:t>
            </a:r>
            <a:endParaRPr lang="he-IL" dirty="0"/>
          </a:p>
        </p:txBody>
      </p:sp>
      <p:pic>
        <p:nvPicPr>
          <p:cNvPr id="6" name="Picture 5">
            <a:extLst>
              <a:ext uri="{FF2B5EF4-FFF2-40B4-BE49-F238E27FC236}">
                <a16:creationId xmlns:a16="http://schemas.microsoft.com/office/drawing/2014/main" id="{BC1161E2-C10A-4CC5-6706-BBFAB4187B41}"/>
              </a:ext>
            </a:extLst>
          </p:cNvPr>
          <p:cNvPicPr>
            <a:picLocks noChangeAspect="1"/>
          </p:cNvPicPr>
          <p:nvPr/>
        </p:nvPicPr>
        <p:blipFill>
          <a:blip r:embed="rId2"/>
          <a:stretch>
            <a:fillRect/>
          </a:stretch>
        </p:blipFill>
        <p:spPr>
          <a:xfrm>
            <a:off x="-1" y="2266535"/>
            <a:ext cx="12192000" cy="416000"/>
          </a:xfrm>
          <a:prstGeom prst="rect">
            <a:avLst/>
          </a:prstGeom>
        </p:spPr>
      </p:pic>
      <p:pic>
        <p:nvPicPr>
          <p:cNvPr id="13" name="Picture 12">
            <a:extLst>
              <a:ext uri="{FF2B5EF4-FFF2-40B4-BE49-F238E27FC236}">
                <a16:creationId xmlns:a16="http://schemas.microsoft.com/office/drawing/2014/main" id="{BBF329EC-7AB1-B9FF-3EEC-956BEF367C91}"/>
              </a:ext>
            </a:extLst>
          </p:cNvPr>
          <p:cNvPicPr>
            <a:picLocks noChangeAspect="1"/>
          </p:cNvPicPr>
          <p:nvPr/>
        </p:nvPicPr>
        <p:blipFill>
          <a:blip r:embed="rId3"/>
          <a:stretch>
            <a:fillRect/>
          </a:stretch>
        </p:blipFill>
        <p:spPr>
          <a:xfrm>
            <a:off x="142672" y="2827025"/>
            <a:ext cx="11934825" cy="1762125"/>
          </a:xfrm>
          <a:prstGeom prst="rect">
            <a:avLst/>
          </a:prstGeom>
        </p:spPr>
      </p:pic>
      <p:pic>
        <p:nvPicPr>
          <p:cNvPr id="16" name="Picture 15">
            <a:extLst>
              <a:ext uri="{FF2B5EF4-FFF2-40B4-BE49-F238E27FC236}">
                <a16:creationId xmlns:a16="http://schemas.microsoft.com/office/drawing/2014/main" id="{231981E6-5361-822B-9933-F4D5A256DA5B}"/>
              </a:ext>
            </a:extLst>
          </p:cNvPr>
          <p:cNvPicPr>
            <a:picLocks noChangeAspect="1"/>
          </p:cNvPicPr>
          <p:nvPr/>
        </p:nvPicPr>
        <p:blipFill>
          <a:blip r:embed="rId4"/>
          <a:stretch>
            <a:fillRect/>
          </a:stretch>
        </p:blipFill>
        <p:spPr>
          <a:xfrm>
            <a:off x="142672" y="4733640"/>
            <a:ext cx="8058150" cy="1771650"/>
          </a:xfrm>
          <a:prstGeom prst="rect">
            <a:avLst/>
          </a:prstGeom>
        </p:spPr>
      </p:pic>
      <p:cxnSp>
        <p:nvCxnSpPr>
          <p:cNvPr id="18" name="Straight Arrow Connector 17">
            <a:extLst>
              <a:ext uri="{FF2B5EF4-FFF2-40B4-BE49-F238E27FC236}">
                <a16:creationId xmlns:a16="http://schemas.microsoft.com/office/drawing/2014/main" id="{89FFECF3-1F7D-A054-80CA-CA571B3E0056}"/>
              </a:ext>
            </a:extLst>
          </p:cNvPr>
          <p:cNvCxnSpPr/>
          <p:nvPr/>
        </p:nvCxnSpPr>
        <p:spPr>
          <a:xfrm>
            <a:off x="3793787" y="4241260"/>
            <a:ext cx="4649822" cy="0"/>
          </a:xfrm>
          <a:prstGeom prst="straightConnector1">
            <a:avLst/>
          </a:prstGeom>
          <a:ln w="38100">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124D3692-726F-D56A-3A7C-1FC8946B0CD0}"/>
              </a:ext>
            </a:extLst>
          </p:cNvPr>
          <p:cNvCxnSpPr>
            <a:cxnSpLocks/>
          </p:cNvCxnSpPr>
          <p:nvPr/>
        </p:nvCxnSpPr>
        <p:spPr>
          <a:xfrm>
            <a:off x="3701374" y="6134910"/>
            <a:ext cx="5121612" cy="0"/>
          </a:xfrm>
          <a:prstGeom prst="straightConnector1">
            <a:avLst/>
          </a:prstGeom>
          <a:ln w="38100">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864A2CA6-8AAF-E11A-2786-CCBAADEE178E}"/>
              </a:ext>
            </a:extLst>
          </p:cNvPr>
          <p:cNvSpPr/>
          <p:nvPr/>
        </p:nvSpPr>
        <p:spPr>
          <a:xfrm>
            <a:off x="8920264" y="4039279"/>
            <a:ext cx="3271735" cy="21801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The size of the filter that we provided to the work() to fulfil the requirements – we reached them in trial and error until we got the optimal sizes that stands for the demands</a:t>
            </a:r>
            <a:endParaRPr lang="he-IL" b="1" dirty="0">
              <a:solidFill>
                <a:srgbClr val="FFFF00"/>
              </a:solidFill>
            </a:endParaRPr>
          </a:p>
        </p:txBody>
      </p:sp>
    </p:spTree>
    <p:extLst>
      <p:ext uri="{BB962C8B-B14F-4D97-AF65-F5344CB8AC3E}">
        <p14:creationId xmlns:p14="http://schemas.microsoft.com/office/powerpoint/2010/main" val="3763398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8AC27D95-47F5-3C7E-179C-DEABE87A3E52}"/>
              </a:ext>
            </a:extLst>
          </p:cNvPr>
          <p:cNvSpPr txBox="1"/>
          <p:nvPr/>
        </p:nvSpPr>
        <p:spPr>
          <a:xfrm>
            <a:off x="1879059" y="-135300"/>
            <a:ext cx="8558720" cy="1088609"/>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MP2.3 – blurring of the images using one size of gaussians filters using FFT  (FD)  - </a:t>
            </a:r>
            <a:r>
              <a:rPr lang="en-US" sz="2800" b="1" u="sng" dirty="0">
                <a:solidFill>
                  <a:srgbClr val="FF0000"/>
                </a:solidFill>
              </a:rPr>
              <a:t>part 2</a:t>
            </a:r>
          </a:p>
          <a:p>
            <a:pPr algn="ctr"/>
            <a:endParaRPr lang="en-US" sz="2000" b="1" u="sng" dirty="0">
              <a:solidFill>
                <a:srgbClr val="FF0000"/>
              </a:solidFill>
            </a:endParaRPr>
          </a:p>
        </p:txBody>
      </p:sp>
      <p:sp>
        <p:nvSpPr>
          <p:cNvPr id="5" name="Slide Number Placeholder 5">
            <a:extLst>
              <a:ext uri="{FF2B5EF4-FFF2-40B4-BE49-F238E27FC236}">
                <a16:creationId xmlns:a16="http://schemas.microsoft.com/office/drawing/2014/main" id="{3DC8BC20-7BCD-7444-7472-CF821A396C3B}"/>
              </a:ext>
            </a:extLst>
          </p:cNvPr>
          <p:cNvSpPr txBox="1">
            <a:spLocks/>
          </p:cNvSpPr>
          <p:nvPr/>
        </p:nvSpPr>
        <p:spPr>
          <a:xfrm>
            <a:off x="11760740" y="67310"/>
            <a:ext cx="43126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30</a:t>
            </a:fld>
            <a:endParaRPr lang="he-IL" sz="1600" dirty="0"/>
          </a:p>
        </p:txBody>
      </p:sp>
      <p:sp>
        <p:nvSpPr>
          <p:cNvPr id="10" name="TextBox 9">
            <a:extLst>
              <a:ext uri="{FF2B5EF4-FFF2-40B4-BE49-F238E27FC236}">
                <a16:creationId xmlns:a16="http://schemas.microsoft.com/office/drawing/2014/main" id="{ECAE5072-A5ED-0D44-9470-1D338B9C85B2}"/>
              </a:ext>
            </a:extLst>
          </p:cNvPr>
          <p:cNvSpPr txBox="1"/>
          <p:nvPr/>
        </p:nvSpPr>
        <p:spPr>
          <a:xfrm>
            <a:off x="2064696" y="929311"/>
            <a:ext cx="1904190"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he-IL" dirty="0"/>
              <a:t>Tim1LPF</a:t>
            </a:r>
            <a:r>
              <a:rPr lang="en-US" dirty="0"/>
              <a:t>F.bmp</a:t>
            </a:r>
            <a:endParaRPr lang="he-IL" dirty="0"/>
          </a:p>
        </p:txBody>
      </p:sp>
      <p:sp>
        <p:nvSpPr>
          <p:cNvPr id="11" name="TextBox 10">
            <a:extLst>
              <a:ext uri="{FF2B5EF4-FFF2-40B4-BE49-F238E27FC236}">
                <a16:creationId xmlns:a16="http://schemas.microsoft.com/office/drawing/2014/main" id="{77CFB7B8-975B-FB6F-4433-7A537384CB61}"/>
              </a:ext>
            </a:extLst>
          </p:cNvPr>
          <p:cNvSpPr txBox="1"/>
          <p:nvPr/>
        </p:nvSpPr>
        <p:spPr>
          <a:xfrm>
            <a:off x="8203658" y="929311"/>
            <a:ext cx="1904190"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he-IL" dirty="0"/>
              <a:t>Tim2LPF</a:t>
            </a:r>
            <a:r>
              <a:rPr lang="en-US" dirty="0"/>
              <a:t>F.bmp</a:t>
            </a:r>
            <a:endParaRPr lang="he-IL" dirty="0"/>
          </a:p>
        </p:txBody>
      </p:sp>
      <p:pic>
        <p:nvPicPr>
          <p:cNvPr id="3" name="Picture 2" descr="A black and white circular object&#10;&#10;Description automatically generated">
            <a:extLst>
              <a:ext uri="{FF2B5EF4-FFF2-40B4-BE49-F238E27FC236}">
                <a16:creationId xmlns:a16="http://schemas.microsoft.com/office/drawing/2014/main" id="{D5E2F05F-2159-3A35-1F1B-4ACB6E1B77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7753" y="1356689"/>
            <a:ext cx="6096000" cy="4572000"/>
          </a:xfrm>
          <a:prstGeom prst="rect">
            <a:avLst/>
          </a:prstGeom>
        </p:spPr>
      </p:pic>
      <p:pic>
        <p:nvPicPr>
          <p:cNvPr id="7" name="Picture 6" descr="A number of numbers and text&#10;&#10;Description automatically generated with medium confidence">
            <a:extLst>
              <a:ext uri="{FF2B5EF4-FFF2-40B4-BE49-F238E27FC236}">
                <a16:creationId xmlns:a16="http://schemas.microsoft.com/office/drawing/2014/main" id="{3DE2EDBD-B01A-E08E-456D-42EC6FA563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209" y="1356689"/>
            <a:ext cx="6096000" cy="4572000"/>
          </a:xfrm>
          <a:prstGeom prst="rect">
            <a:avLst/>
          </a:prstGeom>
        </p:spPr>
      </p:pic>
      <p:sp>
        <p:nvSpPr>
          <p:cNvPr id="8" name="Rectangle 7">
            <a:extLst>
              <a:ext uri="{FF2B5EF4-FFF2-40B4-BE49-F238E27FC236}">
                <a16:creationId xmlns:a16="http://schemas.microsoft.com/office/drawing/2014/main" id="{B358FA58-C691-4026-F1C3-76D1B3C813DD}"/>
              </a:ext>
            </a:extLst>
          </p:cNvPr>
          <p:cNvSpPr/>
          <p:nvPr/>
        </p:nvSpPr>
        <p:spPr>
          <a:xfrm>
            <a:off x="4513229" y="6116266"/>
            <a:ext cx="3103123" cy="6225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The presented images are at their original size (640x480)</a:t>
            </a:r>
            <a:endParaRPr lang="he-IL" dirty="0"/>
          </a:p>
        </p:txBody>
      </p:sp>
    </p:spTree>
    <p:extLst>
      <p:ext uri="{BB962C8B-B14F-4D97-AF65-F5344CB8AC3E}">
        <p14:creationId xmlns:p14="http://schemas.microsoft.com/office/powerpoint/2010/main" val="41905393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A4E97ECD-B057-BE28-DF4A-C1FDF8F94807}"/>
              </a:ext>
            </a:extLst>
          </p:cNvPr>
          <p:cNvSpPr txBox="1"/>
          <p:nvPr/>
        </p:nvSpPr>
        <p:spPr>
          <a:xfrm>
            <a:off x="2091447" y="-148962"/>
            <a:ext cx="8210956" cy="953309"/>
          </a:xfrm>
          <a:prstGeom prst="rect">
            <a:avLst/>
          </a:prstGeom>
          <a:noFill/>
          <a:ln>
            <a:noFill/>
          </a:ln>
        </p:spPr>
        <p:txBody>
          <a:bodyPr spcFirstLastPara="1" wrap="square" lIns="121900" tIns="121900" rIns="121900" bIns="121900" anchor="t" anchorCtr="0">
            <a:noAutofit/>
          </a:bodyPr>
          <a:lstStyle/>
          <a:p>
            <a:pPr algn="ctr"/>
            <a:r>
              <a:rPr lang="en-US" sz="2600" b="1" u="sng" dirty="0">
                <a:solidFill>
                  <a:srgbClr val="0070C0"/>
                </a:solidFill>
              </a:rPr>
              <a:t>MP2.4 – restoration of the blurred images created using </a:t>
            </a:r>
            <a:r>
              <a:rPr lang="en-US" sz="2600" b="1" u="sng" dirty="0">
                <a:solidFill>
                  <a:srgbClr val="00B050"/>
                </a:solidFill>
              </a:rPr>
              <a:t>convolution</a:t>
            </a:r>
            <a:r>
              <a:rPr lang="en-US" sz="2600" b="1" u="sng" dirty="0">
                <a:solidFill>
                  <a:srgbClr val="0070C0"/>
                </a:solidFill>
              </a:rPr>
              <a:t> using at least two HFEF - </a:t>
            </a:r>
            <a:r>
              <a:rPr lang="en-US" sz="2600" b="1" u="sng" dirty="0">
                <a:solidFill>
                  <a:srgbClr val="FF0000"/>
                </a:solidFill>
              </a:rPr>
              <a:t>part 0</a:t>
            </a:r>
          </a:p>
          <a:p>
            <a:pPr algn="ctr"/>
            <a:endParaRPr lang="en-US" sz="2000" b="1" u="sng" dirty="0">
              <a:solidFill>
                <a:srgbClr val="FF0000"/>
              </a:solidFill>
            </a:endParaRPr>
          </a:p>
        </p:txBody>
      </p:sp>
      <p:sp>
        <p:nvSpPr>
          <p:cNvPr id="5" name="Slide Number Placeholder 5">
            <a:extLst>
              <a:ext uri="{FF2B5EF4-FFF2-40B4-BE49-F238E27FC236}">
                <a16:creationId xmlns:a16="http://schemas.microsoft.com/office/drawing/2014/main" id="{A6B18491-BDE4-91F2-9B9D-5052DC6A33B2}"/>
              </a:ext>
            </a:extLst>
          </p:cNvPr>
          <p:cNvSpPr txBox="1">
            <a:spLocks/>
          </p:cNvSpPr>
          <p:nvPr/>
        </p:nvSpPr>
        <p:spPr>
          <a:xfrm>
            <a:off x="11760740" y="67310"/>
            <a:ext cx="43126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31</a:t>
            </a:fld>
            <a:endParaRPr lang="he-IL" sz="1600" dirty="0"/>
          </a:p>
        </p:txBody>
      </p:sp>
      <p:sp>
        <p:nvSpPr>
          <p:cNvPr id="2" name="Rectangle 1">
            <a:extLst>
              <a:ext uri="{FF2B5EF4-FFF2-40B4-BE49-F238E27FC236}">
                <a16:creationId xmlns:a16="http://schemas.microsoft.com/office/drawing/2014/main" id="{BF5537B7-47C2-AC3A-1F1A-FF7722087D85}"/>
              </a:ext>
            </a:extLst>
          </p:cNvPr>
          <p:cNvSpPr/>
          <p:nvPr/>
        </p:nvSpPr>
        <p:spPr>
          <a:xfrm>
            <a:off x="0" y="801298"/>
            <a:ext cx="12192000" cy="3273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en-US" dirty="0"/>
              <a:t>We created 3 restoration types for each blurred image (src#1,2,3,4).</a:t>
            </a:r>
          </a:p>
          <a:p>
            <a:r>
              <a:rPr lang="en-US" dirty="0"/>
              <a:t>We checked each image with 3 different high frequency enhancement filters – Laplacian , high boost and unsharp masking when for each type we checked for 3 different sizes of kernel – 3 , 5 &amp; 7.</a:t>
            </a:r>
          </a:p>
          <a:p>
            <a:endParaRPr lang="en-US" dirty="0"/>
          </a:p>
          <a:p>
            <a:r>
              <a:rPr lang="en-US" dirty="0"/>
              <a:t>The total number of tested scenarios is 3*3*3*3=27  -&gt; out of them we picked and left in the code (and will present) only the 9 relevant and best from our perspective . </a:t>
            </a:r>
          </a:p>
          <a:p>
            <a:r>
              <a:rPr lang="en-US" dirty="0"/>
              <a:t>Since the results of the Laplacian were not satisfying enough – we excluded them from that presentation.</a:t>
            </a:r>
          </a:p>
          <a:p>
            <a:endParaRPr lang="en-US" dirty="0"/>
          </a:p>
          <a:p>
            <a:r>
              <a:rPr lang="en-US" dirty="0"/>
              <a:t>The names of the destination’s variables are named after 3 parameters:</a:t>
            </a:r>
          </a:p>
          <a:p>
            <a:r>
              <a:rPr lang="en-US" dirty="0"/>
              <a:t> 1) src number </a:t>
            </a:r>
          </a:p>
          <a:p>
            <a:r>
              <a:rPr lang="en-US" dirty="0"/>
              <a:t> 2) filter size (3/5/7)</a:t>
            </a:r>
          </a:p>
          <a:p>
            <a:r>
              <a:rPr lang="en-US" dirty="0"/>
              <a:t>  3) option number</a:t>
            </a:r>
            <a:endParaRPr lang="he-IL" dirty="0"/>
          </a:p>
        </p:txBody>
      </p:sp>
      <p:pic>
        <p:nvPicPr>
          <p:cNvPr id="6" name="Picture 5">
            <a:extLst>
              <a:ext uri="{FF2B5EF4-FFF2-40B4-BE49-F238E27FC236}">
                <a16:creationId xmlns:a16="http://schemas.microsoft.com/office/drawing/2014/main" id="{8773B17E-26AC-01DF-C2DB-A790900D851C}"/>
              </a:ext>
            </a:extLst>
          </p:cNvPr>
          <p:cNvPicPr>
            <a:picLocks noChangeAspect="1"/>
          </p:cNvPicPr>
          <p:nvPr/>
        </p:nvPicPr>
        <p:blipFill>
          <a:blip r:embed="rId2"/>
          <a:stretch>
            <a:fillRect/>
          </a:stretch>
        </p:blipFill>
        <p:spPr>
          <a:xfrm>
            <a:off x="0" y="4077660"/>
            <a:ext cx="12192000" cy="2780340"/>
          </a:xfrm>
          <a:prstGeom prst="rect">
            <a:avLst/>
          </a:prstGeom>
        </p:spPr>
      </p:pic>
    </p:spTree>
    <p:extLst>
      <p:ext uri="{BB962C8B-B14F-4D97-AF65-F5344CB8AC3E}">
        <p14:creationId xmlns:p14="http://schemas.microsoft.com/office/powerpoint/2010/main" val="5496114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A4E97ECD-B057-BE28-DF4A-C1FDF8F94807}"/>
              </a:ext>
            </a:extLst>
          </p:cNvPr>
          <p:cNvSpPr txBox="1"/>
          <p:nvPr/>
        </p:nvSpPr>
        <p:spPr>
          <a:xfrm>
            <a:off x="1879059" y="-135300"/>
            <a:ext cx="8558720" cy="1088609"/>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MP2.4 – restoration of the blurred images created using </a:t>
            </a:r>
            <a:r>
              <a:rPr lang="en-US" sz="2800" b="1" u="sng" dirty="0">
                <a:solidFill>
                  <a:srgbClr val="00B050"/>
                </a:solidFill>
              </a:rPr>
              <a:t>convolution</a:t>
            </a:r>
            <a:r>
              <a:rPr lang="en-US" sz="2800" b="1" u="sng" dirty="0">
                <a:solidFill>
                  <a:srgbClr val="0070C0"/>
                </a:solidFill>
              </a:rPr>
              <a:t> using at least two HPF - </a:t>
            </a:r>
            <a:r>
              <a:rPr lang="en-US" sz="2800" b="1" u="sng" dirty="0">
                <a:solidFill>
                  <a:srgbClr val="FF0000"/>
                </a:solidFill>
              </a:rPr>
              <a:t>part 1</a:t>
            </a:r>
          </a:p>
          <a:p>
            <a:pPr algn="ctr"/>
            <a:endParaRPr lang="en-US" sz="2000" b="1" u="sng" dirty="0">
              <a:solidFill>
                <a:srgbClr val="FF0000"/>
              </a:solidFill>
            </a:endParaRPr>
          </a:p>
        </p:txBody>
      </p:sp>
      <p:sp>
        <p:nvSpPr>
          <p:cNvPr id="5" name="Slide Number Placeholder 5">
            <a:extLst>
              <a:ext uri="{FF2B5EF4-FFF2-40B4-BE49-F238E27FC236}">
                <a16:creationId xmlns:a16="http://schemas.microsoft.com/office/drawing/2014/main" id="{A6B18491-BDE4-91F2-9B9D-5052DC6A33B2}"/>
              </a:ext>
            </a:extLst>
          </p:cNvPr>
          <p:cNvSpPr txBox="1">
            <a:spLocks/>
          </p:cNvSpPr>
          <p:nvPr/>
        </p:nvSpPr>
        <p:spPr>
          <a:xfrm>
            <a:off x="11760740" y="67310"/>
            <a:ext cx="43126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32</a:t>
            </a:fld>
            <a:endParaRPr lang="he-IL" sz="1600" dirty="0"/>
          </a:p>
        </p:txBody>
      </p:sp>
      <p:sp>
        <p:nvSpPr>
          <p:cNvPr id="9" name="TextBox 8">
            <a:extLst>
              <a:ext uri="{FF2B5EF4-FFF2-40B4-BE49-F238E27FC236}">
                <a16:creationId xmlns:a16="http://schemas.microsoft.com/office/drawing/2014/main" id="{9F98F1ED-DDC7-AB95-D333-C335FEAC4568}"/>
              </a:ext>
            </a:extLst>
          </p:cNvPr>
          <p:cNvSpPr txBox="1"/>
          <p:nvPr/>
        </p:nvSpPr>
        <p:spPr>
          <a:xfrm>
            <a:off x="1723822" y="1624838"/>
            <a:ext cx="2648356"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Tim1LPF5CHFEF1C.bmp</a:t>
            </a:r>
            <a:endParaRPr lang="he-IL" dirty="0"/>
          </a:p>
        </p:txBody>
      </p:sp>
      <p:sp>
        <p:nvSpPr>
          <p:cNvPr id="13" name="TextBox 12">
            <a:extLst>
              <a:ext uri="{FF2B5EF4-FFF2-40B4-BE49-F238E27FC236}">
                <a16:creationId xmlns:a16="http://schemas.microsoft.com/office/drawing/2014/main" id="{5A409036-9BD3-0D10-AB98-86215B75DDF6}"/>
              </a:ext>
            </a:extLst>
          </p:cNvPr>
          <p:cNvSpPr txBox="1"/>
          <p:nvPr/>
        </p:nvSpPr>
        <p:spPr>
          <a:xfrm>
            <a:off x="7868460" y="1624838"/>
            <a:ext cx="2648356"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a:t>Tim1LPF5CHFEF2C.bmp</a:t>
            </a:r>
            <a:endParaRPr lang="he-IL" dirty="0"/>
          </a:p>
        </p:txBody>
      </p:sp>
      <p:sp>
        <p:nvSpPr>
          <p:cNvPr id="17" name="TextBox 16">
            <a:extLst>
              <a:ext uri="{FF2B5EF4-FFF2-40B4-BE49-F238E27FC236}">
                <a16:creationId xmlns:a16="http://schemas.microsoft.com/office/drawing/2014/main" id="{C6A1B6C2-07BB-34F9-0830-A5E34895E112}"/>
              </a:ext>
            </a:extLst>
          </p:cNvPr>
          <p:cNvSpPr txBox="1"/>
          <p:nvPr/>
        </p:nvSpPr>
        <p:spPr>
          <a:xfrm>
            <a:off x="282102" y="1112735"/>
            <a:ext cx="5531796"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Tim1 blurred by gaussian in size 5 restored by kernel_1</a:t>
            </a:r>
            <a:endParaRPr lang="he-IL" dirty="0"/>
          </a:p>
        </p:txBody>
      </p:sp>
      <p:sp>
        <p:nvSpPr>
          <p:cNvPr id="21" name="TextBox 20">
            <a:extLst>
              <a:ext uri="{FF2B5EF4-FFF2-40B4-BE49-F238E27FC236}">
                <a16:creationId xmlns:a16="http://schemas.microsoft.com/office/drawing/2014/main" id="{E269FAD5-D630-3D68-974C-D0E81ABE577C}"/>
              </a:ext>
            </a:extLst>
          </p:cNvPr>
          <p:cNvSpPr txBox="1"/>
          <p:nvPr/>
        </p:nvSpPr>
        <p:spPr>
          <a:xfrm>
            <a:off x="6368779" y="1112735"/>
            <a:ext cx="552531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Tim1 blurred by gaussian in size 7 restored by kernel_2</a:t>
            </a:r>
            <a:endParaRPr lang="he-IL" dirty="0"/>
          </a:p>
        </p:txBody>
      </p:sp>
      <p:pic>
        <p:nvPicPr>
          <p:cNvPr id="3" name="Picture 2" descr="A number of numbers and letters&#10;&#10;Description automatically generated with medium confidence">
            <a:extLst>
              <a:ext uri="{FF2B5EF4-FFF2-40B4-BE49-F238E27FC236}">
                <a16:creationId xmlns:a16="http://schemas.microsoft.com/office/drawing/2014/main" id="{46F902F7-4856-61A3-8251-8A05F6780B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65" y="2186531"/>
            <a:ext cx="6096000" cy="4572000"/>
          </a:xfrm>
          <a:prstGeom prst="rect">
            <a:avLst/>
          </a:prstGeom>
          <a:ln>
            <a:solidFill>
              <a:srgbClr val="0070C0"/>
            </a:solidFill>
          </a:ln>
        </p:spPr>
      </p:pic>
      <p:pic>
        <p:nvPicPr>
          <p:cNvPr id="7" name="Picture 6" descr="A number and numbers on a black background&#10;&#10;Description automatically generated">
            <a:extLst>
              <a:ext uri="{FF2B5EF4-FFF2-40B4-BE49-F238E27FC236}">
                <a16:creationId xmlns:a16="http://schemas.microsoft.com/office/drawing/2014/main" id="{3795AFC9-BBDE-CFF5-3B17-616739EB3D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3435" y="2186531"/>
            <a:ext cx="6096000" cy="4572000"/>
          </a:xfrm>
          <a:prstGeom prst="rect">
            <a:avLst/>
          </a:prstGeom>
          <a:ln>
            <a:solidFill>
              <a:srgbClr val="0070C0"/>
            </a:solidFill>
          </a:ln>
        </p:spPr>
      </p:pic>
    </p:spTree>
    <p:extLst>
      <p:ext uri="{BB962C8B-B14F-4D97-AF65-F5344CB8AC3E}">
        <p14:creationId xmlns:p14="http://schemas.microsoft.com/office/powerpoint/2010/main" val="12456453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35BEAC47-3565-4722-20B5-B9E8B6967FDF}"/>
              </a:ext>
            </a:extLst>
          </p:cNvPr>
          <p:cNvSpPr txBox="1"/>
          <p:nvPr/>
        </p:nvSpPr>
        <p:spPr>
          <a:xfrm>
            <a:off x="1879059" y="-135300"/>
            <a:ext cx="8558720" cy="1088609"/>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MP2.4 – restoration of the blurred images created using </a:t>
            </a:r>
            <a:r>
              <a:rPr lang="en-US" sz="2800" b="1" u="sng" dirty="0">
                <a:solidFill>
                  <a:srgbClr val="00B050"/>
                </a:solidFill>
              </a:rPr>
              <a:t>convolution</a:t>
            </a:r>
            <a:r>
              <a:rPr lang="en-US" sz="2800" b="1" u="sng" dirty="0">
                <a:solidFill>
                  <a:srgbClr val="0070C0"/>
                </a:solidFill>
              </a:rPr>
              <a:t> using at least two HPF - </a:t>
            </a:r>
            <a:r>
              <a:rPr lang="en-US" sz="2800" b="1" u="sng" dirty="0">
                <a:solidFill>
                  <a:srgbClr val="FF0000"/>
                </a:solidFill>
              </a:rPr>
              <a:t>part 2</a:t>
            </a:r>
          </a:p>
          <a:p>
            <a:pPr algn="ctr"/>
            <a:endParaRPr lang="en-US" sz="2000" b="1" u="sng" dirty="0">
              <a:solidFill>
                <a:srgbClr val="FF0000"/>
              </a:solidFill>
            </a:endParaRPr>
          </a:p>
        </p:txBody>
      </p:sp>
      <p:sp>
        <p:nvSpPr>
          <p:cNvPr id="5" name="Slide Number Placeholder 5">
            <a:extLst>
              <a:ext uri="{FF2B5EF4-FFF2-40B4-BE49-F238E27FC236}">
                <a16:creationId xmlns:a16="http://schemas.microsoft.com/office/drawing/2014/main" id="{CCDF9D11-C015-7D5C-0672-4F2B2F026509}"/>
              </a:ext>
            </a:extLst>
          </p:cNvPr>
          <p:cNvSpPr txBox="1">
            <a:spLocks/>
          </p:cNvSpPr>
          <p:nvPr/>
        </p:nvSpPr>
        <p:spPr>
          <a:xfrm>
            <a:off x="11760740" y="67310"/>
            <a:ext cx="43126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33</a:t>
            </a:fld>
            <a:endParaRPr lang="he-IL" sz="1600" dirty="0"/>
          </a:p>
        </p:txBody>
      </p:sp>
      <p:sp>
        <p:nvSpPr>
          <p:cNvPr id="10" name="TextBox 9">
            <a:extLst>
              <a:ext uri="{FF2B5EF4-FFF2-40B4-BE49-F238E27FC236}">
                <a16:creationId xmlns:a16="http://schemas.microsoft.com/office/drawing/2014/main" id="{E247944C-D526-DD6B-BEB7-6AB5A6C0815B}"/>
              </a:ext>
            </a:extLst>
          </p:cNvPr>
          <p:cNvSpPr txBox="1"/>
          <p:nvPr/>
        </p:nvSpPr>
        <p:spPr>
          <a:xfrm>
            <a:off x="1524810" y="1567075"/>
            <a:ext cx="2648356"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Tim1LPF5CHFEF3C.bmp</a:t>
            </a:r>
            <a:endParaRPr lang="he-IL" dirty="0"/>
          </a:p>
        </p:txBody>
      </p:sp>
      <p:sp>
        <p:nvSpPr>
          <p:cNvPr id="11" name="TextBox 10">
            <a:extLst>
              <a:ext uri="{FF2B5EF4-FFF2-40B4-BE49-F238E27FC236}">
                <a16:creationId xmlns:a16="http://schemas.microsoft.com/office/drawing/2014/main" id="{CE7EB4CB-C076-A769-C299-E741F3C3ADC3}"/>
              </a:ext>
            </a:extLst>
          </p:cNvPr>
          <p:cNvSpPr txBox="1"/>
          <p:nvPr/>
        </p:nvSpPr>
        <p:spPr>
          <a:xfrm>
            <a:off x="8018836" y="1567678"/>
            <a:ext cx="2648356"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Tim1LPF7CHFEF1C.bmp</a:t>
            </a:r>
            <a:endParaRPr lang="he-IL" dirty="0"/>
          </a:p>
        </p:txBody>
      </p:sp>
      <p:sp>
        <p:nvSpPr>
          <p:cNvPr id="12" name="TextBox 11">
            <a:extLst>
              <a:ext uri="{FF2B5EF4-FFF2-40B4-BE49-F238E27FC236}">
                <a16:creationId xmlns:a16="http://schemas.microsoft.com/office/drawing/2014/main" id="{F6A725A7-3B9E-B9C2-4317-17025785DB6C}"/>
              </a:ext>
            </a:extLst>
          </p:cNvPr>
          <p:cNvSpPr txBox="1"/>
          <p:nvPr/>
        </p:nvSpPr>
        <p:spPr>
          <a:xfrm>
            <a:off x="180367" y="1058439"/>
            <a:ext cx="5531796"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Tim1 blurred by gaussian in size 5 restored by kernel_3</a:t>
            </a:r>
            <a:endParaRPr lang="he-IL" dirty="0"/>
          </a:p>
        </p:txBody>
      </p:sp>
      <p:sp>
        <p:nvSpPr>
          <p:cNvPr id="13" name="TextBox 12">
            <a:extLst>
              <a:ext uri="{FF2B5EF4-FFF2-40B4-BE49-F238E27FC236}">
                <a16:creationId xmlns:a16="http://schemas.microsoft.com/office/drawing/2014/main" id="{0CBF5C52-3133-10A3-654F-B7A031824359}"/>
              </a:ext>
            </a:extLst>
          </p:cNvPr>
          <p:cNvSpPr txBox="1"/>
          <p:nvPr/>
        </p:nvSpPr>
        <p:spPr>
          <a:xfrm>
            <a:off x="6350945" y="1065656"/>
            <a:ext cx="552531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Tim1 blurred by gaussian in size 7 restored by kernel_1</a:t>
            </a:r>
            <a:endParaRPr lang="he-IL" dirty="0"/>
          </a:p>
        </p:txBody>
      </p:sp>
      <p:pic>
        <p:nvPicPr>
          <p:cNvPr id="3" name="Picture 2" descr="A pyramid of numbers and letters&#10;&#10;Description automatically generated">
            <a:extLst>
              <a:ext uri="{FF2B5EF4-FFF2-40B4-BE49-F238E27FC236}">
                <a16:creationId xmlns:a16="http://schemas.microsoft.com/office/drawing/2014/main" id="{F3C6E79F-FF18-15F2-C384-9160569335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75711"/>
            <a:ext cx="6096000" cy="4572000"/>
          </a:xfrm>
          <a:prstGeom prst="rect">
            <a:avLst/>
          </a:prstGeom>
          <a:ln>
            <a:solidFill>
              <a:srgbClr val="0070C0"/>
            </a:solidFill>
          </a:ln>
        </p:spPr>
      </p:pic>
      <p:pic>
        <p:nvPicPr>
          <p:cNvPr id="7" name="Picture 6" descr="A number of numbers and letters&#10;&#10;Description automatically generated with medium confidence">
            <a:extLst>
              <a:ext uri="{FF2B5EF4-FFF2-40B4-BE49-F238E27FC236}">
                <a16:creationId xmlns:a16="http://schemas.microsoft.com/office/drawing/2014/main" id="{651E6FD6-C7A8-4292-FEDB-F1A07C0FF2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068209"/>
            <a:ext cx="6096000" cy="4572000"/>
          </a:xfrm>
          <a:prstGeom prst="rect">
            <a:avLst/>
          </a:prstGeom>
          <a:ln>
            <a:solidFill>
              <a:srgbClr val="0070C0"/>
            </a:solidFill>
          </a:ln>
        </p:spPr>
      </p:pic>
    </p:spTree>
    <p:extLst>
      <p:ext uri="{BB962C8B-B14F-4D97-AF65-F5344CB8AC3E}">
        <p14:creationId xmlns:p14="http://schemas.microsoft.com/office/powerpoint/2010/main" val="2279638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35BEAC47-3565-4722-20B5-B9E8B6967FDF}"/>
              </a:ext>
            </a:extLst>
          </p:cNvPr>
          <p:cNvSpPr txBox="1"/>
          <p:nvPr/>
        </p:nvSpPr>
        <p:spPr>
          <a:xfrm>
            <a:off x="1879059" y="-135300"/>
            <a:ext cx="8558720" cy="1088609"/>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MP2.4 – restoration of the blurred images created using </a:t>
            </a:r>
            <a:r>
              <a:rPr lang="en-US" sz="2800" b="1" u="sng" dirty="0">
                <a:solidFill>
                  <a:srgbClr val="00B050"/>
                </a:solidFill>
              </a:rPr>
              <a:t>convolution</a:t>
            </a:r>
            <a:r>
              <a:rPr lang="en-US" sz="2800" b="1" u="sng" dirty="0">
                <a:solidFill>
                  <a:srgbClr val="0070C0"/>
                </a:solidFill>
              </a:rPr>
              <a:t> using at least two HPF - </a:t>
            </a:r>
            <a:r>
              <a:rPr lang="en-US" sz="2800" b="1" u="sng" dirty="0">
                <a:solidFill>
                  <a:srgbClr val="FF0000"/>
                </a:solidFill>
              </a:rPr>
              <a:t>part 3</a:t>
            </a:r>
          </a:p>
          <a:p>
            <a:pPr algn="ctr"/>
            <a:endParaRPr lang="en-US" sz="2000" b="1" u="sng" dirty="0">
              <a:solidFill>
                <a:srgbClr val="FF0000"/>
              </a:solidFill>
            </a:endParaRPr>
          </a:p>
        </p:txBody>
      </p:sp>
      <p:sp>
        <p:nvSpPr>
          <p:cNvPr id="5" name="Slide Number Placeholder 5">
            <a:extLst>
              <a:ext uri="{FF2B5EF4-FFF2-40B4-BE49-F238E27FC236}">
                <a16:creationId xmlns:a16="http://schemas.microsoft.com/office/drawing/2014/main" id="{CCDF9D11-C015-7D5C-0672-4F2B2F026509}"/>
              </a:ext>
            </a:extLst>
          </p:cNvPr>
          <p:cNvSpPr txBox="1">
            <a:spLocks/>
          </p:cNvSpPr>
          <p:nvPr/>
        </p:nvSpPr>
        <p:spPr>
          <a:xfrm>
            <a:off x="11760740" y="67310"/>
            <a:ext cx="43126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34</a:t>
            </a:fld>
            <a:endParaRPr lang="he-IL" sz="1600" dirty="0"/>
          </a:p>
        </p:txBody>
      </p:sp>
      <p:sp>
        <p:nvSpPr>
          <p:cNvPr id="8" name="TextBox 7">
            <a:extLst>
              <a:ext uri="{FF2B5EF4-FFF2-40B4-BE49-F238E27FC236}">
                <a16:creationId xmlns:a16="http://schemas.microsoft.com/office/drawing/2014/main" id="{39C03041-5A09-9E1F-60D4-BC7F8F36E21C}"/>
              </a:ext>
            </a:extLst>
          </p:cNvPr>
          <p:cNvSpPr txBox="1"/>
          <p:nvPr/>
        </p:nvSpPr>
        <p:spPr>
          <a:xfrm>
            <a:off x="1388623" y="1557383"/>
            <a:ext cx="2648356"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Tim1LPF7CHFEF2C.bmp</a:t>
            </a:r>
            <a:endParaRPr lang="he-IL" dirty="0"/>
          </a:p>
        </p:txBody>
      </p:sp>
      <p:sp>
        <p:nvSpPr>
          <p:cNvPr id="9" name="TextBox 8">
            <a:extLst>
              <a:ext uri="{FF2B5EF4-FFF2-40B4-BE49-F238E27FC236}">
                <a16:creationId xmlns:a16="http://schemas.microsoft.com/office/drawing/2014/main" id="{474111DD-5972-CD6F-432F-10A61AAF4313}"/>
              </a:ext>
            </a:extLst>
          </p:cNvPr>
          <p:cNvSpPr txBox="1"/>
          <p:nvPr/>
        </p:nvSpPr>
        <p:spPr>
          <a:xfrm>
            <a:off x="8155021" y="1557383"/>
            <a:ext cx="2648356"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Tim1LPF7CHFEF3C.bmp</a:t>
            </a:r>
            <a:endParaRPr lang="he-IL" dirty="0"/>
          </a:p>
        </p:txBody>
      </p:sp>
      <p:sp>
        <p:nvSpPr>
          <p:cNvPr id="10" name="TextBox 9">
            <a:extLst>
              <a:ext uri="{FF2B5EF4-FFF2-40B4-BE49-F238E27FC236}">
                <a16:creationId xmlns:a16="http://schemas.microsoft.com/office/drawing/2014/main" id="{C60EEEC5-2624-347A-F77D-0B95E0343A90}"/>
              </a:ext>
            </a:extLst>
          </p:cNvPr>
          <p:cNvSpPr txBox="1"/>
          <p:nvPr/>
        </p:nvSpPr>
        <p:spPr>
          <a:xfrm>
            <a:off x="180367" y="975593"/>
            <a:ext cx="5531796"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Tim1 blurred by gaussian in size 7 restored by kernel_2</a:t>
            </a:r>
            <a:endParaRPr lang="he-IL" dirty="0"/>
          </a:p>
        </p:txBody>
      </p:sp>
      <p:sp>
        <p:nvSpPr>
          <p:cNvPr id="11" name="TextBox 10">
            <a:extLst>
              <a:ext uri="{FF2B5EF4-FFF2-40B4-BE49-F238E27FC236}">
                <a16:creationId xmlns:a16="http://schemas.microsoft.com/office/drawing/2014/main" id="{83957F0F-9C07-D912-0F93-DBA6967F4F10}"/>
              </a:ext>
            </a:extLst>
          </p:cNvPr>
          <p:cNvSpPr txBox="1"/>
          <p:nvPr/>
        </p:nvSpPr>
        <p:spPr>
          <a:xfrm>
            <a:off x="6235429" y="975593"/>
            <a:ext cx="552531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Tim1 blurred by gaussian in size 7 restored by kernel_3</a:t>
            </a:r>
            <a:endParaRPr lang="he-IL" dirty="0"/>
          </a:p>
        </p:txBody>
      </p:sp>
      <p:pic>
        <p:nvPicPr>
          <p:cNvPr id="3" name="Picture 2" descr="A number of numbers and a triangle&#10;&#10;Description automatically generated with medium confidence">
            <a:extLst>
              <a:ext uri="{FF2B5EF4-FFF2-40B4-BE49-F238E27FC236}">
                <a16:creationId xmlns:a16="http://schemas.microsoft.com/office/drawing/2014/main" id="{8CFA3426-C24F-0E0C-FCE8-7EEAD3A22C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47672"/>
            <a:ext cx="6096000" cy="4572000"/>
          </a:xfrm>
          <a:prstGeom prst="rect">
            <a:avLst/>
          </a:prstGeom>
        </p:spPr>
      </p:pic>
      <p:pic>
        <p:nvPicPr>
          <p:cNvPr id="7" name="Picture 6" descr="A pyramid of numbers and letters&#10;&#10;Description automatically generated">
            <a:extLst>
              <a:ext uri="{FF2B5EF4-FFF2-40B4-BE49-F238E27FC236}">
                <a16:creationId xmlns:a16="http://schemas.microsoft.com/office/drawing/2014/main" id="{32837692-44D1-397F-9591-5D262254D6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047672"/>
            <a:ext cx="6096000" cy="4572000"/>
          </a:xfrm>
          <a:prstGeom prst="rect">
            <a:avLst/>
          </a:prstGeom>
          <a:ln>
            <a:solidFill>
              <a:srgbClr val="0070C0"/>
            </a:solidFill>
          </a:ln>
        </p:spPr>
      </p:pic>
    </p:spTree>
    <p:extLst>
      <p:ext uri="{BB962C8B-B14F-4D97-AF65-F5344CB8AC3E}">
        <p14:creationId xmlns:p14="http://schemas.microsoft.com/office/powerpoint/2010/main" val="36083965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35BEAC47-3565-4722-20B5-B9E8B6967FDF}"/>
              </a:ext>
            </a:extLst>
          </p:cNvPr>
          <p:cNvSpPr txBox="1"/>
          <p:nvPr/>
        </p:nvSpPr>
        <p:spPr>
          <a:xfrm>
            <a:off x="1879059" y="-135300"/>
            <a:ext cx="8558720" cy="1088609"/>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MP2.4 – restoration of the blurred images created using </a:t>
            </a:r>
            <a:r>
              <a:rPr lang="en-US" sz="2800" b="1" u="sng" dirty="0">
                <a:solidFill>
                  <a:srgbClr val="00B050"/>
                </a:solidFill>
              </a:rPr>
              <a:t>convolution</a:t>
            </a:r>
            <a:r>
              <a:rPr lang="en-US" sz="2800" b="1" u="sng" dirty="0">
                <a:solidFill>
                  <a:srgbClr val="0070C0"/>
                </a:solidFill>
              </a:rPr>
              <a:t> using at least two HPF - </a:t>
            </a:r>
            <a:r>
              <a:rPr lang="en-US" sz="2800" b="1" u="sng" dirty="0">
                <a:solidFill>
                  <a:srgbClr val="FF0000"/>
                </a:solidFill>
              </a:rPr>
              <a:t>part 4</a:t>
            </a:r>
          </a:p>
          <a:p>
            <a:pPr algn="ctr"/>
            <a:endParaRPr lang="en-US" sz="2000" b="1" u="sng" dirty="0">
              <a:solidFill>
                <a:srgbClr val="FF0000"/>
              </a:solidFill>
            </a:endParaRPr>
          </a:p>
        </p:txBody>
      </p:sp>
      <p:sp>
        <p:nvSpPr>
          <p:cNvPr id="5" name="Slide Number Placeholder 5">
            <a:extLst>
              <a:ext uri="{FF2B5EF4-FFF2-40B4-BE49-F238E27FC236}">
                <a16:creationId xmlns:a16="http://schemas.microsoft.com/office/drawing/2014/main" id="{CCDF9D11-C015-7D5C-0672-4F2B2F026509}"/>
              </a:ext>
            </a:extLst>
          </p:cNvPr>
          <p:cNvSpPr txBox="1">
            <a:spLocks/>
          </p:cNvSpPr>
          <p:nvPr/>
        </p:nvSpPr>
        <p:spPr>
          <a:xfrm>
            <a:off x="11760740" y="67310"/>
            <a:ext cx="43126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35</a:t>
            </a:fld>
            <a:endParaRPr lang="he-IL" sz="1600" dirty="0"/>
          </a:p>
        </p:txBody>
      </p:sp>
      <p:sp>
        <p:nvSpPr>
          <p:cNvPr id="8" name="TextBox 7">
            <a:extLst>
              <a:ext uri="{FF2B5EF4-FFF2-40B4-BE49-F238E27FC236}">
                <a16:creationId xmlns:a16="http://schemas.microsoft.com/office/drawing/2014/main" id="{AE97446F-71D6-D4F8-094D-47320A8917BE}"/>
              </a:ext>
            </a:extLst>
          </p:cNvPr>
          <p:cNvSpPr txBox="1"/>
          <p:nvPr/>
        </p:nvSpPr>
        <p:spPr>
          <a:xfrm>
            <a:off x="1408078" y="1634645"/>
            <a:ext cx="2648356"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Tim2LPF5CHFEF1C.bmp</a:t>
            </a:r>
            <a:endParaRPr lang="he-IL" dirty="0"/>
          </a:p>
        </p:txBody>
      </p:sp>
      <p:sp>
        <p:nvSpPr>
          <p:cNvPr id="9" name="TextBox 8">
            <a:extLst>
              <a:ext uri="{FF2B5EF4-FFF2-40B4-BE49-F238E27FC236}">
                <a16:creationId xmlns:a16="http://schemas.microsoft.com/office/drawing/2014/main" id="{F3E817F5-E727-C445-7010-24873CB070D4}"/>
              </a:ext>
            </a:extLst>
          </p:cNvPr>
          <p:cNvSpPr txBox="1"/>
          <p:nvPr/>
        </p:nvSpPr>
        <p:spPr>
          <a:xfrm>
            <a:off x="7789423" y="1732002"/>
            <a:ext cx="2648356"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Tim2LPF5CHFEF2C.bmp</a:t>
            </a:r>
            <a:endParaRPr lang="he-IL" dirty="0"/>
          </a:p>
        </p:txBody>
      </p:sp>
      <p:sp>
        <p:nvSpPr>
          <p:cNvPr id="10" name="TextBox 9">
            <a:extLst>
              <a:ext uri="{FF2B5EF4-FFF2-40B4-BE49-F238E27FC236}">
                <a16:creationId xmlns:a16="http://schemas.microsoft.com/office/drawing/2014/main" id="{BF4DE957-91B0-ACE0-34A5-7C1AFE3D3EF4}"/>
              </a:ext>
            </a:extLst>
          </p:cNvPr>
          <p:cNvSpPr txBox="1"/>
          <p:nvPr/>
        </p:nvSpPr>
        <p:spPr>
          <a:xfrm>
            <a:off x="252919" y="1065656"/>
            <a:ext cx="5531796"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Tim2 blurred by gaussian in size 5 restored by kernel_1</a:t>
            </a:r>
            <a:endParaRPr lang="he-IL" dirty="0"/>
          </a:p>
        </p:txBody>
      </p:sp>
      <p:sp>
        <p:nvSpPr>
          <p:cNvPr id="11" name="TextBox 10">
            <a:extLst>
              <a:ext uri="{FF2B5EF4-FFF2-40B4-BE49-F238E27FC236}">
                <a16:creationId xmlns:a16="http://schemas.microsoft.com/office/drawing/2014/main" id="{6E380718-0EDB-D38B-4F60-FC289902C2F6}"/>
              </a:ext>
            </a:extLst>
          </p:cNvPr>
          <p:cNvSpPr txBox="1"/>
          <p:nvPr/>
        </p:nvSpPr>
        <p:spPr>
          <a:xfrm>
            <a:off x="6347705" y="1065656"/>
            <a:ext cx="552531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Tim2 blurred by gaussian in size 5 restored by kernel_2</a:t>
            </a:r>
            <a:endParaRPr lang="he-IL" dirty="0"/>
          </a:p>
        </p:txBody>
      </p:sp>
      <p:pic>
        <p:nvPicPr>
          <p:cNvPr id="3" name="Picture 2" descr="A black and white circular pattern&#10;&#10;Description automatically generated">
            <a:extLst>
              <a:ext uri="{FF2B5EF4-FFF2-40B4-BE49-F238E27FC236}">
                <a16:creationId xmlns:a16="http://schemas.microsoft.com/office/drawing/2014/main" id="{205D74D0-37C4-4917-AFBC-D39ED43DA9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61681"/>
            <a:ext cx="6096000" cy="4572000"/>
          </a:xfrm>
          <a:prstGeom prst="rect">
            <a:avLst/>
          </a:prstGeom>
        </p:spPr>
      </p:pic>
      <p:pic>
        <p:nvPicPr>
          <p:cNvPr id="7" name="Picture 6" descr="A black and white circular pattern&#10;&#10;Description automatically generated">
            <a:extLst>
              <a:ext uri="{FF2B5EF4-FFF2-40B4-BE49-F238E27FC236}">
                <a16:creationId xmlns:a16="http://schemas.microsoft.com/office/drawing/2014/main" id="{65A3C99D-473E-D5A6-B2FC-1954391FA2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2360" y="2261681"/>
            <a:ext cx="6096000" cy="4572000"/>
          </a:xfrm>
          <a:prstGeom prst="rect">
            <a:avLst/>
          </a:prstGeom>
        </p:spPr>
      </p:pic>
    </p:spTree>
    <p:extLst>
      <p:ext uri="{BB962C8B-B14F-4D97-AF65-F5344CB8AC3E}">
        <p14:creationId xmlns:p14="http://schemas.microsoft.com/office/powerpoint/2010/main" val="39715804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35BEAC47-3565-4722-20B5-B9E8B6967FDF}"/>
              </a:ext>
            </a:extLst>
          </p:cNvPr>
          <p:cNvSpPr txBox="1"/>
          <p:nvPr/>
        </p:nvSpPr>
        <p:spPr>
          <a:xfrm>
            <a:off x="1879059" y="-135300"/>
            <a:ext cx="8558720" cy="1088609"/>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MP2.4 – restoration of the blurred images created using </a:t>
            </a:r>
            <a:r>
              <a:rPr lang="en-US" sz="2800" b="1" u="sng" dirty="0">
                <a:solidFill>
                  <a:srgbClr val="00B050"/>
                </a:solidFill>
              </a:rPr>
              <a:t>convolution</a:t>
            </a:r>
            <a:r>
              <a:rPr lang="en-US" sz="2800" b="1" u="sng" dirty="0">
                <a:solidFill>
                  <a:srgbClr val="0070C0"/>
                </a:solidFill>
              </a:rPr>
              <a:t> using at least two HPF - </a:t>
            </a:r>
            <a:r>
              <a:rPr lang="en-US" sz="2800" b="1" u="sng" dirty="0">
                <a:solidFill>
                  <a:srgbClr val="FF0000"/>
                </a:solidFill>
              </a:rPr>
              <a:t>part 5</a:t>
            </a:r>
          </a:p>
          <a:p>
            <a:pPr algn="ctr"/>
            <a:endParaRPr lang="en-US" sz="2000" b="1" u="sng" dirty="0">
              <a:solidFill>
                <a:srgbClr val="FF0000"/>
              </a:solidFill>
            </a:endParaRPr>
          </a:p>
        </p:txBody>
      </p:sp>
      <p:sp>
        <p:nvSpPr>
          <p:cNvPr id="5" name="Slide Number Placeholder 5">
            <a:extLst>
              <a:ext uri="{FF2B5EF4-FFF2-40B4-BE49-F238E27FC236}">
                <a16:creationId xmlns:a16="http://schemas.microsoft.com/office/drawing/2014/main" id="{CCDF9D11-C015-7D5C-0672-4F2B2F026509}"/>
              </a:ext>
            </a:extLst>
          </p:cNvPr>
          <p:cNvSpPr txBox="1">
            <a:spLocks/>
          </p:cNvSpPr>
          <p:nvPr/>
        </p:nvSpPr>
        <p:spPr>
          <a:xfrm>
            <a:off x="11760740" y="67310"/>
            <a:ext cx="43126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36</a:t>
            </a:fld>
            <a:endParaRPr lang="he-IL" sz="1600" dirty="0"/>
          </a:p>
        </p:txBody>
      </p:sp>
      <p:sp>
        <p:nvSpPr>
          <p:cNvPr id="8" name="TextBox 7">
            <a:extLst>
              <a:ext uri="{FF2B5EF4-FFF2-40B4-BE49-F238E27FC236}">
                <a16:creationId xmlns:a16="http://schemas.microsoft.com/office/drawing/2014/main" id="{F04CD41B-3295-4689-7B25-52BBF696B0BC}"/>
              </a:ext>
            </a:extLst>
          </p:cNvPr>
          <p:cNvSpPr txBox="1"/>
          <p:nvPr/>
        </p:nvSpPr>
        <p:spPr>
          <a:xfrm>
            <a:off x="1544266" y="1673796"/>
            <a:ext cx="2648356"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Tim2LPF5CHFEF3C.bmp</a:t>
            </a:r>
            <a:endParaRPr lang="he-IL" dirty="0"/>
          </a:p>
        </p:txBody>
      </p:sp>
      <p:sp>
        <p:nvSpPr>
          <p:cNvPr id="9" name="TextBox 8">
            <a:extLst>
              <a:ext uri="{FF2B5EF4-FFF2-40B4-BE49-F238E27FC236}">
                <a16:creationId xmlns:a16="http://schemas.microsoft.com/office/drawing/2014/main" id="{D9E86E37-8D1C-C6AA-A29E-C74188307862}"/>
              </a:ext>
            </a:extLst>
          </p:cNvPr>
          <p:cNvSpPr txBox="1"/>
          <p:nvPr/>
        </p:nvSpPr>
        <p:spPr>
          <a:xfrm>
            <a:off x="8120164" y="1708921"/>
            <a:ext cx="2648356"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Tim2LPF7CHFEF1C.bmp</a:t>
            </a:r>
            <a:endParaRPr lang="he-IL" dirty="0"/>
          </a:p>
        </p:txBody>
      </p:sp>
      <p:sp>
        <p:nvSpPr>
          <p:cNvPr id="10" name="TextBox 9">
            <a:extLst>
              <a:ext uri="{FF2B5EF4-FFF2-40B4-BE49-F238E27FC236}">
                <a16:creationId xmlns:a16="http://schemas.microsoft.com/office/drawing/2014/main" id="{06B60774-EBAB-40E4-9CBB-5C541A7AB27E}"/>
              </a:ext>
            </a:extLst>
          </p:cNvPr>
          <p:cNvSpPr txBox="1"/>
          <p:nvPr/>
        </p:nvSpPr>
        <p:spPr>
          <a:xfrm>
            <a:off x="252919" y="1070678"/>
            <a:ext cx="5531796"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Tim2 blurred by gaussian in size 5 restored by kernel_3</a:t>
            </a:r>
            <a:endParaRPr lang="he-IL" dirty="0"/>
          </a:p>
        </p:txBody>
      </p:sp>
      <p:sp>
        <p:nvSpPr>
          <p:cNvPr id="11" name="TextBox 10">
            <a:extLst>
              <a:ext uri="{FF2B5EF4-FFF2-40B4-BE49-F238E27FC236}">
                <a16:creationId xmlns:a16="http://schemas.microsoft.com/office/drawing/2014/main" id="{400F5BBC-CD42-75CC-3BAB-B6D5FC12588C}"/>
              </a:ext>
            </a:extLst>
          </p:cNvPr>
          <p:cNvSpPr txBox="1"/>
          <p:nvPr/>
        </p:nvSpPr>
        <p:spPr>
          <a:xfrm>
            <a:off x="6271907" y="1070678"/>
            <a:ext cx="552531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Tim2 blurred by gaussian in size 7 restored by kernel_1</a:t>
            </a:r>
            <a:endParaRPr lang="he-IL" dirty="0"/>
          </a:p>
        </p:txBody>
      </p:sp>
      <p:pic>
        <p:nvPicPr>
          <p:cNvPr id="3" name="Picture 2" descr="A black and white circular pattern&#10;&#10;Description automatically generated">
            <a:extLst>
              <a:ext uri="{FF2B5EF4-FFF2-40B4-BE49-F238E27FC236}">
                <a16:creationId xmlns:a16="http://schemas.microsoft.com/office/drawing/2014/main" id="{AD6D65C7-F459-6E75-7CFA-B3C91BEE2D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76914"/>
            <a:ext cx="6096000" cy="4572000"/>
          </a:xfrm>
          <a:prstGeom prst="rect">
            <a:avLst/>
          </a:prstGeom>
        </p:spPr>
      </p:pic>
      <p:pic>
        <p:nvPicPr>
          <p:cNvPr id="7" name="Picture 6" descr="A black and white circular pattern&#10;&#10;Description automatically generated">
            <a:extLst>
              <a:ext uri="{FF2B5EF4-FFF2-40B4-BE49-F238E27FC236}">
                <a16:creationId xmlns:a16="http://schemas.microsoft.com/office/drawing/2014/main" id="{1C137843-B8C7-667B-43EB-7678E7981A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276914"/>
            <a:ext cx="6096000" cy="4572000"/>
          </a:xfrm>
          <a:prstGeom prst="rect">
            <a:avLst/>
          </a:prstGeom>
        </p:spPr>
      </p:pic>
    </p:spTree>
    <p:extLst>
      <p:ext uri="{BB962C8B-B14F-4D97-AF65-F5344CB8AC3E}">
        <p14:creationId xmlns:p14="http://schemas.microsoft.com/office/powerpoint/2010/main" val="4943728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35BEAC47-3565-4722-20B5-B9E8B6967FDF}"/>
              </a:ext>
            </a:extLst>
          </p:cNvPr>
          <p:cNvSpPr txBox="1"/>
          <p:nvPr/>
        </p:nvSpPr>
        <p:spPr>
          <a:xfrm>
            <a:off x="1879059" y="-135300"/>
            <a:ext cx="8558720" cy="1088609"/>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MP2.4 – restoration of the blurred images created using </a:t>
            </a:r>
            <a:r>
              <a:rPr lang="en-US" sz="2800" b="1" u="sng" dirty="0">
                <a:solidFill>
                  <a:srgbClr val="00B050"/>
                </a:solidFill>
              </a:rPr>
              <a:t>convolution</a:t>
            </a:r>
            <a:r>
              <a:rPr lang="en-US" sz="2800" b="1" u="sng" dirty="0">
                <a:solidFill>
                  <a:srgbClr val="0070C0"/>
                </a:solidFill>
              </a:rPr>
              <a:t> using at least two HPF - </a:t>
            </a:r>
            <a:r>
              <a:rPr lang="en-US" sz="2800" b="1" u="sng" dirty="0">
                <a:solidFill>
                  <a:srgbClr val="FF0000"/>
                </a:solidFill>
              </a:rPr>
              <a:t>part 5</a:t>
            </a:r>
          </a:p>
          <a:p>
            <a:pPr algn="ctr"/>
            <a:endParaRPr lang="en-US" sz="2000" b="1" u="sng" dirty="0">
              <a:solidFill>
                <a:srgbClr val="FF0000"/>
              </a:solidFill>
            </a:endParaRPr>
          </a:p>
        </p:txBody>
      </p:sp>
      <p:sp>
        <p:nvSpPr>
          <p:cNvPr id="5" name="Slide Number Placeholder 5">
            <a:extLst>
              <a:ext uri="{FF2B5EF4-FFF2-40B4-BE49-F238E27FC236}">
                <a16:creationId xmlns:a16="http://schemas.microsoft.com/office/drawing/2014/main" id="{CCDF9D11-C015-7D5C-0672-4F2B2F026509}"/>
              </a:ext>
            </a:extLst>
          </p:cNvPr>
          <p:cNvSpPr txBox="1">
            <a:spLocks/>
          </p:cNvSpPr>
          <p:nvPr/>
        </p:nvSpPr>
        <p:spPr>
          <a:xfrm>
            <a:off x="11760740" y="67310"/>
            <a:ext cx="43126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37</a:t>
            </a:fld>
            <a:endParaRPr lang="he-IL" sz="1600" dirty="0"/>
          </a:p>
        </p:txBody>
      </p:sp>
      <p:sp>
        <p:nvSpPr>
          <p:cNvPr id="8" name="TextBox 7">
            <a:extLst>
              <a:ext uri="{FF2B5EF4-FFF2-40B4-BE49-F238E27FC236}">
                <a16:creationId xmlns:a16="http://schemas.microsoft.com/office/drawing/2014/main" id="{F04CD41B-3295-4689-7B25-52BBF696B0BC}"/>
              </a:ext>
            </a:extLst>
          </p:cNvPr>
          <p:cNvSpPr txBox="1"/>
          <p:nvPr/>
        </p:nvSpPr>
        <p:spPr>
          <a:xfrm>
            <a:off x="1622087" y="1576838"/>
            <a:ext cx="2648356"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a:t>Tim2LPF7CHFEF2C.bmp</a:t>
            </a:r>
            <a:endParaRPr lang="he-IL" dirty="0"/>
          </a:p>
        </p:txBody>
      </p:sp>
      <p:sp>
        <p:nvSpPr>
          <p:cNvPr id="9" name="TextBox 8">
            <a:extLst>
              <a:ext uri="{FF2B5EF4-FFF2-40B4-BE49-F238E27FC236}">
                <a16:creationId xmlns:a16="http://schemas.microsoft.com/office/drawing/2014/main" id="{D9E86E37-8D1C-C6AA-A29E-C74188307862}"/>
              </a:ext>
            </a:extLst>
          </p:cNvPr>
          <p:cNvSpPr txBox="1"/>
          <p:nvPr/>
        </p:nvSpPr>
        <p:spPr>
          <a:xfrm>
            <a:off x="7789423" y="1576838"/>
            <a:ext cx="2648356"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a:t>Tim2LPF7CHFEF3C.bmp</a:t>
            </a:r>
            <a:endParaRPr lang="he-IL" dirty="0"/>
          </a:p>
        </p:txBody>
      </p:sp>
      <p:sp>
        <p:nvSpPr>
          <p:cNvPr id="10" name="TextBox 9">
            <a:extLst>
              <a:ext uri="{FF2B5EF4-FFF2-40B4-BE49-F238E27FC236}">
                <a16:creationId xmlns:a16="http://schemas.microsoft.com/office/drawing/2014/main" id="{06B60774-EBAB-40E4-9CBB-5C541A7AB27E}"/>
              </a:ext>
            </a:extLst>
          </p:cNvPr>
          <p:cNvSpPr txBox="1"/>
          <p:nvPr/>
        </p:nvSpPr>
        <p:spPr>
          <a:xfrm>
            <a:off x="180367" y="985321"/>
            <a:ext cx="5531796"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Tim2 blurred by gaussian in size 7 restored by kernel_2</a:t>
            </a:r>
            <a:endParaRPr lang="he-IL" dirty="0"/>
          </a:p>
        </p:txBody>
      </p:sp>
      <p:sp>
        <p:nvSpPr>
          <p:cNvPr id="11" name="TextBox 10">
            <a:extLst>
              <a:ext uri="{FF2B5EF4-FFF2-40B4-BE49-F238E27FC236}">
                <a16:creationId xmlns:a16="http://schemas.microsoft.com/office/drawing/2014/main" id="{400F5BBC-CD42-75CC-3BAB-B6D5FC12588C}"/>
              </a:ext>
            </a:extLst>
          </p:cNvPr>
          <p:cNvSpPr txBox="1"/>
          <p:nvPr/>
        </p:nvSpPr>
        <p:spPr>
          <a:xfrm>
            <a:off x="6158419" y="987514"/>
            <a:ext cx="552531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Tim2 blurred by gaussian in size 7 restored by kernel_3</a:t>
            </a:r>
            <a:endParaRPr lang="he-IL" dirty="0"/>
          </a:p>
        </p:txBody>
      </p:sp>
      <p:pic>
        <p:nvPicPr>
          <p:cNvPr id="3" name="Picture 2" descr="A black and white circular pattern&#10;&#10;Description automatically generated">
            <a:extLst>
              <a:ext uri="{FF2B5EF4-FFF2-40B4-BE49-F238E27FC236}">
                <a16:creationId xmlns:a16="http://schemas.microsoft.com/office/drawing/2014/main" id="{DDAEA493-FA4B-40D0-2A52-F7B0E0B1E6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8355"/>
            <a:ext cx="6096000" cy="4572000"/>
          </a:xfrm>
          <a:prstGeom prst="rect">
            <a:avLst/>
          </a:prstGeom>
        </p:spPr>
      </p:pic>
      <p:pic>
        <p:nvPicPr>
          <p:cNvPr id="7" name="Picture 6" descr="A black and white circular pattern&#10;&#10;Description automatically generated">
            <a:extLst>
              <a:ext uri="{FF2B5EF4-FFF2-40B4-BE49-F238E27FC236}">
                <a16:creationId xmlns:a16="http://schemas.microsoft.com/office/drawing/2014/main" id="{A7DF375E-ACD3-F8E5-B56E-2E622F1AB1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5601" y="2166162"/>
            <a:ext cx="6096000" cy="4572000"/>
          </a:xfrm>
          <a:prstGeom prst="rect">
            <a:avLst/>
          </a:prstGeom>
        </p:spPr>
      </p:pic>
    </p:spTree>
    <p:extLst>
      <p:ext uri="{BB962C8B-B14F-4D97-AF65-F5344CB8AC3E}">
        <p14:creationId xmlns:p14="http://schemas.microsoft.com/office/powerpoint/2010/main" val="19904316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34756330-A0E0-AB9B-3CDE-CD6BA92E8C7A}"/>
              </a:ext>
            </a:extLst>
          </p:cNvPr>
          <p:cNvSpPr txBox="1"/>
          <p:nvPr/>
        </p:nvSpPr>
        <p:spPr>
          <a:xfrm>
            <a:off x="1879059" y="-135300"/>
            <a:ext cx="8558720" cy="1088609"/>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MP2.4 – restoration of the blurred images created using </a:t>
            </a:r>
            <a:r>
              <a:rPr lang="en-US" sz="2800" b="1" u="sng" dirty="0">
                <a:solidFill>
                  <a:srgbClr val="00B050"/>
                </a:solidFill>
              </a:rPr>
              <a:t>convolution</a:t>
            </a:r>
            <a:r>
              <a:rPr lang="en-US" sz="2800" b="1" u="sng" dirty="0">
                <a:solidFill>
                  <a:srgbClr val="0070C0"/>
                </a:solidFill>
              </a:rPr>
              <a:t> using at least two HPF - </a:t>
            </a:r>
            <a:r>
              <a:rPr lang="en-US" sz="2800" b="1" u="sng" dirty="0">
                <a:solidFill>
                  <a:srgbClr val="FF0000"/>
                </a:solidFill>
              </a:rPr>
              <a:t>part 6</a:t>
            </a:r>
          </a:p>
          <a:p>
            <a:pPr algn="ctr"/>
            <a:endParaRPr lang="en-US" sz="2000" b="1" u="sng" dirty="0">
              <a:solidFill>
                <a:srgbClr val="FF0000"/>
              </a:solidFill>
            </a:endParaRPr>
          </a:p>
        </p:txBody>
      </p:sp>
      <p:sp>
        <p:nvSpPr>
          <p:cNvPr id="5" name="Slide Number Placeholder 5">
            <a:extLst>
              <a:ext uri="{FF2B5EF4-FFF2-40B4-BE49-F238E27FC236}">
                <a16:creationId xmlns:a16="http://schemas.microsoft.com/office/drawing/2014/main" id="{833F9661-68B8-3E84-3E1E-F538BE11DFC1}"/>
              </a:ext>
            </a:extLst>
          </p:cNvPr>
          <p:cNvSpPr txBox="1">
            <a:spLocks/>
          </p:cNvSpPr>
          <p:nvPr/>
        </p:nvSpPr>
        <p:spPr>
          <a:xfrm>
            <a:off x="11760740" y="67310"/>
            <a:ext cx="43126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38</a:t>
            </a:fld>
            <a:endParaRPr lang="he-IL" sz="1600" dirty="0"/>
          </a:p>
        </p:txBody>
      </p:sp>
      <p:pic>
        <p:nvPicPr>
          <p:cNvPr id="3" name="Picture 2">
            <a:extLst>
              <a:ext uri="{FF2B5EF4-FFF2-40B4-BE49-F238E27FC236}">
                <a16:creationId xmlns:a16="http://schemas.microsoft.com/office/drawing/2014/main" id="{5C8184F3-8E2C-D833-B011-233F4CB32EFD}"/>
              </a:ext>
            </a:extLst>
          </p:cNvPr>
          <p:cNvPicPr>
            <a:picLocks noChangeAspect="1"/>
          </p:cNvPicPr>
          <p:nvPr/>
        </p:nvPicPr>
        <p:blipFill>
          <a:blip r:embed="rId2"/>
          <a:stretch>
            <a:fillRect/>
          </a:stretch>
        </p:blipFill>
        <p:spPr>
          <a:xfrm>
            <a:off x="0" y="1537899"/>
            <a:ext cx="12192000" cy="5027341"/>
          </a:xfrm>
          <a:prstGeom prst="rect">
            <a:avLst/>
          </a:prstGeom>
        </p:spPr>
      </p:pic>
      <p:sp>
        <p:nvSpPr>
          <p:cNvPr id="6" name="Rectangle 5">
            <a:extLst>
              <a:ext uri="{FF2B5EF4-FFF2-40B4-BE49-F238E27FC236}">
                <a16:creationId xmlns:a16="http://schemas.microsoft.com/office/drawing/2014/main" id="{150CAD4E-298A-43D7-6511-6D2BC9E32C4B}"/>
              </a:ext>
            </a:extLst>
          </p:cNvPr>
          <p:cNvSpPr/>
          <p:nvPr/>
        </p:nvSpPr>
        <p:spPr>
          <a:xfrm>
            <a:off x="3035031" y="953309"/>
            <a:ext cx="5739319" cy="4766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The calls to the filtration using convolution from the main </a:t>
            </a:r>
            <a:endParaRPr lang="he-IL" dirty="0"/>
          </a:p>
        </p:txBody>
      </p:sp>
    </p:spTree>
    <p:extLst>
      <p:ext uri="{BB962C8B-B14F-4D97-AF65-F5344CB8AC3E}">
        <p14:creationId xmlns:p14="http://schemas.microsoft.com/office/powerpoint/2010/main" val="39208601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34756330-A0E0-AB9B-3CDE-CD6BA92E8C7A}"/>
              </a:ext>
            </a:extLst>
          </p:cNvPr>
          <p:cNvSpPr txBox="1"/>
          <p:nvPr/>
        </p:nvSpPr>
        <p:spPr>
          <a:xfrm>
            <a:off x="1879059" y="-135300"/>
            <a:ext cx="8558720" cy="1088609"/>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MP2.4 – restoration of the blurred images created using </a:t>
            </a:r>
            <a:r>
              <a:rPr lang="en-US" sz="2800" b="1" u="sng" dirty="0">
                <a:solidFill>
                  <a:srgbClr val="00B050"/>
                </a:solidFill>
              </a:rPr>
              <a:t>convolution</a:t>
            </a:r>
            <a:r>
              <a:rPr lang="en-US" sz="2800" b="1" u="sng" dirty="0">
                <a:solidFill>
                  <a:srgbClr val="0070C0"/>
                </a:solidFill>
              </a:rPr>
              <a:t> using at least two HPF – </a:t>
            </a:r>
            <a:r>
              <a:rPr lang="en-US" sz="2800" b="1" u="sng" dirty="0">
                <a:solidFill>
                  <a:srgbClr val="FF0000"/>
                </a:solidFill>
              </a:rPr>
              <a:t>part 7</a:t>
            </a:r>
          </a:p>
          <a:p>
            <a:pPr algn="ctr"/>
            <a:endParaRPr lang="en-US" sz="2000" b="1" u="sng" dirty="0">
              <a:solidFill>
                <a:srgbClr val="FF0000"/>
              </a:solidFill>
            </a:endParaRPr>
          </a:p>
        </p:txBody>
      </p:sp>
      <p:sp>
        <p:nvSpPr>
          <p:cNvPr id="5" name="Slide Number Placeholder 5">
            <a:extLst>
              <a:ext uri="{FF2B5EF4-FFF2-40B4-BE49-F238E27FC236}">
                <a16:creationId xmlns:a16="http://schemas.microsoft.com/office/drawing/2014/main" id="{833F9661-68B8-3E84-3E1E-F538BE11DFC1}"/>
              </a:ext>
            </a:extLst>
          </p:cNvPr>
          <p:cNvSpPr txBox="1">
            <a:spLocks/>
          </p:cNvSpPr>
          <p:nvPr/>
        </p:nvSpPr>
        <p:spPr>
          <a:xfrm>
            <a:off x="11760740" y="67310"/>
            <a:ext cx="43126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39</a:t>
            </a:fld>
            <a:endParaRPr lang="he-IL" sz="1600" dirty="0"/>
          </a:p>
        </p:txBody>
      </p:sp>
      <p:pic>
        <p:nvPicPr>
          <p:cNvPr id="7" name="Picture 6">
            <a:extLst>
              <a:ext uri="{FF2B5EF4-FFF2-40B4-BE49-F238E27FC236}">
                <a16:creationId xmlns:a16="http://schemas.microsoft.com/office/drawing/2014/main" id="{306D6EF2-828D-CC4C-1F1E-2933D30EFBB3}"/>
              </a:ext>
            </a:extLst>
          </p:cNvPr>
          <p:cNvPicPr>
            <a:picLocks noChangeAspect="1"/>
          </p:cNvPicPr>
          <p:nvPr/>
        </p:nvPicPr>
        <p:blipFill>
          <a:blip r:embed="rId2"/>
          <a:stretch>
            <a:fillRect/>
          </a:stretch>
        </p:blipFill>
        <p:spPr>
          <a:xfrm>
            <a:off x="0" y="1495425"/>
            <a:ext cx="10877550" cy="5362575"/>
          </a:xfrm>
          <a:prstGeom prst="rect">
            <a:avLst/>
          </a:prstGeom>
        </p:spPr>
      </p:pic>
      <p:sp>
        <p:nvSpPr>
          <p:cNvPr id="9" name="Rectangle 8">
            <a:extLst>
              <a:ext uri="{FF2B5EF4-FFF2-40B4-BE49-F238E27FC236}">
                <a16:creationId xmlns:a16="http://schemas.microsoft.com/office/drawing/2014/main" id="{50D96F56-378F-0EAA-3F80-198E4021C065}"/>
              </a:ext>
            </a:extLst>
          </p:cNvPr>
          <p:cNvSpPr/>
          <p:nvPr/>
        </p:nvSpPr>
        <p:spPr>
          <a:xfrm>
            <a:off x="2709964" y="953309"/>
            <a:ext cx="6896909" cy="4766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The calls to the filtration using convolution from the main - continue </a:t>
            </a:r>
            <a:endParaRPr lang="he-IL" dirty="0"/>
          </a:p>
        </p:txBody>
      </p:sp>
    </p:spTree>
    <p:extLst>
      <p:ext uri="{BB962C8B-B14F-4D97-AF65-F5344CB8AC3E}">
        <p14:creationId xmlns:p14="http://schemas.microsoft.com/office/powerpoint/2010/main" val="8971921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60;p14">
            <a:extLst>
              <a:ext uri="{FF2B5EF4-FFF2-40B4-BE49-F238E27FC236}">
                <a16:creationId xmlns:a16="http://schemas.microsoft.com/office/drawing/2014/main" id="{38C3A168-C588-C557-1CBF-5D4677290E2A}"/>
              </a:ext>
            </a:extLst>
          </p:cNvPr>
          <p:cNvSpPr txBox="1"/>
          <p:nvPr/>
        </p:nvSpPr>
        <p:spPr>
          <a:xfrm>
            <a:off x="1879059" y="-135300"/>
            <a:ext cx="8558720" cy="1088609"/>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MP2.4 – restoration of the blurred images created using </a:t>
            </a:r>
            <a:r>
              <a:rPr lang="en-US" sz="2800" b="1" u="sng" dirty="0">
                <a:solidFill>
                  <a:srgbClr val="00B050"/>
                </a:solidFill>
              </a:rPr>
              <a:t>convolution</a:t>
            </a:r>
            <a:r>
              <a:rPr lang="en-US" sz="2800" b="1" u="sng" dirty="0">
                <a:solidFill>
                  <a:srgbClr val="0070C0"/>
                </a:solidFill>
              </a:rPr>
              <a:t> using at least two HPF - </a:t>
            </a:r>
            <a:r>
              <a:rPr lang="en-US" sz="2800" b="1" u="sng" dirty="0">
                <a:solidFill>
                  <a:srgbClr val="FF0000"/>
                </a:solidFill>
              </a:rPr>
              <a:t>part 8</a:t>
            </a:r>
          </a:p>
          <a:p>
            <a:pPr algn="ctr"/>
            <a:endParaRPr lang="en-US" sz="2000" b="1" u="sng" dirty="0">
              <a:solidFill>
                <a:srgbClr val="FF0000"/>
              </a:solidFill>
            </a:endParaRPr>
          </a:p>
        </p:txBody>
      </p:sp>
      <p:pic>
        <p:nvPicPr>
          <p:cNvPr id="3" name="Picture 2">
            <a:extLst>
              <a:ext uri="{FF2B5EF4-FFF2-40B4-BE49-F238E27FC236}">
                <a16:creationId xmlns:a16="http://schemas.microsoft.com/office/drawing/2014/main" id="{93092110-ABD6-E22C-4462-955001ED425B}"/>
              </a:ext>
            </a:extLst>
          </p:cNvPr>
          <p:cNvPicPr>
            <a:picLocks noChangeAspect="1"/>
          </p:cNvPicPr>
          <p:nvPr/>
        </p:nvPicPr>
        <p:blipFill>
          <a:blip r:embed="rId2"/>
          <a:stretch>
            <a:fillRect/>
          </a:stretch>
        </p:blipFill>
        <p:spPr>
          <a:xfrm>
            <a:off x="0" y="853652"/>
            <a:ext cx="9734550" cy="1381125"/>
          </a:xfrm>
          <a:prstGeom prst="rect">
            <a:avLst/>
          </a:prstGeom>
        </p:spPr>
      </p:pic>
      <p:pic>
        <p:nvPicPr>
          <p:cNvPr id="7" name="Picture 6">
            <a:extLst>
              <a:ext uri="{FF2B5EF4-FFF2-40B4-BE49-F238E27FC236}">
                <a16:creationId xmlns:a16="http://schemas.microsoft.com/office/drawing/2014/main" id="{0917D6A2-F819-EC06-28DC-396C26F569F5}"/>
              </a:ext>
            </a:extLst>
          </p:cNvPr>
          <p:cNvPicPr>
            <a:picLocks noChangeAspect="1"/>
          </p:cNvPicPr>
          <p:nvPr/>
        </p:nvPicPr>
        <p:blipFill>
          <a:blip r:embed="rId3"/>
          <a:stretch>
            <a:fillRect/>
          </a:stretch>
        </p:blipFill>
        <p:spPr>
          <a:xfrm>
            <a:off x="0" y="2533166"/>
            <a:ext cx="10163175" cy="1381125"/>
          </a:xfrm>
          <a:prstGeom prst="rect">
            <a:avLst/>
          </a:prstGeom>
        </p:spPr>
      </p:pic>
      <p:sp>
        <p:nvSpPr>
          <p:cNvPr id="12" name="Rectangle 11">
            <a:extLst>
              <a:ext uri="{FF2B5EF4-FFF2-40B4-BE49-F238E27FC236}">
                <a16:creationId xmlns:a16="http://schemas.microsoft.com/office/drawing/2014/main" id="{3DA08F41-70F2-99A4-174E-909E88BF13EE}"/>
              </a:ext>
            </a:extLst>
          </p:cNvPr>
          <p:cNvSpPr/>
          <p:nvPr/>
        </p:nvSpPr>
        <p:spPr>
          <a:xfrm>
            <a:off x="3696511" y="4581727"/>
            <a:ext cx="3599234" cy="8171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These kernels were generated by ChatGPT preview o1 </a:t>
            </a:r>
            <a:endParaRPr lang="he-IL" dirty="0"/>
          </a:p>
        </p:txBody>
      </p:sp>
    </p:spTree>
    <p:extLst>
      <p:ext uri="{BB962C8B-B14F-4D97-AF65-F5344CB8AC3E}">
        <p14:creationId xmlns:p14="http://schemas.microsoft.com/office/powerpoint/2010/main" val="13705957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60;p14">
            <a:extLst>
              <a:ext uri="{FF2B5EF4-FFF2-40B4-BE49-F238E27FC236}">
                <a16:creationId xmlns:a16="http://schemas.microsoft.com/office/drawing/2014/main" id="{38C3A168-C588-C557-1CBF-5D4677290E2A}"/>
              </a:ext>
            </a:extLst>
          </p:cNvPr>
          <p:cNvSpPr txBox="1"/>
          <p:nvPr/>
        </p:nvSpPr>
        <p:spPr>
          <a:xfrm>
            <a:off x="1879059" y="-135300"/>
            <a:ext cx="8558720" cy="1088609"/>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MP2.4 – restoration of the blurred images created using </a:t>
            </a:r>
            <a:r>
              <a:rPr lang="en-US" sz="2800" b="1" u="sng" dirty="0">
                <a:solidFill>
                  <a:srgbClr val="00B050"/>
                </a:solidFill>
              </a:rPr>
              <a:t>convolution</a:t>
            </a:r>
            <a:r>
              <a:rPr lang="en-US" sz="2800" b="1" u="sng" dirty="0">
                <a:solidFill>
                  <a:srgbClr val="0070C0"/>
                </a:solidFill>
              </a:rPr>
              <a:t> using at least two HPF - </a:t>
            </a:r>
            <a:r>
              <a:rPr lang="en-US" sz="2800" b="1" u="sng" dirty="0">
                <a:solidFill>
                  <a:srgbClr val="FF0000"/>
                </a:solidFill>
              </a:rPr>
              <a:t>part 8</a:t>
            </a:r>
          </a:p>
          <a:p>
            <a:pPr algn="ctr"/>
            <a:endParaRPr lang="en-US" sz="2000" b="1" u="sng" dirty="0">
              <a:solidFill>
                <a:srgbClr val="FF0000"/>
              </a:solidFill>
            </a:endParaRPr>
          </a:p>
        </p:txBody>
      </p:sp>
      <p:pic>
        <p:nvPicPr>
          <p:cNvPr id="9" name="Picture 8">
            <a:extLst>
              <a:ext uri="{FF2B5EF4-FFF2-40B4-BE49-F238E27FC236}">
                <a16:creationId xmlns:a16="http://schemas.microsoft.com/office/drawing/2014/main" id="{8D2524D9-7892-621C-B342-3B7A56472FEB}"/>
              </a:ext>
            </a:extLst>
          </p:cNvPr>
          <p:cNvPicPr>
            <a:picLocks noChangeAspect="1"/>
          </p:cNvPicPr>
          <p:nvPr/>
        </p:nvPicPr>
        <p:blipFill>
          <a:blip r:embed="rId2"/>
          <a:stretch>
            <a:fillRect/>
          </a:stretch>
        </p:blipFill>
        <p:spPr>
          <a:xfrm>
            <a:off x="26954" y="953309"/>
            <a:ext cx="10410825" cy="1800225"/>
          </a:xfrm>
          <a:prstGeom prst="rect">
            <a:avLst/>
          </a:prstGeom>
        </p:spPr>
      </p:pic>
      <p:pic>
        <p:nvPicPr>
          <p:cNvPr id="11" name="Picture 10">
            <a:extLst>
              <a:ext uri="{FF2B5EF4-FFF2-40B4-BE49-F238E27FC236}">
                <a16:creationId xmlns:a16="http://schemas.microsoft.com/office/drawing/2014/main" id="{A7D64FB5-E7E5-2A63-8692-4F12184F7E16}"/>
              </a:ext>
            </a:extLst>
          </p:cNvPr>
          <p:cNvPicPr>
            <a:picLocks noChangeAspect="1"/>
          </p:cNvPicPr>
          <p:nvPr/>
        </p:nvPicPr>
        <p:blipFill>
          <a:blip r:embed="rId3"/>
          <a:stretch>
            <a:fillRect/>
          </a:stretch>
        </p:blipFill>
        <p:spPr>
          <a:xfrm>
            <a:off x="0" y="4802533"/>
            <a:ext cx="9734550" cy="2055467"/>
          </a:xfrm>
          <a:prstGeom prst="rect">
            <a:avLst/>
          </a:prstGeom>
        </p:spPr>
      </p:pic>
      <p:sp>
        <p:nvSpPr>
          <p:cNvPr id="2" name="Rectangle 1">
            <a:extLst>
              <a:ext uri="{FF2B5EF4-FFF2-40B4-BE49-F238E27FC236}">
                <a16:creationId xmlns:a16="http://schemas.microsoft.com/office/drawing/2014/main" id="{444C957E-1D76-02B3-B1EA-B251BAA63577}"/>
              </a:ext>
            </a:extLst>
          </p:cNvPr>
          <p:cNvSpPr/>
          <p:nvPr/>
        </p:nvSpPr>
        <p:spPr>
          <a:xfrm>
            <a:off x="3190672" y="3433581"/>
            <a:ext cx="3599234" cy="8171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These kernels were generated by ChatGPT preview o1 </a:t>
            </a:r>
            <a:endParaRPr lang="he-IL" dirty="0"/>
          </a:p>
        </p:txBody>
      </p:sp>
    </p:spTree>
    <p:extLst>
      <p:ext uri="{BB962C8B-B14F-4D97-AF65-F5344CB8AC3E}">
        <p14:creationId xmlns:p14="http://schemas.microsoft.com/office/powerpoint/2010/main" val="42234915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34756330-A0E0-AB9B-3CDE-CD6BA92E8C7A}"/>
              </a:ext>
            </a:extLst>
          </p:cNvPr>
          <p:cNvSpPr txBox="1"/>
          <p:nvPr/>
        </p:nvSpPr>
        <p:spPr>
          <a:xfrm>
            <a:off x="1879059" y="-135300"/>
            <a:ext cx="8558720" cy="1088609"/>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MP2.5 – restoration of the blurred images created using FFT using one “enhancing HPF “- </a:t>
            </a:r>
            <a:r>
              <a:rPr lang="en-US" sz="2800" b="1" u="sng" dirty="0">
                <a:solidFill>
                  <a:srgbClr val="FF0000"/>
                </a:solidFill>
              </a:rPr>
              <a:t>part 1</a:t>
            </a:r>
          </a:p>
          <a:p>
            <a:pPr algn="ctr"/>
            <a:endParaRPr lang="en-US" sz="2000" b="1" u="sng" dirty="0">
              <a:solidFill>
                <a:srgbClr val="FF0000"/>
              </a:solidFill>
            </a:endParaRPr>
          </a:p>
        </p:txBody>
      </p:sp>
      <p:sp>
        <p:nvSpPr>
          <p:cNvPr id="5" name="Slide Number Placeholder 5">
            <a:extLst>
              <a:ext uri="{FF2B5EF4-FFF2-40B4-BE49-F238E27FC236}">
                <a16:creationId xmlns:a16="http://schemas.microsoft.com/office/drawing/2014/main" id="{833F9661-68B8-3E84-3E1E-F538BE11DFC1}"/>
              </a:ext>
            </a:extLst>
          </p:cNvPr>
          <p:cNvSpPr txBox="1">
            <a:spLocks/>
          </p:cNvSpPr>
          <p:nvPr/>
        </p:nvSpPr>
        <p:spPr>
          <a:xfrm>
            <a:off x="11760740" y="67310"/>
            <a:ext cx="43126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42</a:t>
            </a:fld>
            <a:endParaRPr lang="he-IL" sz="1600" dirty="0"/>
          </a:p>
        </p:txBody>
      </p:sp>
      <p:sp>
        <p:nvSpPr>
          <p:cNvPr id="3" name="TextBox 2">
            <a:extLst>
              <a:ext uri="{FF2B5EF4-FFF2-40B4-BE49-F238E27FC236}">
                <a16:creationId xmlns:a16="http://schemas.microsoft.com/office/drawing/2014/main" id="{A9326506-EC29-FA92-001D-7AC8C0D3F51C}"/>
              </a:ext>
            </a:extLst>
          </p:cNvPr>
          <p:cNvSpPr txBox="1"/>
          <p:nvPr/>
        </p:nvSpPr>
        <p:spPr>
          <a:xfrm>
            <a:off x="0" y="1027754"/>
            <a:ext cx="4883285"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he-IL" dirty="0"/>
              <a:t>Tim1LPF</a:t>
            </a:r>
            <a:r>
              <a:rPr lang="en-US" dirty="0"/>
              <a:t>F.bmp – the blurred image through FFT</a:t>
            </a:r>
            <a:endParaRPr lang="he-IL" dirty="0"/>
          </a:p>
        </p:txBody>
      </p:sp>
      <p:sp>
        <p:nvSpPr>
          <p:cNvPr id="8" name="Arrow: Curved Up 7">
            <a:extLst>
              <a:ext uri="{FF2B5EF4-FFF2-40B4-BE49-F238E27FC236}">
                <a16:creationId xmlns:a16="http://schemas.microsoft.com/office/drawing/2014/main" id="{45D88FBB-0A76-8A48-7381-4AD6944D7A56}"/>
              </a:ext>
            </a:extLst>
          </p:cNvPr>
          <p:cNvSpPr/>
          <p:nvPr/>
        </p:nvSpPr>
        <p:spPr>
          <a:xfrm>
            <a:off x="5612860" y="6176343"/>
            <a:ext cx="1536970" cy="593387"/>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
        <p:nvSpPr>
          <p:cNvPr id="6" name="TextBox 5">
            <a:extLst>
              <a:ext uri="{FF2B5EF4-FFF2-40B4-BE49-F238E27FC236}">
                <a16:creationId xmlns:a16="http://schemas.microsoft.com/office/drawing/2014/main" id="{19AB907F-DB5F-60E5-87DE-443607F57BB2}"/>
              </a:ext>
            </a:extLst>
          </p:cNvPr>
          <p:cNvSpPr txBox="1"/>
          <p:nvPr/>
        </p:nvSpPr>
        <p:spPr>
          <a:xfrm>
            <a:off x="6507805" y="1027754"/>
            <a:ext cx="5684198"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Tim1LPFFHFEFf.bmp– the restored image through FFT</a:t>
            </a:r>
            <a:endParaRPr lang="he-IL" dirty="0"/>
          </a:p>
        </p:txBody>
      </p:sp>
      <p:pic>
        <p:nvPicPr>
          <p:cNvPr id="9" name="Picture 8" descr="A close-up of a phone number&#10;&#10;Description automatically generated">
            <a:extLst>
              <a:ext uri="{FF2B5EF4-FFF2-40B4-BE49-F238E27FC236}">
                <a16:creationId xmlns:a16="http://schemas.microsoft.com/office/drawing/2014/main" id="{86C6E636-1ED8-F294-E831-1FC3E49F8A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86272" y="1427395"/>
            <a:ext cx="6096000" cy="4572000"/>
          </a:xfrm>
          <a:prstGeom prst="rect">
            <a:avLst/>
          </a:prstGeom>
          <a:ln>
            <a:solidFill>
              <a:srgbClr val="0070C0"/>
            </a:solidFill>
          </a:ln>
        </p:spPr>
      </p:pic>
      <p:pic>
        <p:nvPicPr>
          <p:cNvPr id="10" name="Picture 9" descr="A number of numbers and text&#10;&#10;Description automatically generated with medium confidence">
            <a:extLst>
              <a:ext uri="{FF2B5EF4-FFF2-40B4-BE49-F238E27FC236}">
                <a16:creationId xmlns:a16="http://schemas.microsoft.com/office/drawing/2014/main" id="{AD4EA3D3-52E1-2A5E-E541-01B86E0336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71531"/>
            <a:ext cx="6096000" cy="4572000"/>
          </a:xfrm>
          <a:prstGeom prst="rect">
            <a:avLst/>
          </a:prstGeom>
          <a:ln>
            <a:solidFill>
              <a:srgbClr val="0070C0"/>
            </a:solidFill>
          </a:ln>
        </p:spPr>
      </p:pic>
      <p:sp>
        <p:nvSpPr>
          <p:cNvPr id="11" name="Rectangle 10">
            <a:extLst>
              <a:ext uri="{FF2B5EF4-FFF2-40B4-BE49-F238E27FC236}">
                <a16:creationId xmlns:a16="http://schemas.microsoft.com/office/drawing/2014/main" id="{F2491F05-3C5F-A1C7-6DD7-6CBBF35AA021}"/>
              </a:ext>
            </a:extLst>
          </p:cNvPr>
          <p:cNvSpPr/>
          <p:nvPr/>
        </p:nvSpPr>
        <p:spPr>
          <a:xfrm>
            <a:off x="7143345" y="6065801"/>
            <a:ext cx="5009745" cy="8144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We can see that from line 5 there is a separation between letters in the “hello from” which indicates on good restoration</a:t>
            </a:r>
            <a:endParaRPr lang="he-IL" dirty="0"/>
          </a:p>
        </p:txBody>
      </p:sp>
    </p:spTree>
    <p:extLst>
      <p:ext uri="{BB962C8B-B14F-4D97-AF65-F5344CB8AC3E}">
        <p14:creationId xmlns:p14="http://schemas.microsoft.com/office/powerpoint/2010/main" val="25617708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34756330-A0E0-AB9B-3CDE-CD6BA92E8C7A}"/>
              </a:ext>
            </a:extLst>
          </p:cNvPr>
          <p:cNvSpPr txBox="1"/>
          <p:nvPr/>
        </p:nvSpPr>
        <p:spPr>
          <a:xfrm>
            <a:off x="1879059" y="-135300"/>
            <a:ext cx="8558720" cy="1088609"/>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MP2.5 – restoration of the blurred images created using FFT using one “enhancing HPF “- </a:t>
            </a:r>
            <a:r>
              <a:rPr lang="en-US" sz="2800" b="1" u="sng" dirty="0">
                <a:solidFill>
                  <a:srgbClr val="FF0000"/>
                </a:solidFill>
              </a:rPr>
              <a:t>part 2</a:t>
            </a:r>
          </a:p>
          <a:p>
            <a:pPr algn="ctr"/>
            <a:endParaRPr lang="en-US" sz="2000" b="1" u="sng" dirty="0">
              <a:solidFill>
                <a:srgbClr val="FF0000"/>
              </a:solidFill>
            </a:endParaRPr>
          </a:p>
        </p:txBody>
      </p:sp>
      <p:sp>
        <p:nvSpPr>
          <p:cNvPr id="5" name="Slide Number Placeholder 5">
            <a:extLst>
              <a:ext uri="{FF2B5EF4-FFF2-40B4-BE49-F238E27FC236}">
                <a16:creationId xmlns:a16="http://schemas.microsoft.com/office/drawing/2014/main" id="{833F9661-68B8-3E84-3E1E-F538BE11DFC1}"/>
              </a:ext>
            </a:extLst>
          </p:cNvPr>
          <p:cNvSpPr txBox="1">
            <a:spLocks/>
          </p:cNvSpPr>
          <p:nvPr/>
        </p:nvSpPr>
        <p:spPr>
          <a:xfrm>
            <a:off x="11760740" y="67310"/>
            <a:ext cx="43126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43</a:t>
            </a:fld>
            <a:endParaRPr lang="he-IL" sz="1600" dirty="0"/>
          </a:p>
        </p:txBody>
      </p:sp>
      <p:sp>
        <p:nvSpPr>
          <p:cNvPr id="8" name="Arrow: Curved Up 7">
            <a:extLst>
              <a:ext uri="{FF2B5EF4-FFF2-40B4-BE49-F238E27FC236}">
                <a16:creationId xmlns:a16="http://schemas.microsoft.com/office/drawing/2014/main" id="{45D88FBB-0A76-8A48-7381-4AD6944D7A56}"/>
              </a:ext>
            </a:extLst>
          </p:cNvPr>
          <p:cNvSpPr/>
          <p:nvPr/>
        </p:nvSpPr>
        <p:spPr>
          <a:xfrm>
            <a:off x="5505856" y="6103832"/>
            <a:ext cx="1536970" cy="593387"/>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
        <p:nvSpPr>
          <p:cNvPr id="2" name="TextBox 1">
            <a:extLst>
              <a:ext uri="{FF2B5EF4-FFF2-40B4-BE49-F238E27FC236}">
                <a16:creationId xmlns:a16="http://schemas.microsoft.com/office/drawing/2014/main" id="{A07D3611-F2F4-825B-40DA-B6B981D1C635}"/>
              </a:ext>
            </a:extLst>
          </p:cNvPr>
          <p:cNvSpPr txBox="1"/>
          <p:nvPr/>
        </p:nvSpPr>
        <p:spPr>
          <a:xfrm>
            <a:off x="0" y="1027754"/>
            <a:ext cx="4883285"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he-IL" dirty="0"/>
              <a:t>Tim2LPF</a:t>
            </a:r>
            <a:r>
              <a:rPr lang="en-US" dirty="0"/>
              <a:t>F.bmp – the blurred image through FFT</a:t>
            </a:r>
            <a:endParaRPr lang="he-IL" dirty="0"/>
          </a:p>
        </p:txBody>
      </p:sp>
      <p:sp>
        <p:nvSpPr>
          <p:cNvPr id="6" name="TextBox 5">
            <a:extLst>
              <a:ext uri="{FF2B5EF4-FFF2-40B4-BE49-F238E27FC236}">
                <a16:creationId xmlns:a16="http://schemas.microsoft.com/office/drawing/2014/main" id="{1BDE9D45-A9C2-6120-2614-D3E4B5D4AA8E}"/>
              </a:ext>
            </a:extLst>
          </p:cNvPr>
          <p:cNvSpPr txBox="1"/>
          <p:nvPr/>
        </p:nvSpPr>
        <p:spPr>
          <a:xfrm>
            <a:off x="6507805" y="1027754"/>
            <a:ext cx="5684198"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Tim2LPFFHFEFf.bmp– the restored image through FFT</a:t>
            </a:r>
            <a:endParaRPr lang="he-IL" dirty="0"/>
          </a:p>
        </p:txBody>
      </p:sp>
      <p:pic>
        <p:nvPicPr>
          <p:cNvPr id="10" name="Picture 9" descr="A black and white circular pattern&#10;&#10;Description automatically generated">
            <a:extLst>
              <a:ext uri="{FF2B5EF4-FFF2-40B4-BE49-F238E27FC236}">
                <a16:creationId xmlns:a16="http://schemas.microsoft.com/office/drawing/2014/main" id="{8DBE3429-7AEA-05CE-9813-605D94850B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471531"/>
            <a:ext cx="6096000" cy="4572000"/>
          </a:xfrm>
          <a:prstGeom prst="rect">
            <a:avLst/>
          </a:prstGeom>
        </p:spPr>
      </p:pic>
      <p:pic>
        <p:nvPicPr>
          <p:cNvPr id="11" name="Picture 10" descr="A black and white circular object&#10;&#10;Description automatically generated">
            <a:extLst>
              <a:ext uri="{FF2B5EF4-FFF2-40B4-BE49-F238E27FC236}">
                <a16:creationId xmlns:a16="http://schemas.microsoft.com/office/drawing/2014/main" id="{D326044B-26FC-6738-63BE-E5A1E3E5C0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71531"/>
            <a:ext cx="6096000" cy="4572000"/>
          </a:xfrm>
          <a:prstGeom prst="rect">
            <a:avLst/>
          </a:prstGeom>
        </p:spPr>
      </p:pic>
      <p:sp>
        <p:nvSpPr>
          <p:cNvPr id="12" name="Rectangle 11">
            <a:extLst>
              <a:ext uri="{FF2B5EF4-FFF2-40B4-BE49-F238E27FC236}">
                <a16:creationId xmlns:a16="http://schemas.microsoft.com/office/drawing/2014/main" id="{18F04663-066D-22DB-7533-DFA3E0C99ACD}"/>
              </a:ext>
            </a:extLst>
          </p:cNvPr>
          <p:cNvSpPr/>
          <p:nvPr/>
        </p:nvSpPr>
        <p:spPr>
          <a:xfrm>
            <a:off x="7182255" y="6043531"/>
            <a:ext cx="5009745" cy="8144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The enhanced image is much sharper in the edges of the circle and the initial blurring in the center has now sharper edges</a:t>
            </a:r>
            <a:endParaRPr lang="he-IL" dirty="0"/>
          </a:p>
        </p:txBody>
      </p:sp>
    </p:spTree>
    <p:extLst>
      <p:ext uri="{BB962C8B-B14F-4D97-AF65-F5344CB8AC3E}">
        <p14:creationId xmlns:p14="http://schemas.microsoft.com/office/powerpoint/2010/main" val="36720308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60;p14">
            <a:extLst>
              <a:ext uri="{FF2B5EF4-FFF2-40B4-BE49-F238E27FC236}">
                <a16:creationId xmlns:a16="http://schemas.microsoft.com/office/drawing/2014/main" id="{E9A1898A-269A-19E4-EAFE-48E1E139BB9B}"/>
              </a:ext>
            </a:extLst>
          </p:cNvPr>
          <p:cNvSpPr txBox="1"/>
          <p:nvPr/>
        </p:nvSpPr>
        <p:spPr>
          <a:xfrm>
            <a:off x="1879059" y="-135300"/>
            <a:ext cx="8558720" cy="1088609"/>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MP2.5 – restoration of the blurred images created using FFT using one “enhancing HPF “- </a:t>
            </a:r>
            <a:r>
              <a:rPr lang="en-US" sz="2800" b="1" u="sng" dirty="0">
                <a:solidFill>
                  <a:srgbClr val="FF0000"/>
                </a:solidFill>
              </a:rPr>
              <a:t>part 3</a:t>
            </a:r>
          </a:p>
          <a:p>
            <a:pPr algn="ctr"/>
            <a:endParaRPr lang="en-US" sz="2000" b="1" u="sng" dirty="0">
              <a:solidFill>
                <a:srgbClr val="FF0000"/>
              </a:solidFill>
            </a:endParaRPr>
          </a:p>
        </p:txBody>
      </p:sp>
      <p:pic>
        <p:nvPicPr>
          <p:cNvPr id="4" name="Picture 3">
            <a:extLst>
              <a:ext uri="{FF2B5EF4-FFF2-40B4-BE49-F238E27FC236}">
                <a16:creationId xmlns:a16="http://schemas.microsoft.com/office/drawing/2014/main" id="{5B88F8A5-72D4-EA01-D39B-C4F00B645F56}"/>
              </a:ext>
            </a:extLst>
          </p:cNvPr>
          <p:cNvPicPr>
            <a:picLocks noChangeAspect="1"/>
          </p:cNvPicPr>
          <p:nvPr/>
        </p:nvPicPr>
        <p:blipFill>
          <a:blip r:embed="rId2"/>
          <a:stretch>
            <a:fillRect/>
          </a:stretch>
        </p:blipFill>
        <p:spPr>
          <a:xfrm>
            <a:off x="0" y="953309"/>
            <a:ext cx="9984348" cy="2225810"/>
          </a:xfrm>
          <a:prstGeom prst="rect">
            <a:avLst/>
          </a:prstGeom>
        </p:spPr>
      </p:pic>
      <p:pic>
        <p:nvPicPr>
          <p:cNvPr id="8" name="Picture 7">
            <a:extLst>
              <a:ext uri="{FF2B5EF4-FFF2-40B4-BE49-F238E27FC236}">
                <a16:creationId xmlns:a16="http://schemas.microsoft.com/office/drawing/2014/main" id="{711E9DFC-4B67-FA31-11FF-C0910FC6CF0B}"/>
              </a:ext>
            </a:extLst>
          </p:cNvPr>
          <p:cNvPicPr>
            <a:picLocks noChangeAspect="1"/>
          </p:cNvPicPr>
          <p:nvPr/>
        </p:nvPicPr>
        <p:blipFill>
          <a:blip r:embed="rId3"/>
          <a:stretch>
            <a:fillRect/>
          </a:stretch>
        </p:blipFill>
        <p:spPr>
          <a:xfrm>
            <a:off x="15982" y="4387176"/>
            <a:ext cx="9968366" cy="1666570"/>
          </a:xfrm>
          <a:prstGeom prst="rect">
            <a:avLst/>
          </a:prstGeom>
        </p:spPr>
      </p:pic>
      <p:sp>
        <p:nvSpPr>
          <p:cNvPr id="9" name="Rectangle 8">
            <a:extLst>
              <a:ext uri="{FF2B5EF4-FFF2-40B4-BE49-F238E27FC236}">
                <a16:creationId xmlns:a16="http://schemas.microsoft.com/office/drawing/2014/main" id="{849611DB-A2A3-D177-C0FA-6BDC0AE3E3D7}"/>
              </a:ext>
            </a:extLst>
          </p:cNvPr>
          <p:cNvSpPr/>
          <p:nvPr/>
        </p:nvSpPr>
        <p:spPr>
          <a:xfrm>
            <a:off x="1974714" y="3438728"/>
            <a:ext cx="6780179" cy="6079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In both cases the parameters were created by a trial and error until reaching the optimal results (maximum enhancement)</a:t>
            </a:r>
            <a:endParaRPr lang="he-IL" dirty="0"/>
          </a:p>
        </p:txBody>
      </p:sp>
      <p:sp>
        <p:nvSpPr>
          <p:cNvPr id="10" name="Slide Number Placeholder 5">
            <a:extLst>
              <a:ext uri="{FF2B5EF4-FFF2-40B4-BE49-F238E27FC236}">
                <a16:creationId xmlns:a16="http://schemas.microsoft.com/office/drawing/2014/main" id="{3C9B185F-B3F1-E112-516D-6892EAB94730}"/>
              </a:ext>
            </a:extLst>
          </p:cNvPr>
          <p:cNvSpPr txBox="1">
            <a:spLocks/>
          </p:cNvSpPr>
          <p:nvPr/>
        </p:nvSpPr>
        <p:spPr>
          <a:xfrm>
            <a:off x="11760740" y="67310"/>
            <a:ext cx="431260"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E5BF412-EFCF-4C51-A2DF-B419076696E3}" type="slidenum">
              <a:rPr lang="he-IL" sz="1600" smtClean="0"/>
              <a:pPr/>
              <a:t>44</a:t>
            </a:fld>
            <a:endParaRPr lang="he-IL" sz="1600" dirty="0"/>
          </a:p>
        </p:txBody>
      </p:sp>
    </p:spTree>
    <p:extLst>
      <p:ext uri="{BB962C8B-B14F-4D97-AF65-F5344CB8AC3E}">
        <p14:creationId xmlns:p14="http://schemas.microsoft.com/office/powerpoint/2010/main" val="15055596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0;p14">
            <a:extLst>
              <a:ext uri="{FF2B5EF4-FFF2-40B4-BE49-F238E27FC236}">
                <a16:creationId xmlns:a16="http://schemas.microsoft.com/office/drawing/2014/main" id="{ECE76C69-25C9-8869-A2BA-9BFA1896CEC4}"/>
              </a:ext>
            </a:extLst>
          </p:cNvPr>
          <p:cNvSpPr txBox="1"/>
          <p:nvPr/>
        </p:nvSpPr>
        <p:spPr>
          <a:xfrm>
            <a:off x="4155332" y="0"/>
            <a:ext cx="3881336" cy="602228"/>
          </a:xfrm>
          <a:prstGeom prst="rect">
            <a:avLst/>
          </a:prstGeom>
          <a:noFill/>
          <a:ln>
            <a:noFill/>
          </a:ln>
        </p:spPr>
        <p:txBody>
          <a:bodyPr spcFirstLastPara="1" wrap="square" lIns="121900" tIns="121900" rIns="121900" bIns="121900" anchor="t" anchorCtr="0">
            <a:noAutofit/>
          </a:bodyPr>
          <a:lstStyle/>
          <a:p>
            <a:pPr algn="ctr"/>
            <a:r>
              <a:rPr lang="en-US" sz="2800" b="1" u="sng" dirty="0">
                <a:solidFill>
                  <a:srgbClr val="0070C0"/>
                </a:solidFill>
              </a:rPr>
              <a:t>MP2.6 – bibliography</a:t>
            </a:r>
            <a:endParaRPr lang="en-US" sz="2800" b="1" u="sng" dirty="0">
              <a:solidFill>
                <a:srgbClr val="FF0000"/>
              </a:solidFill>
            </a:endParaRPr>
          </a:p>
          <a:p>
            <a:pPr algn="ctr"/>
            <a:endParaRPr lang="en-US" sz="2000" b="1" u="sng" dirty="0">
              <a:solidFill>
                <a:srgbClr val="FF0000"/>
              </a:solidFill>
            </a:endParaRPr>
          </a:p>
        </p:txBody>
      </p:sp>
      <p:sp>
        <p:nvSpPr>
          <p:cNvPr id="5" name="Rectangle 4">
            <a:extLst>
              <a:ext uri="{FF2B5EF4-FFF2-40B4-BE49-F238E27FC236}">
                <a16:creationId xmlns:a16="http://schemas.microsoft.com/office/drawing/2014/main" id="{4B5FEBB9-1F2B-A404-A462-E8B2A71D4AC7}"/>
              </a:ext>
            </a:extLst>
          </p:cNvPr>
          <p:cNvSpPr/>
          <p:nvPr/>
        </p:nvSpPr>
        <p:spPr>
          <a:xfrm>
            <a:off x="1128409" y="972767"/>
            <a:ext cx="7062280"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ChatGPT – thanks to the chat for a lot of wonderful work</a:t>
            </a:r>
            <a:endParaRPr lang="he-IL" dirty="0"/>
          </a:p>
        </p:txBody>
      </p:sp>
      <p:sp>
        <p:nvSpPr>
          <p:cNvPr id="6" name="Rectangle 5">
            <a:extLst>
              <a:ext uri="{FF2B5EF4-FFF2-40B4-BE49-F238E27FC236}">
                <a16:creationId xmlns:a16="http://schemas.microsoft.com/office/drawing/2014/main" id="{3FA23E1B-C60E-C679-071B-11F5FF3D2A63}"/>
              </a:ext>
            </a:extLst>
          </p:cNvPr>
          <p:cNvSpPr/>
          <p:nvPr/>
        </p:nvSpPr>
        <p:spPr>
          <a:xfrm>
            <a:off x="1128409" y="1643974"/>
            <a:ext cx="7062280" cy="6225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Course lecturers – we used the lecturers and the functions in it</a:t>
            </a:r>
            <a:endParaRPr lang="he-IL" dirty="0"/>
          </a:p>
        </p:txBody>
      </p:sp>
    </p:spTree>
    <p:extLst>
      <p:ext uri="{BB962C8B-B14F-4D97-AF65-F5344CB8AC3E}">
        <p14:creationId xmlns:p14="http://schemas.microsoft.com/office/powerpoint/2010/main" val="1059259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3390</TotalTime>
  <Words>3862</Words>
  <Application>Microsoft Office PowerPoint</Application>
  <PresentationFormat>Widescreen</PresentationFormat>
  <Paragraphs>330</Paragraphs>
  <Slides>45</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omri pony</dc:creator>
  <cp:lastModifiedBy>omri pony</cp:lastModifiedBy>
  <cp:revision>90</cp:revision>
  <dcterms:created xsi:type="dcterms:W3CDTF">2024-08-21T11:57:32Z</dcterms:created>
  <dcterms:modified xsi:type="dcterms:W3CDTF">2024-09-15T17:12:18Z</dcterms:modified>
</cp:coreProperties>
</file>